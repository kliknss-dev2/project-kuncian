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8" r:id="rId42"/>
    <p:sldId id="299" r:id="rId43"/>
    <p:sldId id="300" r:id="rId44"/>
    <p:sldId id="301" r:id="rId45"/>
    <p:sldId id="302" r:id="rId46"/>
    <p:sldId id="297" r:id="rId47"/>
  </p:sldIdLst>
  <p:sldSz cx="18288000" cy="10287000"/>
  <p:notesSz cx="6858000" cy="9144000"/>
  <p:embeddedFontLst>
    <p:embeddedFont>
      <p:font typeface="Calibri" panose="020F0502020204030204" pitchFamily="34" charset="0"/>
      <p:regular r:id="rId48"/>
      <p:bold r:id="rId49"/>
      <p:italic r:id="rId50"/>
      <p:boldItalic r:id="rId51"/>
    </p:embeddedFont>
    <p:embeddedFont>
      <p:font typeface="Canva Sans Bold" panose="020B0604020202020204" charset="0"/>
      <p:regular r:id="rId52"/>
    </p:embeddedFont>
    <p:embeddedFont>
      <p:font typeface="DM Sans Bold" panose="020B0604020202020204" charset="0"/>
      <p:regular r:id="rId53"/>
    </p:embeddedFont>
    <p:embeddedFont>
      <p:font typeface="Josefin Sans Regular Bold" panose="020B0604020202020204" charset="0"/>
      <p:regular r:id="rId54"/>
    </p:embeddedFont>
    <p:embeddedFont>
      <p:font typeface="Open Sauce SemiBold" panose="020B0604020202020204" charset="0"/>
      <p:regular r:id="rId55"/>
    </p:embeddedFont>
    <p:embeddedFont>
      <p:font typeface="Open Sauce SemiBold Bold" panose="020B0604020202020204" charset="0"/>
      <p:regular r:id="rId56"/>
    </p:embeddedFont>
    <p:embeddedFont>
      <p:font typeface="Telegraf" panose="020B0604020202020204" charset="0"/>
      <p:regular r:id="rId57"/>
    </p:embeddedFont>
    <p:embeddedFont>
      <p:font typeface="Telegraf Bold" panose="020B0604020202020204" charset="0"/>
      <p:regular r:id="rId58"/>
    </p:embeddedFont>
    <p:embeddedFont>
      <p:font typeface="Telegraf Medium" panose="020B0604020202020204" charset="0"/>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5" d="100"/>
          <a:sy n="45" d="100"/>
        </p:scale>
        <p:origin x="510"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1.fntdata"/><Relationship Id="rId56"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font" Target="fonts/font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5.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sv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9956179" cy="3666012"/>
            <a:chOff x="0" y="0"/>
            <a:chExt cx="5255948" cy="965534"/>
          </a:xfrm>
        </p:grpSpPr>
        <p:sp>
          <p:nvSpPr>
            <p:cNvPr id="3" name="Freeform 3"/>
            <p:cNvSpPr/>
            <p:nvPr/>
          </p:nvSpPr>
          <p:spPr>
            <a:xfrm>
              <a:off x="0" y="0"/>
              <a:ext cx="5255948" cy="965534"/>
            </a:xfrm>
            <a:custGeom>
              <a:avLst/>
              <a:gdLst/>
              <a:ahLst/>
              <a:cxnLst/>
              <a:rect l="l" t="t" r="r" b="b"/>
              <a:pathLst>
                <a:path w="5255948" h="965534">
                  <a:moveTo>
                    <a:pt x="0" y="0"/>
                  </a:moveTo>
                  <a:lnTo>
                    <a:pt x="5255948" y="0"/>
                  </a:lnTo>
                  <a:lnTo>
                    <a:pt x="5255948" y="965534"/>
                  </a:lnTo>
                  <a:lnTo>
                    <a:pt x="0" y="965534"/>
                  </a:lnTo>
                  <a:close/>
                </a:path>
              </a:pathLst>
            </a:custGeom>
            <a:solidFill>
              <a:srgbClr val="FFFFFF"/>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pic>
        <p:nvPicPr>
          <p:cNvPr id="5" name="Picture 5"/>
          <p:cNvPicPr>
            <a:picLocks noChangeAspect="1"/>
          </p:cNvPicPr>
          <p:nvPr/>
        </p:nvPicPr>
        <p:blipFill>
          <a:blip r:embed="rId2">
            <a:alphaModFix amt="97000"/>
          </a:blip>
          <a:srcRect t="13134" b="10543"/>
          <a:stretch>
            <a:fillRect/>
          </a:stretch>
        </p:blipFill>
        <p:spPr>
          <a:xfrm>
            <a:off x="2484502" y="4263922"/>
            <a:ext cx="12819628" cy="5500889"/>
          </a:xfrm>
          <a:prstGeom prst="rect">
            <a:avLst/>
          </a:prstGeom>
        </p:spPr>
      </p:pic>
      <p:sp>
        <p:nvSpPr>
          <p:cNvPr id="7" name="TextBox 7"/>
          <p:cNvSpPr txBox="1"/>
          <p:nvPr/>
        </p:nvSpPr>
        <p:spPr>
          <a:xfrm>
            <a:off x="3067024" y="2006711"/>
            <a:ext cx="5827292" cy="638175"/>
          </a:xfrm>
          <a:prstGeom prst="rect">
            <a:avLst/>
          </a:prstGeom>
        </p:spPr>
        <p:txBody>
          <a:bodyPr lIns="0" tIns="0" rIns="0" bIns="0" rtlCol="0" anchor="t">
            <a:spAutoFit/>
          </a:bodyPr>
          <a:lstStyle/>
          <a:p>
            <a:pPr>
              <a:lnSpc>
                <a:spcPts val="5040"/>
              </a:lnSpc>
            </a:pPr>
            <a:r>
              <a:rPr lang="id-ID" sz="4200" spc="42" dirty="0">
                <a:solidFill>
                  <a:srgbClr val="000000"/>
                </a:solidFill>
                <a:latin typeface="DM Sans Bold"/>
              </a:rPr>
              <a:t>Level </a:t>
            </a:r>
            <a:r>
              <a:rPr lang="en-US" sz="4200" spc="42" dirty="0">
                <a:solidFill>
                  <a:srgbClr val="000000"/>
                </a:solidFill>
                <a:latin typeface="DM Sans Bold"/>
              </a:rPr>
              <a:t>: Head </a:t>
            </a:r>
            <a:r>
              <a:rPr lang="id-ID" sz="4200" spc="42" dirty="0">
                <a:solidFill>
                  <a:srgbClr val="000000"/>
                </a:solidFill>
                <a:latin typeface="DM Sans Bold"/>
              </a:rPr>
              <a:t>O</a:t>
            </a:r>
            <a:r>
              <a:rPr lang="en-US" sz="4200" spc="42" dirty="0" err="1">
                <a:solidFill>
                  <a:srgbClr val="000000"/>
                </a:solidFill>
                <a:latin typeface="DM Sans Bold"/>
              </a:rPr>
              <a:t>ffice</a:t>
            </a:r>
            <a:r>
              <a:rPr lang="en-US" sz="4200" spc="42" dirty="0">
                <a:solidFill>
                  <a:srgbClr val="000000"/>
                </a:solidFill>
                <a:latin typeface="DM Sans Bold"/>
              </a:rPr>
              <a:t> </a:t>
            </a:r>
          </a:p>
        </p:txBody>
      </p:sp>
      <p:sp>
        <p:nvSpPr>
          <p:cNvPr id="8" name="TextBox 8"/>
          <p:cNvSpPr txBox="1"/>
          <p:nvPr/>
        </p:nvSpPr>
        <p:spPr>
          <a:xfrm>
            <a:off x="-1723491" y="306058"/>
            <a:ext cx="12668106" cy="1700653"/>
          </a:xfrm>
          <a:prstGeom prst="rect">
            <a:avLst/>
          </a:prstGeom>
        </p:spPr>
        <p:txBody>
          <a:bodyPr lIns="0" tIns="0" rIns="0" bIns="0" rtlCol="0" anchor="t">
            <a:spAutoFit/>
          </a:bodyPr>
          <a:lstStyle/>
          <a:p>
            <a:pPr algn="ctr">
              <a:lnSpc>
                <a:spcPts val="13888"/>
              </a:lnSpc>
            </a:pPr>
            <a:r>
              <a:rPr lang="en-US" sz="9920" spc="843">
                <a:solidFill>
                  <a:srgbClr val="000000"/>
                </a:solidFill>
                <a:latin typeface="DM Sans Bold"/>
              </a:rPr>
              <a:t>ANTI FRAUD</a:t>
            </a:r>
          </a:p>
        </p:txBody>
      </p:sp>
      <p:sp>
        <p:nvSpPr>
          <p:cNvPr id="9" name="TextBox 9"/>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a:rPr>
              <a:t>1</a:t>
            </a:r>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304130" y="157939"/>
            <a:ext cx="2229019" cy="1577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14860475" y="0"/>
            <a:ext cx="4797649" cy="10287000"/>
            <a:chOff x="0" y="0"/>
            <a:chExt cx="1263578" cy="2709333"/>
          </a:xfrm>
        </p:grpSpPr>
        <p:sp>
          <p:nvSpPr>
            <p:cNvPr id="3" name="Freeform 3"/>
            <p:cNvSpPr/>
            <p:nvPr/>
          </p:nvSpPr>
          <p:spPr>
            <a:xfrm>
              <a:off x="0" y="0"/>
              <a:ext cx="1263578" cy="2709333"/>
            </a:xfrm>
            <a:custGeom>
              <a:avLst/>
              <a:gdLst/>
              <a:ahLst/>
              <a:cxnLst/>
              <a:rect l="l" t="t" r="r" b="b"/>
              <a:pathLst>
                <a:path w="1263578" h="2709333">
                  <a:moveTo>
                    <a:pt x="0" y="0"/>
                  </a:moveTo>
                  <a:lnTo>
                    <a:pt x="1263578" y="0"/>
                  </a:lnTo>
                  <a:lnTo>
                    <a:pt x="1263578" y="2709333"/>
                  </a:lnTo>
                  <a:lnTo>
                    <a:pt x="0" y="2709333"/>
                  </a:lnTo>
                  <a:close/>
                </a:path>
              </a:pathLst>
            </a:custGeom>
            <a:solidFill>
              <a:srgbClr val="0097B2"/>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pic>
        <p:nvPicPr>
          <p:cNvPr id="5" name="Picture 5"/>
          <p:cNvPicPr>
            <a:picLocks noChangeAspect="1"/>
          </p:cNvPicPr>
          <p:nvPr/>
        </p:nvPicPr>
        <p:blipFill>
          <a:blip r:embed="rId2">
            <a:alphaModFix amt="5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flipH="1">
            <a:off x="13627314" y="-8062413"/>
            <a:ext cx="10140583" cy="10503428"/>
          </a:xfrm>
          <a:prstGeom prst="rect">
            <a:avLst/>
          </a:prstGeom>
        </p:spPr>
      </p:pic>
      <p:sp>
        <p:nvSpPr>
          <p:cNvPr id="6" name="TextBox 6"/>
          <p:cNvSpPr txBox="1"/>
          <p:nvPr/>
        </p:nvSpPr>
        <p:spPr>
          <a:xfrm>
            <a:off x="664509" y="3365551"/>
            <a:ext cx="7156711" cy="3911327"/>
          </a:xfrm>
          <a:prstGeom prst="rect">
            <a:avLst/>
          </a:prstGeom>
        </p:spPr>
        <p:txBody>
          <a:bodyPr lIns="0" tIns="0" rIns="0" bIns="0" rtlCol="0" anchor="t">
            <a:spAutoFit/>
          </a:bodyPr>
          <a:lstStyle/>
          <a:p>
            <a:pPr>
              <a:lnSpc>
                <a:spcPts val="6124"/>
              </a:lnSpc>
            </a:pPr>
            <a:r>
              <a:rPr lang="en-US" sz="3624" dirty="0">
                <a:solidFill>
                  <a:srgbClr val="000000"/>
                </a:solidFill>
                <a:latin typeface="Josefin Sans Regular Bold"/>
              </a:rPr>
              <a:t>I.   </a:t>
            </a:r>
            <a:r>
              <a:rPr lang="en-US" sz="3624" dirty="0" err="1">
                <a:solidFill>
                  <a:srgbClr val="000000"/>
                </a:solidFill>
                <a:latin typeface="Josefin Sans Regular Bold"/>
              </a:rPr>
              <a:t>Latar</a:t>
            </a:r>
            <a:r>
              <a:rPr lang="en-US" sz="3624" dirty="0">
                <a:solidFill>
                  <a:srgbClr val="000000"/>
                </a:solidFill>
                <a:latin typeface="Josefin Sans Regular Bold"/>
              </a:rPr>
              <a:t> </a:t>
            </a:r>
            <a:r>
              <a:rPr lang="en-US" sz="3624" dirty="0" err="1">
                <a:solidFill>
                  <a:srgbClr val="000000"/>
                </a:solidFill>
                <a:latin typeface="Josefin Sans Regular Bold"/>
              </a:rPr>
              <a:t>Belakang</a:t>
            </a:r>
            <a:r>
              <a:rPr lang="en-US" sz="3624" dirty="0">
                <a:solidFill>
                  <a:srgbClr val="000000"/>
                </a:solidFill>
                <a:latin typeface="Josefin Sans Regular Bold"/>
              </a:rPr>
              <a:t> </a:t>
            </a:r>
          </a:p>
          <a:p>
            <a:pPr>
              <a:lnSpc>
                <a:spcPts val="6124"/>
              </a:lnSpc>
            </a:pPr>
            <a:r>
              <a:rPr lang="en-US" sz="3624" dirty="0">
                <a:solidFill>
                  <a:srgbClr val="000000"/>
                </a:solidFill>
                <a:latin typeface="Josefin Sans Regular Bold"/>
              </a:rPr>
              <a:t>II.  </a:t>
            </a:r>
            <a:r>
              <a:rPr lang="en-US" sz="3624" dirty="0" err="1">
                <a:solidFill>
                  <a:srgbClr val="000000"/>
                </a:solidFill>
                <a:latin typeface="Josefin Sans Regular Bold"/>
              </a:rPr>
              <a:t>Tujuan</a:t>
            </a:r>
            <a:r>
              <a:rPr lang="en-US" sz="3624" dirty="0">
                <a:solidFill>
                  <a:srgbClr val="000000"/>
                </a:solidFill>
                <a:latin typeface="Josefin Sans Regular Bold"/>
              </a:rPr>
              <a:t> </a:t>
            </a:r>
          </a:p>
          <a:p>
            <a:pPr>
              <a:lnSpc>
                <a:spcPts val="6124"/>
              </a:lnSpc>
            </a:pPr>
            <a:r>
              <a:rPr lang="en-US" sz="3624" dirty="0">
                <a:solidFill>
                  <a:srgbClr val="000000"/>
                </a:solidFill>
                <a:latin typeface="Josefin Sans Regular Bold"/>
              </a:rPr>
              <a:t>III. </a:t>
            </a:r>
            <a:r>
              <a:rPr lang="en-US" sz="3624" dirty="0" err="1">
                <a:solidFill>
                  <a:srgbClr val="000000"/>
                </a:solidFill>
                <a:latin typeface="Josefin Sans Regular Bold"/>
              </a:rPr>
              <a:t>Def</a:t>
            </a:r>
            <a:r>
              <a:rPr lang="id-ID" sz="3624" dirty="0">
                <a:solidFill>
                  <a:srgbClr val="000000"/>
                </a:solidFill>
                <a:latin typeface="Josefin Sans Regular Bold"/>
              </a:rPr>
              <a:t>i</a:t>
            </a:r>
            <a:r>
              <a:rPr lang="en-US" sz="3624" dirty="0">
                <a:solidFill>
                  <a:srgbClr val="000000"/>
                </a:solidFill>
                <a:latin typeface="Josefin Sans Regular Bold"/>
              </a:rPr>
              <a:t>nisi Fraud</a:t>
            </a:r>
          </a:p>
          <a:p>
            <a:pPr>
              <a:lnSpc>
                <a:spcPts val="6124"/>
              </a:lnSpc>
            </a:pPr>
            <a:r>
              <a:rPr lang="en-US" sz="3624" dirty="0">
                <a:solidFill>
                  <a:srgbClr val="000000"/>
                </a:solidFill>
                <a:latin typeface="Josefin Sans Regular Bold"/>
              </a:rPr>
              <a:t>IV. </a:t>
            </a:r>
            <a:r>
              <a:rPr lang="en-US" sz="3624" dirty="0" err="1">
                <a:solidFill>
                  <a:srgbClr val="000000"/>
                </a:solidFill>
                <a:latin typeface="Josefin Sans Regular Bold"/>
              </a:rPr>
              <a:t>Faktor</a:t>
            </a:r>
            <a:r>
              <a:rPr lang="en-US" sz="3624" dirty="0">
                <a:solidFill>
                  <a:srgbClr val="000000"/>
                </a:solidFill>
                <a:latin typeface="Josefin Sans Regular Bold"/>
              </a:rPr>
              <a:t> </a:t>
            </a:r>
            <a:r>
              <a:rPr lang="en-US" sz="3624" dirty="0" err="1">
                <a:solidFill>
                  <a:srgbClr val="000000"/>
                </a:solidFill>
                <a:latin typeface="Josefin Sans Regular Bold"/>
              </a:rPr>
              <a:t>Pendorong</a:t>
            </a:r>
            <a:r>
              <a:rPr lang="en-US" sz="3624" dirty="0">
                <a:solidFill>
                  <a:srgbClr val="000000"/>
                </a:solidFill>
                <a:latin typeface="Josefin Sans Regular Bold"/>
              </a:rPr>
              <a:t> Fraud</a:t>
            </a:r>
          </a:p>
          <a:p>
            <a:pPr>
              <a:lnSpc>
                <a:spcPts val="6124"/>
              </a:lnSpc>
            </a:pPr>
            <a:r>
              <a:rPr lang="en-US" sz="3624" dirty="0">
                <a:solidFill>
                  <a:srgbClr val="000000"/>
                </a:solidFill>
                <a:latin typeface="Josefin Sans Regular Bold"/>
              </a:rPr>
              <a:t>V.  </a:t>
            </a:r>
            <a:r>
              <a:rPr lang="en-US" sz="3624" dirty="0" err="1">
                <a:solidFill>
                  <a:srgbClr val="000000"/>
                </a:solidFill>
                <a:latin typeface="Josefin Sans Regular Bold"/>
              </a:rPr>
              <a:t>Prinsip</a:t>
            </a:r>
            <a:r>
              <a:rPr lang="en-US" sz="3624" dirty="0">
                <a:solidFill>
                  <a:srgbClr val="000000"/>
                </a:solidFill>
                <a:latin typeface="Josefin Sans Regular Bold"/>
              </a:rPr>
              <a:t> </a:t>
            </a:r>
            <a:r>
              <a:rPr lang="en-US" sz="3624" dirty="0" err="1">
                <a:solidFill>
                  <a:srgbClr val="000000"/>
                </a:solidFill>
                <a:latin typeface="Josefin Sans Regular Bold"/>
              </a:rPr>
              <a:t>Penerapan</a:t>
            </a:r>
            <a:r>
              <a:rPr lang="en-US" sz="3624" dirty="0">
                <a:solidFill>
                  <a:srgbClr val="000000"/>
                </a:solidFill>
                <a:latin typeface="Josefin Sans Regular Bold"/>
              </a:rPr>
              <a:t> Anti Fraud </a:t>
            </a:r>
          </a:p>
        </p:txBody>
      </p:sp>
      <p:sp>
        <p:nvSpPr>
          <p:cNvPr id="7" name="TextBox 7"/>
          <p:cNvSpPr txBox="1"/>
          <p:nvPr/>
        </p:nvSpPr>
        <p:spPr>
          <a:xfrm>
            <a:off x="8387771" y="3394126"/>
            <a:ext cx="7156711" cy="4575072"/>
          </a:xfrm>
          <a:prstGeom prst="rect">
            <a:avLst/>
          </a:prstGeom>
        </p:spPr>
        <p:txBody>
          <a:bodyPr lIns="0" tIns="0" rIns="0" bIns="0" rtlCol="0" anchor="t">
            <a:spAutoFit/>
          </a:bodyPr>
          <a:lstStyle/>
          <a:p>
            <a:pPr>
              <a:lnSpc>
                <a:spcPts val="6124"/>
              </a:lnSpc>
            </a:pPr>
            <a:r>
              <a:rPr lang="en-US" sz="3624">
                <a:solidFill>
                  <a:srgbClr val="000000"/>
                </a:solidFill>
                <a:latin typeface="Josefin Sans Regular Bold"/>
              </a:rPr>
              <a:t>VI.    Unsur Fraud </a:t>
            </a:r>
          </a:p>
          <a:p>
            <a:pPr>
              <a:lnSpc>
                <a:spcPts val="6124"/>
              </a:lnSpc>
            </a:pPr>
            <a:r>
              <a:rPr lang="en-US" sz="3624">
                <a:solidFill>
                  <a:srgbClr val="000000"/>
                </a:solidFill>
                <a:latin typeface="Josefin Sans Regular Bold"/>
              </a:rPr>
              <a:t>VII.   4 Pilar Anti Fraud</a:t>
            </a:r>
          </a:p>
          <a:p>
            <a:pPr>
              <a:lnSpc>
                <a:spcPts val="6124"/>
              </a:lnSpc>
            </a:pPr>
            <a:r>
              <a:rPr lang="en-US" sz="3624">
                <a:solidFill>
                  <a:srgbClr val="000000"/>
                </a:solidFill>
                <a:latin typeface="Josefin Sans Regular Bold"/>
              </a:rPr>
              <a:t>VIII.  Anti Fraud Statement </a:t>
            </a:r>
          </a:p>
          <a:p>
            <a:pPr>
              <a:lnSpc>
                <a:spcPts val="6124"/>
              </a:lnSpc>
            </a:pPr>
            <a:r>
              <a:rPr lang="en-US" sz="3624">
                <a:solidFill>
                  <a:srgbClr val="000000"/>
                </a:solidFill>
                <a:latin typeface="Josefin Sans Regular Bold"/>
              </a:rPr>
              <a:t>IX.    Fraud Profiling </a:t>
            </a:r>
          </a:p>
          <a:p>
            <a:pPr>
              <a:lnSpc>
                <a:spcPts val="6124"/>
              </a:lnSpc>
            </a:pPr>
            <a:r>
              <a:rPr lang="en-US" sz="3624">
                <a:solidFill>
                  <a:srgbClr val="000000"/>
                </a:solidFill>
                <a:latin typeface="Josefin Sans Regular Bold"/>
              </a:rPr>
              <a:t>X.     Komite Anti Fraud</a:t>
            </a:r>
          </a:p>
          <a:p>
            <a:pPr>
              <a:lnSpc>
                <a:spcPts val="6124"/>
              </a:lnSpc>
            </a:pPr>
            <a:endParaRPr lang="en-US" sz="3624">
              <a:solidFill>
                <a:srgbClr val="000000"/>
              </a:solidFill>
              <a:latin typeface="Josefin Sans Regular Bold"/>
            </a:endParaRPr>
          </a:p>
        </p:txBody>
      </p:sp>
      <p:sp>
        <p:nvSpPr>
          <p:cNvPr id="8" name="TextBox 8"/>
          <p:cNvSpPr txBox="1"/>
          <p:nvPr/>
        </p:nvSpPr>
        <p:spPr>
          <a:xfrm>
            <a:off x="245039" y="648413"/>
            <a:ext cx="8562254" cy="1139446"/>
          </a:xfrm>
          <a:prstGeom prst="rect">
            <a:avLst/>
          </a:prstGeom>
        </p:spPr>
        <p:txBody>
          <a:bodyPr lIns="0" tIns="0" rIns="0" bIns="0" rtlCol="0" anchor="t">
            <a:spAutoFit/>
          </a:bodyPr>
          <a:lstStyle/>
          <a:p>
            <a:pPr algn="ctr">
              <a:lnSpc>
                <a:spcPts val="9386"/>
              </a:lnSpc>
            </a:pPr>
            <a:r>
              <a:rPr lang="en-US" sz="6704" spc="227">
                <a:solidFill>
                  <a:srgbClr val="000000"/>
                </a:solidFill>
                <a:latin typeface="DM Sans Bold"/>
              </a:rPr>
              <a:t>POKOK BAHASAN</a:t>
            </a:r>
          </a:p>
        </p:txBody>
      </p:sp>
      <p:sp>
        <p:nvSpPr>
          <p:cNvPr id="9" name="AutoShape 9"/>
          <p:cNvSpPr/>
          <p:nvPr/>
        </p:nvSpPr>
        <p:spPr>
          <a:xfrm rot="-2088">
            <a:off x="664559" y="2036966"/>
            <a:ext cx="7723213" cy="0"/>
          </a:xfrm>
          <a:prstGeom prst="line">
            <a:avLst/>
          </a:prstGeom>
          <a:ln w="38100" cap="flat">
            <a:solidFill>
              <a:srgbClr val="000000"/>
            </a:solidFill>
            <a:prstDash val="solid"/>
            <a:headEnd type="none" w="sm" len="sm"/>
            <a:tailEnd type="none" w="sm" len="sm"/>
          </a:ln>
        </p:spPr>
      </p:sp>
      <p:sp>
        <p:nvSpPr>
          <p:cNvPr id="10" name="TextBox 10"/>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11" name="TextBox 11"/>
          <p:cNvSpPr txBox="1"/>
          <p:nvPr/>
        </p:nvSpPr>
        <p:spPr>
          <a:xfrm>
            <a:off x="439705" y="9627294"/>
            <a:ext cx="674720" cy="400050"/>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2</a:t>
            </a: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5467314" y="4358230"/>
            <a:ext cx="11066542"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LATAR BELAKANG </a:t>
            </a:r>
          </a:p>
        </p:txBody>
      </p:sp>
      <p:sp>
        <p:nvSpPr>
          <p:cNvPr id="7" name="TextBox 7"/>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a:t>
            </a:r>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8507218" y="-311851"/>
            <a:ext cx="10533787" cy="10910702"/>
          </a:xfrm>
          <a:prstGeom prst="rect">
            <a:avLst/>
          </a:prstGeom>
        </p:spPr>
      </p:pic>
      <p:grpSp>
        <p:nvGrpSpPr>
          <p:cNvPr id="3" name="Group 3"/>
          <p:cNvGrpSpPr/>
          <p:nvPr/>
        </p:nvGrpSpPr>
        <p:grpSpPr>
          <a:xfrm>
            <a:off x="4515211" y="1817034"/>
            <a:ext cx="12310762" cy="3122264"/>
            <a:chOff x="0" y="-98857"/>
            <a:chExt cx="3242340" cy="822325"/>
          </a:xfrm>
        </p:grpSpPr>
        <p:sp>
          <p:nvSpPr>
            <p:cNvPr id="4" name="Freeform 4"/>
            <p:cNvSpPr/>
            <p:nvPr/>
          </p:nvSpPr>
          <p:spPr>
            <a:xfrm>
              <a:off x="0" y="0"/>
              <a:ext cx="3240008" cy="560986"/>
            </a:xfrm>
            <a:custGeom>
              <a:avLst/>
              <a:gdLst/>
              <a:ahLst/>
              <a:cxnLst/>
              <a:rect l="l" t="t" r="r" b="b"/>
              <a:pathLst>
                <a:path w="3240008" h="560986">
                  <a:moveTo>
                    <a:pt x="12587" y="0"/>
                  </a:moveTo>
                  <a:lnTo>
                    <a:pt x="3227422" y="0"/>
                  </a:lnTo>
                  <a:cubicBezTo>
                    <a:pt x="3234373" y="0"/>
                    <a:pt x="3240008" y="5635"/>
                    <a:pt x="3240008" y="12587"/>
                  </a:cubicBezTo>
                  <a:lnTo>
                    <a:pt x="3240008" y="548399"/>
                  </a:lnTo>
                  <a:cubicBezTo>
                    <a:pt x="3240008" y="551738"/>
                    <a:pt x="3238682" y="554939"/>
                    <a:pt x="3236322" y="557299"/>
                  </a:cubicBezTo>
                  <a:cubicBezTo>
                    <a:pt x="3233962" y="559660"/>
                    <a:pt x="3230760" y="560986"/>
                    <a:pt x="3227422" y="560986"/>
                  </a:cubicBezTo>
                  <a:lnTo>
                    <a:pt x="12587" y="560986"/>
                  </a:lnTo>
                  <a:cubicBezTo>
                    <a:pt x="9248" y="560986"/>
                    <a:pt x="6047" y="559660"/>
                    <a:pt x="3687" y="557299"/>
                  </a:cubicBezTo>
                  <a:cubicBezTo>
                    <a:pt x="1326" y="554939"/>
                    <a:pt x="0" y="551738"/>
                    <a:pt x="0" y="548399"/>
                  </a:cubicBezTo>
                  <a:lnTo>
                    <a:pt x="0" y="12587"/>
                  </a:lnTo>
                  <a:cubicBezTo>
                    <a:pt x="0" y="5635"/>
                    <a:pt x="5635" y="0"/>
                    <a:pt x="12587" y="0"/>
                  </a:cubicBezTo>
                  <a:close/>
                </a:path>
              </a:pathLst>
            </a:custGeom>
            <a:solidFill>
              <a:srgbClr val="F2F2F2"/>
            </a:solidFill>
          </p:spPr>
        </p:sp>
        <p:sp>
          <p:nvSpPr>
            <p:cNvPr id="5" name="TextBox 5"/>
            <p:cNvSpPr txBox="1"/>
            <p:nvPr/>
          </p:nvSpPr>
          <p:spPr>
            <a:xfrm>
              <a:off x="0" y="-98857"/>
              <a:ext cx="3242340" cy="822325"/>
            </a:xfrm>
            <a:prstGeom prst="rect">
              <a:avLst/>
            </a:prstGeom>
          </p:spPr>
          <p:txBody>
            <a:bodyPr lIns="254000" tIns="254000" rIns="254000" bIns="254000" rtlCol="0" anchor="ctr"/>
            <a:lstStyle/>
            <a:p>
              <a:pPr>
                <a:lnSpc>
                  <a:spcPts val="3120"/>
                </a:lnSpc>
              </a:pPr>
              <a:r>
                <a:rPr lang="en-US" sz="2600" dirty="0">
                  <a:solidFill>
                    <a:srgbClr val="191919"/>
                  </a:solidFill>
                  <a:latin typeface="Josefin Sans Regular Bold"/>
                </a:rPr>
                <a:t>Banyak </a:t>
              </a:r>
              <a:r>
                <a:rPr lang="en-US" sz="2600" dirty="0" err="1">
                  <a:solidFill>
                    <a:srgbClr val="191919"/>
                  </a:solidFill>
                  <a:latin typeface="Josefin Sans Regular Bold"/>
                </a:rPr>
                <a:t>terjadi</a:t>
              </a:r>
              <a:r>
                <a:rPr lang="en-US" sz="2600" dirty="0">
                  <a:solidFill>
                    <a:srgbClr val="191919"/>
                  </a:solidFill>
                  <a:latin typeface="Josefin Sans Regular Bold"/>
                </a:rPr>
                <a:t> </a:t>
              </a:r>
              <a:r>
                <a:rPr lang="en-US" sz="2600" dirty="0" err="1">
                  <a:solidFill>
                    <a:srgbClr val="191919"/>
                  </a:solidFill>
                  <a:latin typeface="Josefin Sans Regular Bold"/>
                </a:rPr>
                <a:t>kasus</a:t>
              </a:r>
              <a:r>
                <a:rPr lang="en-US" sz="2600" dirty="0">
                  <a:solidFill>
                    <a:srgbClr val="191919"/>
                  </a:solidFill>
                  <a:latin typeface="Josefin Sans Regular Bold"/>
                </a:rPr>
                <a:t> </a:t>
              </a:r>
              <a:r>
                <a:rPr lang="en-US" sz="2600" dirty="0" err="1">
                  <a:solidFill>
                    <a:srgbClr val="191919"/>
                  </a:solidFill>
                  <a:latin typeface="Josefin Sans Regular Bold"/>
                </a:rPr>
                <a:t>penyimpangan</a:t>
              </a:r>
              <a:r>
                <a:rPr lang="en-US" sz="2600" dirty="0">
                  <a:solidFill>
                    <a:srgbClr val="191919"/>
                  </a:solidFill>
                  <a:latin typeface="Josefin Sans Regular Bold"/>
                </a:rPr>
                <a:t> </a:t>
              </a:r>
              <a:r>
                <a:rPr lang="en-US" sz="2600" dirty="0" err="1">
                  <a:solidFill>
                    <a:srgbClr val="191919"/>
                  </a:solidFill>
                  <a:latin typeface="Josefin Sans Regular Bold"/>
                </a:rPr>
                <a:t>operasional</a:t>
              </a:r>
              <a:r>
                <a:rPr lang="en-US" sz="2600" dirty="0">
                  <a:solidFill>
                    <a:srgbClr val="191919"/>
                  </a:solidFill>
                  <a:latin typeface="Josefin Sans Regular Bold"/>
                </a:rPr>
                <a:t> dan </a:t>
              </a:r>
              <a:r>
                <a:rPr lang="en-US" sz="2600" dirty="0" err="1">
                  <a:solidFill>
                    <a:srgbClr val="191919"/>
                  </a:solidFill>
                  <a:latin typeface="Josefin Sans Regular Bold"/>
                </a:rPr>
                <a:t>keuangan</a:t>
              </a:r>
              <a:r>
                <a:rPr lang="en-US" sz="2600" dirty="0">
                  <a:solidFill>
                    <a:srgbClr val="191919"/>
                  </a:solidFill>
                  <a:latin typeface="Josefin Sans Regular Bold"/>
                </a:rPr>
                <a:t>, yang </a:t>
              </a:r>
              <a:r>
                <a:rPr lang="en-US" sz="2600" dirty="0" err="1">
                  <a:solidFill>
                    <a:srgbClr val="191919"/>
                  </a:solidFill>
                  <a:latin typeface="Josefin Sans Regular Bold"/>
                </a:rPr>
                <a:t>dikenal</a:t>
              </a:r>
              <a:r>
                <a:rPr lang="en-US" sz="2600" dirty="0">
                  <a:solidFill>
                    <a:srgbClr val="191919"/>
                  </a:solidFill>
                  <a:latin typeface="Josefin Sans Regular Bold"/>
                </a:rPr>
                <a:t> </a:t>
              </a:r>
              <a:r>
                <a:rPr lang="en-US" sz="2600" dirty="0" err="1">
                  <a:solidFill>
                    <a:srgbClr val="191919"/>
                  </a:solidFill>
                  <a:latin typeface="Josefin Sans Regular Bold"/>
                </a:rPr>
                <a:t>dengan</a:t>
              </a:r>
              <a:r>
                <a:rPr lang="en-US" sz="2600" dirty="0">
                  <a:solidFill>
                    <a:srgbClr val="191919"/>
                  </a:solidFill>
                  <a:latin typeface="Josefin Sans Regular Bold"/>
                </a:rPr>
                <a:t> </a:t>
              </a:r>
              <a:r>
                <a:rPr lang="en-US" sz="2600" dirty="0" err="1">
                  <a:solidFill>
                    <a:srgbClr val="191919"/>
                  </a:solidFill>
                  <a:latin typeface="Josefin Sans Regular Bold"/>
                </a:rPr>
                <a:t>istilah</a:t>
              </a:r>
              <a:r>
                <a:rPr lang="en-US" sz="2600" dirty="0">
                  <a:solidFill>
                    <a:srgbClr val="191919"/>
                  </a:solidFill>
                  <a:latin typeface="Josefin Sans Regular Bold"/>
                </a:rPr>
                <a:t> Fraud pada </a:t>
              </a:r>
              <a:r>
                <a:rPr lang="en-US" sz="2600" dirty="0" err="1">
                  <a:solidFill>
                    <a:srgbClr val="191919"/>
                  </a:solidFill>
                  <a:latin typeface="Josefin Sans Regular Bold"/>
                </a:rPr>
                <a:t>perusahaan</a:t>
              </a:r>
              <a:r>
                <a:rPr lang="en-US" sz="2600" dirty="0">
                  <a:solidFill>
                    <a:srgbClr val="191919"/>
                  </a:solidFill>
                  <a:latin typeface="Josefin Sans Regular Bold"/>
                </a:rPr>
                <a:t>, yang </a:t>
              </a:r>
              <a:r>
                <a:rPr lang="en-US" sz="2600" dirty="0" err="1">
                  <a:solidFill>
                    <a:srgbClr val="191919"/>
                  </a:solidFill>
                  <a:latin typeface="Josefin Sans Regular Bold"/>
                </a:rPr>
                <a:t>merugikan</a:t>
              </a:r>
              <a:r>
                <a:rPr lang="en-US" sz="2600" dirty="0">
                  <a:solidFill>
                    <a:srgbClr val="191919"/>
                  </a:solidFill>
                  <a:latin typeface="Josefin Sans Regular Bold"/>
                </a:rPr>
                <a:t> </a:t>
              </a:r>
              <a:r>
                <a:rPr lang="en-US" sz="2600" dirty="0" err="1">
                  <a:solidFill>
                    <a:srgbClr val="191919"/>
                  </a:solidFill>
                  <a:latin typeface="Josefin Sans Regular Bold"/>
                </a:rPr>
                <a:t>perusahaan</a:t>
              </a:r>
              <a:r>
                <a:rPr lang="en-US" sz="2600" dirty="0">
                  <a:solidFill>
                    <a:srgbClr val="191919"/>
                  </a:solidFill>
                  <a:latin typeface="Josefin Sans Regular Bold"/>
                </a:rPr>
                <a:t>, </a:t>
              </a:r>
              <a:r>
                <a:rPr lang="en-US" sz="2600" dirty="0" err="1">
                  <a:solidFill>
                    <a:srgbClr val="191919"/>
                  </a:solidFill>
                  <a:latin typeface="Josefin Sans Regular Bold"/>
                </a:rPr>
                <a:t>sehingga</a:t>
              </a:r>
              <a:r>
                <a:rPr lang="en-US" sz="2600" dirty="0">
                  <a:solidFill>
                    <a:srgbClr val="191919"/>
                  </a:solidFill>
                  <a:latin typeface="Josefin Sans Regular Bold"/>
                </a:rPr>
                <a:t> </a:t>
              </a:r>
              <a:r>
                <a:rPr lang="en-US" sz="2600" dirty="0" err="1">
                  <a:solidFill>
                    <a:srgbClr val="191919"/>
                  </a:solidFill>
                  <a:latin typeface="Josefin Sans Regular Bold"/>
                </a:rPr>
                <a:t>perlu</a:t>
              </a:r>
              <a:r>
                <a:rPr lang="en-US" sz="2600" dirty="0">
                  <a:solidFill>
                    <a:srgbClr val="191919"/>
                  </a:solidFill>
                  <a:latin typeface="Josefin Sans Regular Bold"/>
                </a:rPr>
                <a:t> </a:t>
              </a:r>
              <a:r>
                <a:rPr lang="en-US" sz="2600" dirty="0" err="1">
                  <a:solidFill>
                    <a:srgbClr val="191919"/>
                  </a:solidFill>
                  <a:latin typeface="Josefin Sans Regular Bold"/>
                </a:rPr>
                <a:t>ada</a:t>
              </a:r>
              <a:r>
                <a:rPr lang="en-US" sz="2600" dirty="0">
                  <a:solidFill>
                    <a:srgbClr val="191919"/>
                  </a:solidFill>
                  <a:latin typeface="Josefin Sans Regular Bold"/>
                </a:rPr>
                <a:t> </a:t>
              </a:r>
              <a:r>
                <a:rPr lang="en-US" sz="2600" dirty="0" err="1">
                  <a:solidFill>
                    <a:srgbClr val="191919"/>
                  </a:solidFill>
                  <a:latin typeface="Josefin Sans Regular Bold"/>
                </a:rPr>
                <a:t>upaya</a:t>
              </a:r>
              <a:r>
                <a:rPr lang="en-US" sz="2600" dirty="0">
                  <a:solidFill>
                    <a:srgbClr val="191919"/>
                  </a:solidFill>
                  <a:latin typeface="Josefin Sans Regular Bold"/>
                </a:rPr>
                <a:t> </a:t>
              </a:r>
              <a:r>
                <a:rPr lang="en-US" sz="2600" dirty="0" err="1">
                  <a:solidFill>
                    <a:srgbClr val="191919"/>
                  </a:solidFill>
                  <a:latin typeface="Josefin Sans Regular Bold"/>
                </a:rPr>
                <a:t>meminimalisasi</a:t>
              </a:r>
              <a:r>
                <a:rPr lang="en-US" sz="2600" dirty="0">
                  <a:solidFill>
                    <a:srgbClr val="191919"/>
                  </a:solidFill>
                  <a:latin typeface="Josefin Sans Regular Bold"/>
                </a:rPr>
                <a:t> </a:t>
              </a:r>
              <a:r>
                <a:rPr lang="en-US" sz="2600" dirty="0" err="1">
                  <a:solidFill>
                    <a:srgbClr val="191919"/>
                  </a:solidFill>
                  <a:latin typeface="Josefin Sans Regular Bold"/>
                </a:rPr>
                <a:t>risiko</a:t>
              </a:r>
              <a:r>
                <a:rPr lang="en-US" sz="2600" dirty="0">
                  <a:solidFill>
                    <a:srgbClr val="191919"/>
                  </a:solidFill>
                  <a:latin typeface="Josefin Sans Regular Bold"/>
                </a:rPr>
                <a:t> Fraud </a:t>
              </a:r>
              <a:r>
                <a:rPr lang="en-US" sz="2600" dirty="0" err="1">
                  <a:solidFill>
                    <a:srgbClr val="191919"/>
                  </a:solidFill>
                  <a:latin typeface="Josefin Sans Regular Bold"/>
                </a:rPr>
                <a:t>dengan</a:t>
              </a:r>
              <a:r>
                <a:rPr lang="en-US" sz="2600" dirty="0">
                  <a:solidFill>
                    <a:srgbClr val="191919"/>
                  </a:solidFill>
                  <a:latin typeface="Josefin Sans Regular Bold"/>
                </a:rPr>
                <a:t> </a:t>
              </a:r>
              <a:r>
                <a:rPr lang="en-US" sz="2600" dirty="0" err="1">
                  <a:solidFill>
                    <a:srgbClr val="191919"/>
                  </a:solidFill>
                  <a:latin typeface="Josefin Sans Regular Bold"/>
                </a:rPr>
                <a:t>cara</a:t>
              </a:r>
              <a:r>
                <a:rPr lang="en-US" sz="2600" dirty="0">
                  <a:solidFill>
                    <a:srgbClr val="191919"/>
                  </a:solidFill>
                  <a:latin typeface="Josefin Sans Regular Bold"/>
                </a:rPr>
                <a:t> </a:t>
              </a:r>
              <a:r>
                <a:rPr lang="en-US" sz="2600" dirty="0" err="1">
                  <a:solidFill>
                    <a:srgbClr val="191919"/>
                  </a:solidFill>
                  <a:latin typeface="Josefin Sans Regular Bold"/>
                </a:rPr>
                <a:t>menerapkan</a:t>
              </a:r>
              <a:r>
                <a:rPr lang="en-US" sz="2600" dirty="0">
                  <a:solidFill>
                    <a:srgbClr val="191919"/>
                  </a:solidFill>
                  <a:latin typeface="Josefin Sans Regular Bold"/>
                </a:rPr>
                <a:t> Strategi Anti Fraud</a:t>
              </a:r>
            </a:p>
          </p:txBody>
        </p:sp>
      </p:grpSp>
      <p:grpSp>
        <p:nvGrpSpPr>
          <p:cNvPr id="6" name="Group 6"/>
          <p:cNvGrpSpPr/>
          <p:nvPr/>
        </p:nvGrpSpPr>
        <p:grpSpPr>
          <a:xfrm>
            <a:off x="4515211" y="4219564"/>
            <a:ext cx="12310761" cy="3122264"/>
            <a:chOff x="0" y="-124915"/>
            <a:chExt cx="3242340" cy="822325"/>
          </a:xfrm>
        </p:grpSpPr>
        <p:sp>
          <p:nvSpPr>
            <p:cNvPr id="7" name="Freeform 7"/>
            <p:cNvSpPr/>
            <p:nvPr/>
          </p:nvSpPr>
          <p:spPr>
            <a:xfrm>
              <a:off x="0" y="0"/>
              <a:ext cx="3240008" cy="560986"/>
            </a:xfrm>
            <a:custGeom>
              <a:avLst/>
              <a:gdLst/>
              <a:ahLst/>
              <a:cxnLst/>
              <a:rect l="l" t="t" r="r" b="b"/>
              <a:pathLst>
                <a:path w="3240008" h="560986">
                  <a:moveTo>
                    <a:pt x="12587" y="0"/>
                  </a:moveTo>
                  <a:lnTo>
                    <a:pt x="3227422" y="0"/>
                  </a:lnTo>
                  <a:cubicBezTo>
                    <a:pt x="3234373" y="0"/>
                    <a:pt x="3240008" y="5635"/>
                    <a:pt x="3240008" y="12587"/>
                  </a:cubicBezTo>
                  <a:lnTo>
                    <a:pt x="3240008" y="548399"/>
                  </a:lnTo>
                  <a:cubicBezTo>
                    <a:pt x="3240008" y="551738"/>
                    <a:pt x="3238682" y="554939"/>
                    <a:pt x="3236322" y="557299"/>
                  </a:cubicBezTo>
                  <a:cubicBezTo>
                    <a:pt x="3233962" y="559660"/>
                    <a:pt x="3230760" y="560986"/>
                    <a:pt x="3227422" y="560986"/>
                  </a:cubicBezTo>
                  <a:lnTo>
                    <a:pt x="12587" y="560986"/>
                  </a:lnTo>
                  <a:cubicBezTo>
                    <a:pt x="9248" y="560986"/>
                    <a:pt x="6047" y="559660"/>
                    <a:pt x="3687" y="557299"/>
                  </a:cubicBezTo>
                  <a:cubicBezTo>
                    <a:pt x="1326" y="554939"/>
                    <a:pt x="0" y="551738"/>
                    <a:pt x="0" y="548399"/>
                  </a:cubicBezTo>
                  <a:lnTo>
                    <a:pt x="0" y="12587"/>
                  </a:lnTo>
                  <a:cubicBezTo>
                    <a:pt x="0" y="5635"/>
                    <a:pt x="5635" y="0"/>
                    <a:pt x="12587" y="0"/>
                  </a:cubicBezTo>
                  <a:close/>
                </a:path>
              </a:pathLst>
            </a:custGeom>
            <a:solidFill>
              <a:srgbClr val="D9D9D9"/>
            </a:solidFill>
          </p:spPr>
        </p:sp>
        <p:sp>
          <p:nvSpPr>
            <p:cNvPr id="8" name="TextBox 8"/>
            <p:cNvSpPr txBox="1"/>
            <p:nvPr/>
          </p:nvSpPr>
          <p:spPr>
            <a:xfrm>
              <a:off x="2332" y="-124915"/>
              <a:ext cx="3240008" cy="822325"/>
            </a:xfrm>
            <a:prstGeom prst="rect">
              <a:avLst/>
            </a:prstGeom>
          </p:spPr>
          <p:txBody>
            <a:bodyPr lIns="254000" tIns="254000" rIns="254000" bIns="254000" rtlCol="0" anchor="ctr"/>
            <a:lstStyle/>
            <a:p>
              <a:pPr>
                <a:lnSpc>
                  <a:spcPts val="3120"/>
                </a:lnSpc>
              </a:pPr>
              <a:r>
                <a:rPr lang="en-US" sz="2600" dirty="0" err="1">
                  <a:solidFill>
                    <a:srgbClr val="191919"/>
                  </a:solidFill>
                  <a:latin typeface="Josefin Sans Regular Bold"/>
                </a:rPr>
                <a:t>Selama</a:t>
              </a:r>
              <a:r>
                <a:rPr lang="en-US" sz="2600" dirty="0">
                  <a:solidFill>
                    <a:srgbClr val="191919"/>
                  </a:solidFill>
                  <a:latin typeface="Josefin Sans Regular Bold"/>
                </a:rPr>
                <a:t> </a:t>
              </a:r>
              <a:r>
                <a:rPr lang="en-US" sz="2600" dirty="0" err="1">
                  <a:solidFill>
                    <a:srgbClr val="191919"/>
                  </a:solidFill>
                  <a:latin typeface="Josefin Sans Regular Bold"/>
                </a:rPr>
                <a:t>ini</a:t>
              </a:r>
              <a:r>
                <a:rPr lang="en-US" sz="2600" dirty="0">
                  <a:solidFill>
                    <a:srgbClr val="191919"/>
                  </a:solidFill>
                  <a:latin typeface="Josefin Sans Regular Bold"/>
                </a:rPr>
                <a:t>, </a:t>
              </a:r>
              <a:r>
                <a:rPr lang="en-US" sz="2600" dirty="0" err="1">
                  <a:solidFill>
                    <a:srgbClr val="191919"/>
                  </a:solidFill>
                  <a:latin typeface="Josefin Sans Regular Bold"/>
                </a:rPr>
                <a:t>pengawasan</a:t>
              </a:r>
              <a:r>
                <a:rPr lang="en-US" sz="2600" dirty="0">
                  <a:solidFill>
                    <a:srgbClr val="191919"/>
                  </a:solidFill>
                  <a:latin typeface="Josefin Sans Regular Bold"/>
                </a:rPr>
                <a:t> oleh </a:t>
              </a:r>
              <a:r>
                <a:rPr lang="en-US" sz="2600" dirty="0" err="1">
                  <a:solidFill>
                    <a:srgbClr val="191919"/>
                  </a:solidFill>
                  <a:latin typeface="Josefin Sans Regular Bold"/>
                </a:rPr>
                <a:t>pengawas</a:t>
              </a:r>
              <a:r>
                <a:rPr lang="en-US" sz="2600" dirty="0">
                  <a:solidFill>
                    <a:srgbClr val="191919"/>
                  </a:solidFill>
                  <a:latin typeface="Josefin Sans Regular Bold"/>
                </a:rPr>
                <a:t> internal, </a:t>
              </a:r>
              <a:r>
                <a:rPr lang="en-US" sz="2600" dirty="0" err="1">
                  <a:solidFill>
                    <a:srgbClr val="191919"/>
                  </a:solidFill>
                  <a:latin typeface="Josefin Sans Regular Bold"/>
                </a:rPr>
                <a:t>dalam</a:t>
              </a:r>
              <a:r>
                <a:rPr lang="en-US" sz="2600" dirty="0">
                  <a:solidFill>
                    <a:srgbClr val="191919"/>
                  </a:solidFill>
                  <a:latin typeface="Josefin Sans Regular Bold"/>
                </a:rPr>
                <a:t> </a:t>
              </a:r>
              <a:r>
                <a:rPr lang="en-US" sz="2600" dirty="0" err="1">
                  <a:solidFill>
                    <a:srgbClr val="191919"/>
                  </a:solidFill>
                  <a:latin typeface="Josefin Sans Regular Bold"/>
                </a:rPr>
                <a:t>hal</a:t>
              </a:r>
              <a:r>
                <a:rPr lang="en-US" sz="2600" dirty="0">
                  <a:solidFill>
                    <a:srgbClr val="191919"/>
                  </a:solidFill>
                  <a:latin typeface="Josefin Sans Regular Bold"/>
                </a:rPr>
                <a:t> </a:t>
              </a:r>
              <a:r>
                <a:rPr lang="en-US" sz="2600" dirty="0" err="1">
                  <a:solidFill>
                    <a:srgbClr val="191919"/>
                  </a:solidFill>
                  <a:latin typeface="Josefin Sans Regular Bold"/>
                </a:rPr>
                <a:t>ini</a:t>
              </a:r>
              <a:r>
                <a:rPr lang="en-US" sz="2600" dirty="0">
                  <a:solidFill>
                    <a:srgbClr val="191919"/>
                  </a:solidFill>
                  <a:latin typeface="Josefin Sans Regular Bold"/>
                </a:rPr>
                <a:t> Internal Audit, </a:t>
              </a:r>
              <a:r>
                <a:rPr lang="en-US" sz="2600" dirty="0" err="1">
                  <a:solidFill>
                    <a:srgbClr val="191919"/>
                  </a:solidFill>
                  <a:latin typeface="Josefin Sans Regular Bold"/>
                </a:rPr>
                <a:t>belum</a:t>
              </a:r>
              <a:r>
                <a:rPr lang="en-US" sz="2600" dirty="0">
                  <a:solidFill>
                    <a:srgbClr val="191919"/>
                  </a:solidFill>
                  <a:latin typeface="Josefin Sans Regular Bold"/>
                </a:rPr>
                <a:t> </a:t>
              </a:r>
              <a:r>
                <a:rPr lang="en-US" sz="2600" dirty="0" err="1">
                  <a:solidFill>
                    <a:srgbClr val="191919"/>
                  </a:solidFill>
                  <a:latin typeface="Josefin Sans Regular Bold"/>
                </a:rPr>
                <a:t>berfungsi</a:t>
              </a:r>
              <a:r>
                <a:rPr lang="en-US" sz="2600" dirty="0">
                  <a:solidFill>
                    <a:srgbClr val="191919"/>
                  </a:solidFill>
                  <a:latin typeface="Josefin Sans Regular Bold"/>
                </a:rPr>
                <a:t> </a:t>
              </a:r>
              <a:r>
                <a:rPr lang="en-US" sz="2600" dirty="0" err="1">
                  <a:solidFill>
                    <a:srgbClr val="191919"/>
                  </a:solidFill>
                  <a:latin typeface="Josefin Sans Regular Bold"/>
                </a:rPr>
                <a:t>maksimal</a:t>
              </a:r>
              <a:r>
                <a:rPr lang="en-US" sz="2600" dirty="0">
                  <a:solidFill>
                    <a:srgbClr val="191919"/>
                  </a:solidFill>
                  <a:latin typeface="Josefin Sans Regular Bold"/>
                </a:rPr>
                <a:t> dan </a:t>
              </a:r>
              <a:r>
                <a:rPr lang="en-US" sz="2600" dirty="0" err="1">
                  <a:solidFill>
                    <a:srgbClr val="191919"/>
                  </a:solidFill>
                  <a:latin typeface="Josefin Sans Regular Bold"/>
                </a:rPr>
                <a:t>belum</a:t>
              </a:r>
              <a:r>
                <a:rPr lang="en-US" sz="2600" dirty="0">
                  <a:solidFill>
                    <a:srgbClr val="191919"/>
                  </a:solidFill>
                  <a:latin typeface="Josefin Sans Regular Bold"/>
                </a:rPr>
                <a:t> </a:t>
              </a:r>
              <a:r>
                <a:rPr lang="en-US" sz="2600" dirty="0" err="1">
                  <a:solidFill>
                    <a:srgbClr val="191919"/>
                  </a:solidFill>
                  <a:latin typeface="Josefin Sans Regular Bold"/>
                </a:rPr>
                <a:t>benar-benar</a:t>
              </a:r>
              <a:r>
                <a:rPr lang="en-US" sz="2600" dirty="0">
                  <a:solidFill>
                    <a:srgbClr val="191919"/>
                  </a:solidFill>
                  <a:latin typeface="Josefin Sans Regular Bold"/>
                </a:rPr>
                <a:t> </a:t>
              </a:r>
              <a:r>
                <a:rPr lang="en-US" sz="2600" dirty="0" err="1">
                  <a:solidFill>
                    <a:srgbClr val="191919"/>
                  </a:solidFill>
                  <a:latin typeface="Josefin Sans Regular Bold"/>
                </a:rPr>
                <a:t>efektif</a:t>
              </a:r>
              <a:r>
                <a:rPr lang="en-US" sz="2600" dirty="0">
                  <a:solidFill>
                    <a:srgbClr val="191919"/>
                  </a:solidFill>
                  <a:latin typeface="Josefin Sans Regular Bold"/>
                </a:rPr>
                <a:t>, </a:t>
              </a:r>
              <a:r>
                <a:rPr lang="en-US" sz="2600" dirty="0" err="1">
                  <a:solidFill>
                    <a:srgbClr val="191919"/>
                  </a:solidFill>
                  <a:latin typeface="Josefin Sans Regular Bold"/>
                </a:rPr>
                <a:t>sehingga</a:t>
              </a:r>
              <a:r>
                <a:rPr lang="en-US" sz="2600" dirty="0">
                  <a:solidFill>
                    <a:srgbClr val="191919"/>
                  </a:solidFill>
                  <a:latin typeface="Josefin Sans Regular Bold"/>
                </a:rPr>
                <a:t> </a:t>
              </a:r>
              <a:r>
                <a:rPr lang="en-US" sz="2600" dirty="0" err="1">
                  <a:solidFill>
                    <a:srgbClr val="191919"/>
                  </a:solidFill>
                  <a:latin typeface="Josefin Sans Regular Bold"/>
                </a:rPr>
                <a:t>perlu</a:t>
              </a:r>
              <a:r>
                <a:rPr lang="en-US" sz="2600" dirty="0">
                  <a:solidFill>
                    <a:srgbClr val="191919"/>
                  </a:solidFill>
                  <a:latin typeface="Josefin Sans Regular Bold"/>
                </a:rPr>
                <a:t> </a:t>
              </a:r>
              <a:r>
                <a:rPr lang="en-US" sz="2600" dirty="0" err="1">
                  <a:solidFill>
                    <a:srgbClr val="191919"/>
                  </a:solidFill>
                  <a:latin typeface="Josefin Sans Regular Bold"/>
                </a:rPr>
                <a:t>ada</a:t>
              </a:r>
              <a:r>
                <a:rPr lang="en-US" sz="2600" dirty="0">
                  <a:solidFill>
                    <a:srgbClr val="191919"/>
                  </a:solidFill>
                  <a:latin typeface="Josefin Sans Regular Bold"/>
                </a:rPr>
                <a:t> </a:t>
              </a:r>
              <a:r>
                <a:rPr lang="en-US" sz="2600" dirty="0" err="1">
                  <a:solidFill>
                    <a:srgbClr val="191919"/>
                  </a:solidFill>
                  <a:latin typeface="Josefin Sans Regular Bold"/>
                </a:rPr>
                <a:t>penguatan</a:t>
              </a:r>
              <a:r>
                <a:rPr lang="en-US" sz="2600" dirty="0">
                  <a:solidFill>
                    <a:srgbClr val="191919"/>
                  </a:solidFill>
                  <a:latin typeface="Josefin Sans Regular Bold"/>
                </a:rPr>
                <a:t> yang </a:t>
              </a:r>
              <a:r>
                <a:rPr lang="en-US" sz="2600" dirty="0" err="1">
                  <a:solidFill>
                    <a:srgbClr val="191919"/>
                  </a:solidFill>
                  <a:latin typeface="Josefin Sans Regular Bold"/>
                </a:rPr>
                <a:t>signifikan</a:t>
              </a:r>
              <a:r>
                <a:rPr lang="en-US" sz="2600" dirty="0">
                  <a:solidFill>
                    <a:srgbClr val="191919"/>
                  </a:solidFill>
                  <a:latin typeface="Josefin Sans Regular Bold"/>
                </a:rPr>
                <a:t> </a:t>
              </a:r>
              <a:r>
                <a:rPr lang="en-US" sz="2600" dirty="0" err="1">
                  <a:solidFill>
                    <a:srgbClr val="191919"/>
                  </a:solidFill>
                  <a:latin typeface="Josefin Sans Regular Bold"/>
                </a:rPr>
                <a:t>dengan</a:t>
              </a:r>
              <a:r>
                <a:rPr lang="en-US" sz="2600" dirty="0">
                  <a:solidFill>
                    <a:srgbClr val="191919"/>
                  </a:solidFill>
                  <a:latin typeface="Josefin Sans Regular Bold"/>
                </a:rPr>
                <a:t> </a:t>
              </a:r>
              <a:r>
                <a:rPr lang="en-US" sz="2600" dirty="0" err="1">
                  <a:solidFill>
                    <a:srgbClr val="191919"/>
                  </a:solidFill>
                  <a:latin typeface="Josefin Sans Regular Bold"/>
                </a:rPr>
                <a:t>membentuk</a:t>
              </a:r>
              <a:r>
                <a:rPr lang="en-US" sz="2600" dirty="0">
                  <a:solidFill>
                    <a:srgbClr val="191919"/>
                  </a:solidFill>
                  <a:latin typeface="Josefin Sans Regular Bold"/>
                </a:rPr>
                <a:t> internal control yang </a:t>
              </a:r>
              <a:r>
                <a:rPr lang="en-US" sz="2600" dirty="0" err="1">
                  <a:solidFill>
                    <a:srgbClr val="191919"/>
                  </a:solidFill>
                  <a:latin typeface="Josefin Sans Regular Bold"/>
                </a:rPr>
                <a:t>efektif</a:t>
              </a:r>
              <a:r>
                <a:rPr lang="en-US" sz="2600" dirty="0">
                  <a:solidFill>
                    <a:srgbClr val="191919"/>
                  </a:solidFill>
                  <a:latin typeface="Josefin Sans Regular Bold"/>
                </a:rPr>
                <a:t> </a:t>
              </a:r>
              <a:r>
                <a:rPr lang="en-US" sz="2600" dirty="0" err="1">
                  <a:solidFill>
                    <a:srgbClr val="191919"/>
                  </a:solidFill>
                  <a:latin typeface="Josefin Sans Regular Bold"/>
                </a:rPr>
                <a:t>dalam</a:t>
              </a:r>
              <a:r>
                <a:rPr lang="en-US" sz="2600" dirty="0">
                  <a:solidFill>
                    <a:srgbClr val="191919"/>
                  </a:solidFill>
                  <a:latin typeface="Josefin Sans Regular Bold"/>
                </a:rPr>
                <a:t> </a:t>
              </a:r>
              <a:r>
                <a:rPr lang="en-US" sz="2600" dirty="0" err="1">
                  <a:solidFill>
                    <a:srgbClr val="191919"/>
                  </a:solidFill>
                  <a:latin typeface="Josefin Sans Regular Bold"/>
                </a:rPr>
                <a:t>rangka</a:t>
              </a:r>
              <a:r>
                <a:rPr lang="en-US" sz="2600" dirty="0">
                  <a:solidFill>
                    <a:srgbClr val="191919"/>
                  </a:solidFill>
                  <a:latin typeface="Josefin Sans Regular Bold"/>
                </a:rPr>
                <a:t> </a:t>
              </a:r>
              <a:r>
                <a:rPr lang="en-US" sz="2600" dirty="0" err="1">
                  <a:solidFill>
                    <a:srgbClr val="191919"/>
                  </a:solidFill>
                  <a:latin typeface="Josefin Sans Regular Bold"/>
                </a:rPr>
                <a:t>penguatan</a:t>
              </a:r>
              <a:r>
                <a:rPr lang="en-US" sz="2600" dirty="0">
                  <a:solidFill>
                    <a:srgbClr val="191919"/>
                  </a:solidFill>
                  <a:latin typeface="Josefin Sans Regular Bold"/>
                </a:rPr>
                <a:t> </a:t>
              </a:r>
              <a:r>
                <a:rPr lang="en-US" sz="2600" dirty="0" err="1">
                  <a:solidFill>
                    <a:srgbClr val="191919"/>
                  </a:solidFill>
                  <a:latin typeface="Josefin Sans Regular Bold"/>
                </a:rPr>
                <a:t>Sistem</a:t>
              </a:r>
              <a:r>
                <a:rPr lang="en-US" sz="2600" dirty="0">
                  <a:solidFill>
                    <a:srgbClr val="191919"/>
                  </a:solidFill>
                  <a:latin typeface="Josefin Sans Regular Bold"/>
                </a:rPr>
                <a:t> </a:t>
              </a:r>
              <a:r>
                <a:rPr lang="en-US" sz="2600" dirty="0" err="1">
                  <a:solidFill>
                    <a:srgbClr val="191919"/>
                  </a:solidFill>
                  <a:latin typeface="Josefin Sans Regular Bold"/>
                </a:rPr>
                <a:t>Pengendalian</a:t>
              </a:r>
              <a:r>
                <a:rPr lang="en-US" sz="2600" dirty="0">
                  <a:solidFill>
                    <a:srgbClr val="191919"/>
                  </a:solidFill>
                  <a:latin typeface="Josefin Sans Regular Bold"/>
                </a:rPr>
                <a:t> Internal (SPI)</a:t>
              </a:r>
            </a:p>
          </p:txBody>
        </p:sp>
      </p:grpSp>
      <p:grpSp>
        <p:nvGrpSpPr>
          <p:cNvPr id="9" name="Group 9"/>
          <p:cNvGrpSpPr/>
          <p:nvPr/>
        </p:nvGrpSpPr>
        <p:grpSpPr>
          <a:xfrm>
            <a:off x="4515211" y="7017216"/>
            <a:ext cx="12301907" cy="3122266"/>
            <a:chOff x="0" y="-54420"/>
            <a:chExt cx="3240008" cy="822325"/>
          </a:xfrm>
        </p:grpSpPr>
        <p:sp>
          <p:nvSpPr>
            <p:cNvPr id="10" name="Freeform 10"/>
            <p:cNvSpPr/>
            <p:nvPr/>
          </p:nvSpPr>
          <p:spPr>
            <a:xfrm>
              <a:off x="0" y="0"/>
              <a:ext cx="3240008" cy="663840"/>
            </a:xfrm>
            <a:custGeom>
              <a:avLst/>
              <a:gdLst/>
              <a:ahLst/>
              <a:cxnLst/>
              <a:rect l="l" t="t" r="r" b="b"/>
              <a:pathLst>
                <a:path w="3240008" h="663840">
                  <a:moveTo>
                    <a:pt x="12587" y="0"/>
                  </a:moveTo>
                  <a:lnTo>
                    <a:pt x="3227422" y="0"/>
                  </a:lnTo>
                  <a:cubicBezTo>
                    <a:pt x="3234373" y="0"/>
                    <a:pt x="3240008" y="5635"/>
                    <a:pt x="3240008" y="12587"/>
                  </a:cubicBezTo>
                  <a:lnTo>
                    <a:pt x="3240008" y="651254"/>
                  </a:lnTo>
                  <a:cubicBezTo>
                    <a:pt x="3240008" y="654592"/>
                    <a:pt x="3238682" y="657793"/>
                    <a:pt x="3236322" y="660154"/>
                  </a:cubicBezTo>
                  <a:cubicBezTo>
                    <a:pt x="3233962" y="662514"/>
                    <a:pt x="3230760" y="663840"/>
                    <a:pt x="3227422" y="663840"/>
                  </a:cubicBezTo>
                  <a:lnTo>
                    <a:pt x="12587" y="663840"/>
                  </a:lnTo>
                  <a:cubicBezTo>
                    <a:pt x="5635" y="663840"/>
                    <a:pt x="0" y="658205"/>
                    <a:pt x="0" y="651254"/>
                  </a:cubicBezTo>
                  <a:lnTo>
                    <a:pt x="0" y="12587"/>
                  </a:lnTo>
                  <a:cubicBezTo>
                    <a:pt x="0" y="5635"/>
                    <a:pt x="5635" y="0"/>
                    <a:pt x="12587" y="0"/>
                  </a:cubicBezTo>
                  <a:close/>
                </a:path>
              </a:pathLst>
            </a:custGeom>
            <a:solidFill>
              <a:srgbClr val="F2F2F2"/>
            </a:solidFill>
          </p:spPr>
        </p:sp>
        <p:sp>
          <p:nvSpPr>
            <p:cNvPr id="11" name="TextBox 11"/>
            <p:cNvSpPr txBox="1"/>
            <p:nvPr/>
          </p:nvSpPr>
          <p:spPr>
            <a:xfrm>
              <a:off x="0" y="-54420"/>
              <a:ext cx="3240008" cy="822325"/>
            </a:xfrm>
            <a:prstGeom prst="rect">
              <a:avLst/>
            </a:prstGeom>
          </p:spPr>
          <p:txBody>
            <a:bodyPr lIns="254000" tIns="254000" rIns="254000" bIns="254000" rtlCol="0" anchor="ctr"/>
            <a:lstStyle/>
            <a:p>
              <a:pPr>
                <a:lnSpc>
                  <a:spcPts val="3120"/>
                </a:lnSpc>
              </a:pPr>
              <a:r>
                <a:rPr lang="en-US" sz="2600" dirty="0" err="1">
                  <a:solidFill>
                    <a:srgbClr val="191919"/>
                  </a:solidFill>
                  <a:latin typeface="Josefin Sans Regular Bold"/>
                </a:rPr>
                <a:t>Untuk</a:t>
              </a:r>
              <a:r>
                <a:rPr lang="en-US" sz="2600" dirty="0">
                  <a:solidFill>
                    <a:srgbClr val="191919"/>
                  </a:solidFill>
                  <a:latin typeface="Josefin Sans Regular Bold"/>
                </a:rPr>
                <a:t> </a:t>
              </a:r>
              <a:r>
                <a:rPr lang="en-US" sz="2600" dirty="0" err="1">
                  <a:solidFill>
                    <a:srgbClr val="191919"/>
                  </a:solidFill>
                  <a:latin typeface="Josefin Sans Regular Bold"/>
                </a:rPr>
                <a:t>itu</a:t>
              </a:r>
              <a:r>
                <a:rPr lang="en-US" sz="2600" dirty="0">
                  <a:solidFill>
                    <a:srgbClr val="191919"/>
                  </a:solidFill>
                  <a:latin typeface="Josefin Sans Regular Bold"/>
                </a:rPr>
                <a:t>, salah </a:t>
              </a:r>
              <a:r>
                <a:rPr lang="en-US" sz="2600" dirty="0" err="1">
                  <a:solidFill>
                    <a:srgbClr val="191919"/>
                  </a:solidFill>
                  <a:latin typeface="Josefin Sans Regular Bold"/>
                </a:rPr>
                <a:t>satu</a:t>
              </a:r>
              <a:r>
                <a:rPr lang="en-US" sz="2600" dirty="0">
                  <a:solidFill>
                    <a:srgbClr val="191919"/>
                  </a:solidFill>
                  <a:latin typeface="Josefin Sans Regular Bold"/>
                </a:rPr>
                <a:t> </a:t>
              </a:r>
              <a:r>
                <a:rPr lang="en-US" sz="2600" dirty="0" err="1">
                  <a:solidFill>
                    <a:srgbClr val="191919"/>
                  </a:solidFill>
                  <a:latin typeface="Josefin Sans Regular Bold"/>
                </a:rPr>
                <a:t>fokus</a:t>
              </a:r>
              <a:r>
                <a:rPr lang="en-US" sz="2600" dirty="0">
                  <a:solidFill>
                    <a:srgbClr val="191919"/>
                  </a:solidFill>
                  <a:latin typeface="Josefin Sans Regular Bold"/>
                </a:rPr>
                <a:t> internal control </a:t>
              </a:r>
              <a:r>
                <a:rPr lang="en-US" sz="2600" dirty="0" err="1">
                  <a:solidFill>
                    <a:srgbClr val="191919"/>
                  </a:solidFill>
                  <a:latin typeface="Josefin Sans Regular Bold"/>
                </a:rPr>
                <a:t>adalah</a:t>
              </a:r>
              <a:r>
                <a:rPr lang="en-US" sz="2600" dirty="0">
                  <a:solidFill>
                    <a:srgbClr val="191919"/>
                  </a:solidFill>
                  <a:latin typeface="Josefin Sans Regular Bold"/>
                </a:rPr>
                <a:t> </a:t>
              </a:r>
              <a:r>
                <a:rPr lang="en-US" sz="2600" dirty="0" err="1">
                  <a:solidFill>
                    <a:srgbClr val="191919"/>
                  </a:solidFill>
                  <a:latin typeface="Josefin Sans Regular Bold"/>
                </a:rPr>
                <a:t>peningkatan</a:t>
              </a:r>
              <a:r>
                <a:rPr lang="en-US" sz="2600" dirty="0">
                  <a:solidFill>
                    <a:srgbClr val="191919"/>
                  </a:solidFill>
                  <a:latin typeface="Josefin Sans Regular Bold"/>
                </a:rPr>
                <a:t> </a:t>
              </a:r>
              <a:r>
                <a:rPr lang="en-US" sz="2600" dirty="0" err="1">
                  <a:solidFill>
                    <a:srgbClr val="191919"/>
                  </a:solidFill>
                  <a:latin typeface="Josefin Sans Regular Bold"/>
                </a:rPr>
                <a:t>pencegahan</a:t>
              </a:r>
              <a:r>
                <a:rPr lang="en-US" sz="2600" dirty="0">
                  <a:solidFill>
                    <a:srgbClr val="191919"/>
                  </a:solidFill>
                  <a:latin typeface="Josefin Sans Regular Bold"/>
                </a:rPr>
                <a:t> Fraud </a:t>
              </a:r>
              <a:r>
                <a:rPr lang="en-US" sz="2600" dirty="0" err="1">
                  <a:solidFill>
                    <a:srgbClr val="191919"/>
                  </a:solidFill>
                  <a:latin typeface="Josefin Sans Regular Bold"/>
                </a:rPr>
                <a:t>dengan</a:t>
              </a:r>
              <a:r>
                <a:rPr lang="en-US" sz="2600" dirty="0">
                  <a:solidFill>
                    <a:srgbClr val="191919"/>
                  </a:solidFill>
                  <a:latin typeface="Josefin Sans Regular Bold"/>
                </a:rPr>
                <a:t> </a:t>
              </a:r>
              <a:r>
                <a:rPr lang="en-US" sz="2600" dirty="0" err="1">
                  <a:solidFill>
                    <a:srgbClr val="191919"/>
                  </a:solidFill>
                  <a:latin typeface="Josefin Sans Regular Bold"/>
                </a:rPr>
                <a:t>menerapkan</a:t>
              </a:r>
              <a:r>
                <a:rPr lang="en-US" sz="2600" dirty="0">
                  <a:solidFill>
                    <a:srgbClr val="191919"/>
                  </a:solidFill>
                  <a:latin typeface="Josefin Sans Regular Bold"/>
                </a:rPr>
                <a:t> strategi anti fraud dan </a:t>
              </a:r>
              <a:r>
                <a:rPr lang="en-US" sz="2600" dirty="0" err="1">
                  <a:solidFill>
                    <a:srgbClr val="191919"/>
                  </a:solidFill>
                  <a:latin typeface="Josefin Sans Regular Bold"/>
                </a:rPr>
                <a:t>menjadikan</a:t>
              </a:r>
              <a:r>
                <a:rPr lang="en-US" sz="2600" dirty="0">
                  <a:solidFill>
                    <a:srgbClr val="191919"/>
                  </a:solidFill>
                  <a:latin typeface="Josefin Sans Regular Bold"/>
                </a:rPr>
                <a:t> anti fraud </a:t>
              </a:r>
              <a:r>
                <a:rPr lang="en-US" sz="2600" dirty="0" err="1">
                  <a:solidFill>
                    <a:srgbClr val="191919"/>
                  </a:solidFill>
                  <a:latin typeface="Josefin Sans Regular Bold"/>
                </a:rPr>
                <a:t>sebagai</a:t>
              </a:r>
              <a:r>
                <a:rPr lang="en-US" sz="2600" dirty="0">
                  <a:solidFill>
                    <a:srgbClr val="191919"/>
                  </a:solidFill>
                  <a:latin typeface="Josefin Sans Regular Bold"/>
                </a:rPr>
                <a:t> </a:t>
              </a:r>
              <a:r>
                <a:rPr lang="en-US" sz="2600" dirty="0" err="1">
                  <a:solidFill>
                    <a:srgbClr val="191919"/>
                  </a:solidFill>
                  <a:latin typeface="Josefin Sans Regular Bold"/>
                </a:rPr>
                <a:t>perhatian</a:t>
              </a:r>
              <a:r>
                <a:rPr lang="en-US" sz="2600" dirty="0">
                  <a:solidFill>
                    <a:srgbClr val="191919"/>
                  </a:solidFill>
                  <a:latin typeface="Josefin Sans Regular Bold"/>
                </a:rPr>
                <a:t> dan </a:t>
              </a:r>
              <a:r>
                <a:rPr lang="en-US" sz="2600" dirty="0" err="1">
                  <a:solidFill>
                    <a:srgbClr val="191919"/>
                  </a:solidFill>
                  <a:latin typeface="Josefin Sans Regular Bold"/>
                </a:rPr>
                <a:t>budaya</a:t>
              </a:r>
              <a:r>
                <a:rPr lang="en-US" sz="2600" dirty="0">
                  <a:solidFill>
                    <a:srgbClr val="191919"/>
                  </a:solidFill>
                  <a:latin typeface="Josefin Sans Regular Bold"/>
                </a:rPr>
                <a:t> pada </a:t>
              </a:r>
              <a:r>
                <a:rPr lang="en-US" sz="2600" dirty="0" err="1">
                  <a:solidFill>
                    <a:srgbClr val="191919"/>
                  </a:solidFill>
                  <a:latin typeface="Josefin Sans Regular Bold"/>
                </a:rPr>
                <a:t>seluruh</a:t>
              </a:r>
              <a:r>
                <a:rPr lang="en-US" sz="2600" dirty="0">
                  <a:solidFill>
                    <a:srgbClr val="191919"/>
                  </a:solidFill>
                  <a:latin typeface="Josefin Sans Regular Bold"/>
                </a:rPr>
                <a:t> </a:t>
              </a:r>
              <a:r>
                <a:rPr lang="en-US" sz="2600" dirty="0" err="1">
                  <a:solidFill>
                    <a:srgbClr val="191919"/>
                  </a:solidFill>
                  <a:latin typeface="Josefin Sans Regular Bold"/>
                </a:rPr>
                <a:t>aspek</a:t>
              </a:r>
              <a:r>
                <a:rPr lang="en-US" sz="2600" dirty="0">
                  <a:solidFill>
                    <a:srgbClr val="191919"/>
                  </a:solidFill>
                  <a:latin typeface="Josefin Sans Regular Bold"/>
                </a:rPr>
                <a:t> </a:t>
              </a:r>
              <a:r>
                <a:rPr lang="en-US" sz="2600" dirty="0" err="1">
                  <a:solidFill>
                    <a:srgbClr val="191919"/>
                  </a:solidFill>
                  <a:latin typeface="Josefin Sans Regular Bold"/>
                </a:rPr>
                <a:t>organisasi</a:t>
              </a:r>
              <a:r>
                <a:rPr lang="en-US" sz="2600" dirty="0">
                  <a:solidFill>
                    <a:srgbClr val="191919"/>
                  </a:solidFill>
                  <a:latin typeface="Josefin Sans Regular Bold"/>
                </a:rPr>
                <a:t>, </a:t>
              </a:r>
              <a:r>
                <a:rPr lang="en-US" sz="2600" dirty="0" err="1">
                  <a:solidFill>
                    <a:srgbClr val="191919"/>
                  </a:solidFill>
                  <a:latin typeface="Josefin Sans Regular Bold"/>
                </a:rPr>
                <a:t>baik</a:t>
              </a:r>
              <a:r>
                <a:rPr lang="en-US" sz="2600" dirty="0">
                  <a:solidFill>
                    <a:srgbClr val="191919"/>
                  </a:solidFill>
                  <a:latin typeface="Josefin Sans Regular Bold"/>
                </a:rPr>
                <a:t> oleh </a:t>
              </a:r>
              <a:r>
                <a:rPr lang="en-US" sz="2600" dirty="0" err="1">
                  <a:solidFill>
                    <a:srgbClr val="191919"/>
                  </a:solidFill>
                  <a:latin typeface="Josefin Sans Regular Bold"/>
                </a:rPr>
                <a:t>manajemen</a:t>
              </a:r>
              <a:r>
                <a:rPr lang="en-US" sz="2600" dirty="0">
                  <a:solidFill>
                    <a:srgbClr val="191919"/>
                  </a:solidFill>
                  <a:latin typeface="Josefin Sans Regular Bold"/>
                </a:rPr>
                <a:t> </a:t>
              </a:r>
              <a:r>
                <a:rPr lang="en-US" sz="2600" dirty="0" err="1">
                  <a:solidFill>
                    <a:srgbClr val="191919"/>
                  </a:solidFill>
                  <a:latin typeface="Josefin Sans Regular Bold"/>
                </a:rPr>
                <a:t>maupun</a:t>
              </a:r>
              <a:r>
                <a:rPr lang="en-US" sz="2600" dirty="0">
                  <a:solidFill>
                    <a:srgbClr val="191919"/>
                  </a:solidFill>
                  <a:latin typeface="Josefin Sans Regular Bold"/>
                </a:rPr>
                <a:t> </a:t>
              </a:r>
              <a:r>
                <a:rPr lang="en-US" sz="2600" dirty="0" err="1">
                  <a:solidFill>
                    <a:srgbClr val="191919"/>
                  </a:solidFill>
                  <a:latin typeface="Josefin Sans Regular Bold"/>
                </a:rPr>
                <a:t>karyawan</a:t>
              </a:r>
              <a:r>
                <a:rPr lang="en-US" sz="2600" dirty="0">
                  <a:solidFill>
                    <a:srgbClr val="191919"/>
                  </a:solidFill>
                  <a:latin typeface="Josefin Sans Regular Bold"/>
                </a:rPr>
                <a:t>. </a:t>
              </a:r>
              <a:r>
                <a:rPr lang="en-US" sz="2600" dirty="0" err="1">
                  <a:solidFill>
                    <a:srgbClr val="191919"/>
                  </a:solidFill>
                  <a:latin typeface="Josefin Sans Regular Bold"/>
                </a:rPr>
                <a:t>Berdasarkan</a:t>
              </a:r>
              <a:r>
                <a:rPr lang="en-US" sz="2600" dirty="0">
                  <a:solidFill>
                    <a:srgbClr val="191919"/>
                  </a:solidFill>
                  <a:latin typeface="Josefin Sans Regular Bold"/>
                </a:rPr>
                <a:t> </a:t>
              </a:r>
              <a:r>
                <a:rPr lang="en-US" sz="2600" dirty="0" err="1">
                  <a:solidFill>
                    <a:srgbClr val="191919"/>
                  </a:solidFill>
                  <a:latin typeface="Josefin Sans Regular Bold"/>
                </a:rPr>
                <a:t>penelitian</a:t>
              </a:r>
              <a:r>
                <a:rPr lang="en-US" sz="2600" dirty="0">
                  <a:solidFill>
                    <a:srgbClr val="191919"/>
                  </a:solidFill>
                  <a:latin typeface="Josefin Sans Regular Bold"/>
                </a:rPr>
                <a:t>, </a:t>
              </a:r>
              <a:r>
                <a:rPr lang="en-US" sz="2600" dirty="0" err="1">
                  <a:solidFill>
                    <a:srgbClr val="191919"/>
                  </a:solidFill>
                  <a:latin typeface="Josefin Sans Regular Bold"/>
                </a:rPr>
                <a:t>lemahnya</a:t>
              </a:r>
              <a:r>
                <a:rPr lang="en-US" sz="2600" dirty="0">
                  <a:solidFill>
                    <a:srgbClr val="191919"/>
                  </a:solidFill>
                  <a:latin typeface="Josefin Sans Regular Bold"/>
                </a:rPr>
                <a:t> internal control </a:t>
              </a:r>
              <a:r>
                <a:rPr lang="en-US" sz="2600" dirty="0" err="1">
                  <a:solidFill>
                    <a:srgbClr val="191919"/>
                  </a:solidFill>
                  <a:latin typeface="Josefin Sans Regular Bold"/>
                </a:rPr>
                <a:t>bertanggungjawab</a:t>
              </a:r>
              <a:r>
                <a:rPr lang="en-US" sz="2600" dirty="0">
                  <a:solidFill>
                    <a:srgbClr val="191919"/>
                  </a:solidFill>
                  <a:latin typeface="Josefin Sans Regular Bold"/>
                </a:rPr>
                <a:t> pada </a:t>
              </a:r>
              <a:r>
                <a:rPr lang="en-US" sz="2600" dirty="0" err="1">
                  <a:solidFill>
                    <a:srgbClr val="191919"/>
                  </a:solidFill>
                  <a:latin typeface="Josefin Sans Regular Bold"/>
                </a:rPr>
                <a:t>hampir</a:t>
              </a:r>
              <a:r>
                <a:rPr lang="en-US" sz="2600" dirty="0">
                  <a:solidFill>
                    <a:srgbClr val="191919"/>
                  </a:solidFill>
                  <a:latin typeface="Josefin Sans Regular Bold"/>
                </a:rPr>
                <a:t> 50% </a:t>
              </a:r>
              <a:r>
                <a:rPr lang="en-US" sz="2600" dirty="0" err="1">
                  <a:solidFill>
                    <a:srgbClr val="191919"/>
                  </a:solidFill>
                  <a:latin typeface="Josefin Sans Regular Bold"/>
                </a:rPr>
                <a:t>aktivitas</a:t>
              </a:r>
              <a:r>
                <a:rPr lang="en-US" sz="2600" dirty="0">
                  <a:solidFill>
                    <a:srgbClr val="191919"/>
                  </a:solidFill>
                  <a:latin typeface="Josefin Sans Regular Bold"/>
                </a:rPr>
                <a:t> fraud</a:t>
              </a:r>
            </a:p>
          </p:txBody>
        </p:sp>
      </p:grpSp>
      <p:sp>
        <p:nvSpPr>
          <p:cNvPr id="12" name="TextBox 12"/>
          <p:cNvSpPr txBox="1"/>
          <p:nvPr/>
        </p:nvSpPr>
        <p:spPr>
          <a:xfrm>
            <a:off x="3686134" y="2440756"/>
            <a:ext cx="468957" cy="778510"/>
          </a:xfrm>
          <a:prstGeom prst="rect">
            <a:avLst/>
          </a:prstGeom>
        </p:spPr>
        <p:txBody>
          <a:bodyPr lIns="0" tIns="0" rIns="0" bIns="0" rtlCol="0" anchor="t">
            <a:spAutoFit/>
          </a:bodyPr>
          <a:lstStyle/>
          <a:p>
            <a:pPr algn="ctr">
              <a:lnSpc>
                <a:spcPts val="6440"/>
              </a:lnSpc>
            </a:pPr>
            <a:r>
              <a:rPr lang="en-US" sz="4600">
                <a:solidFill>
                  <a:srgbClr val="F2F2F2"/>
                </a:solidFill>
                <a:latin typeface="Canva Sans Bold"/>
              </a:rPr>
              <a:t>1.</a:t>
            </a:r>
          </a:p>
        </p:txBody>
      </p:sp>
      <p:sp>
        <p:nvSpPr>
          <p:cNvPr id="13" name="TextBox 13"/>
          <p:cNvSpPr txBox="1"/>
          <p:nvPr/>
        </p:nvSpPr>
        <p:spPr>
          <a:xfrm>
            <a:off x="3677279" y="4740231"/>
            <a:ext cx="486668" cy="778510"/>
          </a:xfrm>
          <a:prstGeom prst="rect">
            <a:avLst/>
          </a:prstGeom>
        </p:spPr>
        <p:txBody>
          <a:bodyPr lIns="0" tIns="0" rIns="0" bIns="0" rtlCol="0" anchor="t">
            <a:spAutoFit/>
          </a:bodyPr>
          <a:lstStyle/>
          <a:p>
            <a:pPr algn="ctr">
              <a:lnSpc>
                <a:spcPts val="6440"/>
              </a:lnSpc>
            </a:pPr>
            <a:r>
              <a:rPr lang="en-US" sz="4600">
                <a:solidFill>
                  <a:srgbClr val="F2F2F2"/>
                </a:solidFill>
                <a:latin typeface="Canva Sans Bold"/>
              </a:rPr>
              <a:t>2.</a:t>
            </a:r>
          </a:p>
        </p:txBody>
      </p:sp>
      <p:sp>
        <p:nvSpPr>
          <p:cNvPr id="14" name="TextBox 14"/>
          <p:cNvSpPr txBox="1"/>
          <p:nvPr/>
        </p:nvSpPr>
        <p:spPr>
          <a:xfrm>
            <a:off x="3686134" y="7399482"/>
            <a:ext cx="506313" cy="778510"/>
          </a:xfrm>
          <a:prstGeom prst="rect">
            <a:avLst/>
          </a:prstGeom>
        </p:spPr>
        <p:txBody>
          <a:bodyPr lIns="0" tIns="0" rIns="0" bIns="0" rtlCol="0" anchor="t">
            <a:spAutoFit/>
          </a:bodyPr>
          <a:lstStyle/>
          <a:p>
            <a:pPr algn="ctr">
              <a:lnSpc>
                <a:spcPts val="6440"/>
              </a:lnSpc>
            </a:pPr>
            <a:r>
              <a:rPr lang="en-US" sz="4600">
                <a:solidFill>
                  <a:srgbClr val="F2F2F2"/>
                </a:solidFill>
                <a:latin typeface="Canva Sans Bold"/>
              </a:rPr>
              <a:t>3.</a:t>
            </a:r>
          </a:p>
        </p:txBody>
      </p:sp>
      <p:sp>
        <p:nvSpPr>
          <p:cNvPr id="15" name="TextBox 15"/>
          <p:cNvSpPr txBox="1"/>
          <p:nvPr/>
        </p:nvSpPr>
        <p:spPr>
          <a:xfrm>
            <a:off x="1694963" y="1206122"/>
            <a:ext cx="6128900" cy="586210"/>
          </a:xfrm>
          <a:prstGeom prst="rect">
            <a:avLst/>
          </a:prstGeom>
        </p:spPr>
        <p:txBody>
          <a:bodyPr lIns="0" tIns="0" rIns="0" bIns="0" rtlCol="0" anchor="t">
            <a:spAutoFit/>
          </a:bodyPr>
          <a:lstStyle/>
          <a:p>
            <a:pPr algn="ctr">
              <a:lnSpc>
                <a:spcPts val="4810"/>
              </a:lnSpc>
            </a:pPr>
            <a:r>
              <a:rPr lang="en-US" sz="3435" spc="116">
                <a:solidFill>
                  <a:srgbClr val="F2F2F2"/>
                </a:solidFill>
                <a:latin typeface="DM Sans Bold"/>
              </a:rPr>
              <a:t>LATAR BELAKANG</a:t>
            </a:r>
          </a:p>
        </p:txBody>
      </p:sp>
      <p:sp>
        <p:nvSpPr>
          <p:cNvPr id="16" name="TextBox 16"/>
          <p:cNvSpPr txBox="1"/>
          <p:nvPr/>
        </p:nvSpPr>
        <p:spPr>
          <a:xfrm>
            <a:off x="15247950" y="9903507"/>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17" name="TextBox 17"/>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4</a:t>
            </a: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6719936" y="4086225"/>
            <a:ext cx="11066542"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2. TUJUAN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5</a:t>
            </a: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2501113" y="-6300889"/>
            <a:ext cx="21198719" cy="10287000"/>
            <a:chOff x="0" y="0"/>
            <a:chExt cx="5583202" cy="2709333"/>
          </a:xfrm>
        </p:grpSpPr>
        <p:sp>
          <p:nvSpPr>
            <p:cNvPr id="3" name="Freeform 3"/>
            <p:cNvSpPr/>
            <p:nvPr/>
          </p:nvSpPr>
          <p:spPr>
            <a:xfrm>
              <a:off x="0" y="0"/>
              <a:ext cx="5583202" cy="2709333"/>
            </a:xfrm>
            <a:custGeom>
              <a:avLst/>
              <a:gdLst/>
              <a:ahLst/>
              <a:cxnLst/>
              <a:rect l="l" t="t" r="r" b="b"/>
              <a:pathLst>
                <a:path w="5583202" h="2709333">
                  <a:moveTo>
                    <a:pt x="0" y="0"/>
                  </a:moveTo>
                  <a:lnTo>
                    <a:pt x="5583202" y="0"/>
                  </a:lnTo>
                  <a:lnTo>
                    <a:pt x="5583202" y="2709333"/>
                  </a:lnTo>
                  <a:lnTo>
                    <a:pt x="0" y="2709333"/>
                  </a:lnTo>
                  <a:close/>
                </a:path>
              </a:pathLst>
            </a:custGeom>
            <a:solidFill>
              <a:srgbClr val="0E3C7B"/>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pic>
        <p:nvPicPr>
          <p:cNvPr id="5" name="Picture 5"/>
          <p:cNvPicPr>
            <a:picLocks noChangeAspect="1"/>
          </p:cNvPicPr>
          <p:nvPr/>
        </p:nvPicPr>
        <p:blipFill>
          <a:blip r:embed="rId2"/>
          <a:srcRect/>
          <a:stretch>
            <a:fillRect/>
          </a:stretch>
        </p:blipFill>
        <p:spPr>
          <a:xfrm>
            <a:off x="14005580" y="-376643"/>
            <a:ext cx="4282420" cy="82296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706449" y="2474499"/>
            <a:ext cx="18874986" cy="1276350"/>
          </a:xfrm>
          <a:prstGeom prst="rect">
            <a:avLst/>
          </a:prstGeom>
        </p:spPr>
        <p:txBody>
          <a:bodyPr lIns="0" tIns="0" rIns="0" bIns="0" rtlCol="0" anchor="t">
            <a:spAutoFit/>
          </a:bodyPr>
          <a:lstStyle/>
          <a:p>
            <a:pPr>
              <a:lnSpc>
                <a:spcPts val="5040"/>
              </a:lnSpc>
            </a:pPr>
            <a:r>
              <a:rPr lang="en-US" sz="4200">
                <a:solidFill>
                  <a:srgbClr val="F2F2F2"/>
                </a:solidFill>
                <a:latin typeface="DM Sans Bold"/>
              </a:rPr>
              <a:t>Tujuan diterapkannya kebijakan anti fraud di Perusahaan adalah :</a:t>
            </a:r>
          </a:p>
          <a:p>
            <a:pPr>
              <a:lnSpc>
                <a:spcPts val="5040"/>
              </a:lnSpc>
            </a:pPr>
            <a:endParaRPr lang="en-US" sz="4200">
              <a:solidFill>
                <a:srgbClr val="F2F2F2"/>
              </a:solidFill>
              <a:latin typeface="DM Sans Bold"/>
            </a:endParaRPr>
          </a:p>
        </p:txBody>
      </p:sp>
      <p:sp>
        <p:nvSpPr>
          <p:cNvPr id="8" name="TextBox 8"/>
          <p:cNvSpPr txBox="1"/>
          <p:nvPr/>
        </p:nvSpPr>
        <p:spPr>
          <a:xfrm>
            <a:off x="706449" y="4601576"/>
            <a:ext cx="16668533" cy="4212209"/>
          </a:xfrm>
          <a:prstGeom prst="rect">
            <a:avLst/>
          </a:prstGeom>
        </p:spPr>
        <p:txBody>
          <a:bodyPr lIns="0" tIns="0" rIns="0" bIns="0" rtlCol="0" anchor="t">
            <a:spAutoFit/>
          </a:bodyPr>
          <a:lstStyle/>
          <a:p>
            <a:pPr marL="604519" lvl="1" indent="-302260" algn="just">
              <a:lnSpc>
                <a:spcPts val="6215"/>
              </a:lnSpc>
              <a:buFont typeface="Arial"/>
              <a:buChar char="•"/>
            </a:pPr>
            <a:r>
              <a:rPr lang="en-US" sz="2799" spc="55">
                <a:solidFill>
                  <a:srgbClr val="000000"/>
                </a:solidFill>
                <a:latin typeface="Telegraf"/>
              </a:rPr>
              <a:t> Menumbuhkan budaya anti fraud pada seluruh jajaran organisasi Perusahaan</a:t>
            </a:r>
          </a:p>
          <a:p>
            <a:pPr marL="604519" lvl="1" indent="-302260" algn="just">
              <a:lnSpc>
                <a:spcPts val="6215"/>
              </a:lnSpc>
              <a:buFont typeface="Arial"/>
              <a:buChar char="•"/>
            </a:pPr>
            <a:r>
              <a:rPr lang="en-US" sz="2799" spc="55">
                <a:solidFill>
                  <a:srgbClr val="000000"/>
                </a:solidFill>
                <a:latin typeface="Telegraf"/>
              </a:rPr>
              <a:t> Meningkatkan awareness dan  kepedulian  terhadap risiko fraud di operasional Perusahaan</a:t>
            </a:r>
          </a:p>
          <a:p>
            <a:pPr marL="604519" lvl="1" indent="-302260" algn="just">
              <a:lnSpc>
                <a:spcPts val="6215"/>
              </a:lnSpc>
              <a:buFont typeface="Arial"/>
              <a:buChar char="•"/>
            </a:pPr>
            <a:r>
              <a:rPr lang="en-US" sz="2799" spc="55">
                <a:solidFill>
                  <a:srgbClr val="000000"/>
                </a:solidFill>
                <a:latin typeface="Telegraf"/>
              </a:rPr>
              <a:t> Sebagai reminder untuk para pelaksana operasional Perusahaan agar mematuhi prosedur     dan ketentuan yang berlaku</a:t>
            </a:r>
          </a:p>
          <a:p>
            <a:pPr>
              <a:lnSpc>
                <a:spcPts val="3919"/>
              </a:lnSpc>
            </a:pPr>
            <a:endParaRPr lang="en-US" sz="2799" spc="55">
              <a:solidFill>
                <a:srgbClr val="000000"/>
              </a:solidFill>
              <a:latin typeface="Telegraf"/>
            </a:endParaRPr>
          </a:p>
          <a:p>
            <a:pPr>
              <a:lnSpc>
                <a:spcPts val="3919"/>
              </a:lnSpc>
            </a:pPr>
            <a:endParaRPr lang="en-US" sz="2799" spc="55">
              <a:solidFill>
                <a:srgbClr val="000000"/>
              </a:solidFill>
              <a:latin typeface="Telegraf"/>
            </a:endParaRPr>
          </a:p>
        </p:txBody>
      </p:sp>
      <p:sp>
        <p:nvSpPr>
          <p:cNvPr id="9" name="TextBox 9"/>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6</a:t>
            </a:r>
          </a:p>
        </p:txBody>
      </p:sp>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6192758" y="4357681"/>
            <a:ext cx="11066542" cy="1077218"/>
          </a:xfrm>
          <a:prstGeom prst="rect">
            <a:avLst/>
          </a:prstGeom>
        </p:spPr>
        <p:txBody>
          <a:bodyPr lIns="0" tIns="0" rIns="0" bIns="0" rtlCol="0" anchor="t">
            <a:spAutoFit/>
          </a:bodyPr>
          <a:lstStyle/>
          <a:p>
            <a:pPr>
              <a:lnSpc>
                <a:spcPts val="8399"/>
              </a:lnSpc>
            </a:pPr>
            <a:r>
              <a:rPr lang="en-US" sz="6999" dirty="0">
                <a:solidFill>
                  <a:srgbClr val="FFFFFF"/>
                </a:solidFill>
                <a:latin typeface="DM Sans Bold"/>
              </a:rPr>
              <a:t>DEF</a:t>
            </a:r>
            <a:r>
              <a:rPr lang="id-ID" sz="6999" dirty="0">
                <a:solidFill>
                  <a:srgbClr val="FFFFFF"/>
                </a:solidFill>
                <a:latin typeface="DM Sans Bold"/>
              </a:rPr>
              <a:t>I</a:t>
            </a:r>
            <a:r>
              <a:rPr lang="en-US" sz="6999" dirty="0">
                <a:solidFill>
                  <a:srgbClr val="FFFFFF"/>
                </a:solidFill>
                <a:latin typeface="DM Sans Bold"/>
              </a:rPr>
              <a:t>NISI FRAUD</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7</a:t>
            </a: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2024936" y="3840443"/>
            <a:ext cx="15234364" cy="1564761"/>
          </a:xfrm>
          <a:prstGeom prst="rect">
            <a:avLst/>
          </a:prstGeom>
        </p:spPr>
        <p:txBody>
          <a:bodyPr lIns="0" tIns="0" rIns="0" bIns="0" rtlCol="0" anchor="t">
            <a:spAutoFit/>
          </a:bodyPr>
          <a:lstStyle/>
          <a:p>
            <a:pPr>
              <a:lnSpc>
                <a:spcPts val="4053"/>
              </a:lnSpc>
            </a:pPr>
            <a:r>
              <a:rPr lang="en-US" sz="2895" spc="57">
                <a:solidFill>
                  <a:srgbClr val="FFFFFF"/>
                </a:solidFill>
                <a:latin typeface="Telegraf"/>
              </a:rPr>
              <a:t>Fraud merupakan istilah dalam bahasa Inggris yang berarti kecurangan. Dalam dunia akuntansi,</a:t>
            </a:r>
            <a:r>
              <a:rPr lang="en-US" sz="2895" spc="57">
                <a:solidFill>
                  <a:srgbClr val="57EBFF"/>
                </a:solidFill>
                <a:latin typeface="Telegraf"/>
              </a:rPr>
              <a:t> </a:t>
            </a:r>
            <a:r>
              <a:rPr lang="en-US" sz="2895" spc="57">
                <a:solidFill>
                  <a:srgbClr val="FFDE59"/>
                </a:solidFill>
                <a:latin typeface="Telegraf Bold"/>
              </a:rPr>
              <a:t>fraud</a:t>
            </a:r>
            <a:r>
              <a:rPr lang="en-US" sz="2895" spc="57">
                <a:solidFill>
                  <a:srgbClr val="FFFFFF"/>
                </a:solidFill>
                <a:latin typeface="Telegraf"/>
              </a:rPr>
              <a:t> merupakan salah satu jenis</a:t>
            </a:r>
            <a:r>
              <a:rPr lang="en-US" sz="2895" spc="57">
                <a:solidFill>
                  <a:srgbClr val="57EBFF"/>
                </a:solidFill>
                <a:latin typeface="Telegraf"/>
              </a:rPr>
              <a:t> </a:t>
            </a:r>
            <a:r>
              <a:rPr lang="en-US" sz="2895" spc="57">
                <a:solidFill>
                  <a:srgbClr val="FFDE59"/>
                </a:solidFill>
                <a:latin typeface="Telegraf Bold"/>
              </a:rPr>
              <a:t>kesalahan</a:t>
            </a:r>
            <a:r>
              <a:rPr lang="en-US" sz="2895" spc="57">
                <a:solidFill>
                  <a:srgbClr val="FFDE59"/>
                </a:solidFill>
                <a:latin typeface="Telegraf"/>
              </a:rPr>
              <a:t> </a:t>
            </a:r>
            <a:r>
              <a:rPr lang="en-US" sz="2895" spc="57">
                <a:solidFill>
                  <a:srgbClr val="FFFFFF"/>
                </a:solidFill>
                <a:latin typeface="Telegraf"/>
              </a:rPr>
              <a:t>yang sering ditemukan. Selain fraud, </a:t>
            </a:r>
            <a:r>
              <a:rPr lang="en-US" sz="2895" spc="57">
                <a:solidFill>
                  <a:srgbClr val="FFDE59"/>
                </a:solidFill>
                <a:latin typeface="Telegraf Bold"/>
              </a:rPr>
              <a:t>kekeliruan</a:t>
            </a:r>
            <a:r>
              <a:rPr lang="en-US" sz="2895" spc="57">
                <a:solidFill>
                  <a:srgbClr val="C1FF72"/>
                </a:solidFill>
                <a:latin typeface="Telegraf"/>
              </a:rPr>
              <a:t> </a:t>
            </a:r>
            <a:r>
              <a:rPr lang="en-US" sz="2895" spc="57">
                <a:solidFill>
                  <a:srgbClr val="FFFFFF"/>
                </a:solidFill>
                <a:latin typeface="Telegraf"/>
              </a:rPr>
              <a:t>atau</a:t>
            </a:r>
            <a:r>
              <a:rPr lang="en-US" sz="2895" spc="57">
                <a:solidFill>
                  <a:srgbClr val="FFFFFF"/>
                </a:solidFill>
                <a:latin typeface="Telegraf Bold"/>
              </a:rPr>
              <a:t> </a:t>
            </a:r>
            <a:r>
              <a:rPr lang="en-US" sz="2895" spc="57">
                <a:solidFill>
                  <a:srgbClr val="FFDE59"/>
                </a:solidFill>
                <a:latin typeface="Telegraf Bold"/>
              </a:rPr>
              <a:t>error</a:t>
            </a:r>
            <a:r>
              <a:rPr lang="en-US" sz="2895" spc="57">
                <a:solidFill>
                  <a:srgbClr val="FFFFFF"/>
                </a:solidFill>
                <a:latin typeface="Telegraf Bold"/>
              </a:rPr>
              <a:t> </a:t>
            </a:r>
            <a:r>
              <a:rPr lang="en-US" sz="2895" spc="57">
                <a:solidFill>
                  <a:srgbClr val="FFFFFF"/>
                </a:solidFill>
                <a:latin typeface="Telegraf"/>
              </a:rPr>
              <a:t>juga menjadi kesalahan lainnya dalam akuntansi. </a:t>
            </a:r>
          </a:p>
        </p:txBody>
      </p:sp>
      <p:sp>
        <p:nvSpPr>
          <p:cNvPr id="7" name="TextBox 7"/>
          <p:cNvSpPr txBox="1"/>
          <p:nvPr/>
        </p:nvSpPr>
        <p:spPr>
          <a:xfrm>
            <a:off x="2024936" y="5885041"/>
            <a:ext cx="15234364" cy="2079111"/>
          </a:xfrm>
          <a:prstGeom prst="rect">
            <a:avLst/>
          </a:prstGeom>
        </p:spPr>
        <p:txBody>
          <a:bodyPr lIns="0" tIns="0" rIns="0" bIns="0" rtlCol="0" anchor="t">
            <a:spAutoFit/>
          </a:bodyPr>
          <a:lstStyle/>
          <a:p>
            <a:pPr>
              <a:lnSpc>
                <a:spcPts val="4053"/>
              </a:lnSpc>
            </a:pPr>
            <a:r>
              <a:rPr lang="en-US" sz="2895" spc="57">
                <a:solidFill>
                  <a:srgbClr val="FFFFFF"/>
                </a:solidFill>
                <a:latin typeface="Telegraf"/>
              </a:rPr>
              <a:t>Kedua istilah ini, fraud dan error merupakan dua jenis kesalahan yang sering terjadi dalam proses akuntansi, meski dinilai sama, keduanya memiliki sedikit perbedaan, yaitu terlihat dari ada dan tidak adanya unsur kesengajaan. Di mana, error terjadi karena tidak ada unsur kesengajaan, dan fraud terjadi karena ada unsur kesengajaan. </a:t>
            </a:r>
          </a:p>
        </p:txBody>
      </p:sp>
      <p:sp>
        <p:nvSpPr>
          <p:cNvPr id="8" name="TextBox 8"/>
          <p:cNvSpPr txBox="1"/>
          <p:nvPr/>
        </p:nvSpPr>
        <p:spPr>
          <a:xfrm>
            <a:off x="2024936" y="2640293"/>
            <a:ext cx="6912641" cy="733727"/>
          </a:xfrm>
          <a:prstGeom prst="rect">
            <a:avLst/>
          </a:prstGeom>
        </p:spPr>
        <p:txBody>
          <a:bodyPr lIns="0" tIns="0" rIns="0" bIns="0" rtlCol="0" anchor="t">
            <a:spAutoFit/>
          </a:bodyPr>
          <a:lstStyle/>
          <a:p>
            <a:pPr>
              <a:lnSpc>
                <a:spcPts val="5759"/>
              </a:lnSpc>
            </a:pPr>
            <a:r>
              <a:rPr lang="en-US" sz="4800" dirty="0" err="1">
                <a:solidFill>
                  <a:srgbClr val="FFFFFF"/>
                </a:solidFill>
                <a:latin typeface="DM Sans Bold"/>
              </a:rPr>
              <a:t>Def</a:t>
            </a:r>
            <a:r>
              <a:rPr lang="id-ID" sz="4800" dirty="0">
                <a:solidFill>
                  <a:srgbClr val="FFFFFF"/>
                </a:solidFill>
                <a:latin typeface="DM Sans Bold"/>
              </a:rPr>
              <a:t>i</a:t>
            </a:r>
            <a:r>
              <a:rPr lang="en-US" sz="4800" dirty="0">
                <a:solidFill>
                  <a:srgbClr val="FFFFFF"/>
                </a:solidFill>
                <a:latin typeface="DM Sans Bold"/>
              </a:rPr>
              <a:t>nisi Fraud:</a:t>
            </a:r>
          </a:p>
        </p:txBody>
      </p:sp>
      <p:sp>
        <p:nvSpPr>
          <p:cNvPr id="9" name="TextBox 9"/>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10" name="TextBox 10"/>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a:rPr>
              <a:t>8</a:t>
            </a: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2207910" y="1769790"/>
            <a:ext cx="15271831" cy="6633120"/>
          </a:xfrm>
          <a:prstGeom prst="rect">
            <a:avLst/>
          </a:prstGeom>
        </p:spPr>
        <p:txBody>
          <a:bodyPr lIns="0" tIns="0" rIns="0" bIns="0" rtlCol="0" anchor="t">
            <a:spAutoFit/>
          </a:bodyPr>
          <a:lstStyle/>
          <a:p>
            <a:pPr>
              <a:lnSpc>
                <a:spcPts val="4353"/>
              </a:lnSpc>
            </a:pPr>
            <a:r>
              <a:rPr lang="en-US" sz="2902" spc="58">
                <a:solidFill>
                  <a:srgbClr val="F2F2F2"/>
                </a:solidFill>
                <a:latin typeface="Telegraf Bold"/>
              </a:rPr>
              <a:t>Faktanya, kecurangan akan lebih sulit dideteksi dibandingkan dengan kekeliruan, hal ini karena pihak manajemen atau karyawan akan berusaha menutupi kecurangan itu sendiri.</a:t>
            </a:r>
          </a:p>
          <a:p>
            <a:pPr>
              <a:lnSpc>
                <a:spcPts val="4353"/>
              </a:lnSpc>
            </a:pPr>
            <a:endParaRPr lang="en-US" sz="2902" spc="58">
              <a:solidFill>
                <a:srgbClr val="F2F2F2"/>
              </a:solidFill>
              <a:latin typeface="Telegraf Bold"/>
            </a:endParaRPr>
          </a:p>
          <a:p>
            <a:pPr>
              <a:lnSpc>
                <a:spcPts val="4353"/>
              </a:lnSpc>
            </a:pPr>
            <a:r>
              <a:rPr lang="en-US" sz="2902" spc="58">
                <a:solidFill>
                  <a:srgbClr val="F2F2F2"/>
                </a:solidFill>
                <a:latin typeface="Telegraf"/>
              </a:rPr>
              <a:t>Menurut Institut Akuntan Publik Indonesia, Fraud atau kecurangan merupakan suatu tindakan yang disengaja oleh satu individu atau lebih dalam manajemen atau pihak yang bertanggungjawab atas tata kelola, karyawan, dan pihak ketiga yang melibatkan penggunaan tipu muslihat untuk memperoleh satu keuntungan secara tidak adil atau melanggar hukum. Pada dasarnya, fraud merupakan </a:t>
            </a:r>
            <a:r>
              <a:rPr lang="en-US" sz="2902" spc="58">
                <a:solidFill>
                  <a:srgbClr val="F2F2F2"/>
                </a:solidFill>
                <a:latin typeface="Telegraf Bold"/>
              </a:rPr>
              <a:t>serangkaian ketidakberesan (irregularities) dan perbuatan melawan hukum (illegal act) yang dilakukan oleh orang luar maupun dalam perusahaan, untuk mendapatkan keuntungan dan merugikan orang lain</a:t>
            </a:r>
            <a:r>
              <a:rPr lang="en-US" sz="2902" spc="58">
                <a:solidFill>
                  <a:srgbClr val="F2F2F2"/>
                </a:solidFill>
                <a:latin typeface="Telegraf"/>
              </a:rPr>
              <a:t>.</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9</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3151461" y="4357681"/>
            <a:ext cx="13564875"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FAKTOR PENDORONG FRAUD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10</a:t>
            </a: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94669" y="0"/>
            <a:ext cx="14357218" cy="10287000"/>
            <a:chOff x="0" y="0"/>
            <a:chExt cx="3781325" cy="2709333"/>
          </a:xfrm>
        </p:grpSpPr>
        <p:sp>
          <p:nvSpPr>
            <p:cNvPr id="3" name="Freeform 3"/>
            <p:cNvSpPr/>
            <p:nvPr/>
          </p:nvSpPr>
          <p:spPr>
            <a:xfrm>
              <a:off x="0" y="0"/>
              <a:ext cx="3781325" cy="2709333"/>
            </a:xfrm>
            <a:custGeom>
              <a:avLst/>
              <a:gdLst/>
              <a:ahLst/>
              <a:cxnLst/>
              <a:rect l="l" t="t" r="r" b="b"/>
              <a:pathLst>
                <a:path w="3781325" h="2709333">
                  <a:moveTo>
                    <a:pt x="0" y="0"/>
                  </a:moveTo>
                  <a:lnTo>
                    <a:pt x="3781325" y="0"/>
                  </a:lnTo>
                  <a:lnTo>
                    <a:pt x="3781325" y="2709333"/>
                  </a:lnTo>
                  <a:lnTo>
                    <a:pt x="0" y="2709333"/>
                  </a:lnTo>
                  <a:close/>
                </a:path>
              </a:pathLst>
            </a:custGeom>
            <a:solidFill>
              <a:srgbClr val="10ABC6"/>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9611928" y="-19018102"/>
            <a:ext cx="16034518" cy="24161602"/>
          </a:xfrm>
          <a:prstGeom prst="rect">
            <a:avLst/>
          </a:prstGeom>
        </p:spPr>
      </p:pic>
      <p:pic>
        <p:nvPicPr>
          <p:cNvPr id="6" name="Picture 6"/>
          <p:cNvPicPr>
            <a:picLocks noChangeAspect="1"/>
          </p:cNvPicPr>
          <p:nvPr/>
        </p:nvPicPr>
        <p:blipFill>
          <a:blip r:embed="rId4"/>
          <a:srcRect/>
          <a:stretch>
            <a:fillRect/>
          </a:stretch>
        </p:blipFill>
        <p:spPr>
          <a:xfrm>
            <a:off x="7671756" y="1732669"/>
            <a:ext cx="10181585" cy="6821662"/>
          </a:xfrm>
          <a:prstGeom prst="rect">
            <a:avLst/>
          </a:prstGeom>
        </p:spPr>
      </p:pic>
      <p:sp>
        <p:nvSpPr>
          <p:cNvPr id="7" name="TextBox 7"/>
          <p:cNvSpPr txBox="1"/>
          <p:nvPr/>
        </p:nvSpPr>
        <p:spPr>
          <a:xfrm>
            <a:off x="1028700" y="3038844"/>
            <a:ext cx="9221653" cy="790575"/>
          </a:xfrm>
          <a:prstGeom prst="rect">
            <a:avLst/>
          </a:prstGeom>
        </p:spPr>
        <p:txBody>
          <a:bodyPr lIns="0" tIns="0" rIns="0" bIns="0" rtlCol="0" anchor="t">
            <a:spAutoFit/>
          </a:bodyPr>
          <a:lstStyle/>
          <a:p>
            <a:pPr>
              <a:lnSpc>
                <a:spcPts val="6242"/>
              </a:lnSpc>
            </a:pPr>
            <a:r>
              <a:rPr lang="en-US" sz="5201">
                <a:solidFill>
                  <a:srgbClr val="FFFFFF"/>
                </a:solidFill>
                <a:latin typeface="DM Sans Bold"/>
              </a:rPr>
              <a:t>3 Faktor Pendorong Fraud:</a:t>
            </a:r>
          </a:p>
        </p:txBody>
      </p:sp>
      <p:sp>
        <p:nvSpPr>
          <p:cNvPr id="8" name="TextBox 8"/>
          <p:cNvSpPr txBox="1"/>
          <p:nvPr/>
        </p:nvSpPr>
        <p:spPr>
          <a:xfrm>
            <a:off x="1579803" y="4009146"/>
            <a:ext cx="8899031" cy="2611722"/>
          </a:xfrm>
          <a:prstGeom prst="rect">
            <a:avLst/>
          </a:prstGeom>
        </p:spPr>
        <p:txBody>
          <a:bodyPr lIns="0" tIns="0" rIns="0" bIns="0" rtlCol="0" anchor="t">
            <a:spAutoFit/>
          </a:bodyPr>
          <a:lstStyle/>
          <a:p>
            <a:pPr marL="793713" lvl="1" indent="-396856">
              <a:lnSpc>
                <a:spcPts val="5146"/>
              </a:lnSpc>
              <a:buFont typeface="Arial"/>
              <a:buChar char="•"/>
            </a:pPr>
            <a:r>
              <a:rPr lang="en-US" sz="3676" spc="73">
                <a:solidFill>
                  <a:srgbClr val="FFFFFF"/>
                </a:solidFill>
                <a:latin typeface="Telegraf"/>
              </a:rPr>
              <a:t>Fraud Triangle Theory (FTT)</a:t>
            </a:r>
          </a:p>
          <a:p>
            <a:pPr marL="793713" lvl="1" indent="-396856">
              <a:lnSpc>
                <a:spcPts val="5146"/>
              </a:lnSpc>
              <a:buFont typeface="Arial"/>
              <a:buChar char="•"/>
            </a:pPr>
            <a:r>
              <a:rPr lang="en-US" sz="3676" spc="73">
                <a:solidFill>
                  <a:srgbClr val="FFFFFF"/>
                </a:solidFill>
                <a:latin typeface="Telegraf"/>
              </a:rPr>
              <a:t>Fraud Diamond Theory (FDT)</a:t>
            </a:r>
          </a:p>
          <a:p>
            <a:pPr marL="793713" lvl="1" indent="-396856">
              <a:lnSpc>
                <a:spcPts val="5146"/>
              </a:lnSpc>
              <a:buFont typeface="Arial"/>
              <a:buChar char="•"/>
            </a:pPr>
            <a:r>
              <a:rPr lang="en-US" sz="3676" spc="73">
                <a:solidFill>
                  <a:srgbClr val="FFFFFF"/>
                </a:solidFill>
                <a:latin typeface="Telegraf"/>
              </a:rPr>
              <a:t>Fraud Pentagon Theory (FPT)</a:t>
            </a:r>
          </a:p>
          <a:p>
            <a:pPr>
              <a:lnSpc>
                <a:spcPts val="5146"/>
              </a:lnSpc>
            </a:pPr>
            <a:endParaRPr lang="en-US" sz="3676" spc="73">
              <a:solidFill>
                <a:srgbClr val="FFFFFF"/>
              </a:solidFill>
              <a:latin typeface="Telegraf"/>
            </a:endParaRPr>
          </a:p>
        </p:txBody>
      </p:sp>
      <p:sp>
        <p:nvSpPr>
          <p:cNvPr id="9" name="TextBox 9"/>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10" name="TextBox 10"/>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11</a:t>
            </a:r>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695122" y="1317332"/>
            <a:ext cx="14849410" cy="7585660"/>
          </a:xfrm>
          <a:prstGeom prst="rect">
            <a:avLst/>
          </a:prstGeom>
        </p:spPr>
        <p:txBody>
          <a:bodyPr lIns="0" tIns="0" rIns="0" bIns="0" rtlCol="0" anchor="t">
            <a:spAutoFit/>
          </a:bodyPr>
          <a:lstStyle/>
          <a:p>
            <a:pPr>
              <a:lnSpc>
                <a:spcPts val="5040"/>
              </a:lnSpc>
            </a:pPr>
            <a:r>
              <a:rPr lang="en-US" sz="3600" spc="72">
                <a:solidFill>
                  <a:srgbClr val="000000"/>
                </a:solidFill>
                <a:latin typeface="DM Sans Bold"/>
              </a:rPr>
              <a:t>1. Fraud Triangle Theory (FTT)</a:t>
            </a:r>
          </a:p>
          <a:p>
            <a:pPr>
              <a:lnSpc>
                <a:spcPts val="5040"/>
              </a:lnSpc>
            </a:pPr>
            <a:endParaRPr lang="en-US" sz="3600" spc="72">
              <a:solidFill>
                <a:srgbClr val="000000"/>
              </a:solidFill>
              <a:latin typeface="DM Sans Bold"/>
            </a:endParaRPr>
          </a:p>
          <a:p>
            <a:pPr>
              <a:lnSpc>
                <a:spcPts val="2945"/>
              </a:lnSpc>
            </a:pPr>
            <a:r>
              <a:rPr lang="en-US" sz="2103" spc="42">
                <a:solidFill>
                  <a:srgbClr val="000000"/>
                </a:solidFill>
                <a:latin typeface="Telegraf"/>
              </a:rPr>
              <a:t>Teori ini digagas oleh Cressey (1953) setelah mewawancarai 250 orang terpidana korupsi. Wawancara tersebut dilakukan dalam waktu 5 bulan. Dari hasil wawancara tersebut, Cressey menyimpulkan bahwa faktor pendukung terjadinya fraud adalah :</a:t>
            </a:r>
          </a:p>
          <a:p>
            <a:pPr>
              <a:lnSpc>
                <a:spcPts val="2945"/>
              </a:lnSpc>
            </a:pPr>
            <a:endParaRPr lang="en-US" sz="2103" spc="42">
              <a:solidFill>
                <a:srgbClr val="000000"/>
              </a:solidFill>
              <a:latin typeface="Telegraf"/>
            </a:endParaRPr>
          </a:p>
          <a:p>
            <a:pPr>
              <a:lnSpc>
                <a:spcPts val="2945"/>
              </a:lnSpc>
            </a:pPr>
            <a:r>
              <a:rPr lang="en-US" sz="2103" spc="42">
                <a:solidFill>
                  <a:srgbClr val="000000"/>
                </a:solidFill>
                <a:latin typeface="Telegraf Bold"/>
              </a:rPr>
              <a:t>A. Adanya Tekanan</a:t>
            </a:r>
          </a:p>
          <a:p>
            <a:pPr>
              <a:lnSpc>
                <a:spcPts val="2945"/>
              </a:lnSpc>
            </a:pPr>
            <a:r>
              <a:rPr lang="en-US" sz="2103" spc="42">
                <a:solidFill>
                  <a:srgbClr val="000000"/>
                </a:solidFill>
                <a:latin typeface="Telegraf"/>
              </a:rPr>
              <a:t>Terjadinya dorongan yang menyebabkan seseorang untuk melakukan kecurangan yang dipicu oleh beberapa alasan, mulai dari dorongan seseorang untuk melakukan kecurangan yang dipicu oleh alasan ekonomi, emosional, atau nilai (target)</a:t>
            </a:r>
          </a:p>
          <a:p>
            <a:pPr>
              <a:lnSpc>
                <a:spcPts val="2945"/>
              </a:lnSpc>
            </a:pPr>
            <a:endParaRPr lang="en-US" sz="2103" spc="42">
              <a:solidFill>
                <a:srgbClr val="000000"/>
              </a:solidFill>
              <a:latin typeface="Telegraf"/>
            </a:endParaRPr>
          </a:p>
          <a:p>
            <a:pPr>
              <a:lnSpc>
                <a:spcPts val="2945"/>
              </a:lnSpc>
            </a:pPr>
            <a:r>
              <a:rPr lang="en-US" sz="2103" spc="42">
                <a:solidFill>
                  <a:srgbClr val="000000"/>
                </a:solidFill>
                <a:latin typeface="Telegraf Bold"/>
              </a:rPr>
              <a:t>B. Adanya Peluang </a:t>
            </a:r>
          </a:p>
          <a:p>
            <a:pPr>
              <a:lnSpc>
                <a:spcPts val="2945"/>
              </a:lnSpc>
            </a:pPr>
            <a:r>
              <a:rPr lang="en-US" sz="2103" spc="42">
                <a:solidFill>
                  <a:srgbClr val="000000"/>
                </a:solidFill>
                <a:latin typeface="Telegraf"/>
              </a:rPr>
              <a:t>Ketika terdapat peluang, maka disitulah ada kesempatan yang dilakukan oleh pelaku kecurangan. Faktor ini biasanya didorong karena lemahnya internal control atau penyalahgunaan wewenang dalam perusahaan.</a:t>
            </a:r>
          </a:p>
          <a:p>
            <a:pPr>
              <a:lnSpc>
                <a:spcPts val="2945"/>
              </a:lnSpc>
            </a:pPr>
            <a:endParaRPr lang="en-US" sz="2103" spc="42">
              <a:solidFill>
                <a:srgbClr val="000000"/>
              </a:solidFill>
              <a:latin typeface="Telegraf"/>
            </a:endParaRPr>
          </a:p>
          <a:p>
            <a:pPr>
              <a:lnSpc>
                <a:spcPts val="2945"/>
              </a:lnSpc>
            </a:pPr>
            <a:r>
              <a:rPr lang="en-US" sz="2103" spc="42">
                <a:solidFill>
                  <a:srgbClr val="000000"/>
                </a:solidFill>
                <a:latin typeface="Telegraf Bold"/>
              </a:rPr>
              <a:t>C. Rasionalisasi</a:t>
            </a:r>
          </a:p>
          <a:p>
            <a:pPr>
              <a:lnSpc>
                <a:spcPts val="2945"/>
              </a:lnSpc>
            </a:pPr>
            <a:r>
              <a:rPr lang="en-US" sz="2103" spc="42">
                <a:solidFill>
                  <a:srgbClr val="000000"/>
                </a:solidFill>
                <a:latin typeface="Telegraf"/>
              </a:rPr>
              <a:t>Faktor ini terjadi ketika seseorang melakukan rasionalisasi atau mencari pembenaran atas terjadinya kecurangan. Hal ini biasanya terjadi karena pelaku mempertahankan jati dirinya sebagai orang yang dipercaya, sehingga ia akan mencari pembenaran atas tindakannya tersebut.</a:t>
            </a: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Bold"/>
              </a:rPr>
              <a:t>12</a:t>
            </a:r>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sp>
        <p:nvSpPr>
          <p:cNvPr id="2" name="TextBox 2"/>
          <p:cNvSpPr txBox="1"/>
          <p:nvPr/>
        </p:nvSpPr>
        <p:spPr>
          <a:xfrm>
            <a:off x="2368670" y="1549845"/>
            <a:ext cx="15694068" cy="8551664"/>
          </a:xfrm>
          <a:prstGeom prst="rect">
            <a:avLst/>
          </a:prstGeom>
        </p:spPr>
        <p:txBody>
          <a:bodyPr lIns="0" tIns="0" rIns="0" bIns="0" rtlCol="0" anchor="t">
            <a:spAutoFit/>
          </a:bodyPr>
          <a:lstStyle/>
          <a:p>
            <a:pPr>
              <a:lnSpc>
                <a:spcPts val="5040"/>
              </a:lnSpc>
            </a:pPr>
            <a:r>
              <a:rPr lang="en-US" sz="3600" spc="72">
                <a:solidFill>
                  <a:srgbClr val="F2F2F2"/>
                </a:solidFill>
                <a:latin typeface="DM Sans Bold"/>
              </a:rPr>
              <a:t>2. Fraud Diamond Theory (FDT)</a:t>
            </a:r>
          </a:p>
          <a:p>
            <a:pPr>
              <a:lnSpc>
                <a:spcPts val="5040"/>
              </a:lnSpc>
            </a:pPr>
            <a:endParaRPr lang="en-US" sz="3600" spc="72">
              <a:solidFill>
                <a:srgbClr val="F2F2F2"/>
              </a:solidFill>
              <a:latin typeface="DM Sans Bold"/>
            </a:endParaRPr>
          </a:p>
          <a:p>
            <a:pPr>
              <a:lnSpc>
                <a:spcPts val="2940"/>
              </a:lnSpc>
            </a:pPr>
            <a:r>
              <a:rPr lang="en-US" sz="2100" spc="42">
                <a:solidFill>
                  <a:srgbClr val="F2F2F2"/>
                </a:solidFill>
                <a:latin typeface="Telegraf"/>
              </a:rPr>
              <a:t>FDT (2004) pada dasarnya adalah pengembangan dari FTT. Tambahan unsur penyebab terjadinya korupsi menurut Wolfe dan Hermanson adalah capability atau kemampuan. Seseorang harus memiliki kemampuan dan keterampilan untuk bisa melakukan korupsi. Meskipun seseorang telah mengalami tekanan atau tergoda insentif, punya kesempatan, dan telah memiliki alasan rasional untuk korupsi, tanpa kemampuan yang memadai, korupsi tidak akan terjadi.</a:t>
            </a:r>
          </a:p>
          <a:p>
            <a:pPr>
              <a:lnSpc>
                <a:spcPts val="2940"/>
              </a:lnSpc>
            </a:pPr>
            <a:r>
              <a:rPr lang="en-US" sz="2100" spc="42">
                <a:solidFill>
                  <a:srgbClr val="F2F2F2"/>
                </a:solidFill>
                <a:latin typeface="Telegraf"/>
              </a:rPr>
              <a:t>Kemampuan di sini sangat terkait dengan posisi, kecerdasan/kreatifitas, dan kemampuan persuasi. Tiga hal ini sangat menentukan mampu tidaknya seseorang melakukan korupsi. Penjelasannya adalah sebagai berikut:</a:t>
            </a:r>
          </a:p>
          <a:p>
            <a:pPr>
              <a:lnSpc>
                <a:spcPts val="2940"/>
              </a:lnSpc>
            </a:pPr>
            <a:endParaRPr lang="en-US" sz="2100" spc="42">
              <a:solidFill>
                <a:srgbClr val="F2F2F2"/>
              </a:solidFill>
              <a:latin typeface="Telegraf"/>
            </a:endParaRPr>
          </a:p>
          <a:p>
            <a:pPr marL="453392" lvl="1" indent="-226696">
              <a:lnSpc>
                <a:spcPts val="2940"/>
              </a:lnSpc>
              <a:buFont typeface="Arial"/>
              <a:buChar char="•"/>
            </a:pPr>
            <a:r>
              <a:rPr lang="en-US" sz="2100" spc="42">
                <a:solidFill>
                  <a:srgbClr val="F2F2F2"/>
                </a:solidFill>
                <a:latin typeface="Telegraf"/>
              </a:rPr>
              <a:t> Seseorang dengan posisi yang rendah, meskipun menyadari adanya kesempatan melakukan korupsi, tetap tidak dapat melakukannya jika terus ada dalam pengawasan atasan yang jujur. Makin tinggi posisi seseorang, makin tinggi kemampuannya melihat dan memanfaatkan kesempatan untuk melakukan korupsi.</a:t>
            </a:r>
          </a:p>
          <a:p>
            <a:pPr marL="453392" lvl="1" indent="-226696">
              <a:lnSpc>
                <a:spcPts val="2940"/>
              </a:lnSpc>
              <a:buFont typeface="Arial"/>
              <a:buChar char="•"/>
            </a:pPr>
            <a:r>
              <a:rPr lang="en-US" sz="2100" spc="42">
                <a:solidFill>
                  <a:srgbClr val="F2F2F2"/>
                </a:solidFill>
                <a:latin typeface="Telegraf"/>
              </a:rPr>
              <a:t> Belakangan banyak riset yang menghubungkan antara korupsi dan tingkat pendidikan. Hal ini sangat wajar karena untuk korupsi, diperlukan kecerdasan dan kreatifitas. Kecerdasan di sini diperlukan untuk melihat peluang, sedangkan kreatifitas diperlukan untuk memanfaatkan peluang tersebut, dan gabungan keduanya digunakan untuk menutupi perbuatan yang telah dilakukan.</a:t>
            </a:r>
          </a:p>
          <a:p>
            <a:pPr marL="453392" lvl="1" indent="-226696">
              <a:lnSpc>
                <a:spcPts val="2940"/>
              </a:lnSpc>
              <a:buFont typeface="Arial"/>
              <a:buChar char="•"/>
            </a:pPr>
            <a:r>
              <a:rPr lang="en-US" sz="2100" spc="42">
                <a:solidFill>
                  <a:srgbClr val="F2F2F2"/>
                </a:solidFill>
                <a:latin typeface="Telegraf"/>
              </a:rPr>
              <a:t> Kemampuan persuasi di sini terkait kemampuan memaksa, menipu, dan menekan orang lain untuk memuluskan rencananya. Minimal salah satu kemampuan ini dimiliki seseorang agar dapat melakukan korupsi.</a:t>
            </a:r>
          </a:p>
          <a:p>
            <a:pPr>
              <a:lnSpc>
                <a:spcPts val="3556"/>
              </a:lnSpc>
            </a:pPr>
            <a:endParaRPr lang="en-US" sz="2100" spc="42">
              <a:solidFill>
                <a:srgbClr val="F2F2F2"/>
              </a:solidFill>
              <a:latin typeface="Telegraf"/>
            </a:endParaRPr>
          </a:p>
          <a:p>
            <a:pPr>
              <a:lnSpc>
                <a:spcPts val="3556"/>
              </a:lnSpc>
            </a:pPr>
            <a:endParaRPr lang="en-US" sz="2100" spc="42">
              <a:solidFill>
                <a:srgbClr val="F2F2F2"/>
              </a:solidFill>
              <a:latin typeface="Telegraf"/>
            </a:endParaRPr>
          </a:p>
          <a:p>
            <a:pPr>
              <a:lnSpc>
                <a:spcPts val="3556"/>
              </a:lnSpc>
            </a:pPr>
            <a:endParaRPr lang="en-US" sz="2100" spc="42">
              <a:solidFill>
                <a:srgbClr val="F2F2F2"/>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a:rPr>
              <a:t>13</a:t>
            </a:r>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94800" y="570198"/>
            <a:ext cx="15694068" cy="8151614"/>
          </a:xfrm>
          <a:prstGeom prst="rect">
            <a:avLst/>
          </a:prstGeom>
        </p:spPr>
        <p:txBody>
          <a:bodyPr lIns="0" tIns="0" rIns="0" bIns="0" rtlCol="0" anchor="t">
            <a:spAutoFit/>
          </a:bodyPr>
          <a:lstStyle/>
          <a:p>
            <a:pPr>
              <a:lnSpc>
                <a:spcPts val="5040"/>
              </a:lnSpc>
            </a:pPr>
            <a:endParaRPr/>
          </a:p>
          <a:p>
            <a:pPr>
              <a:lnSpc>
                <a:spcPts val="5040"/>
              </a:lnSpc>
            </a:pPr>
            <a:r>
              <a:rPr lang="en-US" sz="3600" spc="72">
                <a:solidFill>
                  <a:srgbClr val="000000"/>
                </a:solidFill>
                <a:latin typeface="DM Sans Bold"/>
              </a:rPr>
              <a:t>3. Fraud Pentagon Theory (FPT)</a:t>
            </a:r>
          </a:p>
          <a:p>
            <a:pPr>
              <a:lnSpc>
                <a:spcPts val="5040"/>
              </a:lnSpc>
            </a:pPr>
            <a:endParaRPr lang="en-US" sz="3600" spc="72">
              <a:solidFill>
                <a:srgbClr val="000000"/>
              </a:solidFill>
              <a:latin typeface="DM Sans Bold"/>
            </a:endParaRPr>
          </a:p>
          <a:p>
            <a:pPr>
              <a:lnSpc>
                <a:spcPts val="2940"/>
              </a:lnSpc>
            </a:pPr>
            <a:r>
              <a:rPr lang="en-US" sz="2100" spc="42">
                <a:solidFill>
                  <a:srgbClr val="000000"/>
                </a:solidFill>
                <a:latin typeface="Telegraf"/>
              </a:rPr>
              <a:t>FPT merupakan pengembangan dari FTT oleh Cressey di 1953, kemudian FDT yang dikembangkan oleh Wolf &amp; Hermanson di tahun 2004). Lalu di tahun 2011, Crowe mengembangkan FTT dan FDT dengan merubah risk factor fraud berupa capability menjadi competence yang memiliki makna istilah yang sama. Selain itu ada penambahan risk factor berupa arrogance (arogansi). </a:t>
            </a:r>
          </a:p>
          <a:p>
            <a:pPr>
              <a:lnSpc>
                <a:spcPts val="2940"/>
              </a:lnSpc>
            </a:pPr>
            <a:endParaRPr lang="en-US" sz="2100" spc="42">
              <a:solidFill>
                <a:srgbClr val="000000"/>
              </a:solidFill>
              <a:latin typeface="Telegraf"/>
            </a:endParaRPr>
          </a:p>
          <a:p>
            <a:pPr>
              <a:lnSpc>
                <a:spcPts val="2940"/>
              </a:lnSpc>
            </a:pPr>
            <a:r>
              <a:rPr lang="en-US" sz="2100" spc="42">
                <a:solidFill>
                  <a:srgbClr val="000000"/>
                </a:solidFill>
                <a:latin typeface="Telegraf Bold"/>
              </a:rPr>
              <a:t>a. Kompetensi</a:t>
            </a:r>
          </a:p>
          <a:p>
            <a:pPr>
              <a:lnSpc>
                <a:spcPts val="2940"/>
              </a:lnSpc>
            </a:pPr>
            <a:r>
              <a:rPr lang="en-US" sz="2100" spc="42">
                <a:solidFill>
                  <a:srgbClr val="000000"/>
                </a:solidFill>
                <a:latin typeface="Telegraf"/>
              </a:rPr>
              <a:t>Adalah keahlian karyawan untuk mengabaikan kontrol internal, mengembangkan strategi penyembunyian, dan mengamati kondisi sosial untuk memenuhi kepentingan pribadinya</a:t>
            </a:r>
          </a:p>
          <a:p>
            <a:pPr>
              <a:lnSpc>
                <a:spcPts val="2940"/>
              </a:lnSpc>
            </a:pPr>
            <a:endParaRPr lang="en-US" sz="2100" spc="42">
              <a:solidFill>
                <a:srgbClr val="000000"/>
              </a:solidFill>
              <a:latin typeface="Telegraf"/>
            </a:endParaRPr>
          </a:p>
          <a:p>
            <a:pPr>
              <a:lnSpc>
                <a:spcPts val="2940"/>
              </a:lnSpc>
            </a:pPr>
            <a:r>
              <a:rPr lang="en-US" sz="2100" spc="42">
                <a:solidFill>
                  <a:srgbClr val="000000"/>
                </a:solidFill>
                <a:latin typeface="Telegraf Bold"/>
              </a:rPr>
              <a:t>b. Arogansi</a:t>
            </a:r>
          </a:p>
          <a:p>
            <a:pPr>
              <a:lnSpc>
                <a:spcPts val="2940"/>
              </a:lnSpc>
            </a:pPr>
            <a:r>
              <a:rPr lang="en-US" sz="2100" spc="42">
                <a:solidFill>
                  <a:srgbClr val="000000"/>
                </a:solidFill>
                <a:latin typeface="Telegraf"/>
              </a:rPr>
              <a:t>Merupakan sifat superioritas atas hak yang dimiliki dan merasa bahwa pengendalian internal dan kebijakan perusahaan tidak berlaku untuk dirinya.</a:t>
            </a:r>
          </a:p>
          <a:p>
            <a:pPr>
              <a:lnSpc>
                <a:spcPts val="3556"/>
              </a:lnSpc>
            </a:pPr>
            <a:endParaRPr lang="en-US" sz="2100" spc="42">
              <a:solidFill>
                <a:srgbClr val="000000"/>
              </a:solidFill>
              <a:latin typeface="Telegraf"/>
            </a:endParaRPr>
          </a:p>
          <a:p>
            <a:pPr>
              <a:lnSpc>
                <a:spcPts val="3556"/>
              </a:lnSpc>
            </a:pPr>
            <a:endParaRPr lang="en-US" sz="2100" spc="42">
              <a:solidFill>
                <a:srgbClr val="000000"/>
              </a:solidFill>
              <a:latin typeface="Telegraf"/>
            </a:endParaRPr>
          </a:p>
          <a:p>
            <a:pPr>
              <a:lnSpc>
                <a:spcPts val="3556"/>
              </a:lnSpc>
            </a:pPr>
            <a:endParaRPr lang="en-US" sz="2100" spc="42">
              <a:solidFill>
                <a:srgbClr val="000000"/>
              </a:solidFill>
              <a:latin typeface="Telegraf"/>
            </a:endParaRPr>
          </a:p>
          <a:p>
            <a:pPr>
              <a:lnSpc>
                <a:spcPts val="3556"/>
              </a:lnSpc>
            </a:pPr>
            <a:endParaRPr lang="en-US" sz="2100" spc="42">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14</a:t>
            </a:r>
          </a:p>
        </p:txBody>
      </p:sp>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47794" y="1971575"/>
            <a:ext cx="14811506" cy="8058495"/>
          </a:xfrm>
          <a:prstGeom prst="rect">
            <a:avLst/>
          </a:prstGeom>
        </p:spPr>
        <p:txBody>
          <a:bodyPr lIns="0" tIns="0" rIns="0" bIns="0" rtlCol="0" anchor="t">
            <a:spAutoFit/>
          </a:bodyPr>
          <a:lstStyle/>
          <a:p>
            <a:pPr>
              <a:lnSpc>
                <a:spcPts val="2940"/>
              </a:lnSpc>
            </a:pPr>
            <a:r>
              <a:rPr lang="en-US" sz="2100" spc="42" dirty="0" err="1">
                <a:solidFill>
                  <a:srgbClr val="000000"/>
                </a:solidFill>
                <a:latin typeface="Telegraf"/>
              </a:rPr>
              <a:t>Sebuah</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a:t>
            </a:r>
            <a:r>
              <a:rPr lang="en-US" sz="2100" spc="42" dirty="0" err="1">
                <a:solidFill>
                  <a:srgbClr val="000000"/>
                </a:solidFill>
                <a:latin typeface="Telegraf"/>
              </a:rPr>
              <a:t>profesional</a:t>
            </a:r>
            <a:r>
              <a:rPr lang="en-US" sz="2100" spc="42" dirty="0">
                <a:solidFill>
                  <a:srgbClr val="000000"/>
                </a:solidFill>
                <a:latin typeface="Telegraf"/>
              </a:rPr>
              <a:t> yang </a:t>
            </a:r>
            <a:r>
              <a:rPr lang="en-US" sz="2100" spc="42" dirty="0" err="1">
                <a:solidFill>
                  <a:srgbClr val="000000"/>
                </a:solidFill>
                <a:latin typeface="Telegraf"/>
              </a:rPr>
              <a:t>bergerak</a:t>
            </a:r>
            <a:r>
              <a:rPr lang="en-US" sz="2100" spc="42" dirty="0">
                <a:solidFill>
                  <a:srgbClr val="000000"/>
                </a:solidFill>
                <a:latin typeface="Telegraf"/>
              </a:rPr>
              <a:t> di </a:t>
            </a:r>
            <a:r>
              <a:rPr lang="en-US" sz="2100" spc="42" dirty="0" err="1">
                <a:solidFill>
                  <a:srgbClr val="000000"/>
                </a:solidFill>
                <a:latin typeface="Telegraf"/>
              </a:rPr>
              <a:t>bidang</a:t>
            </a:r>
            <a:r>
              <a:rPr lang="en-US" sz="2100" spc="42" dirty="0">
                <a:solidFill>
                  <a:srgbClr val="000000"/>
                </a:solidFill>
                <a:latin typeface="Telegraf"/>
              </a:rPr>
              <a:t> </a:t>
            </a:r>
            <a:r>
              <a:rPr lang="en-US" sz="2100" spc="42" dirty="0" err="1">
                <a:solidFill>
                  <a:srgbClr val="000000"/>
                </a:solidFill>
                <a:latin typeface="Telegraf"/>
              </a:rPr>
              <a:t>pemeriksaan</a:t>
            </a:r>
            <a:r>
              <a:rPr lang="en-US" sz="2100" spc="42" dirty="0">
                <a:solidFill>
                  <a:srgbClr val="000000"/>
                </a:solidFill>
                <a:latin typeface="Telegraf"/>
              </a:rPr>
              <a:t> </a:t>
            </a:r>
            <a:r>
              <a:rPr lang="en-US" sz="2100" spc="42" dirty="0" err="1">
                <a:solidFill>
                  <a:srgbClr val="000000"/>
                </a:solidFill>
                <a:latin typeface="Telegraf"/>
              </a:rPr>
              <a:t>kecurangan</a:t>
            </a:r>
            <a:r>
              <a:rPr lang="en-US" sz="2100" spc="42" dirty="0">
                <a:solidFill>
                  <a:srgbClr val="000000"/>
                </a:solidFill>
                <a:latin typeface="Telegraf"/>
              </a:rPr>
              <a:t>, The Association of Certified Fraud Examiners (ACFE), </a:t>
            </a:r>
            <a:r>
              <a:rPr lang="en-US" sz="2100" spc="42" dirty="0" err="1">
                <a:solidFill>
                  <a:srgbClr val="000000"/>
                </a:solidFill>
                <a:latin typeface="Telegraf"/>
              </a:rPr>
              <a:t>membagi</a:t>
            </a:r>
            <a:r>
              <a:rPr lang="en-US" sz="2100" spc="42" dirty="0">
                <a:solidFill>
                  <a:srgbClr val="000000"/>
                </a:solidFill>
                <a:latin typeface="Telegraf"/>
              </a:rPr>
              <a:t> fraud </a:t>
            </a:r>
            <a:r>
              <a:rPr lang="en-US" sz="2100" spc="42" dirty="0" err="1">
                <a:solidFill>
                  <a:srgbClr val="000000"/>
                </a:solidFill>
                <a:latin typeface="Telegraf"/>
              </a:rPr>
              <a:t>ke</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6 </a:t>
            </a:r>
            <a:r>
              <a:rPr lang="en-US" sz="2100" spc="42" dirty="0" err="1">
                <a:solidFill>
                  <a:srgbClr val="000000"/>
                </a:solidFill>
                <a:latin typeface="Telegraf"/>
              </a:rPr>
              <a:t>kelompok</a:t>
            </a:r>
            <a:r>
              <a:rPr lang="en-US" sz="2100" spc="42" dirty="0">
                <a:solidFill>
                  <a:srgbClr val="000000"/>
                </a:solidFill>
                <a:latin typeface="Telegraf"/>
              </a:rPr>
              <a:t> </a:t>
            </a:r>
            <a:r>
              <a:rPr lang="en-US" sz="2100" spc="42" dirty="0" err="1">
                <a:solidFill>
                  <a:srgbClr val="000000"/>
                </a:solidFill>
                <a:latin typeface="Telegraf"/>
              </a:rPr>
              <a:t>berdasarkan</a:t>
            </a:r>
            <a:r>
              <a:rPr lang="en-US" sz="2100" spc="42" dirty="0">
                <a:solidFill>
                  <a:srgbClr val="000000"/>
                </a:solidFill>
                <a:latin typeface="Telegraf"/>
              </a:rPr>
              <a:t> </a:t>
            </a:r>
            <a:r>
              <a:rPr lang="en-US" sz="2100" spc="42" dirty="0" err="1">
                <a:solidFill>
                  <a:srgbClr val="000000"/>
                </a:solidFill>
                <a:latin typeface="Telegraf"/>
              </a:rPr>
              <a:t>perbuatannya,yaitu</a:t>
            </a:r>
            <a:r>
              <a:rPr lang="en-US" sz="2100" spc="42" dirty="0">
                <a:solidFill>
                  <a:srgbClr val="000000"/>
                </a:solidFill>
                <a:latin typeface="Telegraf"/>
              </a:rPr>
              <a:t> :</a:t>
            </a: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1. </a:t>
            </a:r>
            <a:r>
              <a:rPr lang="en-US" sz="2100" spc="42" dirty="0" err="1">
                <a:solidFill>
                  <a:srgbClr val="000000"/>
                </a:solidFill>
                <a:latin typeface="Telegraf Bold"/>
              </a:rPr>
              <a:t>Penyimpangan</a:t>
            </a:r>
            <a:r>
              <a:rPr lang="en-US" sz="2100" spc="42" dirty="0">
                <a:solidFill>
                  <a:srgbClr val="000000"/>
                </a:solidFill>
                <a:latin typeface="Telegraf Bold"/>
              </a:rPr>
              <a:t> </a:t>
            </a:r>
            <a:r>
              <a:rPr lang="en-US" sz="2100" spc="42" dirty="0" err="1">
                <a:solidFill>
                  <a:srgbClr val="000000"/>
                </a:solidFill>
                <a:latin typeface="Telegraf Bold"/>
              </a:rPr>
              <a:t>aset</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Kelompok</a:t>
            </a:r>
            <a:r>
              <a:rPr lang="en-US" sz="2100" spc="42" dirty="0">
                <a:solidFill>
                  <a:srgbClr val="000000"/>
                </a:solidFill>
                <a:latin typeface="Telegraf"/>
              </a:rPr>
              <a:t> </a:t>
            </a:r>
            <a:r>
              <a:rPr lang="en-US" sz="2100" spc="42" dirty="0" err="1">
                <a:solidFill>
                  <a:srgbClr val="000000"/>
                </a:solidFill>
                <a:latin typeface="Telegraf"/>
              </a:rPr>
              <a:t>ini</a:t>
            </a:r>
            <a:r>
              <a:rPr lang="en-US" sz="2100" spc="42" dirty="0">
                <a:solidFill>
                  <a:srgbClr val="000000"/>
                </a:solidFill>
                <a:latin typeface="Telegraf"/>
              </a:rPr>
              <a:t> </a:t>
            </a:r>
            <a:r>
              <a:rPr lang="en-US" sz="2100" spc="42" dirty="0" err="1">
                <a:solidFill>
                  <a:srgbClr val="000000"/>
                </a:solidFill>
                <a:latin typeface="Telegraf"/>
              </a:rPr>
              <a:t>melakukan</a:t>
            </a:r>
            <a:r>
              <a:rPr lang="en-US" sz="2100" spc="42" dirty="0">
                <a:solidFill>
                  <a:srgbClr val="000000"/>
                </a:solidFill>
                <a:latin typeface="Telegraf"/>
              </a:rPr>
              <a:t> </a:t>
            </a: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penyalahgunaan</a:t>
            </a:r>
            <a:r>
              <a:rPr lang="en-US" sz="2100" spc="42" dirty="0">
                <a:solidFill>
                  <a:srgbClr val="000000"/>
                </a:solidFill>
                <a:latin typeface="Telegraf"/>
              </a:rPr>
              <a:t> </a:t>
            </a:r>
            <a:r>
              <a:rPr lang="en-US" sz="2100" spc="42" dirty="0" err="1">
                <a:solidFill>
                  <a:srgbClr val="000000"/>
                </a:solidFill>
                <a:latin typeface="Telegraf"/>
              </a:rPr>
              <a:t>aset</a:t>
            </a:r>
            <a:r>
              <a:rPr lang="en-US" sz="2100" spc="42" dirty="0">
                <a:solidFill>
                  <a:srgbClr val="000000"/>
                </a:solidFill>
                <a:latin typeface="Telegraf"/>
              </a:rPr>
              <a:t> </a:t>
            </a:r>
            <a:r>
              <a:rPr lang="en-US" sz="2100" spc="42" dirty="0" err="1">
                <a:solidFill>
                  <a:srgbClr val="000000"/>
                </a:solidFill>
                <a:latin typeface="Telegraf"/>
              </a:rPr>
              <a:t>perusahaan</a:t>
            </a:r>
            <a:r>
              <a:rPr lang="en-US" sz="2100" spc="42" dirty="0">
                <a:solidFill>
                  <a:srgbClr val="000000"/>
                </a:solidFill>
                <a:latin typeface="Telegraf"/>
              </a:rPr>
              <a:t>. </a:t>
            </a:r>
            <a:r>
              <a:rPr lang="en-US" sz="2100" spc="42" dirty="0" err="1">
                <a:solidFill>
                  <a:srgbClr val="000000"/>
                </a:solidFill>
                <a:latin typeface="Telegraf"/>
              </a:rPr>
              <a:t>Kelompok</a:t>
            </a:r>
            <a:r>
              <a:rPr lang="en-US" sz="2100" spc="42" dirty="0">
                <a:solidFill>
                  <a:srgbClr val="000000"/>
                </a:solidFill>
                <a:latin typeface="Telegraf"/>
              </a:rPr>
              <a:t> </a:t>
            </a:r>
            <a:r>
              <a:rPr lang="en-US" sz="2100" spc="42" dirty="0" err="1">
                <a:solidFill>
                  <a:srgbClr val="000000"/>
                </a:solidFill>
                <a:latin typeface="Telegraf"/>
              </a:rPr>
              <a:t>ini</a:t>
            </a:r>
            <a:r>
              <a:rPr lang="en-US" sz="2100" spc="42" dirty="0">
                <a:solidFill>
                  <a:srgbClr val="000000"/>
                </a:solidFill>
                <a:latin typeface="Telegraf"/>
              </a:rPr>
              <a:t> </a:t>
            </a:r>
            <a:r>
              <a:rPr lang="en-US" sz="2100" spc="42" dirty="0" err="1">
                <a:solidFill>
                  <a:srgbClr val="000000"/>
                </a:solidFill>
                <a:latin typeface="Telegraf"/>
              </a:rPr>
              <a:t>mudah</a:t>
            </a:r>
            <a:r>
              <a:rPr lang="en-US" sz="2100" spc="42" dirty="0">
                <a:solidFill>
                  <a:srgbClr val="000000"/>
                </a:solidFill>
                <a:latin typeface="Telegraf"/>
              </a:rPr>
              <a:t> </a:t>
            </a:r>
            <a:r>
              <a:rPr lang="en-US" sz="2100" spc="42" dirty="0" err="1">
                <a:solidFill>
                  <a:srgbClr val="000000"/>
                </a:solidFill>
                <a:latin typeface="Telegraf"/>
              </a:rPr>
              <a:t>dideteksi</a:t>
            </a:r>
            <a:r>
              <a:rPr lang="en-US" sz="2100" spc="42" dirty="0">
                <a:solidFill>
                  <a:srgbClr val="000000"/>
                </a:solidFill>
                <a:latin typeface="Telegraf"/>
              </a:rPr>
              <a:t> </a:t>
            </a:r>
            <a:r>
              <a:rPr lang="en-US" sz="2100" spc="42" dirty="0" err="1">
                <a:solidFill>
                  <a:srgbClr val="000000"/>
                </a:solidFill>
                <a:latin typeface="Telegraf"/>
              </a:rPr>
              <a:t>karena</a:t>
            </a:r>
            <a:r>
              <a:rPr lang="en-US" sz="2100" spc="42" dirty="0">
                <a:solidFill>
                  <a:srgbClr val="000000"/>
                </a:solidFill>
                <a:latin typeface="Telegraf"/>
              </a:rPr>
              <a:t> </a:t>
            </a:r>
            <a:r>
              <a:rPr lang="en-US" sz="2100" spc="42" dirty="0" err="1">
                <a:solidFill>
                  <a:srgbClr val="000000"/>
                </a:solidFill>
                <a:latin typeface="Telegraf"/>
              </a:rPr>
              <a:t>dapat</a:t>
            </a:r>
            <a:r>
              <a:rPr lang="en-US" sz="2100" spc="42" dirty="0">
                <a:solidFill>
                  <a:srgbClr val="000000"/>
                </a:solidFill>
                <a:latin typeface="Telegraf"/>
              </a:rPr>
              <a:t> </a:t>
            </a:r>
            <a:r>
              <a:rPr lang="en-US" sz="2100" spc="42" dirty="0" err="1">
                <a:solidFill>
                  <a:srgbClr val="000000"/>
                </a:solidFill>
                <a:latin typeface="Telegraf"/>
              </a:rPr>
              <a:t>diukur</a:t>
            </a:r>
            <a:r>
              <a:rPr lang="en-US" sz="2100" spc="42" dirty="0">
                <a:solidFill>
                  <a:srgbClr val="000000"/>
                </a:solidFill>
                <a:latin typeface="Telegraf"/>
              </a:rPr>
              <a:t>/</a:t>
            </a:r>
            <a:r>
              <a:rPr lang="en-US" sz="2100" spc="42" dirty="0" err="1">
                <a:solidFill>
                  <a:srgbClr val="000000"/>
                </a:solidFill>
                <a:latin typeface="Telegraf"/>
              </a:rPr>
              <a:t>dihitung</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mudah</a:t>
            </a: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2. </a:t>
            </a:r>
            <a:r>
              <a:rPr lang="en-US" sz="2100" spc="42" dirty="0" err="1">
                <a:solidFill>
                  <a:srgbClr val="000000"/>
                </a:solidFill>
                <a:latin typeface="Telegraf Bold"/>
              </a:rPr>
              <a:t>Pernyataan</a:t>
            </a:r>
            <a:r>
              <a:rPr lang="en-US" sz="2100" spc="42" dirty="0">
                <a:solidFill>
                  <a:srgbClr val="000000"/>
                </a:solidFill>
                <a:latin typeface="Telegraf Bold"/>
              </a:rPr>
              <a:t> </a:t>
            </a:r>
            <a:r>
              <a:rPr lang="en-US" sz="2100" spc="42" dirty="0" err="1">
                <a:solidFill>
                  <a:srgbClr val="000000"/>
                </a:solidFill>
                <a:latin typeface="Telegraf Bold"/>
              </a:rPr>
              <a:t>palsu</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ini</a:t>
            </a:r>
            <a:r>
              <a:rPr lang="en-US" sz="2100" spc="42" dirty="0">
                <a:solidFill>
                  <a:srgbClr val="000000"/>
                </a:solidFill>
                <a:latin typeface="Telegraf"/>
              </a:rPr>
              <a:t> </a:t>
            </a:r>
            <a:r>
              <a:rPr lang="en-US" sz="2100" spc="42" dirty="0" err="1">
                <a:solidFill>
                  <a:srgbClr val="000000"/>
                </a:solidFill>
                <a:latin typeface="Telegraf"/>
              </a:rPr>
              <a:t>sering</a:t>
            </a:r>
            <a:r>
              <a:rPr lang="en-US" sz="2100" spc="42" dirty="0">
                <a:solidFill>
                  <a:srgbClr val="000000"/>
                </a:solidFill>
                <a:latin typeface="Telegraf"/>
              </a:rPr>
              <a:t> </a:t>
            </a:r>
            <a:r>
              <a:rPr lang="en-US" sz="2100" spc="42" dirty="0" err="1">
                <a:solidFill>
                  <a:srgbClr val="000000"/>
                </a:solidFill>
                <a:latin typeface="Telegraf"/>
              </a:rPr>
              <a:t>dilakukan</a:t>
            </a:r>
            <a:r>
              <a:rPr lang="en-US" sz="2100" spc="42" dirty="0">
                <a:solidFill>
                  <a:srgbClr val="000000"/>
                </a:solidFill>
                <a:latin typeface="Telegraf"/>
              </a:rPr>
              <a:t> oleh </a:t>
            </a:r>
            <a:r>
              <a:rPr lang="en-US" sz="2100" spc="42" dirty="0" err="1">
                <a:solidFill>
                  <a:srgbClr val="000000"/>
                </a:solidFill>
                <a:latin typeface="Telegraf"/>
              </a:rPr>
              <a:t>pihak</a:t>
            </a:r>
            <a:r>
              <a:rPr lang="en-US" sz="2100" spc="42" dirty="0">
                <a:solidFill>
                  <a:srgbClr val="000000"/>
                </a:solidFill>
                <a:latin typeface="Telegraf"/>
              </a:rPr>
              <a:t> </a:t>
            </a:r>
            <a:r>
              <a:rPr lang="en-US" sz="2100" spc="42" dirty="0" err="1">
                <a:solidFill>
                  <a:srgbClr val="000000"/>
                </a:solidFill>
                <a:latin typeface="Telegraf"/>
              </a:rPr>
              <a:t>manajemen</a:t>
            </a:r>
            <a:r>
              <a:rPr lang="en-US" sz="2100" spc="42" dirty="0">
                <a:solidFill>
                  <a:srgbClr val="000000"/>
                </a:solidFill>
                <a:latin typeface="Telegraf"/>
              </a:rPr>
              <a:t> </a:t>
            </a:r>
            <a:r>
              <a:rPr lang="en-US" sz="2100" spc="42" dirty="0" err="1">
                <a:solidFill>
                  <a:srgbClr val="000000"/>
                </a:solidFill>
                <a:latin typeface="Telegraf"/>
              </a:rPr>
              <a:t>untuk</a:t>
            </a:r>
            <a:r>
              <a:rPr lang="en-US" sz="2100" spc="42" dirty="0">
                <a:solidFill>
                  <a:srgbClr val="000000"/>
                </a:solidFill>
                <a:latin typeface="Telegraf"/>
              </a:rPr>
              <a:t> </a:t>
            </a:r>
            <a:r>
              <a:rPr lang="en-US" sz="2100" spc="42" dirty="0" err="1">
                <a:solidFill>
                  <a:srgbClr val="000000"/>
                </a:solidFill>
                <a:latin typeface="Telegraf"/>
              </a:rPr>
              <a:t>menutupi</a:t>
            </a:r>
            <a:r>
              <a:rPr lang="en-US" sz="2100" spc="42" dirty="0">
                <a:solidFill>
                  <a:srgbClr val="000000"/>
                </a:solidFill>
                <a:latin typeface="Telegraf"/>
              </a:rPr>
              <a:t> </a:t>
            </a:r>
            <a:r>
              <a:rPr lang="en-US" sz="2100" spc="42" dirty="0" err="1">
                <a:solidFill>
                  <a:srgbClr val="000000"/>
                </a:solidFill>
                <a:latin typeface="Telegraf"/>
              </a:rPr>
              <a:t>kondisi</a:t>
            </a:r>
            <a:r>
              <a:rPr lang="en-US" sz="2100" spc="42" dirty="0">
                <a:solidFill>
                  <a:srgbClr val="000000"/>
                </a:solidFill>
                <a:latin typeface="Telegraf"/>
              </a:rPr>
              <a:t> </a:t>
            </a:r>
            <a:r>
              <a:rPr lang="en-US" sz="2100" spc="42" dirty="0" err="1">
                <a:solidFill>
                  <a:srgbClr val="000000"/>
                </a:solidFill>
                <a:latin typeface="Telegraf"/>
              </a:rPr>
              <a:t>keuangan</a:t>
            </a:r>
            <a:r>
              <a:rPr lang="en-US" sz="2100" spc="42" dirty="0">
                <a:solidFill>
                  <a:srgbClr val="000000"/>
                </a:solidFill>
                <a:latin typeface="Telegraf"/>
              </a:rPr>
              <a:t> yang </a:t>
            </a:r>
            <a:r>
              <a:rPr lang="en-US" sz="2100" spc="42" dirty="0" err="1">
                <a:solidFill>
                  <a:srgbClr val="000000"/>
                </a:solidFill>
                <a:latin typeface="Telegraf"/>
              </a:rPr>
              <a:t>sesungguhnya</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membuat</a:t>
            </a:r>
            <a:r>
              <a:rPr lang="en-US" sz="2100" spc="42" dirty="0">
                <a:solidFill>
                  <a:srgbClr val="000000"/>
                </a:solidFill>
                <a:latin typeface="Telegraf"/>
              </a:rPr>
              <a:t> </a:t>
            </a:r>
            <a:r>
              <a:rPr lang="en-US" sz="2100" spc="42" dirty="0" err="1">
                <a:solidFill>
                  <a:srgbClr val="000000"/>
                </a:solidFill>
                <a:latin typeface="Telegraf"/>
              </a:rPr>
              <a:t>rekayasa</a:t>
            </a:r>
            <a:r>
              <a:rPr lang="en-US" sz="2100" spc="42" dirty="0">
                <a:solidFill>
                  <a:srgbClr val="000000"/>
                </a:solidFill>
                <a:latin typeface="Telegraf"/>
              </a:rPr>
              <a:t> </a:t>
            </a:r>
            <a:r>
              <a:rPr lang="en-US" sz="2100" spc="42" dirty="0" err="1">
                <a:solidFill>
                  <a:srgbClr val="000000"/>
                </a:solidFill>
                <a:latin typeface="Telegraf"/>
              </a:rPr>
              <a:t>keuangan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laporan</a:t>
            </a:r>
            <a:r>
              <a:rPr lang="en-US" sz="2100" spc="42" dirty="0">
                <a:solidFill>
                  <a:srgbClr val="000000"/>
                </a:solidFill>
                <a:latin typeface="Telegraf"/>
              </a:rPr>
              <a:t> </a:t>
            </a:r>
            <a:r>
              <a:rPr lang="en-US" sz="2100" spc="42" dirty="0" err="1">
                <a:solidFill>
                  <a:srgbClr val="000000"/>
                </a:solidFill>
                <a:latin typeface="Telegraf"/>
              </a:rPr>
              <a:t>keuangan</a:t>
            </a:r>
            <a:r>
              <a:rPr lang="en-US" sz="2100" spc="42" dirty="0">
                <a:solidFill>
                  <a:srgbClr val="000000"/>
                </a:solidFill>
                <a:latin typeface="Telegraf"/>
              </a:rPr>
              <a:t> </a:t>
            </a:r>
            <a:r>
              <a:rPr lang="en-US" sz="2100" spc="42" dirty="0" err="1">
                <a:solidFill>
                  <a:srgbClr val="000000"/>
                </a:solidFill>
                <a:latin typeface="Telegraf"/>
              </a:rPr>
              <a:t>perusahaan</a:t>
            </a: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3. </a:t>
            </a:r>
            <a:r>
              <a:rPr lang="en-US" sz="2100" spc="42" dirty="0" err="1">
                <a:solidFill>
                  <a:srgbClr val="000000"/>
                </a:solidFill>
                <a:latin typeface="Telegraf Bold"/>
              </a:rPr>
              <a:t>Korupsi</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Bukan</a:t>
            </a:r>
            <a:r>
              <a:rPr lang="en-US" sz="2100" spc="42" dirty="0">
                <a:solidFill>
                  <a:srgbClr val="000000"/>
                </a:solidFill>
                <a:latin typeface="Telegraf"/>
              </a:rPr>
              <a:t> </a:t>
            </a:r>
            <a:r>
              <a:rPr lang="en-US" sz="2100" spc="42" dirty="0" err="1">
                <a:solidFill>
                  <a:srgbClr val="000000"/>
                </a:solidFill>
                <a:latin typeface="Telegraf"/>
              </a:rPr>
              <a:t>hanya</a:t>
            </a:r>
            <a:r>
              <a:rPr lang="en-US" sz="2100" spc="42" dirty="0">
                <a:solidFill>
                  <a:srgbClr val="000000"/>
                </a:solidFill>
                <a:latin typeface="Telegraf"/>
              </a:rPr>
              <a:t> </a:t>
            </a:r>
            <a:r>
              <a:rPr lang="en-US" sz="2100" spc="42" dirty="0" err="1">
                <a:solidFill>
                  <a:srgbClr val="000000"/>
                </a:solidFill>
                <a:latin typeface="Telegraf"/>
              </a:rPr>
              <a:t>sering</a:t>
            </a:r>
            <a:r>
              <a:rPr lang="en-US" sz="2100" spc="42" dirty="0">
                <a:solidFill>
                  <a:srgbClr val="000000"/>
                </a:solidFill>
                <a:latin typeface="Telegraf"/>
              </a:rPr>
              <a:t> </a:t>
            </a:r>
            <a:r>
              <a:rPr lang="en-US" sz="2100" spc="42" dirty="0" err="1">
                <a:solidFill>
                  <a:srgbClr val="000000"/>
                </a:solidFill>
                <a:latin typeface="Telegraf"/>
              </a:rPr>
              <a:t>terjadi</a:t>
            </a:r>
            <a:r>
              <a:rPr lang="en-US" sz="2100" spc="42" dirty="0">
                <a:solidFill>
                  <a:srgbClr val="000000"/>
                </a:solidFill>
                <a:latin typeface="Telegraf"/>
              </a:rPr>
              <a:t> di </a:t>
            </a:r>
            <a:r>
              <a:rPr lang="en-US" sz="2100" spc="42" dirty="0" err="1">
                <a:solidFill>
                  <a:srgbClr val="000000"/>
                </a:solidFill>
                <a:latin typeface="Telegraf"/>
              </a:rPr>
              <a:t>sebuah</a:t>
            </a:r>
            <a:r>
              <a:rPr lang="en-US" sz="2100" spc="42" dirty="0">
                <a:solidFill>
                  <a:srgbClr val="000000"/>
                </a:solidFill>
                <a:latin typeface="Telegraf"/>
              </a:rPr>
              <a:t> </a:t>
            </a:r>
            <a:r>
              <a:rPr lang="en-US" sz="2100" spc="42" dirty="0" err="1">
                <a:solidFill>
                  <a:srgbClr val="000000"/>
                </a:solidFill>
                <a:latin typeface="Telegraf"/>
              </a:rPr>
              <a:t>perusahaan</a:t>
            </a:r>
            <a:r>
              <a:rPr lang="en-US" sz="2100" spc="42" dirty="0">
                <a:solidFill>
                  <a:srgbClr val="000000"/>
                </a:solidFill>
                <a:latin typeface="Telegraf"/>
              </a:rPr>
              <a:t>, </a:t>
            </a:r>
            <a:r>
              <a:rPr lang="en-US" sz="2100" spc="42" dirty="0" err="1">
                <a:solidFill>
                  <a:srgbClr val="000000"/>
                </a:solidFill>
                <a:latin typeface="Telegraf"/>
              </a:rPr>
              <a:t>ini</a:t>
            </a:r>
            <a:r>
              <a:rPr lang="en-US" sz="2100" spc="42" dirty="0">
                <a:solidFill>
                  <a:srgbClr val="000000"/>
                </a:solidFill>
                <a:latin typeface="Telegraf"/>
              </a:rPr>
              <a:t> juga </a:t>
            </a:r>
            <a:r>
              <a:rPr lang="en-US" sz="2100" spc="42" dirty="0" err="1">
                <a:solidFill>
                  <a:srgbClr val="000000"/>
                </a:solidFill>
                <a:latin typeface="Telegraf"/>
              </a:rPr>
              <a:t>sering</a:t>
            </a:r>
            <a:r>
              <a:rPr lang="en-US" sz="2100" spc="42" dirty="0">
                <a:solidFill>
                  <a:srgbClr val="000000"/>
                </a:solidFill>
                <a:latin typeface="Telegraf"/>
              </a:rPr>
              <a:t> </a:t>
            </a:r>
            <a:r>
              <a:rPr lang="en-US" sz="2100" spc="42" dirty="0" err="1">
                <a:solidFill>
                  <a:srgbClr val="000000"/>
                </a:solidFill>
                <a:latin typeface="Telegraf"/>
              </a:rPr>
              <a:t>ditemukan</a:t>
            </a:r>
            <a:r>
              <a:rPr lang="en-US" sz="2100" spc="42" dirty="0">
                <a:solidFill>
                  <a:srgbClr val="000000"/>
                </a:solidFill>
                <a:latin typeface="Telegraf"/>
              </a:rPr>
              <a:t> di </a:t>
            </a:r>
            <a:r>
              <a:rPr lang="en-US" sz="2100" spc="42" dirty="0" err="1">
                <a:solidFill>
                  <a:srgbClr val="000000"/>
                </a:solidFill>
                <a:latin typeface="Telegraf"/>
              </a:rPr>
              <a:t>beberapa</a:t>
            </a:r>
            <a:r>
              <a:rPr lang="en-US" sz="2100" spc="42" dirty="0">
                <a:solidFill>
                  <a:srgbClr val="000000"/>
                </a:solidFill>
                <a:latin typeface="Telegraf"/>
              </a:rPr>
              <a:t> negara yang </a:t>
            </a:r>
            <a:r>
              <a:rPr lang="en-US" sz="2100" spc="42" dirty="0" err="1">
                <a:solidFill>
                  <a:srgbClr val="000000"/>
                </a:solidFill>
                <a:latin typeface="Telegraf"/>
              </a:rPr>
              <a:t>sedang</a:t>
            </a:r>
            <a:r>
              <a:rPr lang="en-US" sz="2100" spc="42" dirty="0">
                <a:solidFill>
                  <a:srgbClr val="000000"/>
                </a:solidFill>
                <a:latin typeface="Telegraf"/>
              </a:rPr>
              <a:t> </a:t>
            </a:r>
            <a:r>
              <a:rPr lang="en-US" sz="2100" spc="42" dirty="0" err="1">
                <a:solidFill>
                  <a:srgbClr val="000000"/>
                </a:solidFill>
                <a:latin typeface="Telegraf"/>
              </a:rPr>
              <a:t>berkembang</a:t>
            </a:r>
            <a:r>
              <a:rPr lang="en-US" sz="2100" spc="42" dirty="0">
                <a:solidFill>
                  <a:srgbClr val="000000"/>
                </a:solidFill>
                <a:latin typeface="Telegraf"/>
              </a:rPr>
              <a:t> dan </a:t>
            </a:r>
            <a:r>
              <a:rPr lang="en-US" sz="2100" spc="42" dirty="0" err="1">
                <a:solidFill>
                  <a:srgbClr val="000000"/>
                </a:solidFill>
                <a:latin typeface="Telegraf"/>
              </a:rPr>
              <a:t>kurangnya</a:t>
            </a:r>
            <a:r>
              <a:rPr lang="en-US" sz="2100" spc="42" dirty="0">
                <a:solidFill>
                  <a:srgbClr val="000000"/>
                </a:solidFill>
                <a:latin typeface="Telegraf"/>
              </a:rPr>
              <a:t> tata </a:t>
            </a:r>
            <a:r>
              <a:rPr lang="en-US" sz="2100" spc="42" dirty="0" err="1">
                <a:solidFill>
                  <a:srgbClr val="000000"/>
                </a:solidFill>
                <a:latin typeface="Telegraf"/>
              </a:rPr>
              <a:t>kelola</a:t>
            </a:r>
            <a:r>
              <a:rPr lang="en-US" sz="2100" spc="42" dirty="0">
                <a:solidFill>
                  <a:srgbClr val="000000"/>
                </a:solidFill>
                <a:latin typeface="Telegraf"/>
              </a:rPr>
              <a:t> yang </a:t>
            </a:r>
            <a:r>
              <a:rPr lang="en-US" sz="2100" spc="42" dirty="0" err="1">
                <a:solidFill>
                  <a:srgbClr val="000000"/>
                </a:solidFill>
                <a:latin typeface="Telegraf"/>
              </a:rPr>
              <a:t>baik</a:t>
            </a:r>
            <a:r>
              <a:rPr lang="en-US" sz="2100" spc="42" dirty="0">
                <a:solidFill>
                  <a:srgbClr val="000000"/>
                </a:solidFill>
                <a:latin typeface="Telegraf"/>
              </a:rPr>
              <a:t>. </a:t>
            </a:r>
            <a:r>
              <a:rPr lang="en-US" sz="2100" spc="42" dirty="0" err="1">
                <a:solidFill>
                  <a:srgbClr val="000000"/>
                </a:solidFill>
                <a:latin typeface="Telegraf"/>
              </a:rPr>
              <a:t>Kelompok</a:t>
            </a:r>
            <a:r>
              <a:rPr lang="en-US" sz="2100" spc="42" dirty="0">
                <a:solidFill>
                  <a:srgbClr val="000000"/>
                </a:solidFill>
                <a:latin typeface="Telegraf"/>
              </a:rPr>
              <a:t> fraud </a:t>
            </a:r>
            <a:r>
              <a:rPr lang="en-US" sz="2100" spc="42" dirty="0" err="1">
                <a:solidFill>
                  <a:srgbClr val="000000"/>
                </a:solidFill>
                <a:latin typeface="Telegraf"/>
              </a:rPr>
              <a:t>ini</a:t>
            </a:r>
            <a:r>
              <a:rPr lang="en-US" sz="2100" spc="42" dirty="0">
                <a:solidFill>
                  <a:srgbClr val="000000"/>
                </a:solidFill>
                <a:latin typeface="Telegraf"/>
              </a:rPr>
              <a:t> </a:t>
            </a:r>
            <a:r>
              <a:rPr lang="en-US" sz="2100" spc="42" dirty="0" err="1">
                <a:solidFill>
                  <a:srgbClr val="000000"/>
                </a:solidFill>
                <a:latin typeface="Telegraf"/>
              </a:rPr>
              <a:t>sulit</a:t>
            </a:r>
            <a:r>
              <a:rPr lang="en-US" sz="2100" spc="42" dirty="0">
                <a:solidFill>
                  <a:srgbClr val="000000"/>
                </a:solidFill>
                <a:latin typeface="Telegraf"/>
              </a:rPr>
              <a:t> </a:t>
            </a:r>
            <a:r>
              <a:rPr lang="en-US" sz="2100" spc="42" dirty="0" err="1">
                <a:solidFill>
                  <a:srgbClr val="000000"/>
                </a:solidFill>
                <a:latin typeface="Telegraf"/>
              </a:rPr>
              <a:t>dideteksi</a:t>
            </a:r>
            <a:r>
              <a:rPr lang="en-US" sz="2100" spc="42" dirty="0">
                <a:solidFill>
                  <a:srgbClr val="000000"/>
                </a:solidFill>
                <a:latin typeface="Telegraf"/>
              </a:rPr>
              <a:t> </a:t>
            </a:r>
            <a:r>
              <a:rPr lang="en-US" sz="2100" spc="42" dirty="0" err="1">
                <a:solidFill>
                  <a:srgbClr val="000000"/>
                </a:solidFill>
                <a:latin typeface="Telegraf"/>
              </a:rPr>
              <a:t>karena</a:t>
            </a:r>
            <a:r>
              <a:rPr lang="en-US" sz="2100" spc="42" dirty="0">
                <a:solidFill>
                  <a:srgbClr val="000000"/>
                </a:solidFill>
                <a:latin typeface="Telegraf"/>
              </a:rPr>
              <a:t> </a:t>
            </a:r>
            <a:r>
              <a:rPr lang="en-US" sz="2100" spc="42" dirty="0" err="1">
                <a:solidFill>
                  <a:srgbClr val="000000"/>
                </a:solidFill>
                <a:latin typeface="Telegraf"/>
              </a:rPr>
              <a:t>banyaknya</a:t>
            </a:r>
            <a:r>
              <a:rPr lang="en-US" sz="2100" spc="42" dirty="0">
                <a:solidFill>
                  <a:srgbClr val="000000"/>
                </a:solidFill>
                <a:latin typeface="Telegraf"/>
              </a:rPr>
              <a:t> </a:t>
            </a:r>
            <a:r>
              <a:rPr lang="en-US" sz="2100" spc="42" dirty="0" err="1">
                <a:solidFill>
                  <a:srgbClr val="000000"/>
                </a:solidFill>
                <a:latin typeface="Telegraf"/>
              </a:rPr>
              <a:t>pihak</a:t>
            </a:r>
            <a:r>
              <a:rPr lang="en-US" sz="2100" spc="42" dirty="0">
                <a:solidFill>
                  <a:srgbClr val="000000"/>
                </a:solidFill>
                <a:latin typeface="Telegraf"/>
              </a:rPr>
              <a:t> yang </a:t>
            </a:r>
            <a:r>
              <a:rPr lang="en-US" sz="2100" spc="42" dirty="0" err="1">
                <a:solidFill>
                  <a:srgbClr val="000000"/>
                </a:solidFill>
                <a:latin typeface="Telegraf"/>
              </a:rPr>
              <a:t>bekerja</a:t>
            </a:r>
            <a:r>
              <a:rPr lang="en-US" sz="2100" spc="42" dirty="0">
                <a:solidFill>
                  <a:srgbClr val="000000"/>
                </a:solidFill>
                <a:latin typeface="Telegraf"/>
              </a:rPr>
              <a:t> </a:t>
            </a:r>
            <a:r>
              <a:rPr lang="en-US" sz="2100" spc="42" dirty="0" err="1">
                <a:solidFill>
                  <a:srgbClr val="000000"/>
                </a:solidFill>
                <a:latin typeface="Telegraf"/>
              </a:rPr>
              <a:t>sama</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menikmati</a:t>
            </a:r>
            <a:r>
              <a:rPr lang="en-US" sz="2100" spc="42" dirty="0">
                <a:solidFill>
                  <a:srgbClr val="000000"/>
                </a:solidFill>
                <a:latin typeface="Telegraf"/>
              </a:rPr>
              <a:t> </a:t>
            </a:r>
            <a:r>
              <a:rPr lang="en-US" sz="2100" spc="42" dirty="0" err="1">
                <a:solidFill>
                  <a:srgbClr val="000000"/>
                </a:solidFill>
                <a:latin typeface="Telegraf"/>
              </a:rPr>
              <a:t>keuntungan</a:t>
            </a:r>
            <a:r>
              <a:rPr lang="en-US" sz="2100" spc="42" dirty="0">
                <a:solidFill>
                  <a:srgbClr val="000000"/>
                </a:solidFill>
                <a:latin typeface="Telegraf"/>
              </a:rPr>
              <a:t>. </a:t>
            </a:r>
            <a:r>
              <a:rPr lang="en-US" sz="2100" spc="42" dirty="0" err="1">
                <a:solidFill>
                  <a:srgbClr val="000000"/>
                </a:solidFill>
                <a:latin typeface="Telegraf"/>
              </a:rPr>
              <a:t>Didalamnya</a:t>
            </a:r>
            <a:r>
              <a:rPr lang="en-US" sz="2100" spc="42" dirty="0">
                <a:solidFill>
                  <a:srgbClr val="000000"/>
                </a:solidFill>
                <a:latin typeface="Telegraf"/>
              </a:rPr>
              <a:t> </a:t>
            </a:r>
            <a:r>
              <a:rPr lang="en-US" sz="2100" spc="42" dirty="0" err="1">
                <a:solidFill>
                  <a:srgbClr val="000000"/>
                </a:solidFill>
                <a:latin typeface="Telegraf"/>
              </a:rPr>
              <a:t>termasuk</a:t>
            </a:r>
            <a:r>
              <a:rPr lang="en-US" sz="2100" spc="42" dirty="0">
                <a:solidFill>
                  <a:srgbClr val="000000"/>
                </a:solidFill>
                <a:latin typeface="Telegraf"/>
              </a:rPr>
              <a:t> </a:t>
            </a:r>
            <a:r>
              <a:rPr lang="en-US" sz="2100" spc="42" dirty="0" err="1">
                <a:solidFill>
                  <a:srgbClr val="000000"/>
                </a:solidFill>
                <a:latin typeface="Telegraf"/>
              </a:rPr>
              <a:t>konflik</a:t>
            </a:r>
            <a:r>
              <a:rPr lang="en-US" sz="2100" spc="42" dirty="0">
                <a:solidFill>
                  <a:srgbClr val="000000"/>
                </a:solidFill>
                <a:latin typeface="Telegraf"/>
              </a:rPr>
              <a:t> </a:t>
            </a:r>
            <a:r>
              <a:rPr lang="en-US" sz="2100" spc="42" dirty="0" err="1">
                <a:solidFill>
                  <a:srgbClr val="000000"/>
                </a:solidFill>
                <a:latin typeface="Telegraf"/>
              </a:rPr>
              <a:t>kepentingan</a:t>
            </a:r>
            <a:r>
              <a:rPr lang="en-US" sz="2100" spc="42" dirty="0">
                <a:solidFill>
                  <a:srgbClr val="000000"/>
                </a:solidFill>
                <a:latin typeface="Telegraf"/>
              </a:rPr>
              <a:t>, </a:t>
            </a:r>
            <a:r>
              <a:rPr lang="en-US" sz="2100" spc="42" dirty="0" err="1">
                <a:solidFill>
                  <a:srgbClr val="000000"/>
                </a:solidFill>
                <a:latin typeface="Telegraf"/>
              </a:rPr>
              <a:t>penyuapan</a:t>
            </a:r>
            <a:r>
              <a:rPr lang="en-US" sz="2100" spc="42" dirty="0">
                <a:solidFill>
                  <a:srgbClr val="000000"/>
                </a:solidFill>
                <a:latin typeface="Telegraf"/>
              </a:rPr>
              <a:t>, </a:t>
            </a:r>
            <a:r>
              <a:rPr lang="en-US" sz="2100" spc="42" dirty="0" err="1">
                <a:solidFill>
                  <a:srgbClr val="000000"/>
                </a:solidFill>
                <a:latin typeface="Telegraf"/>
              </a:rPr>
              <a:t>pemerasan</a:t>
            </a:r>
            <a:r>
              <a:rPr lang="en-US" sz="2100" spc="42" dirty="0">
                <a:solidFill>
                  <a:srgbClr val="000000"/>
                </a:solidFill>
                <a:latin typeface="Telegraf"/>
              </a:rPr>
              <a:t> </a:t>
            </a:r>
            <a:r>
              <a:rPr lang="en-US" sz="2100" spc="42" dirty="0" err="1">
                <a:solidFill>
                  <a:srgbClr val="000000"/>
                </a:solidFill>
                <a:latin typeface="Telegraf"/>
              </a:rPr>
              <a:t>ekonomi</a:t>
            </a:r>
            <a:r>
              <a:rPr lang="en-US" sz="2100" spc="42" dirty="0">
                <a:solidFill>
                  <a:srgbClr val="000000"/>
                </a:solidFill>
                <a:latin typeface="Telegraf"/>
              </a:rPr>
              <a:t>, dan </a:t>
            </a:r>
            <a:r>
              <a:rPr lang="en-US" sz="2100" spc="42" dirty="0" err="1">
                <a:solidFill>
                  <a:srgbClr val="000000"/>
                </a:solidFill>
                <a:latin typeface="Telegraf"/>
              </a:rPr>
              <a:t>penerimaan</a:t>
            </a:r>
            <a:r>
              <a:rPr lang="en-US" sz="2100" spc="42" dirty="0">
                <a:solidFill>
                  <a:srgbClr val="000000"/>
                </a:solidFill>
                <a:latin typeface="Telegraf"/>
              </a:rPr>
              <a:t> yang </a:t>
            </a:r>
            <a:r>
              <a:rPr lang="en-US" sz="2100" spc="42" dirty="0" err="1">
                <a:solidFill>
                  <a:srgbClr val="000000"/>
                </a:solidFill>
                <a:latin typeface="Telegraf"/>
              </a:rPr>
              <a:t>ilegal</a:t>
            </a:r>
            <a:r>
              <a:rPr lang="en-US" sz="2100" spc="42" dirty="0">
                <a:solidFill>
                  <a:srgbClr val="000000"/>
                </a:solidFill>
                <a:latin typeface="Telegraf"/>
              </a:rPr>
              <a:t>.</a:t>
            </a: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15</a:t>
            </a: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55456" y="1169115"/>
            <a:ext cx="15232327" cy="8801445"/>
          </a:xfrm>
          <a:prstGeom prst="rect">
            <a:avLst/>
          </a:prstGeom>
        </p:spPr>
        <p:txBody>
          <a:bodyPr lIns="0" tIns="0" rIns="0" bIns="0" rtlCol="0" anchor="t">
            <a:spAutoFit/>
          </a:bodyPr>
          <a:lstStyle/>
          <a:p>
            <a:pPr>
              <a:lnSpc>
                <a:spcPts val="2940"/>
              </a:lnSpc>
            </a:pPr>
            <a:endParaRPr dirty="0"/>
          </a:p>
          <a:p>
            <a:pPr>
              <a:lnSpc>
                <a:spcPts val="2940"/>
              </a:lnSpc>
            </a:pPr>
            <a:r>
              <a:rPr lang="en-US" sz="2100" spc="42" dirty="0">
                <a:solidFill>
                  <a:srgbClr val="000000"/>
                </a:solidFill>
                <a:latin typeface="Telegraf Bold"/>
              </a:rPr>
              <a:t>4. </a:t>
            </a:r>
            <a:r>
              <a:rPr lang="en-US" sz="2100" spc="42" dirty="0" err="1">
                <a:solidFill>
                  <a:srgbClr val="000000"/>
                </a:solidFill>
                <a:latin typeface="Telegraf Bold"/>
              </a:rPr>
              <a:t>Kecurangan</a:t>
            </a:r>
            <a:endParaRPr lang="en-US" sz="2100" spc="42" dirty="0">
              <a:solidFill>
                <a:srgbClr val="000000"/>
              </a:solidFill>
              <a:latin typeface="Telegraf Bold"/>
            </a:endParaRPr>
          </a:p>
          <a:p>
            <a:pPr>
              <a:lnSpc>
                <a:spcPts val="2940"/>
              </a:lnSpc>
            </a:pPr>
            <a:r>
              <a:rPr lang="en-US" sz="2100" spc="42" dirty="0">
                <a:solidFill>
                  <a:srgbClr val="000000"/>
                </a:solidFill>
                <a:latin typeface="Telegraf"/>
              </a:rPr>
              <a:t>Tindakan </a:t>
            </a:r>
            <a:r>
              <a:rPr lang="en-US" sz="2100" spc="42" dirty="0" err="1">
                <a:solidFill>
                  <a:srgbClr val="000000"/>
                </a:solidFill>
                <a:latin typeface="Telegraf"/>
              </a:rPr>
              <a:t>penyimpangan</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pembiaran</a:t>
            </a:r>
            <a:r>
              <a:rPr lang="en-US" sz="2100" spc="42" dirty="0">
                <a:solidFill>
                  <a:srgbClr val="000000"/>
                </a:solidFill>
                <a:latin typeface="Telegraf"/>
              </a:rPr>
              <a:t> yang </a:t>
            </a:r>
            <a:r>
              <a:rPr lang="en-US" sz="2100" spc="42" dirty="0" err="1">
                <a:solidFill>
                  <a:srgbClr val="000000"/>
                </a:solidFill>
                <a:latin typeface="Telegraf"/>
              </a:rPr>
              <a:t>menyebabkan</a:t>
            </a:r>
            <a:r>
              <a:rPr lang="en-US" sz="2100" spc="42" dirty="0">
                <a:solidFill>
                  <a:srgbClr val="000000"/>
                </a:solidFill>
                <a:latin typeface="Telegraf"/>
              </a:rPr>
              <a:t> </a:t>
            </a:r>
            <a:r>
              <a:rPr lang="en-US" sz="2100" spc="42" dirty="0" err="1">
                <a:solidFill>
                  <a:srgbClr val="000000"/>
                </a:solidFill>
                <a:latin typeface="Telegraf"/>
              </a:rPr>
              <a:t>kerugian</a:t>
            </a:r>
            <a:r>
              <a:rPr lang="en-US" sz="2100" spc="42" dirty="0">
                <a:solidFill>
                  <a:srgbClr val="000000"/>
                </a:solidFill>
                <a:latin typeface="Telegraf"/>
              </a:rPr>
              <a:t> </a:t>
            </a:r>
            <a:r>
              <a:rPr lang="en-US" sz="2100" spc="42" dirty="0" err="1">
                <a:solidFill>
                  <a:srgbClr val="000000"/>
                </a:solidFill>
                <a:latin typeface="Telegraf"/>
              </a:rPr>
              <a:t>bagi</a:t>
            </a:r>
            <a:r>
              <a:rPr lang="en-US" sz="2100" spc="42" dirty="0">
                <a:solidFill>
                  <a:srgbClr val="000000"/>
                </a:solidFill>
                <a:latin typeface="Telegraf"/>
              </a:rPr>
              <a:t> Perusahaan</a:t>
            </a: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5. </a:t>
            </a:r>
            <a:r>
              <a:rPr lang="en-US" sz="2100" spc="42" dirty="0" err="1">
                <a:solidFill>
                  <a:srgbClr val="000000"/>
                </a:solidFill>
                <a:latin typeface="Telegraf Bold"/>
              </a:rPr>
              <a:t>Penipuan</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Perbuatan</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perkataan</a:t>
            </a:r>
            <a:r>
              <a:rPr lang="en-US" sz="2100" spc="42" dirty="0">
                <a:solidFill>
                  <a:srgbClr val="000000"/>
                </a:solidFill>
                <a:latin typeface="Telegraf"/>
              </a:rPr>
              <a:t> yang </a:t>
            </a:r>
            <a:r>
              <a:rPr lang="en-US" sz="2100" spc="42" dirty="0" err="1">
                <a:solidFill>
                  <a:srgbClr val="000000"/>
                </a:solidFill>
                <a:latin typeface="Telegraf"/>
              </a:rPr>
              <a:t>tidak</a:t>
            </a:r>
            <a:r>
              <a:rPr lang="en-US" sz="2100" spc="42" dirty="0">
                <a:solidFill>
                  <a:srgbClr val="000000"/>
                </a:solidFill>
                <a:latin typeface="Telegraf"/>
              </a:rPr>
              <a:t> </a:t>
            </a:r>
            <a:r>
              <a:rPr lang="en-US" sz="2100" spc="42" dirty="0" err="1">
                <a:solidFill>
                  <a:srgbClr val="000000"/>
                </a:solidFill>
                <a:latin typeface="Telegraf"/>
              </a:rPr>
              <a:t>jujur</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maksud</a:t>
            </a:r>
            <a:r>
              <a:rPr lang="en-US" sz="2100" spc="42" dirty="0">
                <a:solidFill>
                  <a:srgbClr val="000000"/>
                </a:solidFill>
                <a:latin typeface="Telegraf"/>
              </a:rPr>
              <a:t> </a:t>
            </a:r>
            <a:r>
              <a:rPr lang="en-US" sz="2100" spc="42" dirty="0" err="1">
                <a:solidFill>
                  <a:srgbClr val="000000"/>
                </a:solidFill>
                <a:latin typeface="Telegraf"/>
              </a:rPr>
              <a:t>menyesatkan</a:t>
            </a:r>
            <a:r>
              <a:rPr lang="en-US" sz="2100" spc="42" dirty="0">
                <a:solidFill>
                  <a:srgbClr val="000000"/>
                </a:solidFill>
                <a:latin typeface="Telegraf"/>
              </a:rPr>
              <a:t>, </a:t>
            </a:r>
            <a:r>
              <a:rPr lang="en-US" sz="2100" spc="42" dirty="0" err="1">
                <a:solidFill>
                  <a:srgbClr val="000000"/>
                </a:solidFill>
                <a:latin typeface="Telegraf"/>
              </a:rPr>
              <a:t>mengakali</a:t>
            </a:r>
            <a:r>
              <a:rPr lang="en-US" sz="2100" spc="42" dirty="0">
                <a:solidFill>
                  <a:srgbClr val="000000"/>
                </a:solidFill>
                <a:latin typeface="Telegraf"/>
              </a:rPr>
              <a:t>, dan/</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mencari</a:t>
            </a:r>
            <a:r>
              <a:rPr lang="en-US" sz="2100" spc="42" dirty="0">
                <a:solidFill>
                  <a:srgbClr val="000000"/>
                </a:solidFill>
                <a:latin typeface="Telegraf"/>
              </a:rPr>
              <a:t> </a:t>
            </a:r>
            <a:r>
              <a:rPr lang="en-US" sz="2100" spc="42" dirty="0" err="1">
                <a:solidFill>
                  <a:srgbClr val="000000"/>
                </a:solidFill>
                <a:latin typeface="Telegraf"/>
              </a:rPr>
              <a:t>untung</a:t>
            </a:r>
            <a:r>
              <a:rPr lang="en-US" sz="2100" spc="42" dirty="0">
                <a:solidFill>
                  <a:srgbClr val="000000"/>
                </a:solidFill>
                <a:latin typeface="Telegraf"/>
              </a:rPr>
              <a:t> yang </a:t>
            </a:r>
            <a:r>
              <a:rPr lang="en-US" sz="2100" spc="42" dirty="0" err="1">
                <a:solidFill>
                  <a:srgbClr val="000000"/>
                </a:solidFill>
                <a:latin typeface="Telegraf"/>
              </a:rPr>
              <a:t>mengakibatkan</a:t>
            </a:r>
            <a:r>
              <a:rPr lang="en-US" sz="2100" spc="42" dirty="0">
                <a:solidFill>
                  <a:srgbClr val="000000"/>
                </a:solidFill>
                <a:latin typeface="Telegraf"/>
              </a:rPr>
              <a:t> </a:t>
            </a:r>
            <a:r>
              <a:rPr lang="en-US" sz="2100" spc="42" dirty="0" err="1">
                <a:solidFill>
                  <a:srgbClr val="000000"/>
                </a:solidFill>
                <a:latin typeface="Telegraf"/>
              </a:rPr>
              <a:t>kerugian</a:t>
            </a:r>
            <a:r>
              <a:rPr lang="en-US" sz="2100" spc="42" dirty="0">
                <a:solidFill>
                  <a:srgbClr val="000000"/>
                </a:solidFill>
                <a:latin typeface="Telegraf"/>
              </a:rPr>
              <a:t> </a:t>
            </a:r>
            <a:r>
              <a:rPr lang="en-US" sz="2100" spc="42" dirty="0" err="1">
                <a:solidFill>
                  <a:srgbClr val="000000"/>
                </a:solidFill>
                <a:latin typeface="Telegraf"/>
              </a:rPr>
              <a:t>pihak</a:t>
            </a:r>
            <a:r>
              <a:rPr lang="en-US" sz="2100" spc="42" dirty="0">
                <a:solidFill>
                  <a:srgbClr val="000000"/>
                </a:solidFill>
                <a:latin typeface="Telegraf"/>
              </a:rPr>
              <a:t> lain</a:t>
            </a:r>
          </a:p>
          <a:p>
            <a:pPr>
              <a:lnSpc>
                <a:spcPts val="2940"/>
              </a:lnSpc>
            </a:pPr>
            <a:endParaRPr lang="en-US" sz="2100" spc="42" dirty="0">
              <a:solidFill>
                <a:srgbClr val="000000"/>
              </a:solidFill>
              <a:latin typeface="Telegraf"/>
            </a:endParaRPr>
          </a:p>
          <a:p>
            <a:pPr>
              <a:lnSpc>
                <a:spcPts val="2940"/>
              </a:lnSpc>
            </a:pPr>
            <a:r>
              <a:rPr lang="en-US" sz="2100" spc="42" dirty="0" err="1">
                <a:solidFill>
                  <a:srgbClr val="000000"/>
                </a:solidFill>
                <a:latin typeface="Telegraf"/>
              </a:rPr>
              <a:t>Perbuatan</a:t>
            </a:r>
            <a:r>
              <a:rPr lang="en-US" sz="2100" spc="42" dirty="0">
                <a:solidFill>
                  <a:srgbClr val="000000"/>
                </a:solidFill>
                <a:latin typeface="Telegraf"/>
              </a:rPr>
              <a:t> </a:t>
            </a:r>
            <a:r>
              <a:rPr lang="en-US" sz="2100" spc="42" dirty="0" err="1">
                <a:solidFill>
                  <a:srgbClr val="000000"/>
                </a:solidFill>
                <a:latin typeface="Telegraf"/>
              </a:rPr>
              <a:t>penipuan</a:t>
            </a:r>
            <a:r>
              <a:rPr lang="en-US" sz="2100" spc="42" dirty="0">
                <a:solidFill>
                  <a:srgbClr val="000000"/>
                </a:solidFill>
                <a:latin typeface="Telegraf"/>
              </a:rPr>
              <a:t> yang </a:t>
            </a:r>
            <a:r>
              <a:rPr lang="en-US" sz="2100" spc="42" dirty="0" err="1">
                <a:solidFill>
                  <a:srgbClr val="000000"/>
                </a:solidFill>
                <a:latin typeface="Telegraf"/>
              </a:rPr>
              <a:t>tergolong</a:t>
            </a:r>
            <a:r>
              <a:rPr lang="en-US" sz="2100" spc="42" dirty="0">
                <a:solidFill>
                  <a:srgbClr val="000000"/>
                </a:solidFill>
                <a:latin typeface="Telegraf"/>
              </a:rPr>
              <a:t> </a:t>
            </a:r>
            <a:r>
              <a:rPr lang="en-US" sz="2100" spc="42" dirty="0" err="1">
                <a:solidFill>
                  <a:srgbClr val="000000"/>
                </a:solidFill>
                <a:latin typeface="Telegraf"/>
              </a:rPr>
              <a:t>tindakan</a:t>
            </a:r>
            <a:r>
              <a:rPr lang="en-US" sz="2100" spc="42" dirty="0">
                <a:solidFill>
                  <a:srgbClr val="000000"/>
                </a:solidFill>
                <a:latin typeface="Telegraf"/>
              </a:rPr>
              <a:t> Fraud </a:t>
            </a:r>
            <a:r>
              <a:rPr lang="en-US" sz="2100" spc="42" dirty="0" err="1">
                <a:solidFill>
                  <a:srgbClr val="000000"/>
                </a:solidFill>
                <a:latin typeface="Telegraf"/>
              </a:rPr>
              <a:t>termasuk</a:t>
            </a:r>
            <a:r>
              <a:rPr lang="en-US" sz="2100" spc="42" dirty="0">
                <a:solidFill>
                  <a:srgbClr val="000000"/>
                </a:solidFill>
                <a:latin typeface="Telegraf"/>
              </a:rPr>
              <a:t> </a:t>
            </a:r>
            <a:r>
              <a:rPr lang="en-US" sz="2100" spc="42" dirty="0" err="1">
                <a:solidFill>
                  <a:srgbClr val="000000"/>
                </a:solidFill>
                <a:latin typeface="Telegraf"/>
              </a:rPr>
              <a:t>tapi</a:t>
            </a:r>
            <a:r>
              <a:rPr lang="en-US" sz="2100" spc="42" dirty="0">
                <a:solidFill>
                  <a:srgbClr val="000000"/>
                </a:solidFill>
                <a:latin typeface="Telegraf"/>
              </a:rPr>
              <a:t> </a:t>
            </a:r>
            <a:r>
              <a:rPr lang="en-US" sz="2100" spc="42" dirty="0" err="1">
                <a:solidFill>
                  <a:srgbClr val="000000"/>
                </a:solidFill>
                <a:latin typeface="Telegraf"/>
              </a:rPr>
              <a:t>tidak</a:t>
            </a:r>
            <a:r>
              <a:rPr lang="en-US" sz="2100" spc="42" dirty="0">
                <a:solidFill>
                  <a:srgbClr val="000000"/>
                </a:solidFill>
                <a:latin typeface="Telegraf"/>
              </a:rPr>
              <a:t> </a:t>
            </a:r>
            <a:r>
              <a:rPr lang="en-US" sz="2100" spc="42" dirty="0" err="1">
                <a:solidFill>
                  <a:srgbClr val="000000"/>
                </a:solidFill>
                <a:latin typeface="Telegraf"/>
              </a:rPr>
              <a:t>terbatas</a:t>
            </a:r>
            <a:r>
              <a:rPr lang="en-US" sz="2100" spc="42" dirty="0">
                <a:solidFill>
                  <a:srgbClr val="000000"/>
                </a:solidFill>
                <a:latin typeface="Telegraf"/>
              </a:rPr>
              <a:t> pada Fraud </a:t>
            </a:r>
            <a:r>
              <a:rPr lang="en-US" sz="2100" spc="42" dirty="0" err="1">
                <a:solidFill>
                  <a:srgbClr val="000000"/>
                </a:solidFill>
                <a:latin typeface="Telegraf"/>
              </a:rPr>
              <a:t>terhadap</a:t>
            </a:r>
            <a:r>
              <a:rPr lang="en-US" sz="2100" spc="42" dirty="0">
                <a:solidFill>
                  <a:srgbClr val="000000"/>
                </a:solidFill>
                <a:latin typeface="Telegraf"/>
              </a:rPr>
              <a:t> </a:t>
            </a:r>
            <a:r>
              <a:rPr lang="en-US" sz="2100" spc="42" dirty="0" err="1">
                <a:solidFill>
                  <a:srgbClr val="000000"/>
                </a:solidFill>
                <a:latin typeface="Telegraf"/>
              </a:rPr>
              <a:t>laporan</a:t>
            </a:r>
            <a:r>
              <a:rPr lang="en-US" sz="2100" spc="42" dirty="0">
                <a:solidFill>
                  <a:srgbClr val="000000"/>
                </a:solidFill>
                <a:latin typeface="Telegraf"/>
              </a:rPr>
              <a:t> </a:t>
            </a:r>
            <a:r>
              <a:rPr lang="en-US" sz="2100" spc="42" dirty="0" err="1">
                <a:solidFill>
                  <a:srgbClr val="000000"/>
                </a:solidFill>
                <a:latin typeface="Telegraf"/>
              </a:rPr>
              <a:t>keuangan</a:t>
            </a:r>
            <a:r>
              <a:rPr lang="en-US" sz="2100" spc="42" dirty="0">
                <a:solidFill>
                  <a:srgbClr val="000000"/>
                </a:solidFill>
                <a:latin typeface="Telegraf"/>
              </a:rPr>
              <a:t> (Fraudulent Statements) </a:t>
            </a:r>
            <a:r>
              <a:rPr lang="en-US" sz="2100" spc="42" dirty="0" err="1">
                <a:solidFill>
                  <a:srgbClr val="000000"/>
                </a:solidFill>
                <a:latin typeface="Telegraf"/>
              </a:rPr>
              <a:t>misalnya</a:t>
            </a:r>
            <a:r>
              <a:rPr lang="en-US" sz="2100" spc="42" dirty="0">
                <a:solidFill>
                  <a:srgbClr val="000000"/>
                </a:solidFill>
                <a:latin typeface="Telegraf"/>
              </a:rPr>
              <a:t> :</a:t>
            </a: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a:rPr>
              <a:t>a. </a:t>
            </a:r>
            <a:r>
              <a:rPr lang="en-US" sz="2100" spc="42" dirty="0" err="1">
                <a:solidFill>
                  <a:srgbClr val="000000"/>
                </a:solidFill>
                <a:latin typeface="Telegraf"/>
              </a:rPr>
              <a:t>Memalsukan</a:t>
            </a:r>
            <a:r>
              <a:rPr lang="en-US" sz="2100" spc="42" dirty="0">
                <a:solidFill>
                  <a:srgbClr val="000000"/>
                </a:solidFill>
                <a:latin typeface="Telegraf"/>
              </a:rPr>
              <a:t> </a:t>
            </a:r>
            <a:r>
              <a:rPr lang="en-US" sz="2100" spc="42" dirty="0" err="1">
                <a:solidFill>
                  <a:srgbClr val="000000"/>
                </a:solidFill>
                <a:latin typeface="Telegraf"/>
              </a:rPr>
              <a:t>bukti</a:t>
            </a:r>
            <a:r>
              <a:rPr lang="en-US" sz="2100" spc="42" dirty="0">
                <a:solidFill>
                  <a:srgbClr val="000000"/>
                </a:solidFill>
                <a:latin typeface="Telegraf"/>
              </a:rPr>
              <a:t> </a:t>
            </a:r>
            <a:r>
              <a:rPr lang="en-US" sz="2100" spc="42" dirty="0" err="1">
                <a:solidFill>
                  <a:srgbClr val="000000"/>
                </a:solidFill>
                <a:latin typeface="Telegraf"/>
              </a:rPr>
              <a:t>transaksi</a:t>
            </a: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a:rPr>
              <a:t>b. </a:t>
            </a:r>
            <a:r>
              <a:rPr lang="en-US" sz="2100" spc="42" dirty="0" err="1">
                <a:solidFill>
                  <a:srgbClr val="000000"/>
                </a:solidFill>
                <a:latin typeface="Telegraf"/>
              </a:rPr>
              <a:t>Mengakui</a:t>
            </a:r>
            <a:r>
              <a:rPr lang="en-US" sz="2100" spc="42" dirty="0">
                <a:solidFill>
                  <a:srgbClr val="000000"/>
                </a:solidFill>
                <a:latin typeface="Telegraf"/>
              </a:rPr>
              <a:t> </a:t>
            </a:r>
            <a:r>
              <a:rPr lang="en-US" sz="2100" spc="42" dirty="0" err="1">
                <a:solidFill>
                  <a:srgbClr val="000000"/>
                </a:solidFill>
                <a:latin typeface="Telegraf"/>
              </a:rPr>
              <a:t>suatu</a:t>
            </a:r>
            <a:r>
              <a:rPr lang="en-US" sz="2100" spc="42" dirty="0">
                <a:solidFill>
                  <a:srgbClr val="000000"/>
                </a:solidFill>
                <a:latin typeface="Telegraf"/>
              </a:rPr>
              <a:t> </a:t>
            </a:r>
            <a:r>
              <a:rPr lang="en-US" sz="2100" spc="42" dirty="0" err="1">
                <a:solidFill>
                  <a:srgbClr val="000000"/>
                </a:solidFill>
                <a:latin typeface="Telegraf"/>
              </a:rPr>
              <a:t>transaksi</a:t>
            </a:r>
            <a:r>
              <a:rPr lang="en-US" sz="2100" spc="42" dirty="0">
                <a:solidFill>
                  <a:srgbClr val="000000"/>
                </a:solidFill>
                <a:latin typeface="Telegraf"/>
              </a:rPr>
              <a:t> </a:t>
            </a:r>
            <a:r>
              <a:rPr lang="en-US" sz="2100" spc="42" dirty="0" err="1">
                <a:solidFill>
                  <a:srgbClr val="000000"/>
                </a:solidFill>
                <a:latin typeface="Telegraf"/>
              </a:rPr>
              <a:t>lebih</a:t>
            </a:r>
            <a:r>
              <a:rPr lang="en-US" sz="2100" spc="42" dirty="0">
                <a:solidFill>
                  <a:srgbClr val="000000"/>
                </a:solidFill>
                <a:latin typeface="Telegraf"/>
              </a:rPr>
              <a:t> </a:t>
            </a:r>
            <a:r>
              <a:rPr lang="en-US" sz="2100" spc="42" dirty="0" err="1">
                <a:solidFill>
                  <a:srgbClr val="000000"/>
                </a:solidFill>
                <a:latin typeface="Telegraf"/>
              </a:rPr>
              <a:t>besar</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lebih</a:t>
            </a:r>
            <a:r>
              <a:rPr lang="en-US" sz="2100" spc="42" dirty="0">
                <a:solidFill>
                  <a:srgbClr val="000000"/>
                </a:solidFill>
                <a:latin typeface="Telegraf"/>
              </a:rPr>
              <a:t> </a:t>
            </a:r>
            <a:r>
              <a:rPr lang="en-US" sz="2100" spc="42" dirty="0" err="1">
                <a:solidFill>
                  <a:srgbClr val="000000"/>
                </a:solidFill>
                <a:latin typeface="Telegraf"/>
              </a:rPr>
              <a:t>kecil</a:t>
            </a:r>
            <a:r>
              <a:rPr lang="en-US" sz="2100" spc="42" dirty="0">
                <a:solidFill>
                  <a:srgbClr val="000000"/>
                </a:solidFill>
                <a:latin typeface="Telegraf"/>
              </a:rPr>
              <a:t> </a:t>
            </a:r>
            <a:r>
              <a:rPr lang="en-US" sz="2100" spc="42" dirty="0" err="1">
                <a:solidFill>
                  <a:srgbClr val="000000"/>
                </a:solidFill>
                <a:latin typeface="Telegraf"/>
              </a:rPr>
              <a:t>dari</a:t>
            </a:r>
            <a:r>
              <a:rPr lang="en-US" sz="2100" spc="42" dirty="0">
                <a:solidFill>
                  <a:srgbClr val="000000"/>
                </a:solidFill>
                <a:latin typeface="Telegraf"/>
              </a:rPr>
              <a:t> yang </a:t>
            </a:r>
            <a:r>
              <a:rPr lang="en-US" sz="2100" spc="42" dirty="0" err="1">
                <a:solidFill>
                  <a:srgbClr val="000000"/>
                </a:solidFill>
                <a:latin typeface="Telegraf"/>
              </a:rPr>
              <a:t>seharusnya</a:t>
            </a: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6. </a:t>
            </a:r>
            <a:r>
              <a:rPr lang="en-US" sz="2100" spc="42" dirty="0" err="1">
                <a:solidFill>
                  <a:srgbClr val="000000"/>
                </a:solidFill>
                <a:latin typeface="Telegraf Bold"/>
              </a:rPr>
              <a:t>Pembocoran</a:t>
            </a:r>
            <a:r>
              <a:rPr lang="en-US" sz="2100" spc="42" dirty="0">
                <a:solidFill>
                  <a:srgbClr val="000000"/>
                </a:solidFill>
                <a:latin typeface="Telegraf Bold"/>
              </a:rPr>
              <a:t> </a:t>
            </a:r>
            <a:r>
              <a:rPr lang="en-US" sz="2100" spc="42" dirty="0" err="1">
                <a:solidFill>
                  <a:srgbClr val="000000"/>
                </a:solidFill>
                <a:latin typeface="Telegraf Bold"/>
              </a:rPr>
              <a:t>Informasi</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Pengungkapan</a:t>
            </a:r>
            <a:r>
              <a:rPr lang="en-US" sz="2100" spc="42" dirty="0">
                <a:solidFill>
                  <a:srgbClr val="000000"/>
                </a:solidFill>
                <a:latin typeface="Telegraf"/>
              </a:rPr>
              <a:t> </a:t>
            </a:r>
            <a:r>
              <a:rPr lang="en-US" sz="2100" spc="42" dirty="0" err="1">
                <a:solidFill>
                  <a:srgbClr val="000000"/>
                </a:solidFill>
                <a:latin typeface="Telegraf"/>
              </a:rPr>
              <a:t>informasi</a:t>
            </a:r>
            <a:r>
              <a:rPr lang="en-US" sz="2100" spc="42" dirty="0">
                <a:solidFill>
                  <a:srgbClr val="000000"/>
                </a:solidFill>
                <a:latin typeface="Telegraf"/>
              </a:rPr>
              <a:t>, data, dan/</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dokumen</a:t>
            </a:r>
            <a:r>
              <a:rPr lang="en-US" sz="2100" spc="42" dirty="0">
                <a:solidFill>
                  <a:srgbClr val="000000"/>
                </a:solidFill>
                <a:latin typeface="Telegraf"/>
              </a:rPr>
              <a:t> </a:t>
            </a:r>
            <a:r>
              <a:rPr lang="en-US" sz="2100" spc="42" dirty="0" err="1">
                <a:solidFill>
                  <a:srgbClr val="000000"/>
                </a:solidFill>
                <a:latin typeface="Telegraf"/>
              </a:rPr>
              <a:t>perusahaan</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sengaja</a:t>
            </a:r>
            <a:r>
              <a:rPr lang="en-US" sz="2100" spc="42" dirty="0">
                <a:solidFill>
                  <a:srgbClr val="000000"/>
                </a:solidFill>
                <a:latin typeface="Telegraf"/>
              </a:rPr>
              <a:t> yang </a:t>
            </a:r>
            <a:r>
              <a:rPr lang="en-US" sz="2100" spc="42" dirty="0" err="1">
                <a:solidFill>
                  <a:srgbClr val="000000"/>
                </a:solidFill>
                <a:latin typeface="Telegraf"/>
              </a:rPr>
              <a:t>menyebabkan</a:t>
            </a:r>
            <a:r>
              <a:rPr lang="en-US" sz="2100" spc="42" dirty="0">
                <a:solidFill>
                  <a:srgbClr val="000000"/>
                </a:solidFill>
                <a:latin typeface="Telegraf"/>
              </a:rPr>
              <a:t> </a:t>
            </a:r>
            <a:r>
              <a:rPr lang="en-US" sz="2100" spc="42" dirty="0" err="1">
                <a:solidFill>
                  <a:srgbClr val="000000"/>
                </a:solidFill>
                <a:latin typeface="Telegraf"/>
              </a:rPr>
              <a:t>kerugian</a:t>
            </a:r>
            <a:r>
              <a:rPr lang="en-US" sz="2100" spc="42" dirty="0">
                <a:solidFill>
                  <a:srgbClr val="000000"/>
                </a:solidFill>
                <a:latin typeface="Telegraf"/>
              </a:rPr>
              <a:t> </a:t>
            </a:r>
            <a:r>
              <a:rPr lang="en-US" sz="2100" spc="42" dirty="0" err="1">
                <a:solidFill>
                  <a:srgbClr val="000000"/>
                </a:solidFill>
                <a:latin typeface="Telegraf"/>
              </a:rPr>
              <a:t>bagi</a:t>
            </a:r>
            <a:r>
              <a:rPr lang="en-US" sz="2100" spc="42" dirty="0">
                <a:solidFill>
                  <a:srgbClr val="000000"/>
                </a:solidFill>
                <a:latin typeface="Telegraf"/>
              </a:rPr>
              <a:t> Perusahaan</a:t>
            </a: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16</a:t>
            </a: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83915" y="826190"/>
            <a:ext cx="15232327" cy="11007780"/>
          </a:xfrm>
          <a:prstGeom prst="rect">
            <a:avLst/>
          </a:prstGeom>
        </p:spPr>
        <p:txBody>
          <a:bodyPr lIns="0" tIns="0" rIns="0" bIns="0" rtlCol="0" anchor="t">
            <a:spAutoFit/>
          </a:bodyPr>
          <a:lstStyle/>
          <a:p>
            <a:pPr>
              <a:lnSpc>
                <a:spcPts val="3321"/>
              </a:lnSpc>
            </a:pPr>
            <a:endParaRPr dirty="0"/>
          </a:p>
          <a:p>
            <a:pPr>
              <a:lnSpc>
                <a:spcPts val="5040"/>
              </a:lnSpc>
            </a:pPr>
            <a:r>
              <a:rPr lang="en-US" sz="3600" spc="72" dirty="0">
                <a:solidFill>
                  <a:srgbClr val="000000"/>
                </a:solidFill>
                <a:latin typeface="DM Sans Bold"/>
              </a:rPr>
              <a:t>5.Kategori Fraud </a:t>
            </a:r>
          </a:p>
          <a:p>
            <a:pPr>
              <a:lnSpc>
                <a:spcPts val="5040"/>
              </a:lnSpc>
            </a:pPr>
            <a:endParaRPr lang="en-US" sz="3600" spc="72" dirty="0">
              <a:solidFill>
                <a:srgbClr val="000000"/>
              </a:solidFill>
              <a:latin typeface="DM Sans Bold"/>
            </a:endParaRPr>
          </a:p>
          <a:p>
            <a:pPr>
              <a:lnSpc>
                <a:spcPts val="2940"/>
              </a:lnSpc>
            </a:pPr>
            <a:r>
              <a:rPr lang="en-US" sz="2100" spc="42" dirty="0">
                <a:solidFill>
                  <a:srgbClr val="000000"/>
                </a:solidFill>
                <a:latin typeface="Telegraf"/>
              </a:rPr>
              <a:t>Tindakan Fraud </a:t>
            </a:r>
            <a:r>
              <a:rPr lang="en-US" sz="2100" spc="42" dirty="0" err="1">
                <a:solidFill>
                  <a:srgbClr val="000000"/>
                </a:solidFill>
                <a:latin typeface="Telegraf"/>
              </a:rPr>
              <a:t>dikategorikan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4 (</a:t>
            </a:r>
            <a:r>
              <a:rPr lang="en-US" sz="2100" spc="42" dirty="0" err="1">
                <a:solidFill>
                  <a:srgbClr val="000000"/>
                </a:solidFill>
                <a:latin typeface="Telegraf"/>
              </a:rPr>
              <a:t>empat</a:t>
            </a:r>
            <a:r>
              <a:rPr lang="en-US" sz="2100" spc="42" dirty="0">
                <a:solidFill>
                  <a:srgbClr val="000000"/>
                </a:solidFill>
                <a:latin typeface="Telegraf"/>
              </a:rPr>
              <a:t>) </a:t>
            </a:r>
            <a:r>
              <a:rPr lang="en-US" sz="2100" spc="42" dirty="0" err="1">
                <a:solidFill>
                  <a:srgbClr val="000000"/>
                </a:solidFill>
                <a:latin typeface="Telegraf"/>
              </a:rPr>
              <a:t>jenis</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tipologi</a:t>
            </a:r>
            <a:r>
              <a:rPr lang="en-US" sz="2100" spc="42" dirty="0">
                <a:solidFill>
                  <a:srgbClr val="000000"/>
                </a:solidFill>
                <a:latin typeface="Telegraf"/>
              </a:rPr>
              <a:t> </a:t>
            </a:r>
            <a:r>
              <a:rPr lang="en-US" sz="2100" spc="42" dirty="0" err="1">
                <a:solidFill>
                  <a:srgbClr val="000000"/>
                </a:solidFill>
                <a:latin typeface="Telegraf"/>
              </a:rPr>
              <a:t>berdasarkan</a:t>
            </a:r>
            <a:r>
              <a:rPr lang="en-US" sz="2100" spc="42" dirty="0">
                <a:solidFill>
                  <a:srgbClr val="000000"/>
                </a:solidFill>
                <a:latin typeface="Telegraf"/>
              </a:rPr>
              <a:t> </a:t>
            </a:r>
            <a:r>
              <a:rPr lang="en-US" sz="2100" spc="42" dirty="0" err="1">
                <a:solidFill>
                  <a:srgbClr val="000000"/>
                </a:solidFill>
                <a:latin typeface="Telegraf"/>
              </a:rPr>
              <a:t>perbuatan</a:t>
            </a:r>
            <a:r>
              <a:rPr lang="en-US" sz="2100" spc="42" dirty="0">
                <a:solidFill>
                  <a:srgbClr val="000000"/>
                </a:solidFill>
                <a:latin typeface="Telegraf"/>
              </a:rPr>
              <a:t>, </a:t>
            </a:r>
            <a:r>
              <a:rPr lang="en-US" sz="2100" spc="42" dirty="0" err="1">
                <a:solidFill>
                  <a:srgbClr val="000000"/>
                </a:solidFill>
                <a:latin typeface="Telegraf"/>
              </a:rPr>
              <a:t>yaitu</a:t>
            </a:r>
            <a:r>
              <a:rPr lang="en-US" sz="2100" spc="42" dirty="0">
                <a:solidFill>
                  <a:srgbClr val="000000"/>
                </a:solidFill>
                <a:latin typeface="Telegraf"/>
              </a:rPr>
              <a:t> :</a:t>
            </a:r>
          </a:p>
          <a:p>
            <a:pPr>
              <a:lnSpc>
                <a:spcPts val="2940"/>
              </a:lnSpc>
            </a:pPr>
            <a:endParaRPr lang="en-US" sz="2100" spc="42" dirty="0">
              <a:solidFill>
                <a:srgbClr val="000000"/>
              </a:solidFill>
              <a:latin typeface="Telegraf"/>
            </a:endParaRPr>
          </a:p>
          <a:p>
            <a:pPr marL="457200" indent="-457200">
              <a:lnSpc>
                <a:spcPts val="2940"/>
              </a:lnSpc>
              <a:buFont typeface="+mj-lt"/>
              <a:buAutoNum type="alphaLcPeriod"/>
            </a:pP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pendataan</a:t>
            </a:r>
            <a:r>
              <a:rPr lang="en-US" sz="2100" spc="42" dirty="0">
                <a:solidFill>
                  <a:srgbClr val="000000"/>
                </a:solidFill>
                <a:latin typeface="Telegraf"/>
              </a:rPr>
              <a:t> </a:t>
            </a:r>
            <a:r>
              <a:rPr lang="en-US" sz="2100" spc="42" dirty="0" err="1">
                <a:solidFill>
                  <a:srgbClr val="000000"/>
                </a:solidFill>
                <a:latin typeface="Telegraf"/>
              </a:rPr>
              <a:t>maupun</a:t>
            </a:r>
            <a:r>
              <a:rPr lang="en-US" sz="2100" spc="42" dirty="0">
                <a:solidFill>
                  <a:srgbClr val="000000"/>
                </a:solidFill>
                <a:latin typeface="Telegraf"/>
              </a:rPr>
              <a:t> </a:t>
            </a:r>
            <a:r>
              <a:rPr lang="en-US" sz="2100" spc="42" dirty="0" err="1">
                <a:solidFill>
                  <a:srgbClr val="000000"/>
                </a:solidFill>
                <a:latin typeface="Telegraf"/>
              </a:rPr>
              <a:t>pelaporan</a:t>
            </a:r>
            <a:r>
              <a:rPr lang="en-US" sz="2100" spc="42" dirty="0">
                <a:solidFill>
                  <a:srgbClr val="000000"/>
                </a:solidFill>
                <a:latin typeface="Telegraf"/>
              </a:rPr>
              <a:t> </a:t>
            </a:r>
            <a:r>
              <a:rPr lang="en-US" sz="2100" spc="42" dirty="0" err="1">
                <a:solidFill>
                  <a:srgbClr val="000000"/>
                </a:solidFill>
                <a:latin typeface="Telegraf"/>
              </a:rPr>
              <a:t>baik</a:t>
            </a:r>
            <a:r>
              <a:rPr lang="en-US" sz="2100" spc="42" dirty="0">
                <a:solidFill>
                  <a:srgbClr val="000000"/>
                </a:solidFill>
                <a:latin typeface="Telegraf"/>
              </a:rPr>
              <a:t> yang </a:t>
            </a:r>
            <a:r>
              <a:rPr lang="en-US" sz="2100" spc="42" dirty="0" err="1">
                <a:solidFill>
                  <a:srgbClr val="000000"/>
                </a:solidFill>
                <a:latin typeface="Telegraf"/>
              </a:rPr>
              <a:t>bersifat</a:t>
            </a:r>
            <a:r>
              <a:rPr lang="en-US" sz="2100" spc="42" dirty="0">
                <a:solidFill>
                  <a:srgbClr val="000000"/>
                </a:solidFill>
                <a:latin typeface="Telegraf"/>
              </a:rPr>
              <a:t> </a:t>
            </a:r>
            <a:r>
              <a:rPr lang="en-US" sz="2100" spc="42" dirty="0" err="1">
                <a:solidFill>
                  <a:srgbClr val="000000"/>
                </a:solidFill>
                <a:latin typeface="Telegraf"/>
              </a:rPr>
              <a:t>finansial</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non-</a:t>
            </a:r>
            <a:r>
              <a:rPr lang="en-US" sz="2100" spc="42" dirty="0" err="1">
                <a:solidFill>
                  <a:srgbClr val="000000"/>
                </a:solidFill>
                <a:latin typeface="Telegraf"/>
              </a:rPr>
              <a:t>finansial</a:t>
            </a:r>
            <a:r>
              <a:rPr lang="en-US" sz="2100" spc="42" dirty="0">
                <a:solidFill>
                  <a:srgbClr val="000000"/>
                </a:solidFill>
                <a:latin typeface="Telegraf"/>
              </a:rPr>
              <a:t>. </a:t>
            </a:r>
            <a:r>
              <a:rPr lang="en-US" sz="2100" spc="42" dirty="0" err="1">
                <a:solidFill>
                  <a:srgbClr val="000000"/>
                </a:solidFill>
                <a:latin typeface="Telegraf"/>
              </a:rPr>
              <a:t>Bentuk</a:t>
            </a:r>
            <a:r>
              <a:rPr lang="en-US" sz="2100" spc="42" dirty="0">
                <a:solidFill>
                  <a:srgbClr val="000000"/>
                </a:solidFill>
                <a:latin typeface="Telegraf"/>
              </a:rPr>
              <a:t> </a:t>
            </a: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seperti</a:t>
            </a:r>
            <a:r>
              <a:rPr lang="en-US" sz="2100" spc="42" dirty="0">
                <a:solidFill>
                  <a:srgbClr val="000000"/>
                </a:solidFill>
                <a:latin typeface="Telegraf"/>
              </a:rPr>
              <a:t> </a:t>
            </a:r>
            <a:r>
              <a:rPr lang="en-US" sz="2100" spc="42" dirty="0" err="1">
                <a:solidFill>
                  <a:srgbClr val="000000"/>
                </a:solidFill>
                <a:latin typeface="Telegraf"/>
              </a:rPr>
              <a:t>pencatatan</a:t>
            </a:r>
            <a:r>
              <a:rPr lang="en-US" sz="2100" spc="42" dirty="0">
                <a:solidFill>
                  <a:srgbClr val="000000"/>
                </a:solidFill>
                <a:latin typeface="Telegraf"/>
              </a:rPr>
              <a:t> </a:t>
            </a:r>
            <a:r>
              <a:rPr lang="en-US" sz="2100" spc="42" dirty="0" err="1">
                <a:solidFill>
                  <a:srgbClr val="000000"/>
                </a:solidFill>
                <a:latin typeface="Telegraf"/>
              </a:rPr>
              <a:t>penarikan</a:t>
            </a:r>
            <a:r>
              <a:rPr lang="en-US" sz="2100" spc="42" dirty="0">
                <a:solidFill>
                  <a:srgbClr val="000000"/>
                </a:solidFill>
                <a:latin typeface="Telegraf"/>
              </a:rPr>
              <a:t> </a:t>
            </a:r>
            <a:r>
              <a:rPr lang="en-US" sz="2100" spc="42" dirty="0" err="1">
                <a:solidFill>
                  <a:srgbClr val="000000"/>
                </a:solidFill>
                <a:latin typeface="Telegraf"/>
              </a:rPr>
              <a:t>jaminan</a:t>
            </a:r>
            <a:r>
              <a:rPr lang="en-US" sz="2100" spc="42" dirty="0">
                <a:solidFill>
                  <a:srgbClr val="000000"/>
                </a:solidFill>
                <a:latin typeface="Telegraf"/>
              </a:rPr>
              <a:t> yang </a:t>
            </a:r>
            <a:r>
              <a:rPr lang="en-US" sz="2100" spc="42" dirty="0" err="1">
                <a:solidFill>
                  <a:srgbClr val="000000"/>
                </a:solidFill>
                <a:latin typeface="Telegraf"/>
              </a:rPr>
              <a:t>tidak</a:t>
            </a:r>
            <a:r>
              <a:rPr lang="en-US" sz="2100" spc="42" dirty="0">
                <a:solidFill>
                  <a:srgbClr val="000000"/>
                </a:solidFill>
                <a:latin typeface="Telegraf"/>
              </a:rPr>
              <a:t> </a:t>
            </a:r>
            <a:r>
              <a:rPr lang="en-US" sz="2100" spc="42" dirty="0" err="1">
                <a:solidFill>
                  <a:srgbClr val="000000"/>
                </a:solidFill>
                <a:latin typeface="Telegraf"/>
              </a:rPr>
              <a:t>sesuai</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kenyataan</a:t>
            </a:r>
            <a:endParaRPr lang="en-US" sz="2100" spc="42" dirty="0">
              <a:solidFill>
                <a:srgbClr val="000000"/>
              </a:solidFill>
              <a:latin typeface="Telegraf"/>
            </a:endParaRPr>
          </a:p>
          <a:p>
            <a:pPr marL="457200" indent="-457200">
              <a:lnSpc>
                <a:spcPts val="2940"/>
              </a:lnSpc>
              <a:buFont typeface="+mj-lt"/>
              <a:buAutoNum type="alphaLcPeriod"/>
            </a:pPr>
            <a:endParaRPr lang="en-US" sz="2100" spc="42" dirty="0">
              <a:solidFill>
                <a:srgbClr val="000000"/>
              </a:solidFill>
              <a:latin typeface="Telegraf"/>
            </a:endParaRPr>
          </a:p>
          <a:p>
            <a:pPr marL="457200" indent="-457200">
              <a:lnSpc>
                <a:spcPts val="2940"/>
              </a:lnSpc>
              <a:buFont typeface="+mj-lt"/>
              <a:buAutoNum type="alphaLcPeriod"/>
            </a:pP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akuisisi</a:t>
            </a:r>
            <a:r>
              <a:rPr lang="en-US" sz="2100" spc="42" dirty="0">
                <a:solidFill>
                  <a:srgbClr val="000000"/>
                </a:solidFill>
                <a:latin typeface="Telegraf"/>
              </a:rPr>
              <a:t> </a:t>
            </a:r>
            <a:r>
              <a:rPr lang="en-US" sz="2100" spc="42" dirty="0" err="1">
                <a:solidFill>
                  <a:srgbClr val="000000"/>
                </a:solidFill>
                <a:latin typeface="Telegraf"/>
              </a:rPr>
              <a:t>konsumen</a:t>
            </a:r>
            <a:r>
              <a:rPr lang="en-US" sz="2100" spc="42" dirty="0">
                <a:solidFill>
                  <a:srgbClr val="000000"/>
                </a:solidFill>
                <a:latin typeface="Telegraf"/>
              </a:rPr>
              <a:t>. </a:t>
            </a:r>
            <a:r>
              <a:rPr lang="en-US" sz="2100" spc="42" dirty="0" err="1">
                <a:solidFill>
                  <a:srgbClr val="000000"/>
                </a:solidFill>
                <a:latin typeface="Telegraf"/>
              </a:rPr>
              <a:t>Bentuk</a:t>
            </a:r>
            <a:r>
              <a:rPr lang="en-US" sz="2100" spc="42" dirty="0">
                <a:solidFill>
                  <a:srgbClr val="000000"/>
                </a:solidFill>
                <a:latin typeface="Telegraf"/>
              </a:rPr>
              <a:t> </a:t>
            </a:r>
            <a:r>
              <a:rPr lang="en-US" sz="2100" spc="42" dirty="0" err="1">
                <a:solidFill>
                  <a:srgbClr val="000000"/>
                </a:solidFill>
                <a:latin typeface="Telegraf"/>
              </a:rPr>
              <a:t>kecurangan</a:t>
            </a:r>
            <a:r>
              <a:rPr lang="en-US" sz="2100" spc="42" dirty="0">
                <a:solidFill>
                  <a:srgbClr val="000000"/>
                </a:solidFill>
                <a:latin typeface="Telegraf"/>
              </a:rPr>
              <a:t> </a:t>
            </a:r>
            <a:r>
              <a:rPr lang="en-US" sz="2100" spc="42" dirty="0" err="1">
                <a:solidFill>
                  <a:srgbClr val="000000"/>
                </a:solidFill>
                <a:latin typeface="Telegraf"/>
              </a:rPr>
              <a:t>seperti</a:t>
            </a:r>
            <a:r>
              <a:rPr lang="en-US" sz="2100" spc="42" dirty="0">
                <a:solidFill>
                  <a:srgbClr val="000000"/>
                </a:solidFill>
                <a:latin typeface="Telegraf"/>
              </a:rPr>
              <a:t> </a:t>
            </a:r>
            <a:r>
              <a:rPr lang="en-US" sz="2100" spc="42" dirty="0" err="1">
                <a:solidFill>
                  <a:srgbClr val="000000"/>
                </a:solidFill>
                <a:latin typeface="Telegraf"/>
              </a:rPr>
              <a:t>pembuatan</a:t>
            </a:r>
            <a:r>
              <a:rPr lang="en-US" sz="2100" spc="42" dirty="0">
                <a:solidFill>
                  <a:srgbClr val="000000"/>
                </a:solidFill>
                <a:latin typeface="Telegraf"/>
              </a:rPr>
              <a:t> </a:t>
            </a:r>
            <a:r>
              <a:rPr lang="en-US" sz="2100" spc="42" dirty="0" err="1">
                <a:solidFill>
                  <a:srgbClr val="000000"/>
                </a:solidFill>
                <a:latin typeface="Telegraf"/>
              </a:rPr>
              <a:t>dokumen</a:t>
            </a:r>
            <a:r>
              <a:rPr lang="en-US" sz="2100" spc="42" dirty="0">
                <a:solidFill>
                  <a:srgbClr val="000000"/>
                </a:solidFill>
                <a:latin typeface="Telegraf"/>
              </a:rPr>
              <a:t> </a:t>
            </a:r>
            <a:r>
              <a:rPr lang="en-US" sz="2100" spc="42" dirty="0" err="1">
                <a:solidFill>
                  <a:srgbClr val="000000"/>
                </a:solidFill>
                <a:latin typeface="Telegraf"/>
              </a:rPr>
              <a:t>palsu</a:t>
            </a:r>
            <a:r>
              <a:rPr lang="en-US" sz="2100" spc="42" dirty="0">
                <a:solidFill>
                  <a:srgbClr val="000000"/>
                </a:solidFill>
                <a:latin typeface="Telegraf"/>
              </a:rPr>
              <a:t>, </a:t>
            </a:r>
            <a:r>
              <a:rPr lang="en-US" sz="2100" spc="42" dirty="0" err="1">
                <a:solidFill>
                  <a:srgbClr val="000000"/>
                </a:solidFill>
                <a:latin typeface="Telegraf"/>
              </a:rPr>
              <a:t>manipulasi</a:t>
            </a:r>
            <a:r>
              <a:rPr lang="en-US" sz="2100" spc="42" dirty="0">
                <a:solidFill>
                  <a:srgbClr val="000000"/>
                </a:solidFill>
                <a:latin typeface="Telegraf"/>
              </a:rPr>
              <a:t> </a:t>
            </a:r>
            <a:r>
              <a:rPr lang="en-US" sz="2100" spc="42" dirty="0" err="1">
                <a:solidFill>
                  <a:srgbClr val="000000"/>
                </a:solidFill>
                <a:latin typeface="Telegraf"/>
              </a:rPr>
              <a:t>dokumen</a:t>
            </a:r>
            <a:r>
              <a:rPr lang="en-US" sz="2100" spc="42" dirty="0">
                <a:solidFill>
                  <a:srgbClr val="000000"/>
                </a:solidFill>
                <a:latin typeface="Telegraf"/>
              </a:rPr>
              <a:t> </a:t>
            </a:r>
            <a:r>
              <a:rPr lang="en-US" sz="2100" spc="42" dirty="0" err="1">
                <a:solidFill>
                  <a:srgbClr val="000000"/>
                </a:solidFill>
                <a:latin typeface="Telegraf"/>
              </a:rPr>
              <a:t>calon</a:t>
            </a:r>
            <a:r>
              <a:rPr lang="en-US" sz="2100" spc="42" dirty="0">
                <a:solidFill>
                  <a:srgbClr val="000000"/>
                </a:solidFill>
                <a:latin typeface="Telegraf"/>
              </a:rPr>
              <a:t> </a:t>
            </a:r>
            <a:r>
              <a:rPr lang="en-US" sz="2100" spc="42" dirty="0" err="1">
                <a:solidFill>
                  <a:srgbClr val="000000"/>
                </a:solidFill>
                <a:latin typeface="Telegraf"/>
              </a:rPr>
              <a:t>konsumen</a:t>
            </a:r>
            <a:r>
              <a:rPr lang="en-US" sz="2100" spc="42" dirty="0">
                <a:solidFill>
                  <a:srgbClr val="000000"/>
                </a:solidFill>
                <a:latin typeface="Telegraf"/>
              </a:rPr>
              <a:t> dan </a:t>
            </a:r>
            <a:r>
              <a:rPr lang="en-US" sz="2100" spc="42" dirty="0" err="1">
                <a:solidFill>
                  <a:srgbClr val="000000"/>
                </a:solidFill>
                <a:latin typeface="Telegraf"/>
              </a:rPr>
              <a:t>rekayasa</a:t>
            </a:r>
            <a:r>
              <a:rPr lang="en-US" sz="2100" spc="42" dirty="0">
                <a:solidFill>
                  <a:srgbClr val="000000"/>
                </a:solidFill>
                <a:latin typeface="Telegraf"/>
              </a:rPr>
              <a:t> </a:t>
            </a:r>
            <a:r>
              <a:rPr lang="en-US" sz="2100" spc="42" dirty="0" err="1">
                <a:solidFill>
                  <a:srgbClr val="000000"/>
                </a:solidFill>
                <a:latin typeface="Telegraf"/>
              </a:rPr>
              <a:t>kredit</a:t>
            </a:r>
            <a:r>
              <a:rPr lang="en-US" sz="2100" spc="42" dirty="0">
                <a:solidFill>
                  <a:srgbClr val="000000"/>
                </a:solidFill>
                <a:latin typeface="Telegraf"/>
              </a:rPr>
              <a:t> (</a:t>
            </a:r>
            <a:r>
              <a:rPr lang="en-US" sz="2100" spc="42" dirty="0" err="1">
                <a:solidFill>
                  <a:srgbClr val="000000"/>
                </a:solidFill>
                <a:latin typeface="Telegraf"/>
              </a:rPr>
              <a:t>aplikasi</a:t>
            </a:r>
            <a:r>
              <a:rPr lang="en-US" sz="2100" spc="42" dirty="0">
                <a:solidFill>
                  <a:srgbClr val="000000"/>
                </a:solidFill>
                <a:latin typeface="Telegraf"/>
              </a:rPr>
              <a:t> </a:t>
            </a:r>
            <a:r>
              <a:rPr lang="en-US" sz="2100" spc="42" dirty="0" err="1">
                <a:solidFill>
                  <a:srgbClr val="000000"/>
                </a:solidFill>
                <a:latin typeface="Telegraf"/>
              </a:rPr>
              <a:t>kredit</a:t>
            </a:r>
            <a:r>
              <a:rPr lang="en-US" sz="2100" spc="42" dirty="0">
                <a:solidFill>
                  <a:srgbClr val="000000"/>
                </a:solidFill>
                <a:latin typeface="Telegraf"/>
              </a:rPr>
              <a:t> </a:t>
            </a:r>
            <a:r>
              <a:rPr lang="en-US" sz="2100" spc="42" dirty="0" err="1">
                <a:solidFill>
                  <a:srgbClr val="000000"/>
                </a:solidFill>
                <a:latin typeface="Telegraf"/>
              </a:rPr>
              <a:t>fiktif</a:t>
            </a:r>
            <a:r>
              <a:rPr lang="en-US" sz="2100" spc="42" dirty="0">
                <a:solidFill>
                  <a:srgbClr val="000000"/>
                </a:solidFill>
                <a:latin typeface="Telegraf"/>
              </a:rPr>
              <a:t>)</a:t>
            </a:r>
          </a:p>
          <a:p>
            <a:pPr marL="457200" indent="-457200">
              <a:lnSpc>
                <a:spcPts val="2940"/>
              </a:lnSpc>
              <a:buFont typeface="+mj-lt"/>
              <a:buAutoNum type="alphaLcPeriod"/>
            </a:pPr>
            <a:endParaRPr lang="en-US" sz="2100" spc="42" dirty="0">
              <a:solidFill>
                <a:srgbClr val="000000"/>
              </a:solidFill>
              <a:latin typeface="Telegraf"/>
            </a:endParaRPr>
          </a:p>
          <a:p>
            <a:pPr marL="457200" indent="-457200">
              <a:lnSpc>
                <a:spcPts val="2940"/>
              </a:lnSpc>
              <a:buFont typeface="+mj-lt"/>
              <a:buAutoNum type="alphaLcPeriod"/>
            </a:pPr>
            <a:r>
              <a:rPr lang="en-US" sz="2100" spc="42" dirty="0" err="1">
                <a:solidFill>
                  <a:srgbClr val="000000"/>
                </a:solidFill>
                <a:latin typeface="Telegraf"/>
              </a:rPr>
              <a:t>Penyimpangan</a:t>
            </a:r>
            <a:r>
              <a:rPr lang="en-US" sz="2100" spc="42" dirty="0">
                <a:solidFill>
                  <a:srgbClr val="000000"/>
                </a:solidFill>
                <a:latin typeface="Telegraf"/>
              </a:rPr>
              <a:t> </a:t>
            </a:r>
            <a:r>
              <a:rPr lang="en-US" sz="2100" spc="42" dirty="0" err="1">
                <a:solidFill>
                  <a:srgbClr val="000000"/>
                </a:solidFill>
                <a:latin typeface="Telegraf"/>
              </a:rPr>
              <a:t>atas</a:t>
            </a:r>
            <a:r>
              <a:rPr lang="en-US" sz="2100" spc="42" dirty="0">
                <a:solidFill>
                  <a:srgbClr val="000000"/>
                </a:solidFill>
                <a:latin typeface="Telegraf"/>
              </a:rPr>
              <a:t> </a:t>
            </a:r>
            <a:r>
              <a:rPr lang="en-US" sz="2100" spc="42" dirty="0" err="1">
                <a:solidFill>
                  <a:srgbClr val="000000"/>
                </a:solidFill>
                <a:latin typeface="Telegraf"/>
              </a:rPr>
              <a:t>Aset</a:t>
            </a:r>
            <a:r>
              <a:rPr lang="en-US" sz="2100" spc="42" dirty="0">
                <a:solidFill>
                  <a:srgbClr val="000000"/>
                </a:solidFill>
                <a:latin typeface="Telegraf"/>
              </a:rPr>
              <a:t> (Asset Misappropriation). </a:t>
            </a:r>
            <a:r>
              <a:rPr lang="en-US" sz="2100" spc="42" dirty="0" err="1">
                <a:solidFill>
                  <a:srgbClr val="000000"/>
                </a:solidFill>
                <a:latin typeface="Telegraf"/>
              </a:rPr>
              <a:t>Penyimpangan</a:t>
            </a:r>
            <a:r>
              <a:rPr lang="en-US" sz="2100" spc="42" dirty="0">
                <a:solidFill>
                  <a:srgbClr val="000000"/>
                </a:solidFill>
                <a:latin typeface="Telegraf"/>
              </a:rPr>
              <a:t> </a:t>
            </a:r>
            <a:r>
              <a:rPr lang="en-US" sz="2100" spc="42" dirty="0" err="1">
                <a:solidFill>
                  <a:srgbClr val="000000"/>
                </a:solidFill>
                <a:latin typeface="Telegraf"/>
              </a:rPr>
              <a:t>atas</a:t>
            </a:r>
            <a:r>
              <a:rPr lang="en-US" sz="2100" spc="42" dirty="0">
                <a:solidFill>
                  <a:srgbClr val="000000"/>
                </a:solidFill>
                <a:latin typeface="Telegraf"/>
              </a:rPr>
              <a:t> </a:t>
            </a:r>
            <a:r>
              <a:rPr lang="en-US" sz="2100" spc="42" dirty="0" err="1">
                <a:solidFill>
                  <a:srgbClr val="000000"/>
                </a:solidFill>
                <a:latin typeface="Telegraf"/>
              </a:rPr>
              <a:t>Aset</a:t>
            </a:r>
            <a:r>
              <a:rPr lang="en-US" sz="2100" spc="42" dirty="0">
                <a:solidFill>
                  <a:srgbClr val="000000"/>
                </a:solidFill>
                <a:latin typeface="Telegraf"/>
              </a:rPr>
              <a:t> </a:t>
            </a:r>
            <a:r>
              <a:rPr lang="en-US" sz="2100" spc="42" dirty="0" err="1">
                <a:solidFill>
                  <a:srgbClr val="000000"/>
                </a:solidFill>
                <a:latin typeface="Telegraf"/>
              </a:rPr>
              <a:t>meliputi</a:t>
            </a:r>
            <a:r>
              <a:rPr lang="en-US" sz="2100" spc="42" dirty="0">
                <a:solidFill>
                  <a:srgbClr val="000000"/>
                </a:solidFill>
                <a:latin typeface="Telegraf"/>
              </a:rPr>
              <a:t> </a:t>
            </a:r>
            <a:r>
              <a:rPr lang="en-US" sz="2100" spc="42" dirty="0" err="1">
                <a:solidFill>
                  <a:srgbClr val="000000"/>
                </a:solidFill>
                <a:latin typeface="Telegraf"/>
              </a:rPr>
              <a:t>penyalahgunaan</a:t>
            </a:r>
            <a:r>
              <a:rPr lang="en-US" sz="2100" spc="42" dirty="0">
                <a:solidFill>
                  <a:srgbClr val="000000"/>
                </a:solidFill>
                <a:latin typeface="Telegraf"/>
              </a:rPr>
              <a:t>/</a:t>
            </a:r>
            <a:r>
              <a:rPr lang="en-US" sz="2100" spc="42" dirty="0" err="1">
                <a:solidFill>
                  <a:srgbClr val="000000"/>
                </a:solidFill>
                <a:latin typeface="Telegraf"/>
              </a:rPr>
              <a:t>pencurian</a:t>
            </a:r>
            <a:r>
              <a:rPr lang="en-US" sz="2100" spc="42" dirty="0">
                <a:solidFill>
                  <a:srgbClr val="000000"/>
                </a:solidFill>
                <a:latin typeface="Telegraf"/>
              </a:rPr>
              <a:t> </a:t>
            </a:r>
            <a:r>
              <a:rPr lang="en-US" sz="2100" spc="42" dirty="0" err="1">
                <a:solidFill>
                  <a:srgbClr val="000000"/>
                </a:solidFill>
                <a:latin typeface="Telegraf"/>
              </a:rPr>
              <a:t>aset</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harta</a:t>
            </a:r>
            <a:r>
              <a:rPr lang="en-US" sz="2100" spc="42" dirty="0">
                <a:solidFill>
                  <a:srgbClr val="000000"/>
                </a:solidFill>
                <a:latin typeface="Telegraf"/>
              </a:rPr>
              <a:t> </a:t>
            </a:r>
            <a:r>
              <a:rPr lang="en-US" sz="2100" spc="42" dirty="0" err="1">
                <a:solidFill>
                  <a:srgbClr val="000000"/>
                </a:solidFill>
                <a:latin typeface="Telegraf"/>
              </a:rPr>
              <a:t>perusahaan</a:t>
            </a:r>
            <a:endParaRPr lang="en-US" sz="2100" spc="42" dirty="0">
              <a:solidFill>
                <a:srgbClr val="000000"/>
              </a:solidFill>
              <a:latin typeface="Telegraf"/>
            </a:endParaRPr>
          </a:p>
          <a:p>
            <a:pPr marL="457200" indent="-457200">
              <a:lnSpc>
                <a:spcPts val="2940"/>
              </a:lnSpc>
              <a:buFont typeface="+mj-lt"/>
              <a:buAutoNum type="alphaLcPeriod"/>
            </a:pPr>
            <a:endParaRPr lang="en-US" sz="2100" spc="42" dirty="0">
              <a:solidFill>
                <a:srgbClr val="000000"/>
              </a:solidFill>
              <a:latin typeface="Telegraf"/>
            </a:endParaRPr>
          </a:p>
          <a:p>
            <a:pPr marL="457200" indent="-457200">
              <a:lnSpc>
                <a:spcPts val="2940"/>
              </a:lnSpc>
              <a:buFont typeface="+mj-lt"/>
              <a:buAutoNum type="alphaLcPeriod"/>
            </a:pPr>
            <a:r>
              <a:rPr lang="en-US" sz="2100" spc="42" dirty="0" err="1">
                <a:solidFill>
                  <a:srgbClr val="000000"/>
                </a:solidFill>
                <a:latin typeface="Telegraf"/>
              </a:rPr>
              <a:t>Korupsi</a:t>
            </a:r>
            <a:r>
              <a:rPr lang="en-US" sz="2100" spc="42" dirty="0">
                <a:solidFill>
                  <a:srgbClr val="000000"/>
                </a:solidFill>
                <a:latin typeface="Telegraf"/>
              </a:rPr>
              <a:t> (Corruption), </a:t>
            </a:r>
            <a:r>
              <a:rPr lang="en-US" sz="2100" spc="42" dirty="0" err="1">
                <a:solidFill>
                  <a:srgbClr val="000000"/>
                </a:solidFill>
                <a:latin typeface="Telegraf"/>
              </a:rPr>
              <a:t>Kolusi</a:t>
            </a:r>
            <a:r>
              <a:rPr lang="en-US" sz="2100" spc="42" dirty="0">
                <a:solidFill>
                  <a:srgbClr val="000000"/>
                </a:solidFill>
                <a:latin typeface="Telegraf"/>
              </a:rPr>
              <a:t> (Collusion) dan </a:t>
            </a:r>
            <a:r>
              <a:rPr lang="en-US" sz="2100" spc="42" dirty="0" err="1">
                <a:solidFill>
                  <a:srgbClr val="000000"/>
                </a:solidFill>
                <a:latin typeface="Telegraf"/>
              </a:rPr>
              <a:t>Nepotisme</a:t>
            </a:r>
            <a:r>
              <a:rPr lang="en-US" sz="2100" spc="42" dirty="0">
                <a:solidFill>
                  <a:srgbClr val="000000"/>
                </a:solidFill>
                <a:latin typeface="Telegraf"/>
              </a:rPr>
              <a:t> - KKN. KKN </a:t>
            </a:r>
            <a:r>
              <a:rPr lang="en-US" sz="2100" spc="42" dirty="0" err="1">
                <a:solidFill>
                  <a:srgbClr val="000000"/>
                </a:solidFill>
                <a:latin typeface="Telegraf"/>
              </a:rPr>
              <a:t>meliputi</a:t>
            </a:r>
            <a:r>
              <a:rPr lang="en-US" sz="2100" spc="42" dirty="0">
                <a:solidFill>
                  <a:srgbClr val="000000"/>
                </a:solidFill>
                <a:latin typeface="Telegraf"/>
              </a:rPr>
              <a:t> </a:t>
            </a:r>
            <a:r>
              <a:rPr lang="en-US" sz="2100" spc="42" dirty="0" err="1">
                <a:solidFill>
                  <a:srgbClr val="000000"/>
                </a:solidFill>
                <a:latin typeface="Telegraf"/>
              </a:rPr>
              <a:t>penyalahgunaan</a:t>
            </a:r>
            <a:r>
              <a:rPr lang="en-US" sz="2100" spc="42" dirty="0">
                <a:solidFill>
                  <a:srgbClr val="000000"/>
                </a:solidFill>
                <a:latin typeface="Telegraf"/>
              </a:rPr>
              <a:t> </a:t>
            </a:r>
            <a:r>
              <a:rPr lang="en-US" sz="2100" spc="42" dirty="0" err="1">
                <a:solidFill>
                  <a:srgbClr val="000000"/>
                </a:solidFill>
                <a:latin typeface="Telegraf"/>
              </a:rPr>
              <a:t>wewenang</a:t>
            </a:r>
            <a:r>
              <a:rPr lang="en-US" sz="2100" spc="42" dirty="0">
                <a:solidFill>
                  <a:srgbClr val="000000"/>
                </a:solidFill>
                <a:latin typeface="Telegraf"/>
              </a:rPr>
              <a:t>/</a:t>
            </a:r>
            <a:r>
              <a:rPr lang="en-US" sz="2100" spc="42" dirty="0" err="1">
                <a:solidFill>
                  <a:srgbClr val="000000"/>
                </a:solidFill>
                <a:latin typeface="Telegraf"/>
              </a:rPr>
              <a:t>benturan</a:t>
            </a:r>
            <a:r>
              <a:rPr lang="en-US" sz="2100" spc="42" dirty="0">
                <a:solidFill>
                  <a:srgbClr val="000000"/>
                </a:solidFill>
                <a:latin typeface="Telegraf"/>
              </a:rPr>
              <a:t> </a:t>
            </a:r>
            <a:r>
              <a:rPr lang="en-US" sz="2100" spc="42" dirty="0" err="1">
                <a:solidFill>
                  <a:srgbClr val="000000"/>
                </a:solidFill>
                <a:latin typeface="Telegraf"/>
              </a:rPr>
              <a:t>kepentingan</a:t>
            </a:r>
            <a:r>
              <a:rPr lang="en-US" sz="2100" spc="42" dirty="0">
                <a:solidFill>
                  <a:srgbClr val="000000"/>
                </a:solidFill>
                <a:latin typeface="Telegraf"/>
              </a:rPr>
              <a:t> (conflict of interest), </a:t>
            </a:r>
            <a:r>
              <a:rPr lang="en-US" sz="2100" spc="42" dirty="0" err="1">
                <a:solidFill>
                  <a:srgbClr val="000000"/>
                </a:solidFill>
                <a:latin typeface="Telegraf"/>
              </a:rPr>
              <a:t>penyuapan</a:t>
            </a:r>
            <a:r>
              <a:rPr lang="en-US" sz="2100" spc="42" dirty="0">
                <a:solidFill>
                  <a:srgbClr val="000000"/>
                </a:solidFill>
                <a:latin typeface="Telegraf"/>
              </a:rPr>
              <a:t> (bribery), </a:t>
            </a:r>
            <a:r>
              <a:rPr lang="en-US" sz="2100" spc="42" dirty="0" err="1">
                <a:solidFill>
                  <a:srgbClr val="000000"/>
                </a:solidFill>
                <a:latin typeface="Telegraf"/>
              </a:rPr>
              <a:t>penerimaan</a:t>
            </a:r>
            <a:r>
              <a:rPr lang="en-US" sz="2100" spc="42" dirty="0">
                <a:solidFill>
                  <a:srgbClr val="000000"/>
                </a:solidFill>
                <a:latin typeface="Telegraf"/>
              </a:rPr>
              <a:t> yang </a:t>
            </a:r>
            <a:r>
              <a:rPr lang="en-US" sz="2100" spc="42" dirty="0" err="1">
                <a:solidFill>
                  <a:srgbClr val="000000"/>
                </a:solidFill>
                <a:latin typeface="Telegraf"/>
              </a:rPr>
              <a:t>tidak</a:t>
            </a:r>
            <a:r>
              <a:rPr lang="en-US" sz="2100" spc="42" dirty="0">
                <a:solidFill>
                  <a:srgbClr val="000000"/>
                </a:solidFill>
                <a:latin typeface="Telegraf"/>
              </a:rPr>
              <a:t> </a:t>
            </a:r>
            <a:r>
              <a:rPr lang="en-US" sz="2100" spc="42" dirty="0" err="1">
                <a:solidFill>
                  <a:srgbClr val="000000"/>
                </a:solidFill>
                <a:latin typeface="Telegraf"/>
              </a:rPr>
              <a:t>sah</a:t>
            </a:r>
            <a:r>
              <a:rPr lang="en-US" sz="2100" spc="42" dirty="0">
                <a:solidFill>
                  <a:srgbClr val="000000"/>
                </a:solidFill>
                <a:latin typeface="Telegraf"/>
              </a:rPr>
              <a:t> (illegal gratuities), </a:t>
            </a:r>
            <a:r>
              <a:rPr lang="en-US" sz="2100" spc="42" dirty="0" err="1">
                <a:solidFill>
                  <a:srgbClr val="000000"/>
                </a:solidFill>
                <a:latin typeface="Telegraf"/>
              </a:rPr>
              <a:t>pemilihan</a:t>
            </a:r>
            <a:r>
              <a:rPr lang="en-US" sz="2100" spc="42" dirty="0">
                <a:solidFill>
                  <a:srgbClr val="000000"/>
                </a:solidFill>
                <a:latin typeface="Telegraf"/>
              </a:rPr>
              <a:t>/</a:t>
            </a:r>
            <a:r>
              <a:rPr lang="en-US" sz="2100" spc="42" dirty="0" err="1">
                <a:solidFill>
                  <a:srgbClr val="000000"/>
                </a:solidFill>
                <a:latin typeface="Telegraf"/>
              </a:rPr>
              <a:t>pengangkatan</a:t>
            </a:r>
            <a:r>
              <a:rPr lang="en-US" sz="2100" spc="42" dirty="0">
                <a:solidFill>
                  <a:srgbClr val="000000"/>
                </a:solidFill>
                <a:latin typeface="Telegraf"/>
              </a:rPr>
              <a:t> </a:t>
            </a:r>
            <a:r>
              <a:rPr lang="en-US" sz="2100" spc="42" dirty="0" err="1">
                <a:solidFill>
                  <a:srgbClr val="000000"/>
                </a:solidFill>
                <a:latin typeface="Telegraf"/>
              </a:rPr>
              <a:t>pegawai</a:t>
            </a:r>
            <a:r>
              <a:rPr lang="en-US" sz="2100" spc="42" dirty="0">
                <a:solidFill>
                  <a:srgbClr val="000000"/>
                </a:solidFill>
                <a:latin typeface="Telegraf"/>
              </a:rPr>
              <a:t> </a:t>
            </a:r>
            <a:r>
              <a:rPr lang="en-US" sz="2100" spc="42" dirty="0" err="1">
                <a:solidFill>
                  <a:srgbClr val="000000"/>
                </a:solidFill>
                <a:latin typeface="Telegraf"/>
              </a:rPr>
              <a:t>berdasarkan</a:t>
            </a:r>
            <a:r>
              <a:rPr lang="en-US" sz="2100" spc="42" dirty="0">
                <a:solidFill>
                  <a:srgbClr val="000000"/>
                </a:solidFill>
                <a:latin typeface="Telegraf"/>
              </a:rPr>
              <a:t> </a:t>
            </a:r>
            <a:r>
              <a:rPr lang="en-US" sz="2100" spc="42" dirty="0" err="1">
                <a:solidFill>
                  <a:srgbClr val="000000"/>
                </a:solidFill>
                <a:latin typeface="Telegraf"/>
              </a:rPr>
              <a:t>hubungan</a:t>
            </a:r>
            <a:r>
              <a:rPr lang="en-US" sz="2100" spc="42" dirty="0">
                <a:solidFill>
                  <a:srgbClr val="000000"/>
                </a:solidFill>
                <a:latin typeface="Telegraf"/>
              </a:rPr>
              <a:t> </a:t>
            </a:r>
            <a:r>
              <a:rPr lang="en-US" sz="2100" spc="42" dirty="0" err="1">
                <a:solidFill>
                  <a:srgbClr val="000000"/>
                </a:solidFill>
                <a:latin typeface="Telegraf"/>
              </a:rPr>
              <a:t>kekerabatan</a:t>
            </a:r>
            <a:r>
              <a:rPr lang="en-US" sz="2100" spc="42" dirty="0">
                <a:solidFill>
                  <a:srgbClr val="000000"/>
                </a:solidFill>
                <a:latin typeface="Telegraf"/>
              </a:rPr>
              <a:t>/</a:t>
            </a:r>
            <a:r>
              <a:rPr lang="en-US" sz="2100" spc="42" dirty="0" err="1">
                <a:solidFill>
                  <a:srgbClr val="000000"/>
                </a:solidFill>
                <a:latin typeface="Telegraf"/>
              </a:rPr>
              <a:t>kekeluargaan</a:t>
            </a:r>
            <a:r>
              <a:rPr lang="en-US" sz="2100" spc="42" dirty="0">
                <a:solidFill>
                  <a:srgbClr val="000000"/>
                </a:solidFill>
                <a:latin typeface="Telegraf"/>
              </a:rPr>
              <a:t>, </a:t>
            </a:r>
            <a:r>
              <a:rPr lang="en-US" sz="2100" spc="42" dirty="0" err="1">
                <a:solidFill>
                  <a:srgbClr val="000000"/>
                </a:solidFill>
                <a:latin typeface="Telegraf"/>
              </a:rPr>
              <a:t>permufakatan</a:t>
            </a:r>
            <a:r>
              <a:rPr lang="en-US" sz="2100" spc="42" dirty="0">
                <a:solidFill>
                  <a:srgbClr val="000000"/>
                </a:solidFill>
                <a:latin typeface="Telegraf"/>
              </a:rPr>
              <a: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kerja</a:t>
            </a:r>
            <a:r>
              <a:rPr lang="en-US" sz="2100" spc="42" dirty="0">
                <a:solidFill>
                  <a:srgbClr val="000000"/>
                </a:solidFill>
                <a:latin typeface="Telegraf"/>
              </a:rPr>
              <a:t> </a:t>
            </a:r>
            <a:r>
              <a:rPr lang="en-US" sz="2100" spc="42" dirty="0" err="1">
                <a:solidFill>
                  <a:srgbClr val="000000"/>
                </a:solidFill>
                <a:latin typeface="Telegraf"/>
              </a:rPr>
              <a:t>sama</a:t>
            </a:r>
            <a:r>
              <a:rPr lang="en-US" sz="2100" spc="42" dirty="0">
                <a:solidFill>
                  <a:srgbClr val="000000"/>
                </a:solidFill>
                <a:latin typeface="Telegraf"/>
              </a:rPr>
              <a:t> </a:t>
            </a:r>
            <a:r>
              <a:rPr lang="en-US" sz="2100" spc="42" dirty="0" err="1">
                <a:solidFill>
                  <a:srgbClr val="000000"/>
                </a:solidFill>
                <a:latin typeface="Telegraf"/>
              </a:rPr>
              <a:t>antar-pegawai</a:t>
            </a:r>
            <a:r>
              <a:rPr lang="en-US" sz="2100" spc="42" dirty="0">
                <a:solidFill>
                  <a:srgbClr val="000000"/>
                </a:solidFill>
                <a:latin typeface="Telegraf"/>
              </a:rPr>
              <a:t> dan/</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antara</a:t>
            </a:r>
            <a:r>
              <a:rPr lang="en-US" sz="2100" spc="42" dirty="0">
                <a:solidFill>
                  <a:srgbClr val="000000"/>
                </a:solidFill>
                <a:latin typeface="Telegraf"/>
              </a:rPr>
              <a:t> </a:t>
            </a:r>
            <a:r>
              <a:rPr lang="en-US" sz="2100" spc="42" dirty="0" err="1">
                <a:solidFill>
                  <a:srgbClr val="000000"/>
                </a:solidFill>
                <a:latin typeface="Telegraf"/>
              </a:rPr>
              <a:t>pegawai</a:t>
            </a:r>
            <a:r>
              <a:rPr lang="en-US" sz="2100" spc="42" dirty="0">
                <a:solidFill>
                  <a:srgbClr val="000000"/>
                </a:solidFill>
                <a:latin typeface="Telegraf"/>
              </a:rPr>
              <a:t> dan </a:t>
            </a:r>
            <a:r>
              <a:rPr lang="en-US" sz="2100" spc="42" dirty="0" err="1">
                <a:solidFill>
                  <a:srgbClr val="000000"/>
                </a:solidFill>
                <a:latin typeface="Telegraf"/>
              </a:rPr>
              <a:t>pihak</a:t>
            </a:r>
            <a:r>
              <a:rPr lang="en-US" sz="2100" spc="42" dirty="0">
                <a:solidFill>
                  <a:srgbClr val="000000"/>
                </a:solidFill>
                <a:latin typeface="Telegraf"/>
              </a:rPr>
              <a:t> lain yang </a:t>
            </a:r>
            <a:r>
              <a:rPr lang="en-US" sz="2100" spc="42" dirty="0" err="1">
                <a:solidFill>
                  <a:srgbClr val="000000"/>
                </a:solidFill>
                <a:latin typeface="Telegraf"/>
              </a:rPr>
              <a:t>berdampak</a:t>
            </a:r>
            <a:r>
              <a:rPr lang="en-US" sz="2100" spc="42" dirty="0">
                <a:solidFill>
                  <a:srgbClr val="000000"/>
                </a:solidFill>
                <a:latin typeface="Telegraf"/>
              </a:rPr>
              <a:t> </a:t>
            </a:r>
            <a:r>
              <a:rPr lang="en-US" sz="2100" spc="42" dirty="0" err="1">
                <a:solidFill>
                  <a:srgbClr val="000000"/>
                </a:solidFill>
                <a:latin typeface="Telegraf"/>
              </a:rPr>
              <a:t>merugikan</a:t>
            </a:r>
            <a:r>
              <a:rPr lang="en-US" sz="2100" spc="42" dirty="0">
                <a:solidFill>
                  <a:srgbClr val="000000"/>
                </a:solidFill>
                <a:latin typeface="Telegraf"/>
              </a:rPr>
              <a:t> Perusahaan </a:t>
            </a:r>
            <a:r>
              <a:rPr lang="en-US" sz="2100" spc="42" dirty="0" err="1">
                <a:solidFill>
                  <a:srgbClr val="000000"/>
                </a:solidFill>
                <a:latin typeface="Telegraf"/>
              </a:rPr>
              <a:t>maupun</a:t>
            </a:r>
            <a:r>
              <a:rPr lang="en-US" sz="2100" spc="42" dirty="0">
                <a:solidFill>
                  <a:srgbClr val="000000"/>
                </a:solidFill>
                <a:latin typeface="Telegraf"/>
              </a:rPr>
              <a:t> </a:t>
            </a:r>
            <a:r>
              <a:rPr lang="en-US" sz="2100" spc="42" dirty="0" err="1">
                <a:solidFill>
                  <a:srgbClr val="000000"/>
                </a:solidFill>
                <a:latin typeface="Telegraf"/>
              </a:rPr>
              <a:t>pemerasan</a:t>
            </a:r>
            <a:r>
              <a:rPr lang="en-US" sz="2100" spc="42" dirty="0">
                <a:solidFill>
                  <a:srgbClr val="000000"/>
                </a:solidFill>
                <a:latin typeface="Telegraf"/>
              </a:rPr>
              <a:t> </a:t>
            </a:r>
            <a:r>
              <a:rPr lang="en-US" sz="2100" spc="42" dirty="0" err="1">
                <a:solidFill>
                  <a:srgbClr val="000000"/>
                </a:solidFill>
                <a:latin typeface="Telegraf"/>
              </a:rPr>
              <a:t>secara</a:t>
            </a:r>
            <a:r>
              <a:rPr lang="en-US" sz="2100" spc="42" dirty="0">
                <a:solidFill>
                  <a:srgbClr val="000000"/>
                </a:solidFill>
                <a:latin typeface="Telegraf"/>
              </a:rPr>
              <a:t> </a:t>
            </a:r>
            <a:r>
              <a:rPr lang="en-US" sz="2100" spc="42" dirty="0" err="1">
                <a:solidFill>
                  <a:srgbClr val="000000"/>
                </a:solidFill>
                <a:latin typeface="Telegraf"/>
              </a:rPr>
              <a:t>ekonomi</a:t>
            </a:r>
            <a:r>
              <a:rPr lang="en-US" sz="2100" spc="42" dirty="0">
                <a:solidFill>
                  <a:srgbClr val="000000"/>
                </a:solidFill>
                <a:latin typeface="Telegraf"/>
              </a:rPr>
              <a:t> (economic extortion)</a:t>
            </a: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a:p>
            <a:pPr>
              <a:lnSpc>
                <a:spcPts val="3321"/>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Bold"/>
              </a:rPr>
              <a:t>17</a:t>
            </a:r>
          </a:p>
        </p:txBody>
      </p:sp>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445749" y="-233363"/>
            <a:ext cx="15133955" cy="15052775"/>
          </a:xfrm>
          <a:prstGeom prst="rect">
            <a:avLst/>
          </a:prstGeom>
        </p:spPr>
        <p:txBody>
          <a:bodyPr lIns="0" tIns="0" rIns="0" bIns="0" rtlCol="0" anchor="t">
            <a:spAutoFit/>
          </a:bodyPr>
          <a:lstStyle/>
          <a:p>
            <a:pPr algn="just">
              <a:lnSpc>
                <a:spcPts val="3078"/>
              </a:lnSpc>
            </a:pPr>
            <a:endParaRPr dirty="0"/>
          </a:p>
          <a:p>
            <a:pPr algn="just">
              <a:lnSpc>
                <a:spcPts val="4370"/>
              </a:lnSpc>
            </a:pPr>
            <a:r>
              <a:rPr lang="en-US" sz="3336" spc="66" dirty="0">
                <a:solidFill>
                  <a:srgbClr val="000000"/>
                </a:solidFill>
                <a:latin typeface="DM Sans Bold"/>
              </a:rPr>
              <a:t>6.Pengendalian Fraud</a:t>
            </a:r>
          </a:p>
          <a:p>
            <a:pPr algn="just">
              <a:lnSpc>
                <a:spcPts val="4370"/>
              </a:lnSpc>
            </a:pPr>
            <a:endParaRPr lang="en-US" sz="3336" spc="66" dirty="0">
              <a:solidFill>
                <a:srgbClr val="000000"/>
              </a:solidFill>
              <a:latin typeface="DM Sans Bold"/>
            </a:endParaRPr>
          </a:p>
          <a:p>
            <a:pPr algn="just">
              <a:lnSpc>
                <a:spcPts val="2751"/>
              </a:lnSpc>
            </a:pPr>
            <a:r>
              <a:rPr lang="en-US" sz="2100" spc="42" dirty="0" err="1">
                <a:solidFill>
                  <a:srgbClr val="000000"/>
                </a:solidFill>
                <a:latin typeface="Telegraf"/>
              </a:rPr>
              <a:t>Pengendalian</a:t>
            </a:r>
            <a:r>
              <a:rPr lang="en-US" sz="2100" spc="42" dirty="0">
                <a:solidFill>
                  <a:srgbClr val="000000"/>
                </a:solidFill>
                <a:latin typeface="Telegraf"/>
              </a:rPr>
              <a:t> Fraud yang </a:t>
            </a:r>
            <a:r>
              <a:rPr lang="en-US" sz="2100" spc="42" dirty="0" err="1">
                <a:solidFill>
                  <a:srgbClr val="000000"/>
                </a:solidFill>
                <a:latin typeface="Telegraf"/>
              </a:rPr>
              <a:t>dimaksud</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pedoman</a:t>
            </a:r>
            <a:r>
              <a:rPr lang="en-US" sz="2100" spc="42" dirty="0">
                <a:solidFill>
                  <a:srgbClr val="000000"/>
                </a:solidFill>
                <a:latin typeface="Telegraf"/>
              </a:rPr>
              <a:t> </a:t>
            </a:r>
            <a:r>
              <a:rPr lang="en-US" sz="2100" spc="42" dirty="0" err="1">
                <a:solidFill>
                  <a:srgbClr val="000000"/>
                </a:solidFill>
                <a:latin typeface="Telegraf"/>
              </a:rPr>
              <a:t>ini</a:t>
            </a:r>
            <a:r>
              <a:rPr lang="en-US" sz="2100" spc="42" dirty="0">
                <a:solidFill>
                  <a:srgbClr val="000000"/>
                </a:solidFill>
                <a:latin typeface="Telegraf"/>
              </a:rPr>
              <a:t> </a:t>
            </a:r>
            <a:r>
              <a:rPr lang="en-US" sz="2100" spc="42" dirty="0" err="1">
                <a:solidFill>
                  <a:srgbClr val="000000"/>
                </a:solidFill>
                <a:latin typeface="Telegraf"/>
              </a:rPr>
              <a:t>meliputi</a:t>
            </a:r>
            <a:r>
              <a:rPr lang="en-US" sz="2100" spc="42" dirty="0">
                <a:solidFill>
                  <a:srgbClr val="000000"/>
                </a:solidFill>
                <a:latin typeface="Telegraf"/>
              </a:rPr>
              <a:t> </a:t>
            </a:r>
            <a:r>
              <a:rPr lang="en-US" sz="2100" spc="42" dirty="0" err="1">
                <a:solidFill>
                  <a:srgbClr val="000000"/>
                </a:solidFill>
                <a:latin typeface="Telegraf"/>
              </a:rPr>
              <a:t>aspek</a:t>
            </a:r>
            <a:r>
              <a:rPr lang="en-US" sz="2100" spc="42" dirty="0">
                <a:solidFill>
                  <a:srgbClr val="000000"/>
                </a:solidFill>
                <a:latin typeface="Telegraf"/>
              </a:rPr>
              <a:t> </a:t>
            </a:r>
            <a:r>
              <a:rPr lang="en-US" sz="2100" spc="42" dirty="0" err="1">
                <a:solidFill>
                  <a:srgbClr val="000000"/>
                </a:solidFill>
                <a:latin typeface="Telegraf"/>
              </a:rPr>
              <a:t>sebagai</a:t>
            </a:r>
            <a:r>
              <a:rPr lang="en-US" sz="2100" spc="42" dirty="0">
                <a:solidFill>
                  <a:srgbClr val="000000"/>
                </a:solidFill>
                <a:latin typeface="Telegraf"/>
              </a:rPr>
              <a:t> </a:t>
            </a:r>
            <a:r>
              <a:rPr lang="en-US" sz="2100" spc="42" dirty="0" err="1">
                <a:solidFill>
                  <a:srgbClr val="000000"/>
                </a:solidFill>
                <a:latin typeface="Telegraf"/>
              </a:rPr>
              <a:t>berikut</a:t>
            </a:r>
            <a:r>
              <a:rPr lang="en-US" sz="2100" spc="42" dirty="0">
                <a:solidFill>
                  <a:srgbClr val="000000"/>
                </a:solidFill>
                <a:latin typeface="Telegraf"/>
              </a:rPr>
              <a:t> :   </a:t>
            </a:r>
          </a:p>
          <a:p>
            <a:pPr lvl="1" algn="just">
              <a:lnSpc>
                <a:spcPts val="2751"/>
              </a:lnSpc>
            </a:pPr>
            <a:r>
              <a:rPr lang="en-US" sz="2100" spc="42" dirty="0">
                <a:solidFill>
                  <a:srgbClr val="000000"/>
                </a:solidFill>
                <a:latin typeface="Telegraf"/>
              </a:rPr>
              <a:t>a. </a:t>
            </a:r>
            <a:r>
              <a:rPr lang="en-US" sz="2100" spc="42" dirty="0" err="1">
                <a:solidFill>
                  <a:srgbClr val="000000"/>
                </a:solidFill>
                <a:latin typeface="Telegraf"/>
              </a:rPr>
              <a:t>pengawasan</a:t>
            </a:r>
            <a:r>
              <a:rPr lang="en-US" sz="2100" spc="42" dirty="0">
                <a:solidFill>
                  <a:srgbClr val="000000"/>
                </a:solidFill>
                <a:latin typeface="Telegraf"/>
              </a:rPr>
              <a:t> </a:t>
            </a:r>
            <a:r>
              <a:rPr lang="en-US" sz="2100" spc="42" dirty="0" err="1">
                <a:solidFill>
                  <a:srgbClr val="000000"/>
                </a:solidFill>
                <a:latin typeface="Telegraf"/>
              </a:rPr>
              <a:t>aktif</a:t>
            </a:r>
            <a:r>
              <a:rPr lang="en-US" sz="2100" spc="42" dirty="0">
                <a:solidFill>
                  <a:srgbClr val="000000"/>
                </a:solidFill>
                <a:latin typeface="Telegraf"/>
              </a:rPr>
              <a:t> </a:t>
            </a:r>
            <a:r>
              <a:rPr lang="en-US" sz="2100" spc="42" dirty="0" err="1">
                <a:solidFill>
                  <a:srgbClr val="000000"/>
                </a:solidFill>
                <a:latin typeface="Telegraf"/>
              </a:rPr>
              <a:t>manajemen</a:t>
            </a:r>
            <a:r>
              <a:rPr lang="en-US" sz="2100" spc="42" dirty="0">
                <a:solidFill>
                  <a:srgbClr val="000000"/>
                </a:solidFill>
                <a:latin typeface="Telegraf"/>
              </a:rPr>
              <a:t>  </a:t>
            </a:r>
          </a:p>
          <a:p>
            <a:pPr lvl="1" algn="just">
              <a:lnSpc>
                <a:spcPts val="2751"/>
              </a:lnSpc>
            </a:pPr>
            <a:r>
              <a:rPr lang="en-US" sz="2100" spc="42" dirty="0">
                <a:solidFill>
                  <a:srgbClr val="000000"/>
                </a:solidFill>
                <a:latin typeface="Telegraf"/>
              </a:rPr>
              <a:t>b. </a:t>
            </a:r>
            <a:r>
              <a:rPr lang="en-US" sz="2100" spc="42" dirty="0" err="1">
                <a:solidFill>
                  <a:srgbClr val="000000"/>
                </a:solidFill>
                <a:latin typeface="Telegraf"/>
              </a:rPr>
              <a:t>struktur</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dan </a:t>
            </a:r>
            <a:r>
              <a:rPr lang="en-US" sz="2100" spc="42" dirty="0" err="1">
                <a:solidFill>
                  <a:srgbClr val="000000"/>
                </a:solidFill>
                <a:latin typeface="Telegraf"/>
              </a:rPr>
              <a:t>pertanggungjawaban</a:t>
            </a:r>
            <a:r>
              <a:rPr lang="en-US" sz="2100" spc="42" dirty="0">
                <a:solidFill>
                  <a:srgbClr val="000000"/>
                </a:solidFill>
                <a:latin typeface="Telegraf"/>
              </a:rPr>
              <a:t>  </a:t>
            </a:r>
          </a:p>
          <a:p>
            <a:pPr lvl="1" algn="just">
              <a:lnSpc>
                <a:spcPts val="2751"/>
              </a:lnSpc>
            </a:pPr>
            <a:r>
              <a:rPr lang="en-US" sz="2100" spc="42" dirty="0">
                <a:solidFill>
                  <a:srgbClr val="000000"/>
                </a:solidFill>
                <a:latin typeface="Telegraf"/>
              </a:rPr>
              <a:t>c. </a:t>
            </a:r>
            <a:r>
              <a:rPr lang="en-US" sz="2100" spc="42" dirty="0" err="1">
                <a:solidFill>
                  <a:srgbClr val="000000"/>
                </a:solidFill>
                <a:latin typeface="Telegraf"/>
              </a:rPr>
              <a:t>pengendalian</a:t>
            </a:r>
            <a:r>
              <a:rPr lang="en-US" sz="2100" spc="42" dirty="0">
                <a:solidFill>
                  <a:srgbClr val="000000"/>
                </a:solidFill>
                <a:latin typeface="Telegraf"/>
              </a:rPr>
              <a:t> dan </a:t>
            </a:r>
            <a:r>
              <a:rPr lang="en-US" sz="2100" spc="42" dirty="0" err="1">
                <a:solidFill>
                  <a:srgbClr val="000000"/>
                </a:solidFill>
                <a:latin typeface="Telegraf"/>
              </a:rPr>
              <a:t>pemantauan</a:t>
            </a:r>
            <a:r>
              <a:rPr lang="en-US" sz="2100" spc="42" dirty="0">
                <a:solidFill>
                  <a:srgbClr val="000000"/>
                </a:solidFill>
                <a:latin typeface="Telegraf"/>
              </a:rPr>
              <a:t>  </a:t>
            </a:r>
          </a:p>
          <a:p>
            <a:pPr lvl="1" algn="just">
              <a:lnSpc>
                <a:spcPts val="2751"/>
              </a:lnSpc>
            </a:pPr>
            <a:r>
              <a:rPr lang="en-US" sz="2100" spc="42" dirty="0">
                <a:solidFill>
                  <a:srgbClr val="000000"/>
                </a:solidFill>
                <a:latin typeface="Telegraf"/>
              </a:rPr>
              <a:t>d. </a:t>
            </a:r>
            <a:r>
              <a:rPr lang="en-US" sz="2100" spc="42" dirty="0" err="1">
                <a:solidFill>
                  <a:srgbClr val="000000"/>
                </a:solidFill>
                <a:latin typeface="Telegraf"/>
              </a:rPr>
              <a:t>edukasi</a:t>
            </a:r>
            <a:r>
              <a:rPr lang="en-US" sz="2100" spc="42" dirty="0">
                <a:solidFill>
                  <a:srgbClr val="000000"/>
                </a:solidFill>
                <a:latin typeface="Telegraf"/>
              </a:rPr>
              <a:t> dan </a:t>
            </a:r>
            <a:r>
              <a:rPr lang="en-US" sz="2100" spc="42" dirty="0" err="1">
                <a:solidFill>
                  <a:srgbClr val="000000"/>
                </a:solidFill>
                <a:latin typeface="Telegraf"/>
              </a:rPr>
              <a:t>pelatihan</a:t>
            </a: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r>
              <a:rPr lang="en-US" sz="2100" spc="42" dirty="0">
                <a:solidFill>
                  <a:srgbClr val="000000"/>
                </a:solidFill>
                <a:latin typeface="Telegraf"/>
              </a:rPr>
              <a:t>Adapun </a:t>
            </a:r>
            <a:r>
              <a:rPr lang="en-US" sz="2100" spc="42" dirty="0" err="1">
                <a:solidFill>
                  <a:srgbClr val="000000"/>
                </a:solidFill>
                <a:latin typeface="Telegraf"/>
              </a:rPr>
              <a:t>penjelasan</a:t>
            </a:r>
            <a:r>
              <a:rPr lang="en-US" sz="2100" spc="42" dirty="0">
                <a:solidFill>
                  <a:srgbClr val="000000"/>
                </a:solidFill>
                <a:latin typeface="Telegraf"/>
              </a:rPr>
              <a:t> </a:t>
            </a:r>
            <a:r>
              <a:rPr lang="en-US" sz="2100" spc="42" dirty="0" err="1">
                <a:solidFill>
                  <a:srgbClr val="000000"/>
                </a:solidFill>
                <a:latin typeface="Telegraf"/>
              </a:rPr>
              <a:t>terhadap</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Fraud </a:t>
            </a:r>
            <a:r>
              <a:rPr lang="en-US" sz="2100" spc="42" dirty="0" err="1">
                <a:solidFill>
                  <a:srgbClr val="000000"/>
                </a:solidFill>
                <a:latin typeface="Telegraf"/>
              </a:rPr>
              <a:t>adalah</a:t>
            </a:r>
            <a:r>
              <a:rPr lang="en-US" sz="2100" spc="42" dirty="0">
                <a:solidFill>
                  <a:srgbClr val="000000"/>
                </a:solidFill>
                <a:latin typeface="Telegraf"/>
              </a:rPr>
              <a:t> </a:t>
            </a:r>
            <a:r>
              <a:rPr lang="en-US" sz="2100" spc="42" dirty="0" err="1">
                <a:solidFill>
                  <a:srgbClr val="000000"/>
                </a:solidFill>
                <a:latin typeface="Telegraf"/>
              </a:rPr>
              <a:t>sebagai</a:t>
            </a:r>
            <a:r>
              <a:rPr lang="en-US" sz="2100" spc="42" dirty="0">
                <a:solidFill>
                  <a:srgbClr val="000000"/>
                </a:solidFill>
                <a:latin typeface="Telegraf"/>
              </a:rPr>
              <a:t> </a:t>
            </a:r>
            <a:r>
              <a:rPr lang="en-US" sz="2100" spc="42" dirty="0" err="1">
                <a:solidFill>
                  <a:srgbClr val="000000"/>
                </a:solidFill>
                <a:latin typeface="Telegraf"/>
              </a:rPr>
              <a:t>berikut</a:t>
            </a:r>
            <a:r>
              <a:rPr lang="en-US" sz="2100" spc="42" dirty="0">
                <a:solidFill>
                  <a:srgbClr val="000000"/>
                </a:solidFill>
                <a:latin typeface="Telegraf"/>
              </a:rPr>
              <a:t> :   </a:t>
            </a:r>
          </a:p>
          <a:p>
            <a:pPr algn="just">
              <a:lnSpc>
                <a:spcPts val="2940"/>
              </a:lnSpc>
            </a:pPr>
            <a:endParaRPr lang="en-US" sz="2100" spc="42" dirty="0">
              <a:solidFill>
                <a:srgbClr val="000000"/>
              </a:solidFill>
              <a:latin typeface="Telegraf"/>
            </a:endParaRPr>
          </a:p>
          <a:p>
            <a:pPr algn="just">
              <a:lnSpc>
                <a:spcPts val="2940"/>
              </a:lnSpc>
            </a:pPr>
            <a:r>
              <a:rPr lang="en-US" sz="2100" spc="42" dirty="0">
                <a:solidFill>
                  <a:srgbClr val="000000"/>
                </a:solidFill>
                <a:latin typeface="Telegraf Bold"/>
              </a:rPr>
              <a:t>1. </a:t>
            </a:r>
            <a:r>
              <a:rPr lang="en-US" sz="2100" spc="42" dirty="0" err="1">
                <a:solidFill>
                  <a:srgbClr val="000000"/>
                </a:solidFill>
                <a:latin typeface="Telegraf Bold"/>
              </a:rPr>
              <a:t>Pengawasan</a:t>
            </a:r>
            <a:r>
              <a:rPr lang="en-US" sz="2100" spc="42" dirty="0">
                <a:solidFill>
                  <a:srgbClr val="000000"/>
                </a:solidFill>
                <a:latin typeface="Telegraf Bold"/>
              </a:rPr>
              <a:t> </a:t>
            </a:r>
            <a:r>
              <a:rPr lang="en-US" sz="2100" spc="42" dirty="0" err="1">
                <a:solidFill>
                  <a:srgbClr val="000000"/>
                </a:solidFill>
                <a:latin typeface="Telegraf Bold"/>
              </a:rPr>
              <a:t>aktif</a:t>
            </a:r>
            <a:r>
              <a:rPr lang="en-US" sz="2100" spc="42" dirty="0">
                <a:solidFill>
                  <a:srgbClr val="000000"/>
                </a:solidFill>
                <a:latin typeface="Telegraf Bold"/>
              </a:rPr>
              <a:t> </a:t>
            </a:r>
            <a:r>
              <a:rPr lang="en-US" sz="2100" spc="42" dirty="0" err="1">
                <a:solidFill>
                  <a:srgbClr val="000000"/>
                </a:solidFill>
                <a:latin typeface="Telegraf Bold"/>
              </a:rPr>
              <a:t>manajemen</a:t>
            </a:r>
            <a:r>
              <a:rPr lang="en-US" sz="2100" spc="42" dirty="0">
                <a:solidFill>
                  <a:srgbClr val="000000"/>
                </a:solidFill>
                <a:latin typeface="Telegraf"/>
              </a:rPr>
              <a:t>  </a:t>
            </a:r>
          </a:p>
          <a:p>
            <a:pPr lvl="1" algn="just">
              <a:lnSpc>
                <a:spcPts val="2940"/>
              </a:lnSpc>
            </a:pPr>
            <a:r>
              <a:rPr lang="en-US" sz="2100" spc="42" dirty="0" err="1">
                <a:solidFill>
                  <a:srgbClr val="000000"/>
                </a:solidFill>
                <a:latin typeface="Telegraf"/>
              </a:rPr>
              <a:t>Pengendalian</a:t>
            </a:r>
            <a:r>
              <a:rPr lang="en-US" sz="2100" spc="42" dirty="0">
                <a:solidFill>
                  <a:srgbClr val="000000"/>
                </a:solidFill>
                <a:latin typeface="Telegraf"/>
              </a:rPr>
              <a:t> Fraud </a:t>
            </a:r>
            <a:r>
              <a:rPr lang="en-US" sz="2100" spc="42" dirty="0" err="1">
                <a:solidFill>
                  <a:srgbClr val="000000"/>
                </a:solidFill>
                <a:latin typeface="Telegraf"/>
              </a:rPr>
              <a:t>secara</a:t>
            </a:r>
            <a:r>
              <a:rPr lang="en-US" sz="2100" spc="42" dirty="0">
                <a:solidFill>
                  <a:srgbClr val="000000"/>
                </a:solidFill>
                <a:latin typeface="Telegraf"/>
              </a:rPr>
              <a:t> </a:t>
            </a:r>
            <a:r>
              <a:rPr lang="en-US" sz="2100" spc="42" dirty="0" err="1">
                <a:solidFill>
                  <a:srgbClr val="000000"/>
                </a:solidFill>
                <a:latin typeface="Telegraf"/>
              </a:rPr>
              <a:t>menyeluruh</a:t>
            </a:r>
            <a:r>
              <a:rPr lang="en-US" sz="2100" spc="42" dirty="0">
                <a:solidFill>
                  <a:srgbClr val="000000"/>
                </a:solidFill>
                <a:latin typeface="Telegraf"/>
              </a:rPr>
              <a:t> yang </a:t>
            </a:r>
            <a:r>
              <a:rPr lang="en-US" sz="2100" spc="42" dirty="0" err="1">
                <a:solidFill>
                  <a:srgbClr val="000000"/>
                </a:solidFill>
                <a:latin typeface="Telegraf"/>
              </a:rPr>
              <a:t>dilakukan</a:t>
            </a:r>
            <a:r>
              <a:rPr lang="en-US" sz="2100" spc="42" dirty="0">
                <a:solidFill>
                  <a:srgbClr val="000000"/>
                </a:solidFill>
                <a:latin typeface="Telegraf"/>
              </a:rPr>
              <a:t> oleh </a:t>
            </a:r>
            <a:r>
              <a:rPr lang="en-US" sz="2100" spc="42" dirty="0" err="1">
                <a:solidFill>
                  <a:srgbClr val="000000"/>
                </a:solidFill>
                <a:latin typeface="Telegraf"/>
              </a:rPr>
              <a:t>Direksi</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melakukan</a:t>
            </a:r>
            <a:r>
              <a:rPr lang="en-US" sz="2100" spc="42" dirty="0">
                <a:solidFill>
                  <a:srgbClr val="000000"/>
                </a:solidFill>
                <a:latin typeface="Telegraf"/>
              </a:rPr>
              <a:t> </a:t>
            </a:r>
            <a:r>
              <a:rPr lang="en-US" sz="2100" spc="42" dirty="0" err="1">
                <a:solidFill>
                  <a:srgbClr val="000000"/>
                </a:solidFill>
                <a:latin typeface="Telegraf"/>
              </a:rPr>
              <a:t>tugas</a:t>
            </a:r>
            <a:r>
              <a:rPr lang="en-US" sz="2100" spc="42" dirty="0">
                <a:solidFill>
                  <a:srgbClr val="000000"/>
                </a:solidFill>
                <a:latin typeface="Telegraf"/>
              </a:rPr>
              <a:t>,    </a:t>
            </a:r>
            <a:r>
              <a:rPr lang="en-US" sz="2100" spc="42" dirty="0" err="1">
                <a:solidFill>
                  <a:srgbClr val="000000"/>
                </a:solidFill>
                <a:latin typeface="Telegraf"/>
              </a:rPr>
              <a:t>wewenang</a:t>
            </a:r>
            <a:r>
              <a:rPr lang="en-US" sz="2100" spc="42" dirty="0">
                <a:solidFill>
                  <a:srgbClr val="000000"/>
                </a:solidFill>
                <a:latin typeface="Telegraf"/>
              </a:rPr>
              <a:t> dan </a:t>
            </a:r>
            <a:r>
              <a:rPr lang="en-US" sz="2100" spc="42" dirty="0" err="1">
                <a:solidFill>
                  <a:srgbClr val="000000"/>
                </a:solidFill>
                <a:latin typeface="Telegraf"/>
              </a:rPr>
              <a:t>tanggung</a:t>
            </a:r>
            <a:r>
              <a:rPr lang="en-US" sz="2100" spc="42" dirty="0">
                <a:solidFill>
                  <a:srgbClr val="000000"/>
                </a:solidFill>
                <a:latin typeface="Telegraf"/>
              </a:rPr>
              <a:t> </a:t>
            </a:r>
            <a:r>
              <a:rPr lang="en-US" sz="2100" spc="42" dirty="0" err="1">
                <a:solidFill>
                  <a:srgbClr val="000000"/>
                </a:solidFill>
                <a:latin typeface="Telegraf"/>
              </a:rPr>
              <a:t>jawab</a:t>
            </a:r>
            <a:r>
              <a:rPr lang="en-US" sz="2100" spc="42" dirty="0">
                <a:solidFill>
                  <a:srgbClr val="000000"/>
                </a:solidFill>
                <a:latin typeface="Telegraf"/>
              </a:rPr>
              <a:t> yang </a:t>
            </a:r>
            <a:r>
              <a:rPr lang="en-US" sz="2100" spc="42" dirty="0" err="1">
                <a:solidFill>
                  <a:srgbClr val="000000"/>
                </a:solidFill>
                <a:latin typeface="Telegraf"/>
              </a:rPr>
              <a:t>secara</a:t>
            </a:r>
            <a:r>
              <a:rPr lang="en-US" sz="2100" spc="42" dirty="0">
                <a:solidFill>
                  <a:srgbClr val="000000"/>
                </a:solidFill>
                <a:latin typeface="Telegraf"/>
              </a:rPr>
              <a:t> </a:t>
            </a:r>
            <a:r>
              <a:rPr lang="en-US" sz="2100" spc="42" dirty="0" err="1">
                <a:solidFill>
                  <a:srgbClr val="000000"/>
                </a:solidFill>
                <a:latin typeface="Telegraf"/>
              </a:rPr>
              <a:t>umum</a:t>
            </a:r>
            <a:r>
              <a:rPr lang="en-US" sz="2100" spc="42" dirty="0">
                <a:solidFill>
                  <a:srgbClr val="000000"/>
                </a:solidFill>
                <a:latin typeface="Telegraf"/>
              </a:rPr>
              <a:t> </a:t>
            </a:r>
            <a:r>
              <a:rPr lang="en-US" sz="2100" spc="42" dirty="0" err="1">
                <a:solidFill>
                  <a:srgbClr val="000000"/>
                </a:solidFill>
                <a:latin typeface="Telegraf"/>
              </a:rPr>
              <a:t>mencakup</a:t>
            </a:r>
            <a:r>
              <a:rPr lang="en-US" sz="2100" spc="42" dirty="0">
                <a:solidFill>
                  <a:srgbClr val="000000"/>
                </a:solidFill>
                <a:latin typeface="Telegraf"/>
              </a:rPr>
              <a:t> :</a:t>
            </a:r>
          </a:p>
          <a:p>
            <a:pPr lvl="1" algn="just">
              <a:lnSpc>
                <a:spcPts val="2940"/>
              </a:lnSpc>
            </a:pPr>
            <a:endParaRPr lang="en-US" sz="2100" spc="42" dirty="0">
              <a:solidFill>
                <a:srgbClr val="000000"/>
              </a:solidFill>
              <a:latin typeface="Telegraf"/>
            </a:endParaRP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engembangan</a:t>
            </a:r>
            <a:r>
              <a:rPr lang="en-US" sz="2100" spc="42" dirty="0">
                <a:solidFill>
                  <a:srgbClr val="000000"/>
                </a:solidFill>
                <a:latin typeface="Telegraf"/>
              </a:rPr>
              <a:t> </a:t>
            </a:r>
            <a:r>
              <a:rPr lang="en-US" sz="2100" spc="42" dirty="0" err="1">
                <a:solidFill>
                  <a:srgbClr val="000000"/>
                </a:solidFill>
                <a:latin typeface="Telegraf"/>
              </a:rPr>
              <a:t>budaya</a:t>
            </a:r>
            <a:r>
              <a:rPr lang="en-US" sz="2100" spc="42" dirty="0">
                <a:solidFill>
                  <a:srgbClr val="000000"/>
                </a:solidFill>
                <a:latin typeface="Telegraf"/>
              </a:rPr>
              <a:t> dan </a:t>
            </a:r>
            <a:r>
              <a:rPr lang="en-US" sz="2100" spc="42" dirty="0" err="1">
                <a:solidFill>
                  <a:srgbClr val="000000"/>
                </a:solidFill>
                <a:latin typeface="Telegraf"/>
              </a:rPr>
              <a:t>kepedulian</a:t>
            </a:r>
            <a:r>
              <a:rPr lang="en-US" sz="2100" spc="42" dirty="0">
                <a:solidFill>
                  <a:srgbClr val="000000"/>
                </a:solidFill>
                <a:latin typeface="Telegraf"/>
              </a:rPr>
              <a:t> </a:t>
            </a:r>
            <a:r>
              <a:rPr lang="en-US" sz="2100" spc="42" dirty="0" err="1">
                <a:solidFill>
                  <a:srgbClr val="000000"/>
                </a:solidFill>
                <a:latin typeface="Telegraf"/>
              </a:rPr>
              <a:t>terhadap</a:t>
            </a:r>
            <a:r>
              <a:rPr lang="en-US" sz="2100" spc="42" dirty="0">
                <a:solidFill>
                  <a:srgbClr val="000000"/>
                </a:solidFill>
                <a:latin typeface="Telegraf"/>
              </a:rPr>
              <a:t> anti Fraud pada </a:t>
            </a:r>
            <a:r>
              <a:rPr lang="en-US" sz="2100" spc="42" dirty="0" err="1">
                <a:solidFill>
                  <a:srgbClr val="000000"/>
                </a:solidFill>
                <a:latin typeface="Telegraf"/>
              </a:rPr>
              <a:t>seluruh</a:t>
            </a:r>
            <a:r>
              <a:rPr lang="en-US" sz="2100" spc="42" dirty="0">
                <a:solidFill>
                  <a:srgbClr val="000000"/>
                </a:solidFill>
                <a:latin typeface="Telegraf"/>
              </a:rPr>
              <a:t> </a:t>
            </a:r>
            <a:r>
              <a:rPr lang="en-US" sz="2100" spc="42" dirty="0" err="1">
                <a:solidFill>
                  <a:srgbClr val="000000"/>
                </a:solidFill>
                <a:latin typeface="Telegraf"/>
              </a:rPr>
              <a:t>jenjang</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paling </a:t>
            </a:r>
            <a:r>
              <a:rPr lang="en-US" sz="2100" spc="42" dirty="0" err="1">
                <a:solidFill>
                  <a:srgbClr val="000000"/>
                </a:solidFill>
                <a:latin typeface="Telegraf"/>
              </a:rPr>
              <a:t>sedikit</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melakukan</a:t>
            </a:r>
            <a:r>
              <a:rPr lang="en-US" sz="2100" spc="42" dirty="0">
                <a:solidFill>
                  <a:srgbClr val="000000"/>
                </a:solidFill>
                <a:latin typeface="Telegraf"/>
              </a:rPr>
              <a:t>, </a:t>
            </a:r>
            <a:r>
              <a:rPr lang="en-US" sz="2100" spc="42" dirty="0" err="1">
                <a:solidFill>
                  <a:srgbClr val="000000"/>
                </a:solidFill>
                <a:latin typeface="Telegraf"/>
              </a:rPr>
              <a:t>mendeklarasikan</a:t>
            </a:r>
            <a:r>
              <a:rPr lang="en-US" sz="2100" spc="42" dirty="0">
                <a:solidFill>
                  <a:srgbClr val="000000"/>
                </a:solidFill>
                <a:latin typeface="Telegraf"/>
              </a:rPr>
              <a:t> </a:t>
            </a:r>
            <a:r>
              <a:rPr lang="en-US" sz="2100" spc="42" dirty="0" err="1">
                <a:solidFill>
                  <a:srgbClr val="000000"/>
                </a:solidFill>
                <a:latin typeface="Telegraf"/>
              </a:rPr>
              <a:t>ketentuan</a:t>
            </a:r>
            <a:r>
              <a:rPr lang="en-US" sz="2100" spc="42" dirty="0">
                <a:solidFill>
                  <a:srgbClr val="000000"/>
                </a:solidFill>
                <a:latin typeface="Telegraf"/>
              </a:rPr>
              <a:t> anti Fraud, dan </a:t>
            </a:r>
            <a:r>
              <a:rPr lang="en-US" sz="2100" spc="42" dirty="0" err="1">
                <a:solidFill>
                  <a:srgbClr val="000000"/>
                </a:solidFill>
                <a:latin typeface="Telegraf"/>
              </a:rPr>
              <a:t>komunikasi</a:t>
            </a:r>
            <a:r>
              <a:rPr lang="en-US" sz="2100" spc="42" dirty="0">
                <a:solidFill>
                  <a:srgbClr val="000000"/>
                </a:solidFill>
                <a:latin typeface="Telegraf"/>
              </a:rPr>
              <a:t> yang </a:t>
            </a:r>
            <a:r>
              <a:rPr lang="en-US" sz="2100" spc="42" dirty="0" err="1">
                <a:solidFill>
                  <a:srgbClr val="000000"/>
                </a:solidFill>
                <a:latin typeface="Telegraf"/>
              </a:rPr>
              <a:t>memadai</a:t>
            </a:r>
            <a:r>
              <a:rPr lang="en-US" sz="2100" spc="42" dirty="0">
                <a:solidFill>
                  <a:srgbClr val="000000"/>
                </a:solidFill>
                <a:latin typeface="Telegraf"/>
              </a:rPr>
              <a:t> </a:t>
            </a:r>
            <a:r>
              <a:rPr lang="en-US" sz="2100" spc="42" dirty="0" err="1">
                <a:solidFill>
                  <a:srgbClr val="000000"/>
                </a:solidFill>
                <a:latin typeface="Telegraf"/>
              </a:rPr>
              <a:t>kepada</a:t>
            </a:r>
            <a:r>
              <a:rPr lang="en-US" sz="2100" spc="42" dirty="0">
                <a:solidFill>
                  <a:srgbClr val="000000"/>
                </a:solidFill>
                <a:latin typeface="Telegraf"/>
              </a:rPr>
              <a:t> </a:t>
            </a:r>
            <a:r>
              <a:rPr lang="en-US" sz="2100" spc="42" dirty="0" err="1">
                <a:solidFill>
                  <a:srgbClr val="000000"/>
                </a:solidFill>
                <a:latin typeface="Telegraf"/>
              </a:rPr>
              <a:t>seluruh</a:t>
            </a:r>
            <a:r>
              <a:rPr lang="en-US" sz="2100" spc="42" dirty="0">
                <a:solidFill>
                  <a:srgbClr val="000000"/>
                </a:solidFill>
                <a:latin typeface="Telegraf"/>
              </a:rPr>
              <a:t> </a:t>
            </a:r>
            <a:r>
              <a:rPr lang="en-US" sz="2100" spc="42" dirty="0" err="1">
                <a:solidFill>
                  <a:srgbClr val="000000"/>
                </a:solidFill>
                <a:latin typeface="Telegraf"/>
              </a:rPr>
              <a:t>jenjang</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Perusahaan </a:t>
            </a:r>
            <a:r>
              <a:rPr lang="en-US" sz="2100" spc="42" dirty="0" err="1">
                <a:solidFill>
                  <a:srgbClr val="000000"/>
                </a:solidFill>
                <a:latin typeface="Telegraf"/>
              </a:rPr>
              <a:t>tentang</a:t>
            </a:r>
            <a:r>
              <a:rPr lang="en-US" sz="2100" spc="42" dirty="0">
                <a:solidFill>
                  <a:srgbClr val="000000"/>
                </a:solidFill>
                <a:latin typeface="Telegraf"/>
              </a:rPr>
              <a:t> </a:t>
            </a:r>
            <a:r>
              <a:rPr lang="en-US" sz="2100" spc="42" dirty="0" err="1">
                <a:solidFill>
                  <a:srgbClr val="000000"/>
                </a:solidFill>
                <a:latin typeface="Telegraf"/>
              </a:rPr>
              <a:t>perilaku</a:t>
            </a:r>
            <a:r>
              <a:rPr lang="en-US" sz="2100" spc="42" dirty="0">
                <a:solidFill>
                  <a:srgbClr val="000000"/>
                </a:solidFill>
                <a:latin typeface="Telegraf"/>
              </a:rPr>
              <a:t> yang </a:t>
            </a:r>
            <a:r>
              <a:rPr lang="en-US" sz="2100" spc="42" dirty="0" err="1">
                <a:solidFill>
                  <a:srgbClr val="000000"/>
                </a:solidFill>
                <a:latin typeface="Telegraf"/>
              </a:rPr>
              <a:t>termasuk</a:t>
            </a:r>
            <a:r>
              <a:rPr lang="en-US" sz="2100" spc="42" dirty="0">
                <a:solidFill>
                  <a:srgbClr val="000000"/>
                </a:solidFill>
                <a:latin typeface="Telegraf"/>
              </a:rPr>
              <a:t> </a:t>
            </a:r>
            <a:r>
              <a:rPr lang="en-US" sz="2100" spc="42" dirty="0" err="1">
                <a:solidFill>
                  <a:srgbClr val="000000"/>
                </a:solidFill>
                <a:latin typeface="Telegraf"/>
              </a:rPr>
              <a:t>tindakan</a:t>
            </a:r>
            <a:r>
              <a:rPr lang="en-US" sz="2100" spc="42" dirty="0">
                <a:solidFill>
                  <a:srgbClr val="000000"/>
                </a:solidFill>
                <a:latin typeface="Telegraf"/>
              </a:rPr>
              <a:t> Fraud</a:t>
            </a: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enyusunan</a:t>
            </a:r>
            <a:r>
              <a:rPr lang="en-US" sz="2100" spc="42" dirty="0">
                <a:solidFill>
                  <a:srgbClr val="000000"/>
                </a:solidFill>
                <a:latin typeface="Telegraf"/>
              </a:rPr>
              <a:t> dan </a:t>
            </a:r>
            <a:r>
              <a:rPr lang="en-US" sz="2100" spc="42" dirty="0" err="1">
                <a:solidFill>
                  <a:srgbClr val="000000"/>
                </a:solidFill>
                <a:latin typeface="Telegraf"/>
              </a:rPr>
              <a:t>pengawasan</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kode</a:t>
            </a:r>
            <a:r>
              <a:rPr lang="en-US" sz="2100" spc="42" dirty="0">
                <a:solidFill>
                  <a:srgbClr val="000000"/>
                </a:solidFill>
                <a:latin typeface="Telegraf"/>
              </a:rPr>
              <a:t> </a:t>
            </a:r>
            <a:r>
              <a:rPr lang="en-US" sz="2100" spc="42" dirty="0" err="1">
                <a:solidFill>
                  <a:srgbClr val="000000"/>
                </a:solidFill>
                <a:latin typeface="Telegraf"/>
              </a:rPr>
              <a:t>etik</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pencegahan</a:t>
            </a:r>
            <a:r>
              <a:rPr lang="en-US" sz="2100" spc="42" dirty="0">
                <a:solidFill>
                  <a:srgbClr val="000000"/>
                </a:solidFill>
                <a:latin typeface="Telegraf"/>
              </a:rPr>
              <a:t> Fraud </a:t>
            </a:r>
            <a:r>
              <a:rPr lang="en-US" sz="2100" spc="42" dirty="0" err="1">
                <a:solidFill>
                  <a:srgbClr val="000000"/>
                </a:solidFill>
                <a:latin typeface="Telegraf"/>
              </a:rPr>
              <a:t>bagi</a:t>
            </a:r>
            <a:r>
              <a:rPr lang="en-US" sz="2100" spc="42" dirty="0">
                <a:solidFill>
                  <a:srgbClr val="000000"/>
                </a:solidFill>
                <a:latin typeface="Telegraf"/>
              </a:rPr>
              <a:t> </a:t>
            </a:r>
            <a:r>
              <a:rPr lang="en-US" sz="2100" spc="42" dirty="0" err="1">
                <a:solidFill>
                  <a:srgbClr val="000000"/>
                </a:solidFill>
                <a:latin typeface="Telegraf"/>
              </a:rPr>
              <a:t>seluruh</a:t>
            </a:r>
            <a:r>
              <a:rPr lang="en-US" sz="2100" spc="42" dirty="0">
                <a:solidFill>
                  <a:srgbClr val="000000"/>
                </a:solidFill>
                <a:latin typeface="Telegraf"/>
              </a:rPr>
              <a:t> </a:t>
            </a:r>
            <a:r>
              <a:rPr lang="en-US" sz="2100" spc="42" dirty="0" err="1">
                <a:solidFill>
                  <a:srgbClr val="000000"/>
                </a:solidFill>
                <a:latin typeface="Telegraf"/>
              </a:rPr>
              <a:t>jenjang</a:t>
            </a:r>
            <a:r>
              <a:rPr lang="en-US" sz="2100" spc="42" dirty="0">
                <a:solidFill>
                  <a:srgbClr val="000000"/>
                </a:solidFill>
                <a:latin typeface="Telegraf"/>
              </a:rPr>
              <a:t> </a:t>
            </a:r>
            <a:r>
              <a:rPr lang="en-US" sz="2100" spc="42" dirty="0" err="1">
                <a:solidFill>
                  <a:srgbClr val="000000"/>
                </a:solidFill>
                <a:latin typeface="Telegraf"/>
              </a:rPr>
              <a:t>organisasi</a:t>
            </a:r>
            <a:endParaRPr lang="en-US" sz="2100" spc="42" dirty="0">
              <a:solidFill>
                <a:srgbClr val="000000"/>
              </a:solidFill>
              <a:latin typeface="Telegraf"/>
            </a:endParaRP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enyusunan</a:t>
            </a:r>
            <a:r>
              <a:rPr lang="en-US" sz="2100" spc="42" dirty="0">
                <a:solidFill>
                  <a:srgbClr val="000000"/>
                </a:solidFill>
                <a:latin typeface="Telegraf"/>
              </a:rPr>
              <a:t> dan </a:t>
            </a:r>
            <a:r>
              <a:rPr lang="en-US" sz="2100" spc="42" dirty="0" err="1">
                <a:solidFill>
                  <a:srgbClr val="000000"/>
                </a:solidFill>
                <a:latin typeface="Telegraf"/>
              </a:rPr>
              <a:t>pengawasan</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strategi anti Fraud</a:t>
            </a: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engembangan</a:t>
            </a:r>
            <a:r>
              <a:rPr lang="en-US" sz="2100" spc="42" dirty="0">
                <a:solidFill>
                  <a:srgbClr val="000000"/>
                </a:solidFill>
                <a:latin typeface="Telegraf"/>
              </a:rPr>
              <a:t> </a:t>
            </a:r>
            <a:r>
              <a:rPr lang="en-US" sz="2100" spc="42" dirty="0" err="1">
                <a:solidFill>
                  <a:srgbClr val="000000"/>
                </a:solidFill>
                <a:latin typeface="Telegraf"/>
              </a:rPr>
              <a:t>kualitas</a:t>
            </a:r>
            <a:r>
              <a:rPr lang="en-US" sz="2100" spc="42" dirty="0">
                <a:solidFill>
                  <a:srgbClr val="000000"/>
                </a:solidFill>
                <a:latin typeface="Telegraf"/>
              </a:rPr>
              <a:t> </a:t>
            </a:r>
            <a:r>
              <a:rPr lang="en-US" sz="2100" spc="42" dirty="0" err="1">
                <a:solidFill>
                  <a:srgbClr val="000000"/>
                </a:solidFill>
                <a:latin typeface="Telegraf"/>
              </a:rPr>
              <a:t>sumber</a:t>
            </a:r>
            <a:r>
              <a:rPr lang="en-US" sz="2100" spc="42" dirty="0">
                <a:solidFill>
                  <a:srgbClr val="000000"/>
                </a:solidFill>
                <a:latin typeface="Telegraf"/>
              </a:rPr>
              <a:t> </a:t>
            </a:r>
            <a:r>
              <a:rPr lang="en-US" sz="2100" spc="42" dirty="0" err="1">
                <a:solidFill>
                  <a:srgbClr val="000000"/>
                </a:solidFill>
                <a:latin typeface="Telegraf"/>
              </a:rPr>
              <a:t>daya</a:t>
            </a:r>
            <a:r>
              <a:rPr lang="en-US" sz="2100" spc="42" dirty="0">
                <a:solidFill>
                  <a:srgbClr val="000000"/>
                </a:solidFill>
                <a:latin typeface="Telegraf"/>
              </a:rPr>
              <a:t> </a:t>
            </a:r>
            <a:r>
              <a:rPr lang="en-US" sz="2100" spc="42" dirty="0" err="1">
                <a:solidFill>
                  <a:srgbClr val="000000"/>
                </a:solidFill>
                <a:latin typeface="Telegraf"/>
              </a:rPr>
              <a:t>manusia</a:t>
            </a:r>
            <a:r>
              <a:rPr lang="en-US" sz="2100" spc="42" dirty="0">
                <a:solidFill>
                  <a:srgbClr val="000000"/>
                </a:solidFill>
                <a:latin typeface="Telegraf"/>
              </a:rPr>
              <a:t> (SDM), </a:t>
            </a:r>
            <a:r>
              <a:rPr lang="en-US" sz="2100" spc="42" dirty="0" err="1">
                <a:solidFill>
                  <a:srgbClr val="000000"/>
                </a:solidFill>
                <a:latin typeface="Telegraf"/>
              </a:rPr>
              <a:t>khususnya</a:t>
            </a:r>
            <a:r>
              <a:rPr lang="en-US" sz="2100" spc="42" dirty="0">
                <a:solidFill>
                  <a:srgbClr val="000000"/>
                </a:solidFill>
                <a:latin typeface="Telegraf"/>
              </a:rPr>
              <a:t> yang </a:t>
            </a:r>
            <a:r>
              <a:rPr lang="en-US" sz="2100" spc="42" dirty="0" err="1">
                <a:solidFill>
                  <a:srgbClr val="000000"/>
                </a:solidFill>
                <a:latin typeface="Telegraf"/>
              </a:rPr>
              <a:t>terkait</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peningkatan</a:t>
            </a:r>
            <a:r>
              <a:rPr lang="en-US" sz="2100" spc="42" dirty="0">
                <a:solidFill>
                  <a:srgbClr val="000000"/>
                </a:solidFill>
                <a:latin typeface="Telegraf"/>
              </a:rPr>
              <a:t> awareness dan </a:t>
            </a:r>
            <a:r>
              <a:rPr lang="en-US" sz="2100" spc="42" dirty="0" err="1">
                <a:solidFill>
                  <a:srgbClr val="000000"/>
                </a:solidFill>
                <a:latin typeface="Telegraf"/>
              </a:rPr>
              <a:t>pengendalian</a:t>
            </a:r>
            <a:r>
              <a:rPr lang="en-US" sz="2100" spc="42" dirty="0">
                <a:solidFill>
                  <a:srgbClr val="000000"/>
                </a:solidFill>
                <a:latin typeface="Telegraf"/>
              </a:rPr>
              <a:t> Fraud</a:t>
            </a: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emantauan</a:t>
            </a:r>
            <a:r>
              <a:rPr lang="en-US" sz="2100" spc="42" dirty="0">
                <a:solidFill>
                  <a:srgbClr val="000000"/>
                </a:solidFill>
                <a:latin typeface="Telegraf"/>
              </a:rPr>
              <a:t>  dan </a:t>
            </a:r>
            <a:r>
              <a:rPr lang="en-US" sz="2100" spc="42" dirty="0" err="1">
                <a:solidFill>
                  <a:srgbClr val="000000"/>
                </a:solidFill>
                <a:latin typeface="Telegraf"/>
              </a:rPr>
              <a:t>evaluasi</a:t>
            </a:r>
            <a:r>
              <a:rPr lang="en-US" sz="2100" spc="42" dirty="0">
                <a:solidFill>
                  <a:srgbClr val="000000"/>
                </a:solidFill>
                <a:latin typeface="Telegraf"/>
              </a:rPr>
              <a:t> </a:t>
            </a:r>
            <a:r>
              <a:rPr lang="en-US" sz="2100" spc="42" dirty="0" err="1">
                <a:solidFill>
                  <a:srgbClr val="000000"/>
                </a:solidFill>
                <a:latin typeface="Telegraf"/>
              </a:rPr>
              <a:t>atas</a:t>
            </a:r>
            <a:r>
              <a:rPr lang="en-US" sz="2100" spc="42" dirty="0">
                <a:solidFill>
                  <a:srgbClr val="000000"/>
                </a:solidFill>
                <a:latin typeface="Telegraf"/>
              </a:rPr>
              <a:t> </a:t>
            </a:r>
            <a:r>
              <a:rPr lang="en-US" sz="2100" spc="42" dirty="0" err="1">
                <a:solidFill>
                  <a:srgbClr val="000000"/>
                </a:solidFill>
                <a:latin typeface="Telegraf"/>
              </a:rPr>
              <a:t>kejadian</a:t>
            </a:r>
            <a:r>
              <a:rPr lang="en-US" sz="2100" spc="42" dirty="0">
                <a:solidFill>
                  <a:srgbClr val="000000"/>
                </a:solidFill>
                <a:latin typeface="Telegraf"/>
              </a:rPr>
              <a:t> Fraud </a:t>
            </a:r>
            <a:r>
              <a:rPr lang="en-US" sz="2100" spc="42" dirty="0" err="1">
                <a:solidFill>
                  <a:srgbClr val="000000"/>
                </a:solidFill>
                <a:latin typeface="Telegraf"/>
              </a:rPr>
              <a:t>serta</a:t>
            </a:r>
            <a:r>
              <a:rPr lang="en-US" sz="2100" spc="42" dirty="0">
                <a:solidFill>
                  <a:srgbClr val="000000"/>
                </a:solidFill>
                <a:latin typeface="Telegraf"/>
              </a:rPr>
              <a:t> </a:t>
            </a:r>
            <a:r>
              <a:rPr lang="en-US" sz="2100" spc="42" dirty="0" err="1">
                <a:solidFill>
                  <a:srgbClr val="000000"/>
                </a:solidFill>
                <a:latin typeface="Telegraf"/>
              </a:rPr>
              <a:t>penetapan</a:t>
            </a:r>
            <a:r>
              <a:rPr lang="en-US" sz="2100" spc="42" dirty="0">
                <a:solidFill>
                  <a:srgbClr val="000000"/>
                </a:solidFill>
                <a:latin typeface="Telegraf"/>
              </a:rPr>
              <a:t> </a:t>
            </a:r>
            <a:r>
              <a:rPr lang="en-US" sz="2100" spc="42" dirty="0" err="1">
                <a:solidFill>
                  <a:srgbClr val="000000"/>
                </a:solidFill>
                <a:latin typeface="Telegraf"/>
              </a:rPr>
              <a:t>tindak</a:t>
            </a:r>
            <a:r>
              <a:rPr lang="en-US" sz="2100" spc="42" dirty="0">
                <a:solidFill>
                  <a:srgbClr val="000000"/>
                </a:solidFill>
                <a:latin typeface="Telegraf"/>
              </a:rPr>
              <a:t> </a:t>
            </a:r>
            <a:r>
              <a:rPr lang="en-US" sz="2100" spc="42" dirty="0" err="1">
                <a:solidFill>
                  <a:srgbClr val="000000"/>
                </a:solidFill>
                <a:latin typeface="Telegraf"/>
              </a:rPr>
              <a:t>lanjut</a:t>
            </a:r>
            <a:endParaRPr lang="en-US" sz="2100" spc="42" dirty="0">
              <a:solidFill>
                <a:srgbClr val="000000"/>
              </a:solidFill>
              <a:latin typeface="Telegraf"/>
            </a:endParaRPr>
          </a:p>
          <a:p>
            <a:pPr marL="453390" lvl="1" indent="-226695" algn="just">
              <a:lnSpc>
                <a:spcPts val="2940"/>
              </a:lnSpc>
              <a:buFont typeface="Arial"/>
              <a:buChar char="•"/>
            </a:pPr>
            <a:r>
              <a:rPr lang="id-ID" sz="2100" spc="42" dirty="0" err="1">
                <a:solidFill>
                  <a:srgbClr val="000000"/>
                </a:solidFill>
                <a:latin typeface="Telegraf"/>
              </a:rPr>
              <a:t>P</a:t>
            </a:r>
            <a:r>
              <a:rPr lang="en-US" sz="2100" spc="42" dirty="0" err="1">
                <a:solidFill>
                  <a:srgbClr val="000000"/>
                </a:solidFill>
                <a:latin typeface="Telegraf"/>
              </a:rPr>
              <a:t>engembangan</a:t>
            </a:r>
            <a:r>
              <a:rPr lang="en-US" sz="2100" spc="42" dirty="0">
                <a:solidFill>
                  <a:srgbClr val="000000"/>
                </a:solidFill>
                <a:latin typeface="Telegraf"/>
              </a:rPr>
              <a:t> </a:t>
            </a:r>
            <a:r>
              <a:rPr lang="en-US" sz="2100" spc="42" dirty="0" err="1">
                <a:solidFill>
                  <a:srgbClr val="000000"/>
                </a:solidFill>
                <a:latin typeface="Telegraf"/>
              </a:rPr>
              <a:t>saluran</a:t>
            </a:r>
            <a:r>
              <a:rPr lang="en-US" sz="2100" spc="42" dirty="0">
                <a:solidFill>
                  <a:srgbClr val="000000"/>
                </a:solidFill>
                <a:latin typeface="Telegraf"/>
              </a:rPr>
              <a:t> </a:t>
            </a:r>
            <a:r>
              <a:rPr lang="en-US" sz="2100" spc="42" dirty="0" err="1">
                <a:solidFill>
                  <a:srgbClr val="000000"/>
                </a:solidFill>
                <a:latin typeface="Telegraf"/>
              </a:rPr>
              <a:t>komunikasi</a:t>
            </a:r>
            <a:r>
              <a:rPr lang="en-US" sz="2100" spc="42" dirty="0">
                <a:solidFill>
                  <a:srgbClr val="000000"/>
                </a:solidFill>
                <a:latin typeface="Telegraf"/>
              </a:rPr>
              <a:t> yang </a:t>
            </a:r>
            <a:r>
              <a:rPr lang="en-US" sz="2100" spc="42" dirty="0" err="1">
                <a:solidFill>
                  <a:srgbClr val="000000"/>
                </a:solidFill>
                <a:latin typeface="Telegraf"/>
              </a:rPr>
              <a:t>efektif</a:t>
            </a:r>
            <a:r>
              <a:rPr lang="en-US" sz="2100" spc="42" dirty="0">
                <a:solidFill>
                  <a:srgbClr val="000000"/>
                </a:solidFill>
                <a:latin typeface="Telegraf"/>
              </a:rPr>
              <a:t> di internal Perusahaan agar </a:t>
            </a:r>
            <a:r>
              <a:rPr lang="en-US" sz="2100" spc="42" dirty="0" err="1">
                <a:solidFill>
                  <a:srgbClr val="000000"/>
                </a:solidFill>
                <a:latin typeface="Telegraf"/>
              </a:rPr>
              <a:t>seluruh</a:t>
            </a:r>
            <a:r>
              <a:rPr lang="en-US" sz="2100" spc="42" dirty="0">
                <a:solidFill>
                  <a:srgbClr val="000000"/>
                </a:solidFill>
                <a:latin typeface="Telegraf"/>
              </a:rPr>
              <a:t> </a:t>
            </a:r>
            <a:r>
              <a:rPr lang="en-US" sz="2100" spc="42" dirty="0" err="1">
                <a:solidFill>
                  <a:srgbClr val="000000"/>
                </a:solidFill>
                <a:latin typeface="Telegraf"/>
              </a:rPr>
              <a:t>jenjang</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Perusahaan </a:t>
            </a:r>
            <a:r>
              <a:rPr lang="en-US" sz="2100" spc="42" dirty="0" err="1">
                <a:solidFill>
                  <a:srgbClr val="000000"/>
                </a:solidFill>
                <a:latin typeface="Telegraf"/>
              </a:rPr>
              <a:t>memahami</a:t>
            </a:r>
            <a:r>
              <a:rPr lang="en-US" sz="2100" spc="42" dirty="0">
                <a:solidFill>
                  <a:srgbClr val="000000"/>
                </a:solidFill>
                <a:latin typeface="Telegraf"/>
              </a:rPr>
              <a:t> dan </a:t>
            </a:r>
            <a:r>
              <a:rPr lang="en-US" sz="2100" spc="42" dirty="0" err="1">
                <a:solidFill>
                  <a:srgbClr val="000000"/>
                </a:solidFill>
                <a:latin typeface="Telegraf"/>
              </a:rPr>
              <a:t>mematuhi</a:t>
            </a:r>
            <a:r>
              <a:rPr lang="en-US" sz="2100" spc="42" dirty="0">
                <a:solidFill>
                  <a:srgbClr val="000000"/>
                </a:solidFill>
                <a:latin typeface="Telegraf"/>
              </a:rPr>
              <a:t> </a:t>
            </a:r>
            <a:r>
              <a:rPr lang="en-US" sz="2100" spc="42" dirty="0" err="1">
                <a:solidFill>
                  <a:srgbClr val="000000"/>
                </a:solidFill>
                <a:latin typeface="Telegraf"/>
              </a:rPr>
              <a:t>kebijakan</a:t>
            </a:r>
            <a:r>
              <a:rPr lang="en-US" sz="2100" spc="42" dirty="0">
                <a:solidFill>
                  <a:srgbClr val="000000"/>
                </a:solidFill>
                <a:latin typeface="Telegraf"/>
              </a:rPr>
              <a:t> dan </a:t>
            </a:r>
            <a:r>
              <a:rPr lang="en-US" sz="2100" spc="42" dirty="0" err="1">
                <a:solidFill>
                  <a:srgbClr val="000000"/>
                </a:solidFill>
                <a:latin typeface="Telegraf"/>
              </a:rPr>
              <a:t>prosedur</a:t>
            </a:r>
            <a:r>
              <a:rPr lang="en-US" sz="2100" spc="42" dirty="0">
                <a:solidFill>
                  <a:srgbClr val="000000"/>
                </a:solidFill>
                <a:latin typeface="Telegraf"/>
              </a:rPr>
              <a:t> yang </a:t>
            </a:r>
            <a:r>
              <a:rPr lang="en-US" sz="2100" spc="42" dirty="0" err="1">
                <a:solidFill>
                  <a:srgbClr val="000000"/>
                </a:solidFill>
                <a:latin typeface="Telegraf"/>
              </a:rPr>
              <a:t>berlaku</a:t>
            </a:r>
            <a:r>
              <a:rPr lang="en-US" sz="2100" spc="42" dirty="0">
                <a:solidFill>
                  <a:srgbClr val="000000"/>
                </a:solidFill>
                <a:latin typeface="Telegraf"/>
              </a:rPr>
              <a:t> </a:t>
            </a:r>
            <a:r>
              <a:rPr lang="en-US" sz="2100" spc="42" dirty="0" err="1">
                <a:solidFill>
                  <a:srgbClr val="000000"/>
                </a:solidFill>
                <a:latin typeface="Telegraf"/>
              </a:rPr>
              <a:t>termasuk</a:t>
            </a:r>
            <a:r>
              <a:rPr lang="en-US" sz="2100" spc="42" dirty="0">
                <a:solidFill>
                  <a:srgbClr val="000000"/>
                </a:solidFill>
                <a:latin typeface="Telegraf"/>
              </a:rPr>
              <a:t> </a:t>
            </a:r>
            <a:r>
              <a:rPr lang="en-US" sz="2100" spc="42" dirty="0" err="1">
                <a:solidFill>
                  <a:srgbClr val="000000"/>
                </a:solidFill>
                <a:latin typeface="Telegraf"/>
              </a:rPr>
              <a:t>kebijakan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Fraud</a:t>
            </a: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860"/>
              </a:lnSpc>
            </a:pPr>
            <a:endParaRPr lang="en-US" sz="2100" spc="42" dirty="0">
              <a:solidFill>
                <a:srgbClr val="000000"/>
              </a:solidFill>
              <a:latin typeface="Telegraf"/>
            </a:endParaRPr>
          </a:p>
          <a:p>
            <a:pPr algn="just">
              <a:lnSpc>
                <a:spcPts val="3113"/>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a:p>
            <a:pPr algn="just">
              <a:lnSpc>
                <a:spcPts val="3078"/>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81778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18</a:t>
            </a:r>
          </a:p>
        </p:txBody>
      </p:sp>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267066" y="1098474"/>
            <a:ext cx="15670004" cy="14510385"/>
          </a:xfrm>
          <a:prstGeom prst="rect">
            <a:avLst/>
          </a:prstGeom>
        </p:spPr>
        <p:txBody>
          <a:bodyPr lIns="0" tIns="0" rIns="0" bIns="0" rtlCol="0" anchor="t">
            <a:spAutoFit/>
          </a:bodyPr>
          <a:lstStyle/>
          <a:p>
            <a:pPr algn="just">
              <a:lnSpc>
                <a:spcPts val="2940"/>
              </a:lnSpc>
            </a:pPr>
            <a:r>
              <a:rPr lang="en-US" sz="2100" spc="42" dirty="0">
                <a:solidFill>
                  <a:srgbClr val="000000"/>
                </a:solidFill>
                <a:latin typeface="Telegraf Bold"/>
              </a:rPr>
              <a:t>2. </a:t>
            </a:r>
            <a:r>
              <a:rPr lang="en-US" sz="2100" spc="42" dirty="0" err="1">
                <a:solidFill>
                  <a:srgbClr val="000000"/>
                </a:solidFill>
                <a:latin typeface="Telegraf Bold"/>
              </a:rPr>
              <a:t>Struktur</a:t>
            </a:r>
            <a:r>
              <a:rPr lang="en-US" sz="2100" spc="42" dirty="0">
                <a:solidFill>
                  <a:srgbClr val="000000"/>
                </a:solidFill>
                <a:latin typeface="Telegraf Bold"/>
              </a:rPr>
              <a:t> </a:t>
            </a:r>
            <a:r>
              <a:rPr lang="en-US" sz="2100" spc="42" dirty="0" err="1">
                <a:solidFill>
                  <a:srgbClr val="000000"/>
                </a:solidFill>
                <a:latin typeface="Telegraf Bold"/>
              </a:rPr>
              <a:t>Organisasi</a:t>
            </a:r>
            <a:r>
              <a:rPr lang="en-US" sz="2100" spc="42" dirty="0">
                <a:solidFill>
                  <a:srgbClr val="000000"/>
                </a:solidFill>
                <a:latin typeface="Telegraf Bold"/>
              </a:rPr>
              <a:t> dan </a:t>
            </a:r>
            <a:r>
              <a:rPr lang="en-US" sz="2100" spc="42" dirty="0" err="1">
                <a:solidFill>
                  <a:srgbClr val="000000"/>
                </a:solidFill>
                <a:latin typeface="Telegraf Bold"/>
              </a:rPr>
              <a:t>Pertanggungjawaban</a:t>
            </a:r>
            <a:endParaRPr lang="en-US" sz="2100" spc="42" dirty="0">
              <a:solidFill>
                <a:srgbClr val="000000"/>
              </a:solidFill>
              <a:latin typeface="Telegraf Bold"/>
            </a:endParaRPr>
          </a:p>
          <a:p>
            <a:pPr algn="just">
              <a:lnSpc>
                <a:spcPts val="2940"/>
              </a:lnSpc>
            </a:pP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aspek</a:t>
            </a:r>
            <a:r>
              <a:rPr lang="en-US" sz="2100" spc="42" dirty="0">
                <a:solidFill>
                  <a:srgbClr val="000000"/>
                </a:solidFill>
                <a:latin typeface="Telegraf"/>
              </a:rPr>
              <a:t> </a:t>
            </a:r>
            <a:r>
              <a:rPr lang="en-US" sz="2100" spc="42" dirty="0" err="1">
                <a:solidFill>
                  <a:srgbClr val="000000"/>
                </a:solidFill>
                <a:latin typeface="Telegraf"/>
              </a:rPr>
              <a:t>struktur</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dan </a:t>
            </a:r>
            <a:r>
              <a:rPr lang="en-US" sz="2100" spc="42" dirty="0" err="1">
                <a:solidFill>
                  <a:srgbClr val="000000"/>
                </a:solidFill>
                <a:latin typeface="Telegraf"/>
              </a:rPr>
              <a:t>pertanggungjawaban</a:t>
            </a:r>
            <a:r>
              <a:rPr lang="en-US" sz="2100" spc="42" dirty="0">
                <a:solidFill>
                  <a:srgbClr val="000000"/>
                </a:solidFill>
                <a:latin typeface="Telegraf"/>
              </a:rPr>
              <a:t> Perusahaan </a:t>
            </a:r>
            <a:r>
              <a:rPr lang="en-US" sz="2100" spc="42" dirty="0" err="1">
                <a:solidFill>
                  <a:srgbClr val="000000"/>
                </a:solidFill>
                <a:latin typeface="Telegraf"/>
              </a:rPr>
              <a:t>membentuk</a:t>
            </a:r>
            <a:r>
              <a:rPr lang="en-US" sz="2100" spc="42" dirty="0">
                <a:solidFill>
                  <a:srgbClr val="000000"/>
                </a:solidFill>
                <a:latin typeface="Telegraf"/>
              </a:rPr>
              <a:t> </a:t>
            </a:r>
            <a:r>
              <a:rPr lang="en-US" sz="2100" spc="42" dirty="0" err="1">
                <a:solidFill>
                  <a:srgbClr val="000000"/>
                </a:solidFill>
                <a:latin typeface="Telegraf"/>
              </a:rPr>
              <a:t>Komite</a:t>
            </a:r>
            <a:r>
              <a:rPr lang="en-US" sz="2100" spc="42" dirty="0">
                <a:solidFill>
                  <a:srgbClr val="000000"/>
                </a:solidFill>
                <a:latin typeface="Telegraf"/>
              </a:rPr>
              <a:t> yang </a:t>
            </a:r>
            <a:r>
              <a:rPr lang="en-US" sz="2100" spc="42" dirty="0" err="1">
                <a:solidFill>
                  <a:srgbClr val="000000"/>
                </a:solidFill>
                <a:latin typeface="Telegraf"/>
              </a:rPr>
              <a:t>bertugas</a:t>
            </a:r>
            <a:r>
              <a:rPr lang="en-US" sz="2100" spc="42" dirty="0">
                <a:solidFill>
                  <a:srgbClr val="000000"/>
                </a:solidFill>
                <a:latin typeface="Telegraf"/>
              </a:rPr>
              <a:t> </a:t>
            </a:r>
            <a:r>
              <a:rPr lang="en-US" sz="2100" spc="42" dirty="0" err="1">
                <a:solidFill>
                  <a:srgbClr val="000000"/>
                </a:solidFill>
                <a:latin typeface="Telegraf"/>
              </a:rPr>
              <a:t>menangani</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Fraud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Perusahaan. </a:t>
            </a:r>
            <a:r>
              <a:rPr lang="en-US" sz="2100" spc="42" dirty="0" err="1">
                <a:solidFill>
                  <a:srgbClr val="000000"/>
                </a:solidFill>
                <a:latin typeface="Telegraf"/>
              </a:rPr>
              <a:t>Berikut</a:t>
            </a:r>
            <a:r>
              <a:rPr lang="en-US" sz="2100" spc="42" dirty="0">
                <a:solidFill>
                  <a:srgbClr val="000000"/>
                </a:solidFill>
                <a:latin typeface="Telegraf"/>
              </a:rPr>
              <a:t> </a:t>
            </a:r>
            <a:r>
              <a:rPr lang="en-US" sz="2100" spc="42" dirty="0" err="1">
                <a:solidFill>
                  <a:srgbClr val="000000"/>
                </a:solidFill>
                <a:latin typeface="Telegraf"/>
              </a:rPr>
              <a:t>beberapa</a:t>
            </a:r>
            <a:r>
              <a:rPr lang="en-US" sz="2100" spc="42" dirty="0">
                <a:solidFill>
                  <a:srgbClr val="000000"/>
                </a:solidFill>
                <a:latin typeface="Telegraf"/>
              </a:rPr>
              <a:t> </a:t>
            </a:r>
            <a:r>
              <a:rPr lang="en-US" sz="2100" spc="42" dirty="0" err="1">
                <a:solidFill>
                  <a:srgbClr val="000000"/>
                </a:solidFill>
                <a:latin typeface="Telegraf"/>
              </a:rPr>
              <a:t>aspek</a:t>
            </a:r>
            <a:r>
              <a:rPr lang="en-US" sz="2100" spc="42" dirty="0">
                <a:solidFill>
                  <a:srgbClr val="000000"/>
                </a:solidFill>
                <a:latin typeface="Telegraf"/>
              </a:rPr>
              <a:t> </a:t>
            </a:r>
            <a:r>
              <a:rPr lang="en-US" sz="2100" spc="42" dirty="0" err="1">
                <a:solidFill>
                  <a:srgbClr val="000000"/>
                </a:solidFill>
                <a:latin typeface="Telegraf"/>
              </a:rPr>
              <a:t>penerapannya</a:t>
            </a:r>
            <a:r>
              <a:rPr lang="en-US" sz="2100" spc="42" dirty="0">
                <a:solidFill>
                  <a:srgbClr val="000000"/>
                </a:solidFill>
                <a:latin typeface="Telegraf"/>
              </a:rPr>
              <a:t> </a:t>
            </a:r>
            <a:r>
              <a:rPr lang="en-US" sz="2100" spc="42" dirty="0" err="1">
                <a:solidFill>
                  <a:srgbClr val="000000"/>
                </a:solidFill>
                <a:latin typeface="Telegraf"/>
              </a:rPr>
              <a:t>Komite</a:t>
            </a:r>
            <a:r>
              <a:rPr lang="en-US" sz="2100" spc="42" dirty="0">
                <a:solidFill>
                  <a:srgbClr val="000000"/>
                </a:solidFill>
                <a:latin typeface="Telegraf"/>
              </a:rPr>
              <a:t>/Unit </a:t>
            </a:r>
            <a:r>
              <a:rPr lang="en-US" sz="2100" spc="42" dirty="0" err="1">
                <a:solidFill>
                  <a:srgbClr val="000000"/>
                </a:solidFill>
                <a:latin typeface="Telegraf"/>
              </a:rPr>
              <a:t>pengendalian</a:t>
            </a:r>
            <a:r>
              <a:rPr lang="en-US" sz="2100" spc="42" dirty="0">
                <a:solidFill>
                  <a:srgbClr val="000000"/>
                </a:solidFill>
                <a:latin typeface="Telegraf"/>
              </a:rPr>
              <a:t> Fraud : </a:t>
            </a:r>
          </a:p>
          <a:p>
            <a:pPr algn="just">
              <a:lnSpc>
                <a:spcPts val="2940"/>
              </a:lnSpc>
            </a:pPr>
            <a:endParaRPr lang="en-US" sz="2100" spc="42" dirty="0">
              <a:solidFill>
                <a:srgbClr val="000000"/>
              </a:solidFill>
              <a:latin typeface="Telegraf"/>
            </a:endParaRPr>
          </a:p>
          <a:p>
            <a:pPr marL="800100" lvl="1" indent="-342900" algn="just">
              <a:lnSpc>
                <a:spcPts val="2940"/>
              </a:lnSpc>
              <a:buFont typeface="Arial" panose="020B0604020202020204" pitchFamily="34" charset="0"/>
              <a:buChar char="•"/>
            </a:pPr>
            <a:r>
              <a:rPr lang="en-US" sz="2100" spc="42" dirty="0" err="1">
                <a:solidFill>
                  <a:srgbClr val="000000"/>
                </a:solidFill>
                <a:latin typeface="Telegraf"/>
              </a:rPr>
              <a:t>Pembentukan</a:t>
            </a:r>
            <a:r>
              <a:rPr lang="en-US" sz="2100" spc="42" dirty="0">
                <a:solidFill>
                  <a:srgbClr val="000000"/>
                </a:solidFill>
                <a:latin typeface="Telegraf"/>
              </a:rPr>
              <a:t> </a:t>
            </a:r>
            <a:r>
              <a:rPr lang="en-US" sz="2100" spc="42" dirty="0" err="1">
                <a:solidFill>
                  <a:srgbClr val="000000"/>
                </a:solidFill>
                <a:latin typeface="Telegraf"/>
              </a:rPr>
              <a:t>komite</a:t>
            </a:r>
            <a:r>
              <a:rPr lang="en-US" sz="2100" spc="42" dirty="0">
                <a:solidFill>
                  <a:srgbClr val="000000"/>
                </a:solidFill>
                <a:latin typeface="Telegraf"/>
              </a:rPr>
              <a:t> </a:t>
            </a:r>
            <a:r>
              <a:rPr lang="en-US" sz="2100" spc="42" dirty="0" err="1">
                <a:solidFill>
                  <a:srgbClr val="000000"/>
                </a:solidFill>
                <a:latin typeface="Telegraf"/>
              </a:rPr>
              <a:t>disesuaikan</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karakteristik</a:t>
            </a:r>
            <a:r>
              <a:rPr lang="en-US" sz="2100" spc="42" dirty="0">
                <a:solidFill>
                  <a:srgbClr val="000000"/>
                </a:solidFill>
                <a:latin typeface="Telegraf"/>
              </a:rPr>
              <a:t> dan </a:t>
            </a:r>
            <a:r>
              <a:rPr lang="en-US" sz="2100" spc="42" dirty="0" err="1">
                <a:solidFill>
                  <a:srgbClr val="000000"/>
                </a:solidFill>
                <a:latin typeface="Telegraf"/>
              </a:rPr>
              <a:t>kompleksitas</a:t>
            </a:r>
            <a:r>
              <a:rPr lang="en-US" sz="2100" spc="42" dirty="0">
                <a:solidFill>
                  <a:srgbClr val="000000"/>
                </a:solidFill>
                <a:latin typeface="Telegraf"/>
              </a:rPr>
              <a:t> </a:t>
            </a:r>
            <a:r>
              <a:rPr lang="en-US" sz="2100" spc="42" dirty="0" err="1">
                <a:solidFill>
                  <a:srgbClr val="000000"/>
                </a:solidFill>
                <a:latin typeface="Telegraf"/>
              </a:rPr>
              <a:t>kegiatan</a:t>
            </a:r>
            <a:r>
              <a:rPr lang="en-US" sz="2100" spc="42" dirty="0">
                <a:solidFill>
                  <a:srgbClr val="000000"/>
                </a:solidFill>
                <a:latin typeface="Telegraf"/>
              </a:rPr>
              <a:t> </a:t>
            </a:r>
            <a:r>
              <a:rPr lang="en-US" sz="2100" spc="42" dirty="0" err="1">
                <a:solidFill>
                  <a:srgbClr val="000000"/>
                </a:solidFill>
                <a:latin typeface="Telegraf"/>
              </a:rPr>
              <a:t>usaha</a:t>
            </a:r>
            <a:r>
              <a:rPr lang="en-US" sz="2100" spc="42" dirty="0">
                <a:solidFill>
                  <a:srgbClr val="000000"/>
                </a:solidFill>
                <a:latin typeface="Telegraf"/>
              </a:rPr>
              <a:t> Perusahaan</a:t>
            </a:r>
          </a:p>
          <a:p>
            <a:pPr marL="800100" lvl="1" indent="-342900" algn="just">
              <a:lnSpc>
                <a:spcPts val="2940"/>
              </a:lnSpc>
              <a:buFont typeface="Arial" panose="020B0604020202020204" pitchFamily="34" charset="0"/>
              <a:buChar char="•"/>
            </a:pPr>
            <a:r>
              <a:rPr lang="en-US" sz="2100" spc="42" dirty="0" err="1">
                <a:solidFill>
                  <a:srgbClr val="000000"/>
                </a:solidFill>
                <a:latin typeface="Telegraf"/>
              </a:rPr>
              <a:t>Keberadaan</a:t>
            </a:r>
            <a:r>
              <a:rPr lang="en-US" sz="2100" spc="42" dirty="0">
                <a:solidFill>
                  <a:srgbClr val="000000"/>
                </a:solidFill>
                <a:latin typeface="Telegraf"/>
              </a:rPr>
              <a:t> </a:t>
            </a:r>
            <a:r>
              <a:rPr lang="en-US" sz="2100" spc="42" dirty="0" err="1">
                <a:solidFill>
                  <a:srgbClr val="000000"/>
                </a:solidFill>
                <a:latin typeface="Telegraf"/>
              </a:rPr>
              <a:t>Komite</a:t>
            </a:r>
            <a:r>
              <a:rPr lang="en-US" sz="2100" spc="42" dirty="0">
                <a:solidFill>
                  <a:srgbClr val="000000"/>
                </a:solidFill>
                <a:latin typeface="Telegraf"/>
              </a:rPr>
              <a:t> </a:t>
            </a:r>
            <a:r>
              <a:rPr lang="en-US" sz="2100" spc="42" dirty="0" err="1">
                <a:solidFill>
                  <a:srgbClr val="000000"/>
                </a:solidFill>
                <a:latin typeface="Telegraf"/>
              </a:rPr>
              <a:t>wajib</a:t>
            </a:r>
            <a:r>
              <a:rPr lang="en-US" sz="2100" spc="42" dirty="0">
                <a:solidFill>
                  <a:srgbClr val="000000"/>
                </a:solidFill>
                <a:latin typeface="Telegraf"/>
              </a:rPr>
              <a:t> </a:t>
            </a:r>
            <a:r>
              <a:rPr lang="en-US" sz="2100" spc="42" dirty="0" err="1">
                <a:solidFill>
                  <a:srgbClr val="000000"/>
                </a:solidFill>
                <a:latin typeface="Telegraf"/>
              </a:rPr>
              <a:t>dicantumkan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struktur</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Perusahaan </a:t>
            </a:r>
            <a:r>
              <a:rPr lang="en-US" sz="2100" spc="42" dirty="0" err="1">
                <a:solidFill>
                  <a:srgbClr val="000000"/>
                </a:solidFill>
                <a:latin typeface="Telegraf"/>
              </a:rPr>
              <a:t>serta</a:t>
            </a:r>
            <a:r>
              <a:rPr lang="en-US" sz="2100" spc="42" dirty="0">
                <a:solidFill>
                  <a:srgbClr val="000000"/>
                </a:solidFill>
                <a:latin typeface="Telegraf"/>
              </a:rPr>
              <a:t> </a:t>
            </a:r>
            <a:r>
              <a:rPr lang="en-US" sz="2100" spc="42" dirty="0" err="1">
                <a:solidFill>
                  <a:srgbClr val="000000"/>
                </a:solidFill>
                <a:latin typeface="Telegraf"/>
              </a:rPr>
              <a:t>disertai</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uraian</a:t>
            </a:r>
            <a:r>
              <a:rPr lang="en-US" sz="2100" spc="42" dirty="0">
                <a:solidFill>
                  <a:srgbClr val="000000"/>
                </a:solidFill>
                <a:latin typeface="Telegraf"/>
              </a:rPr>
              <a:t>     </a:t>
            </a:r>
            <a:r>
              <a:rPr lang="en-US" sz="2100" spc="42" dirty="0" err="1">
                <a:solidFill>
                  <a:srgbClr val="000000"/>
                </a:solidFill>
                <a:latin typeface="Telegraf"/>
              </a:rPr>
              <a:t>tugas</a:t>
            </a:r>
            <a:r>
              <a:rPr lang="en-US" sz="2100" spc="42" dirty="0">
                <a:solidFill>
                  <a:srgbClr val="000000"/>
                </a:solidFill>
                <a:latin typeface="Telegraf"/>
              </a:rPr>
              <a:t> dan </a:t>
            </a:r>
            <a:r>
              <a:rPr lang="en-US" sz="2100" spc="42" dirty="0" err="1">
                <a:solidFill>
                  <a:srgbClr val="000000"/>
                </a:solidFill>
                <a:latin typeface="Telegraf"/>
              </a:rPr>
              <a:t>tanggung</a:t>
            </a:r>
            <a:r>
              <a:rPr lang="en-US" sz="2100" spc="42" dirty="0">
                <a:solidFill>
                  <a:srgbClr val="000000"/>
                </a:solidFill>
                <a:latin typeface="Telegraf"/>
              </a:rPr>
              <a:t> </a:t>
            </a:r>
            <a:r>
              <a:rPr lang="en-US" sz="2100" spc="42" dirty="0" err="1">
                <a:solidFill>
                  <a:srgbClr val="000000"/>
                </a:solidFill>
                <a:latin typeface="Telegraf"/>
              </a:rPr>
              <a:t>jawab</a:t>
            </a:r>
            <a:r>
              <a:rPr lang="en-US" sz="2100" spc="42" dirty="0">
                <a:solidFill>
                  <a:srgbClr val="000000"/>
                </a:solidFill>
                <a:latin typeface="Telegraf"/>
              </a:rPr>
              <a:t> yang </a:t>
            </a:r>
            <a:r>
              <a:rPr lang="en-US" sz="2100" spc="42" dirty="0" err="1">
                <a:solidFill>
                  <a:srgbClr val="000000"/>
                </a:solidFill>
                <a:latin typeface="Telegraf"/>
              </a:rPr>
              <a:t>jelas</a:t>
            </a:r>
            <a:endParaRPr lang="en-US" sz="2100" spc="42" dirty="0">
              <a:solidFill>
                <a:srgbClr val="000000"/>
              </a:solidFill>
              <a:latin typeface="Telegraf"/>
            </a:endParaRPr>
          </a:p>
          <a:p>
            <a:pPr marL="800100" lvl="1" indent="-342900" algn="just">
              <a:lnSpc>
                <a:spcPts val="2940"/>
              </a:lnSpc>
              <a:buFont typeface="Arial" panose="020B0604020202020204" pitchFamily="34" charset="0"/>
              <a:buChar char="•"/>
            </a:pPr>
            <a:r>
              <a:rPr lang="en-US" sz="2100" spc="42" dirty="0" err="1">
                <a:solidFill>
                  <a:srgbClr val="000000"/>
                </a:solidFill>
                <a:latin typeface="Telegraf"/>
              </a:rPr>
              <a:t>Pertanggungjawaban</a:t>
            </a:r>
            <a:r>
              <a:rPr lang="en-US" sz="2100" spc="42" dirty="0">
                <a:solidFill>
                  <a:srgbClr val="000000"/>
                </a:solidFill>
                <a:latin typeface="Telegraf"/>
              </a:rPr>
              <a:t> unit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fungsi</a:t>
            </a:r>
            <a:r>
              <a:rPr lang="en-US" sz="2100" spc="42" dirty="0">
                <a:solidFill>
                  <a:srgbClr val="000000"/>
                </a:solidFill>
                <a:latin typeface="Telegraf"/>
              </a:rPr>
              <a:t> </a:t>
            </a:r>
            <a:r>
              <a:rPr lang="en-US" sz="2100" spc="42" dirty="0" err="1">
                <a:solidFill>
                  <a:srgbClr val="000000"/>
                </a:solidFill>
                <a:latin typeface="Telegraf"/>
              </a:rPr>
              <a:t>tersebut</a:t>
            </a:r>
            <a:r>
              <a:rPr lang="en-US" sz="2100" spc="42" dirty="0">
                <a:solidFill>
                  <a:srgbClr val="000000"/>
                </a:solidFill>
                <a:latin typeface="Telegraf"/>
              </a:rPr>
              <a:t> </a:t>
            </a:r>
            <a:r>
              <a:rPr lang="en-US" sz="2100" spc="42" dirty="0" err="1">
                <a:solidFill>
                  <a:srgbClr val="000000"/>
                </a:solidFill>
                <a:latin typeface="Telegraf"/>
              </a:rPr>
              <a:t>langsung</a:t>
            </a:r>
            <a:r>
              <a:rPr lang="en-US" sz="2100" spc="42" dirty="0">
                <a:solidFill>
                  <a:srgbClr val="000000"/>
                </a:solidFill>
                <a:latin typeface="Telegraf"/>
              </a:rPr>
              <a:t> </a:t>
            </a:r>
            <a:r>
              <a:rPr lang="en-US" sz="2100" spc="42" dirty="0" err="1">
                <a:solidFill>
                  <a:srgbClr val="000000"/>
                </a:solidFill>
                <a:latin typeface="Telegraf"/>
              </a:rPr>
              <a:t>kepada</a:t>
            </a:r>
            <a:r>
              <a:rPr lang="en-US" sz="2100" spc="42" dirty="0">
                <a:solidFill>
                  <a:srgbClr val="000000"/>
                </a:solidFill>
                <a:latin typeface="Telegraf"/>
              </a:rPr>
              <a:t> </a:t>
            </a:r>
            <a:r>
              <a:rPr lang="en-US" sz="2100" spc="42" dirty="0" err="1">
                <a:solidFill>
                  <a:srgbClr val="000000"/>
                </a:solidFill>
                <a:latin typeface="Telegraf"/>
              </a:rPr>
              <a:t>Direktur</a:t>
            </a:r>
            <a:r>
              <a:rPr lang="en-US" sz="2100" spc="42" dirty="0">
                <a:solidFill>
                  <a:srgbClr val="000000"/>
                </a:solidFill>
                <a:latin typeface="Telegraf"/>
              </a:rPr>
              <a:t> Utama </a:t>
            </a:r>
            <a:r>
              <a:rPr lang="en-US" sz="2100" spc="42" dirty="0" err="1">
                <a:solidFill>
                  <a:srgbClr val="000000"/>
                </a:solidFill>
                <a:latin typeface="Telegraf"/>
              </a:rPr>
              <a:t>atau</a:t>
            </a:r>
            <a:r>
              <a:rPr lang="en-US" sz="2100" spc="42" dirty="0">
                <a:solidFill>
                  <a:srgbClr val="000000"/>
                </a:solidFill>
                <a:latin typeface="Telegraf"/>
              </a:rPr>
              <a:t> yang </a:t>
            </a:r>
            <a:r>
              <a:rPr lang="en-US" sz="2100" spc="42" dirty="0" err="1">
                <a:solidFill>
                  <a:srgbClr val="000000"/>
                </a:solidFill>
                <a:latin typeface="Telegraf"/>
              </a:rPr>
              <a:t>setara</a:t>
            </a:r>
            <a:r>
              <a:rPr lang="en-US" sz="2100" spc="42" dirty="0">
                <a:solidFill>
                  <a:srgbClr val="000000"/>
                </a:solidFill>
                <a:latin typeface="Telegraf"/>
              </a:rPr>
              <a:t> pada Perusahaan </a:t>
            </a:r>
            <a:r>
              <a:rPr lang="en-US" sz="2100" spc="42" dirty="0" err="1">
                <a:solidFill>
                  <a:srgbClr val="000000"/>
                </a:solidFill>
                <a:latin typeface="Telegraf"/>
              </a:rPr>
              <a:t>serta</a:t>
            </a:r>
            <a:r>
              <a:rPr lang="en-US" sz="2100" spc="42" dirty="0">
                <a:solidFill>
                  <a:srgbClr val="000000"/>
                </a:solidFill>
                <a:latin typeface="Telegraf"/>
              </a:rPr>
              <a:t> </a:t>
            </a:r>
            <a:r>
              <a:rPr lang="en-US" sz="2100" spc="42" dirty="0" err="1">
                <a:solidFill>
                  <a:srgbClr val="000000"/>
                </a:solidFill>
                <a:latin typeface="Telegraf"/>
              </a:rPr>
              <a:t>hubungan</a:t>
            </a:r>
            <a:r>
              <a:rPr lang="en-US" sz="2100" spc="42" dirty="0">
                <a:solidFill>
                  <a:srgbClr val="000000"/>
                </a:solidFill>
                <a:latin typeface="Telegraf"/>
              </a:rPr>
              <a:t> </a:t>
            </a:r>
            <a:r>
              <a:rPr lang="en-US" sz="2100" spc="42" dirty="0" err="1">
                <a:solidFill>
                  <a:srgbClr val="000000"/>
                </a:solidFill>
                <a:latin typeface="Telegraf"/>
              </a:rPr>
              <a:t>komunikasi</a:t>
            </a:r>
            <a:r>
              <a:rPr lang="en-US" sz="2100" spc="42" dirty="0">
                <a:solidFill>
                  <a:srgbClr val="000000"/>
                </a:solidFill>
                <a:latin typeface="Telegraf"/>
              </a:rPr>
              <a:t> dan </a:t>
            </a:r>
            <a:r>
              <a:rPr lang="en-US" sz="2100" spc="42" dirty="0" err="1">
                <a:solidFill>
                  <a:srgbClr val="000000"/>
                </a:solidFill>
                <a:latin typeface="Telegraf"/>
              </a:rPr>
              <a:t>pelaporan</a:t>
            </a:r>
            <a:r>
              <a:rPr lang="en-US" sz="2100" spc="42" dirty="0">
                <a:solidFill>
                  <a:srgbClr val="000000"/>
                </a:solidFill>
                <a:latin typeface="Telegraf"/>
              </a:rPr>
              <a:t> </a:t>
            </a:r>
            <a:r>
              <a:rPr lang="en-US" sz="2100" spc="42" dirty="0" err="1">
                <a:solidFill>
                  <a:srgbClr val="000000"/>
                </a:solidFill>
                <a:latin typeface="Telegraf"/>
              </a:rPr>
              <a:t>secara</a:t>
            </a:r>
            <a:r>
              <a:rPr lang="en-US" sz="2100" spc="42" dirty="0">
                <a:solidFill>
                  <a:srgbClr val="000000"/>
                </a:solidFill>
                <a:latin typeface="Telegraf"/>
              </a:rPr>
              <a:t> </a:t>
            </a:r>
            <a:r>
              <a:rPr lang="en-US" sz="2100" spc="42" dirty="0" err="1">
                <a:solidFill>
                  <a:srgbClr val="000000"/>
                </a:solidFill>
                <a:latin typeface="Telegraf"/>
              </a:rPr>
              <a:t>langsung</a:t>
            </a:r>
            <a:r>
              <a:rPr lang="en-US" sz="2100" spc="42" dirty="0">
                <a:solidFill>
                  <a:srgbClr val="000000"/>
                </a:solidFill>
                <a:latin typeface="Telegraf"/>
              </a:rPr>
              <a:t> </a:t>
            </a:r>
            <a:r>
              <a:rPr lang="en-US" sz="2100" spc="42" dirty="0" err="1">
                <a:solidFill>
                  <a:srgbClr val="000000"/>
                </a:solidFill>
                <a:latin typeface="Telegraf"/>
              </a:rPr>
              <a:t>kepada</a:t>
            </a:r>
            <a:r>
              <a:rPr lang="en-US" sz="2100" spc="42" dirty="0">
                <a:solidFill>
                  <a:srgbClr val="000000"/>
                </a:solidFill>
                <a:latin typeface="Telegraf"/>
              </a:rPr>
              <a:t> Dewan </a:t>
            </a:r>
            <a:r>
              <a:rPr lang="en-US" sz="2100" spc="42" dirty="0" err="1">
                <a:solidFill>
                  <a:srgbClr val="000000"/>
                </a:solidFill>
                <a:latin typeface="Telegraf"/>
              </a:rPr>
              <a:t>Komisaris</a:t>
            </a:r>
            <a:endParaRPr lang="en-US" sz="2100" spc="42" dirty="0">
              <a:solidFill>
                <a:srgbClr val="000000"/>
              </a:solidFill>
              <a:latin typeface="Telegraf"/>
            </a:endParaRPr>
          </a:p>
          <a:p>
            <a:pPr marL="800100" lvl="1" indent="-342900" algn="just">
              <a:lnSpc>
                <a:spcPts val="2940"/>
              </a:lnSpc>
              <a:buFont typeface="Arial" panose="020B0604020202020204" pitchFamily="34" charset="0"/>
              <a:buChar char="•"/>
            </a:pPr>
            <a:r>
              <a:rPr lang="en-US" sz="2100" spc="42" dirty="0" err="1">
                <a:solidFill>
                  <a:srgbClr val="000000"/>
                </a:solidFill>
                <a:latin typeface="Telegraf"/>
              </a:rPr>
              <a:t>Pelaksanaan</a:t>
            </a:r>
            <a:r>
              <a:rPr lang="en-US" sz="2100" spc="42" dirty="0">
                <a:solidFill>
                  <a:srgbClr val="000000"/>
                </a:solidFill>
                <a:latin typeface="Telegraf"/>
              </a:rPr>
              <a:t> </a:t>
            </a:r>
            <a:r>
              <a:rPr lang="en-US" sz="2100" spc="42" dirty="0" err="1">
                <a:solidFill>
                  <a:srgbClr val="000000"/>
                </a:solidFill>
                <a:latin typeface="Telegraf"/>
              </a:rPr>
              <a:t>tugas</a:t>
            </a:r>
            <a:r>
              <a:rPr lang="en-US" sz="2100" spc="42" dirty="0">
                <a:solidFill>
                  <a:srgbClr val="000000"/>
                </a:solidFill>
                <a:latin typeface="Telegraf"/>
              </a:rPr>
              <a:t> pada unit </a:t>
            </a:r>
            <a:r>
              <a:rPr lang="en-US" sz="2100" spc="42" dirty="0" err="1">
                <a:solidFill>
                  <a:srgbClr val="000000"/>
                </a:solidFill>
                <a:latin typeface="Telegraf"/>
              </a:rPr>
              <a:t>atau</a:t>
            </a:r>
            <a:r>
              <a:rPr lang="en-US" sz="2100" spc="42" dirty="0">
                <a:solidFill>
                  <a:srgbClr val="000000"/>
                </a:solidFill>
                <a:latin typeface="Telegraf"/>
              </a:rPr>
              <a:t> </a:t>
            </a:r>
            <a:r>
              <a:rPr lang="en-US" sz="2100" spc="42" dirty="0" err="1">
                <a:solidFill>
                  <a:srgbClr val="000000"/>
                </a:solidFill>
                <a:latin typeface="Telegraf"/>
              </a:rPr>
              <a:t>fungsi</a:t>
            </a:r>
            <a:r>
              <a:rPr lang="en-US" sz="2100" spc="42" dirty="0">
                <a:solidFill>
                  <a:srgbClr val="000000"/>
                </a:solidFill>
                <a:latin typeface="Telegraf"/>
              </a:rPr>
              <a:t> </a:t>
            </a:r>
            <a:r>
              <a:rPr lang="en-US" sz="2100" spc="42" dirty="0" err="1">
                <a:solidFill>
                  <a:srgbClr val="000000"/>
                </a:solidFill>
                <a:latin typeface="Telegraf"/>
              </a:rPr>
              <a:t>tersebut</a:t>
            </a:r>
            <a:r>
              <a:rPr lang="en-US" sz="2100" spc="42" dirty="0">
                <a:solidFill>
                  <a:srgbClr val="000000"/>
                </a:solidFill>
                <a:latin typeface="Telegraf"/>
              </a:rPr>
              <a:t> </a:t>
            </a:r>
            <a:r>
              <a:rPr lang="en-US" sz="2100" spc="42" dirty="0" err="1">
                <a:solidFill>
                  <a:srgbClr val="000000"/>
                </a:solidFill>
                <a:latin typeface="Telegraf"/>
              </a:rPr>
              <a:t>dilakukan</a:t>
            </a:r>
            <a:r>
              <a:rPr lang="en-US" sz="2100" spc="42" dirty="0">
                <a:solidFill>
                  <a:srgbClr val="000000"/>
                </a:solidFill>
                <a:latin typeface="Telegraf"/>
              </a:rPr>
              <a:t> oleh </a:t>
            </a:r>
            <a:r>
              <a:rPr lang="en-US" sz="2100" spc="42" dirty="0" err="1">
                <a:solidFill>
                  <a:srgbClr val="000000"/>
                </a:solidFill>
                <a:latin typeface="Telegraf"/>
              </a:rPr>
              <a:t>sumber</a:t>
            </a:r>
            <a:r>
              <a:rPr lang="en-US" sz="2100" spc="42" dirty="0">
                <a:solidFill>
                  <a:srgbClr val="000000"/>
                </a:solidFill>
                <a:latin typeface="Telegraf"/>
              </a:rPr>
              <a:t> </a:t>
            </a:r>
            <a:r>
              <a:rPr lang="en-US" sz="2100" spc="42" dirty="0" err="1">
                <a:solidFill>
                  <a:srgbClr val="000000"/>
                </a:solidFill>
                <a:latin typeface="Telegraf"/>
              </a:rPr>
              <a:t>daya</a:t>
            </a:r>
            <a:r>
              <a:rPr lang="en-US" sz="2100" spc="42" dirty="0">
                <a:solidFill>
                  <a:srgbClr val="000000"/>
                </a:solidFill>
                <a:latin typeface="Telegraf"/>
              </a:rPr>
              <a:t> </a:t>
            </a:r>
            <a:r>
              <a:rPr lang="en-US" sz="2100" spc="42" dirty="0" err="1">
                <a:solidFill>
                  <a:srgbClr val="000000"/>
                </a:solidFill>
                <a:latin typeface="Telegraf"/>
              </a:rPr>
              <a:t>manusia</a:t>
            </a:r>
            <a:r>
              <a:rPr lang="en-US" sz="2100" spc="42" dirty="0">
                <a:solidFill>
                  <a:srgbClr val="000000"/>
                </a:solidFill>
                <a:latin typeface="Telegraf"/>
              </a:rPr>
              <a:t> (SDM) yang </a:t>
            </a:r>
            <a:r>
              <a:rPr lang="en-US" sz="2100" spc="42" dirty="0" err="1">
                <a:solidFill>
                  <a:srgbClr val="000000"/>
                </a:solidFill>
                <a:latin typeface="Telegraf"/>
              </a:rPr>
              <a:t>memiliki</a:t>
            </a:r>
            <a:r>
              <a:rPr lang="en-US" sz="2100" spc="42" dirty="0">
                <a:solidFill>
                  <a:srgbClr val="000000"/>
                </a:solidFill>
                <a:latin typeface="Telegraf"/>
              </a:rPr>
              <a:t> </a:t>
            </a:r>
            <a:r>
              <a:rPr lang="en-US" sz="2100" spc="42" dirty="0" err="1">
                <a:solidFill>
                  <a:srgbClr val="000000"/>
                </a:solidFill>
                <a:latin typeface="Telegraf"/>
              </a:rPr>
              <a:t>kompetensi</a:t>
            </a:r>
            <a:r>
              <a:rPr lang="en-US" sz="2100" spc="42" dirty="0">
                <a:solidFill>
                  <a:srgbClr val="000000"/>
                </a:solidFill>
                <a:latin typeface="Telegraf"/>
              </a:rPr>
              <a:t>, </a:t>
            </a:r>
            <a:r>
              <a:rPr lang="en-US" sz="2100" spc="42" dirty="0" err="1">
                <a:solidFill>
                  <a:srgbClr val="000000"/>
                </a:solidFill>
                <a:latin typeface="Telegraf"/>
              </a:rPr>
              <a:t>integritas</a:t>
            </a:r>
            <a:r>
              <a:rPr lang="en-US" sz="2100" spc="42" dirty="0">
                <a:solidFill>
                  <a:srgbClr val="000000"/>
                </a:solidFill>
                <a:latin typeface="Telegraf"/>
              </a:rPr>
              <a:t> dan </a:t>
            </a:r>
            <a:r>
              <a:rPr lang="en-US" sz="2100" spc="42" dirty="0" err="1">
                <a:solidFill>
                  <a:srgbClr val="000000"/>
                </a:solidFill>
                <a:latin typeface="Telegraf"/>
              </a:rPr>
              <a:t>independensi</a:t>
            </a:r>
            <a:r>
              <a:rPr lang="en-US" sz="2100" spc="42" dirty="0">
                <a:solidFill>
                  <a:srgbClr val="000000"/>
                </a:solidFill>
                <a:latin typeface="Telegraf"/>
              </a:rPr>
              <a:t> </a:t>
            </a:r>
            <a:r>
              <a:rPr lang="en-US" sz="2100" spc="42" dirty="0" err="1">
                <a:solidFill>
                  <a:srgbClr val="000000"/>
                </a:solidFill>
                <a:latin typeface="Telegraf"/>
              </a:rPr>
              <a:t>serta</a:t>
            </a:r>
            <a:r>
              <a:rPr lang="en-US" sz="2100" spc="42" dirty="0">
                <a:solidFill>
                  <a:srgbClr val="000000"/>
                </a:solidFill>
                <a:latin typeface="Telegraf"/>
              </a:rPr>
              <a:t> </a:t>
            </a:r>
            <a:r>
              <a:rPr lang="en-US" sz="2100" spc="42" dirty="0" err="1">
                <a:solidFill>
                  <a:srgbClr val="000000"/>
                </a:solidFill>
                <a:latin typeface="Telegraf"/>
              </a:rPr>
              <a:t>didukung</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pertanggungjawaban</a:t>
            </a:r>
            <a:r>
              <a:rPr lang="en-US" sz="2100" spc="42" dirty="0">
                <a:solidFill>
                  <a:srgbClr val="000000"/>
                </a:solidFill>
                <a:latin typeface="Telegraf"/>
              </a:rPr>
              <a:t> yang </a:t>
            </a:r>
            <a:r>
              <a:rPr lang="en-US" sz="2100" spc="42" dirty="0" err="1">
                <a:solidFill>
                  <a:srgbClr val="000000"/>
                </a:solidFill>
                <a:latin typeface="Telegraf"/>
              </a:rPr>
              <a:t>jelas</a:t>
            </a:r>
            <a:endParaRPr lang="en-US" sz="2100" spc="42" dirty="0">
              <a:solidFill>
                <a:srgbClr val="000000"/>
              </a:solidFill>
              <a:latin typeface="Telegraf"/>
            </a:endParaRPr>
          </a:p>
          <a:p>
            <a:pPr marL="800100" lvl="1" indent="-342900" algn="just">
              <a:lnSpc>
                <a:spcPts val="2940"/>
              </a:lnSpc>
              <a:buFont typeface="Arial" panose="020B0604020202020204" pitchFamily="34" charset="0"/>
              <a:buChar char="•"/>
            </a:pPr>
            <a:endParaRPr lang="en-US" sz="2100" spc="42" dirty="0">
              <a:solidFill>
                <a:srgbClr val="000000"/>
              </a:solidFill>
              <a:latin typeface="Telegraf"/>
            </a:endParaRPr>
          </a:p>
          <a:p>
            <a:pPr algn="just">
              <a:lnSpc>
                <a:spcPts val="2940"/>
              </a:lnSpc>
            </a:pPr>
            <a:r>
              <a:rPr lang="en-US" sz="2100" spc="42" dirty="0">
                <a:solidFill>
                  <a:srgbClr val="000000"/>
                </a:solidFill>
                <a:latin typeface="Telegraf Bold"/>
              </a:rPr>
              <a:t>3. </a:t>
            </a:r>
            <a:r>
              <a:rPr lang="en-US" sz="2100" spc="42" dirty="0" err="1">
                <a:solidFill>
                  <a:srgbClr val="000000"/>
                </a:solidFill>
                <a:latin typeface="Telegraf Bold"/>
              </a:rPr>
              <a:t>Pengendalian</a:t>
            </a:r>
            <a:r>
              <a:rPr lang="en-US" sz="2100" spc="42" dirty="0">
                <a:solidFill>
                  <a:srgbClr val="000000"/>
                </a:solidFill>
                <a:latin typeface="Telegraf Bold"/>
              </a:rPr>
              <a:t> dan </a:t>
            </a:r>
            <a:r>
              <a:rPr lang="en-US" sz="2100" spc="42" dirty="0" err="1">
                <a:solidFill>
                  <a:srgbClr val="000000"/>
                </a:solidFill>
                <a:latin typeface="Telegraf Bold"/>
              </a:rPr>
              <a:t>Pemantauan</a:t>
            </a:r>
            <a:endParaRPr lang="en-US" sz="2100" spc="42" dirty="0">
              <a:solidFill>
                <a:srgbClr val="000000"/>
              </a:solidFill>
              <a:latin typeface="Telegraf Bold"/>
            </a:endParaRPr>
          </a:p>
          <a:p>
            <a:pPr algn="just">
              <a:lnSpc>
                <a:spcPts val="2940"/>
              </a:lnSpc>
            </a:pPr>
            <a:r>
              <a:rPr lang="en-US" sz="2100" spc="42" dirty="0">
                <a:solidFill>
                  <a:srgbClr val="000000"/>
                </a:solidFill>
                <a:latin typeface="Telegraf"/>
              </a:rPr>
              <a:t>Langkah-</a:t>
            </a:r>
            <a:r>
              <a:rPr lang="en-US" sz="2100" spc="42" dirty="0" err="1">
                <a:solidFill>
                  <a:srgbClr val="000000"/>
                </a:solidFill>
                <a:latin typeface="Telegraf"/>
              </a:rPr>
              <a:t>langkah</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dan </a:t>
            </a:r>
            <a:r>
              <a:rPr lang="en-US" sz="2100" spc="42" dirty="0" err="1">
                <a:solidFill>
                  <a:srgbClr val="000000"/>
                </a:solidFill>
                <a:latin typeface="Telegraf"/>
              </a:rPr>
              <a:t>pemantauan</a:t>
            </a:r>
            <a:r>
              <a:rPr lang="en-US" sz="2100" spc="42" dirty="0">
                <a:solidFill>
                  <a:srgbClr val="000000"/>
                </a:solidFill>
                <a:latin typeface="Telegraf"/>
              </a:rPr>
              <a:t> Fraud paling </a:t>
            </a:r>
            <a:r>
              <a:rPr lang="en-US" sz="2100" spc="42" dirty="0" err="1">
                <a:solidFill>
                  <a:srgbClr val="000000"/>
                </a:solidFill>
                <a:latin typeface="Telegraf"/>
              </a:rPr>
              <a:t>sedikit</a:t>
            </a:r>
            <a:r>
              <a:rPr lang="en-US" sz="2100" spc="42" dirty="0">
                <a:solidFill>
                  <a:srgbClr val="000000"/>
                </a:solidFill>
                <a:latin typeface="Telegraf"/>
              </a:rPr>
              <a:t> </a:t>
            </a:r>
            <a:r>
              <a:rPr lang="en-US" sz="2100" spc="42" dirty="0" err="1">
                <a:solidFill>
                  <a:srgbClr val="000000"/>
                </a:solidFill>
                <a:latin typeface="Telegraf"/>
              </a:rPr>
              <a:t>sebagai</a:t>
            </a:r>
            <a:r>
              <a:rPr lang="en-US" sz="2100" spc="42" dirty="0">
                <a:solidFill>
                  <a:srgbClr val="000000"/>
                </a:solidFill>
                <a:latin typeface="Telegraf"/>
              </a:rPr>
              <a:t> </a:t>
            </a:r>
            <a:r>
              <a:rPr lang="en-US" sz="2100" spc="42" dirty="0" err="1">
                <a:solidFill>
                  <a:srgbClr val="000000"/>
                </a:solidFill>
                <a:latin typeface="Telegraf"/>
              </a:rPr>
              <a:t>berikut</a:t>
            </a:r>
            <a:r>
              <a:rPr lang="en-US" sz="2100" spc="42" dirty="0">
                <a:solidFill>
                  <a:srgbClr val="000000"/>
                </a:solidFill>
                <a:latin typeface="Telegraf"/>
              </a:rPr>
              <a:t> :</a:t>
            </a:r>
          </a:p>
          <a:p>
            <a:pPr marL="800100" lvl="1" indent="-342900" algn="just">
              <a:lnSpc>
                <a:spcPts val="2940"/>
              </a:lnSpc>
              <a:buFont typeface="Arial" panose="020B0604020202020204" pitchFamily="34" charset="0"/>
              <a:buChar char="•"/>
            </a:pPr>
            <a:r>
              <a:rPr lang="en-US" sz="2100" spc="42" dirty="0">
                <a:solidFill>
                  <a:srgbClr val="000000"/>
                </a:solidFill>
                <a:latin typeface="Telegraf"/>
              </a:rPr>
              <a:t> </a:t>
            </a:r>
            <a:r>
              <a:rPr lang="en-US" sz="2100" spc="42" dirty="0" err="1">
                <a:solidFill>
                  <a:srgbClr val="000000"/>
                </a:solidFill>
                <a:latin typeface="Telegraf"/>
              </a:rPr>
              <a:t>Penetapan</a:t>
            </a:r>
            <a:r>
              <a:rPr lang="en-US" sz="2100" spc="42" dirty="0">
                <a:solidFill>
                  <a:srgbClr val="000000"/>
                </a:solidFill>
                <a:latin typeface="Telegraf"/>
              </a:rPr>
              <a:t> </a:t>
            </a:r>
            <a:r>
              <a:rPr lang="en-US" sz="2100" spc="42" dirty="0" err="1">
                <a:solidFill>
                  <a:srgbClr val="000000"/>
                </a:solidFill>
                <a:latin typeface="Telegraf"/>
              </a:rPr>
              <a:t>kebijakan</a:t>
            </a:r>
            <a:r>
              <a:rPr lang="en-US" sz="2100" spc="42" dirty="0">
                <a:solidFill>
                  <a:srgbClr val="000000"/>
                </a:solidFill>
                <a:latin typeface="Telegraf"/>
              </a:rPr>
              <a:t> dan </a:t>
            </a:r>
            <a:r>
              <a:rPr lang="en-US" sz="2100" spc="42" dirty="0" err="1">
                <a:solidFill>
                  <a:srgbClr val="000000"/>
                </a:solidFill>
                <a:latin typeface="Telegraf"/>
              </a:rPr>
              <a:t>prosedur</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yang </a:t>
            </a:r>
            <a:r>
              <a:rPr lang="en-US" sz="2100" spc="42" dirty="0" err="1">
                <a:solidFill>
                  <a:srgbClr val="000000"/>
                </a:solidFill>
                <a:latin typeface="Telegraf"/>
              </a:rPr>
              <a:t>khusus</a:t>
            </a:r>
            <a:r>
              <a:rPr lang="en-US" sz="2100" spc="42" dirty="0">
                <a:solidFill>
                  <a:srgbClr val="000000"/>
                </a:solidFill>
                <a:latin typeface="Telegraf"/>
              </a:rPr>
              <a:t> </a:t>
            </a:r>
            <a:r>
              <a:rPr lang="en-US" sz="2100" spc="42" dirty="0" err="1">
                <a:solidFill>
                  <a:srgbClr val="000000"/>
                </a:solidFill>
                <a:latin typeface="Telegraf"/>
              </a:rPr>
              <a:t>ditujukan</a:t>
            </a:r>
            <a:r>
              <a:rPr lang="en-US" sz="2100" spc="42" dirty="0">
                <a:solidFill>
                  <a:srgbClr val="000000"/>
                </a:solidFill>
                <a:latin typeface="Telegraf"/>
              </a:rPr>
              <a:t> </a:t>
            </a:r>
            <a:r>
              <a:rPr lang="en-US" sz="2100" spc="42" dirty="0" err="1">
                <a:solidFill>
                  <a:srgbClr val="000000"/>
                </a:solidFill>
                <a:latin typeface="Telegraf"/>
              </a:rPr>
              <a:t>untuk</a:t>
            </a: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Fraud</a:t>
            </a:r>
          </a:p>
          <a:p>
            <a:pPr marL="800100" lvl="1" indent="-342900">
              <a:lnSpc>
                <a:spcPts val="2940"/>
              </a:lnSpc>
              <a:buFont typeface="Arial" panose="020B0604020202020204" pitchFamily="34" charset="0"/>
              <a:buChar char="•"/>
            </a:pP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a:t>
            </a:r>
            <a:r>
              <a:rPr lang="en-US" sz="2100" spc="42" dirty="0" err="1">
                <a:solidFill>
                  <a:srgbClr val="000000"/>
                </a:solidFill>
                <a:latin typeface="Telegraf"/>
              </a:rPr>
              <a:t>melalui</a:t>
            </a:r>
            <a:r>
              <a:rPr lang="en-US" sz="2100" spc="42" dirty="0">
                <a:solidFill>
                  <a:srgbClr val="000000"/>
                </a:solidFill>
                <a:latin typeface="Telegraf"/>
              </a:rPr>
              <a:t> </a:t>
            </a:r>
            <a:r>
              <a:rPr lang="en-US" sz="2100" spc="42" dirty="0" err="1">
                <a:solidFill>
                  <a:srgbClr val="000000"/>
                </a:solidFill>
                <a:latin typeface="Telegraf"/>
              </a:rPr>
              <a:t>kaji</a:t>
            </a:r>
            <a:r>
              <a:rPr lang="en-US" sz="2100" spc="42" dirty="0">
                <a:solidFill>
                  <a:srgbClr val="000000"/>
                </a:solidFill>
                <a:latin typeface="Telegraf"/>
              </a:rPr>
              <a:t> </a:t>
            </a:r>
            <a:r>
              <a:rPr lang="en-US" sz="2100" spc="42" dirty="0" err="1">
                <a:solidFill>
                  <a:srgbClr val="000000"/>
                </a:solidFill>
                <a:latin typeface="Telegraf"/>
              </a:rPr>
              <a:t>ulang</a:t>
            </a:r>
            <a:r>
              <a:rPr lang="en-US" sz="2100" spc="42" dirty="0">
                <a:solidFill>
                  <a:srgbClr val="000000"/>
                </a:solidFill>
                <a:latin typeface="Telegraf"/>
              </a:rPr>
              <a:t> </a:t>
            </a:r>
            <a:r>
              <a:rPr lang="en-US" sz="2100" spc="42" dirty="0" err="1">
                <a:solidFill>
                  <a:srgbClr val="000000"/>
                </a:solidFill>
                <a:latin typeface="Telegraf"/>
              </a:rPr>
              <a:t>baik</a:t>
            </a:r>
            <a:r>
              <a:rPr lang="en-US" sz="2100" spc="42" dirty="0">
                <a:solidFill>
                  <a:srgbClr val="000000"/>
                </a:solidFill>
                <a:latin typeface="Telegraf"/>
              </a:rPr>
              <a:t> oleh </a:t>
            </a:r>
            <a:r>
              <a:rPr lang="en-US" sz="2100" spc="42" dirty="0" err="1">
                <a:solidFill>
                  <a:srgbClr val="000000"/>
                </a:solidFill>
                <a:latin typeface="Telegraf"/>
              </a:rPr>
              <a:t>manajemen</a:t>
            </a:r>
            <a:r>
              <a:rPr lang="en-US" sz="2100" spc="42" dirty="0">
                <a:solidFill>
                  <a:srgbClr val="000000"/>
                </a:solidFill>
                <a:latin typeface="Telegraf"/>
              </a:rPr>
              <a:t> (top level review) </a:t>
            </a:r>
            <a:r>
              <a:rPr lang="en-US" sz="2100" spc="42" dirty="0" err="1">
                <a:solidFill>
                  <a:srgbClr val="000000"/>
                </a:solidFill>
                <a:latin typeface="Telegraf"/>
              </a:rPr>
              <a:t>maupun</a:t>
            </a:r>
            <a:r>
              <a:rPr lang="en-US" sz="2100" spc="42" dirty="0">
                <a:solidFill>
                  <a:srgbClr val="000000"/>
                </a:solidFill>
                <a:latin typeface="Telegraf"/>
              </a:rPr>
              <a:t> </a:t>
            </a:r>
            <a:r>
              <a:rPr lang="en-US" sz="2100" spc="42" dirty="0" err="1">
                <a:solidFill>
                  <a:srgbClr val="000000"/>
                </a:solidFill>
                <a:latin typeface="Telegraf"/>
              </a:rPr>
              <a:t>kaji</a:t>
            </a:r>
            <a:r>
              <a:rPr lang="en-US" sz="2100" spc="42" dirty="0">
                <a:solidFill>
                  <a:srgbClr val="000000"/>
                </a:solidFill>
                <a:latin typeface="Telegraf"/>
              </a:rPr>
              <a:t> </a:t>
            </a:r>
            <a:r>
              <a:rPr lang="en-US" sz="2100" spc="42" dirty="0" err="1">
                <a:solidFill>
                  <a:srgbClr val="000000"/>
                </a:solidFill>
                <a:latin typeface="Telegraf"/>
              </a:rPr>
              <a:t>ulang</a:t>
            </a:r>
            <a:r>
              <a:rPr lang="en-US" sz="2100" spc="42" dirty="0">
                <a:solidFill>
                  <a:srgbClr val="000000"/>
                </a:solidFill>
                <a:latin typeface="Telegraf"/>
              </a:rPr>
              <a:t> </a:t>
            </a:r>
            <a:r>
              <a:rPr lang="en-US" sz="2100" spc="42" dirty="0" err="1">
                <a:solidFill>
                  <a:srgbClr val="000000"/>
                </a:solidFill>
                <a:latin typeface="Telegraf"/>
              </a:rPr>
              <a:t>operasional</a:t>
            </a:r>
            <a:r>
              <a:rPr lang="en-US" sz="2100" spc="42" dirty="0">
                <a:solidFill>
                  <a:srgbClr val="000000"/>
                </a:solidFill>
                <a:latin typeface="Telegraf"/>
              </a:rPr>
              <a:t> (functional review) oleh audit internal </a:t>
            </a:r>
            <a:r>
              <a:rPr lang="en-US" sz="2100" spc="42" dirty="0" err="1">
                <a:solidFill>
                  <a:srgbClr val="000000"/>
                </a:solidFill>
                <a:latin typeface="Telegraf"/>
              </a:rPr>
              <a:t>atas</a:t>
            </a:r>
            <a:r>
              <a:rPr lang="en-US" sz="2100" spc="42" dirty="0">
                <a:solidFill>
                  <a:srgbClr val="000000"/>
                </a:solidFill>
                <a:latin typeface="Telegraf"/>
              </a:rPr>
              <a:t> </a:t>
            </a:r>
            <a:r>
              <a:rPr lang="en-US" sz="2100" spc="42" dirty="0" err="1">
                <a:solidFill>
                  <a:srgbClr val="000000"/>
                </a:solidFill>
                <a:latin typeface="Telegraf"/>
              </a:rPr>
              <a:t>pelaksanaan</a:t>
            </a:r>
            <a:r>
              <a:rPr lang="en-US" sz="2100" spc="42" dirty="0">
                <a:solidFill>
                  <a:srgbClr val="000000"/>
                </a:solidFill>
                <a:latin typeface="Telegraf"/>
              </a:rPr>
              <a:t> strategi anti Fraud</a:t>
            </a:r>
          </a:p>
          <a:p>
            <a:pPr marL="800100" lvl="1" indent="-342900">
              <a:lnSpc>
                <a:spcPts val="2940"/>
              </a:lnSpc>
              <a:buFont typeface="Arial" panose="020B0604020202020204" pitchFamily="34" charset="0"/>
              <a:buChar char="•"/>
            </a:pPr>
            <a:r>
              <a:rPr lang="en-US" sz="2100" spc="42" dirty="0">
                <a:solidFill>
                  <a:srgbClr val="000000"/>
                </a:solidFill>
                <a:latin typeface="Telegraf"/>
              </a:rPr>
              <a:t> </a:t>
            </a:r>
            <a:r>
              <a:rPr lang="en-US" sz="2100" spc="42" dirty="0" err="1">
                <a:solidFill>
                  <a:srgbClr val="000000"/>
                </a:solidFill>
                <a:latin typeface="Telegraf"/>
              </a:rPr>
              <a:t>Pengendalian</a:t>
            </a:r>
            <a:r>
              <a:rPr lang="en-US" sz="2100" spc="42" dirty="0">
                <a:solidFill>
                  <a:srgbClr val="000000"/>
                </a:solidFill>
                <a:latin typeface="Telegraf"/>
              </a:rPr>
              <a:t> di </a:t>
            </a:r>
            <a:r>
              <a:rPr lang="en-US" sz="2100" spc="42" dirty="0" err="1">
                <a:solidFill>
                  <a:srgbClr val="000000"/>
                </a:solidFill>
                <a:latin typeface="Telegraf"/>
              </a:rPr>
              <a:t>bidang</a:t>
            </a:r>
            <a:r>
              <a:rPr lang="en-US" sz="2100" spc="42" dirty="0">
                <a:solidFill>
                  <a:srgbClr val="000000"/>
                </a:solidFill>
                <a:latin typeface="Telegraf"/>
              </a:rPr>
              <a:t> </a:t>
            </a:r>
            <a:r>
              <a:rPr lang="en-US" sz="2100" spc="42" dirty="0" err="1">
                <a:solidFill>
                  <a:srgbClr val="000000"/>
                </a:solidFill>
                <a:latin typeface="Telegraf"/>
              </a:rPr>
              <a:t>sumber</a:t>
            </a:r>
            <a:r>
              <a:rPr lang="en-US" sz="2100" spc="42" dirty="0">
                <a:solidFill>
                  <a:srgbClr val="000000"/>
                </a:solidFill>
                <a:latin typeface="Telegraf"/>
              </a:rPr>
              <a:t> </a:t>
            </a:r>
            <a:r>
              <a:rPr lang="en-US" sz="2100" spc="42" dirty="0" err="1">
                <a:solidFill>
                  <a:srgbClr val="000000"/>
                </a:solidFill>
                <a:latin typeface="Telegraf"/>
              </a:rPr>
              <a:t>daya</a:t>
            </a:r>
            <a:r>
              <a:rPr lang="en-US" sz="2100" spc="42" dirty="0">
                <a:solidFill>
                  <a:srgbClr val="000000"/>
                </a:solidFill>
                <a:latin typeface="Telegraf"/>
              </a:rPr>
              <a:t> </a:t>
            </a:r>
            <a:r>
              <a:rPr lang="en-US" sz="2100" spc="42" dirty="0" err="1">
                <a:solidFill>
                  <a:srgbClr val="000000"/>
                </a:solidFill>
                <a:latin typeface="Telegraf"/>
              </a:rPr>
              <a:t>manusia</a:t>
            </a:r>
            <a:r>
              <a:rPr lang="en-US" sz="2100" spc="42" dirty="0">
                <a:solidFill>
                  <a:srgbClr val="000000"/>
                </a:solidFill>
                <a:latin typeface="Telegraf"/>
              </a:rPr>
              <a:t> (SDM) yang </a:t>
            </a:r>
            <a:r>
              <a:rPr lang="en-US" sz="2100" spc="42" dirty="0" err="1">
                <a:solidFill>
                  <a:srgbClr val="000000"/>
                </a:solidFill>
                <a:latin typeface="Telegraf"/>
              </a:rPr>
              <a:t>ditujukan</a:t>
            </a:r>
            <a:r>
              <a:rPr lang="en-US" sz="2100" spc="42" dirty="0">
                <a:solidFill>
                  <a:srgbClr val="000000"/>
                </a:solidFill>
                <a:latin typeface="Telegraf"/>
              </a:rPr>
              <a:t> </a:t>
            </a:r>
            <a:r>
              <a:rPr lang="en-US" sz="2100" spc="42" dirty="0" err="1">
                <a:solidFill>
                  <a:srgbClr val="000000"/>
                </a:solidFill>
                <a:latin typeface="Telegraf"/>
              </a:rPr>
              <a:t>untuk</a:t>
            </a:r>
            <a:r>
              <a:rPr lang="en-US" sz="2100" spc="42" dirty="0">
                <a:solidFill>
                  <a:srgbClr val="000000"/>
                </a:solidFill>
                <a:latin typeface="Telegraf"/>
              </a:rPr>
              <a:t> </a:t>
            </a:r>
            <a:r>
              <a:rPr lang="en-US" sz="2100" spc="42" dirty="0" err="1">
                <a:solidFill>
                  <a:srgbClr val="000000"/>
                </a:solidFill>
                <a:latin typeface="Telegraf"/>
              </a:rPr>
              <a:t>peningkatan</a:t>
            </a:r>
            <a:r>
              <a:rPr lang="en-US" sz="2100" spc="42" dirty="0">
                <a:solidFill>
                  <a:srgbClr val="000000"/>
                </a:solidFill>
                <a:latin typeface="Telegraf"/>
              </a:rPr>
              <a:t> </a:t>
            </a:r>
            <a:r>
              <a:rPr lang="en-US" sz="2100" spc="42" dirty="0" err="1">
                <a:solidFill>
                  <a:srgbClr val="000000"/>
                </a:solidFill>
                <a:latin typeface="Telegraf"/>
              </a:rPr>
              <a:t>efektivitas</a:t>
            </a:r>
            <a:r>
              <a:rPr lang="en-US" sz="2100" spc="42" dirty="0">
                <a:solidFill>
                  <a:srgbClr val="000000"/>
                </a:solidFill>
                <a:latin typeface="Telegraf"/>
              </a:rPr>
              <a:t> </a:t>
            </a:r>
            <a:r>
              <a:rPr lang="en-US" sz="2100" spc="42" dirty="0" err="1">
                <a:solidFill>
                  <a:srgbClr val="000000"/>
                </a:solidFill>
                <a:latin typeface="Telegraf"/>
              </a:rPr>
              <a:t>pelaksanaan</a:t>
            </a:r>
            <a:r>
              <a:rPr lang="en-US" sz="2100" spc="42" dirty="0">
                <a:solidFill>
                  <a:srgbClr val="000000"/>
                </a:solidFill>
                <a:latin typeface="Telegraf"/>
              </a:rPr>
              <a:t> </a:t>
            </a:r>
            <a:r>
              <a:rPr lang="en-US" sz="2100" spc="42" dirty="0" err="1">
                <a:solidFill>
                  <a:srgbClr val="000000"/>
                </a:solidFill>
                <a:latin typeface="Telegraf"/>
              </a:rPr>
              <a:t>tugas</a:t>
            </a:r>
            <a:r>
              <a:rPr lang="en-US" sz="2100" spc="42" dirty="0">
                <a:solidFill>
                  <a:srgbClr val="000000"/>
                </a:solidFill>
                <a:latin typeface="Telegraf"/>
              </a:rPr>
              <a:t> dan </a:t>
            </a:r>
            <a:r>
              <a:rPr lang="en-US" sz="2100" spc="42" dirty="0" err="1">
                <a:solidFill>
                  <a:srgbClr val="000000"/>
                </a:solidFill>
                <a:latin typeface="Telegraf"/>
              </a:rPr>
              <a:t>pengendalian</a:t>
            </a:r>
            <a:r>
              <a:rPr lang="en-US" sz="2100" spc="42" dirty="0">
                <a:solidFill>
                  <a:srgbClr val="000000"/>
                </a:solidFill>
                <a:latin typeface="Telegraf"/>
              </a:rPr>
              <a:t> Fraud</a:t>
            </a: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r>
              <a:rPr lang="en-US" sz="2100" spc="42" dirty="0">
                <a:solidFill>
                  <a:srgbClr val="000000"/>
                </a:solidFill>
                <a:latin typeface="Telegraf"/>
              </a:rPr>
              <a:t> </a:t>
            </a: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a:p>
            <a:pPr algn="just">
              <a:lnSpc>
                <a:spcPts val="2940"/>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81778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19</a:t>
            </a: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94697" y="1397075"/>
            <a:ext cx="14623431" cy="15624810"/>
          </a:xfrm>
          <a:prstGeom prst="rect">
            <a:avLst/>
          </a:prstGeom>
        </p:spPr>
        <p:txBody>
          <a:bodyPr lIns="0" tIns="0" rIns="0" bIns="0" rtlCol="0" anchor="t">
            <a:spAutoFit/>
          </a:bodyPr>
          <a:lstStyle/>
          <a:p>
            <a:pPr>
              <a:lnSpc>
                <a:spcPts val="2940"/>
              </a:lnSpc>
            </a:pPr>
            <a:endParaRPr dirty="0"/>
          </a:p>
          <a:p>
            <a:pPr marL="800100" lvl="1" indent="-342900">
              <a:lnSpc>
                <a:spcPts val="2940"/>
              </a:lnSpc>
              <a:buFont typeface="Arial" panose="020B0604020202020204" pitchFamily="34" charset="0"/>
              <a:buChar char="•"/>
            </a:pPr>
            <a:r>
              <a:rPr lang="en-US" sz="2100" spc="42" dirty="0" err="1">
                <a:solidFill>
                  <a:srgbClr val="000000"/>
                </a:solidFill>
                <a:latin typeface="Telegraf"/>
              </a:rPr>
              <a:t>Penetapan</a:t>
            </a:r>
            <a:r>
              <a:rPr lang="en-US" sz="2100" spc="42" dirty="0">
                <a:solidFill>
                  <a:srgbClr val="000000"/>
                </a:solidFill>
                <a:latin typeface="Telegraf"/>
              </a:rPr>
              <a:t> </a:t>
            </a:r>
            <a:r>
              <a:rPr lang="en-US" sz="2100" spc="42" dirty="0" err="1">
                <a:solidFill>
                  <a:srgbClr val="000000"/>
                </a:solidFill>
                <a:latin typeface="Telegraf"/>
              </a:rPr>
              <a:t>pemisahan</a:t>
            </a:r>
            <a:r>
              <a:rPr lang="en-US" sz="2100" spc="42" dirty="0">
                <a:solidFill>
                  <a:srgbClr val="000000"/>
                </a:solidFill>
                <a:latin typeface="Telegraf"/>
              </a:rPr>
              <a:t> </a:t>
            </a:r>
            <a:r>
              <a:rPr lang="en-US" sz="2100" spc="42" dirty="0" err="1">
                <a:solidFill>
                  <a:srgbClr val="000000"/>
                </a:solidFill>
                <a:latin typeface="Telegraf"/>
              </a:rPr>
              <a:t>fungsi</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pelaksanaan</a:t>
            </a:r>
            <a:r>
              <a:rPr lang="en-US" sz="2100" spc="42" dirty="0">
                <a:solidFill>
                  <a:srgbClr val="000000"/>
                </a:solidFill>
                <a:latin typeface="Telegraf"/>
              </a:rPr>
              <a:t> </a:t>
            </a:r>
            <a:r>
              <a:rPr lang="en-US" sz="2100" spc="42" dirty="0" err="1">
                <a:solidFill>
                  <a:srgbClr val="000000"/>
                </a:solidFill>
                <a:latin typeface="Telegraf"/>
              </a:rPr>
              <a:t>aktivitas</a:t>
            </a:r>
            <a:r>
              <a:rPr lang="en-US" sz="2100" spc="42" dirty="0">
                <a:solidFill>
                  <a:srgbClr val="000000"/>
                </a:solidFill>
                <a:latin typeface="Telegraf"/>
              </a:rPr>
              <a:t> Perusahaan </a:t>
            </a:r>
            <a:r>
              <a:rPr lang="en-US" sz="2100" spc="42" dirty="0" err="1">
                <a:solidFill>
                  <a:srgbClr val="000000"/>
                </a:solidFill>
                <a:latin typeface="Telegraf"/>
              </a:rPr>
              <a:t>Pembiayaan</a:t>
            </a:r>
            <a:r>
              <a:rPr lang="en-US" sz="2100" spc="42" dirty="0">
                <a:solidFill>
                  <a:srgbClr val="000000"/>
                </a:solidFill>
                <a:latin typeface="Telegraf"/>
              </a:rPr>
              <a:t> pada </a:t>
            </a:r>
            <a:r>
              <a:rPr lang="en-US" sz="2100" spc="42" dirty="0" err="1">
                <a:solidFill>
                  <a:srgbClr val="000000"/>
                </a:solidFill>
                <a:latin typeface="Telegraf"/>
              </a:rPr>
              <a:t>seluruh</a:t>
            </a:r>
            <a:r>
              <a:rPr lang="en-US" sz="2100" spc="42" dirty="0">
                <a:solidFill>
                  <a:srgbClr val="000000"/>
                </a:solidFill>
                <a:latin typeface="Telegraf"/>
              </a:rPr>
              <a:t> </a:t>
            </a:r>
            <a:r>
              <a:rPr lang="en-US" sz="2100" spc="42" dirty="0" err="1">
                <a:solidFill>
                  <a:srgbClr val="000000"/>
                </a:solidFill>
                <a:latin typeface="Telegraf"/>
              </a:rPr>
              <a:t>jenjang</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a:t>
            </a:r>
            <a:r>
              <a:rPr lang="en-US" sz="2100" spc="42" dirty="0" err="1">
                <a:solidFill>
                  <a:srgbClr val="000000"/>
                </a:solidFill>
                <a:latin typeface="Telegraf"/>
              </a:rPr>
              <a:t>misalnya</a:t>
            </a:r>
            <a:r>
              <a:rPr lang="en-US" sz="2100" spc="42" dirty="0">
                <a:solidFill>
                  <a:srgbClr val="000000"/>
                </a:solidFill>
                <a:latin typeface="Telegraf"/>
              </a:rPr>
              <a:t> </a:t>
            </a:r>
            <a:r>
              <a:rPr lang="en-US" sz="2100" spc="42" dirty="0" err="1">
                <a:solidFill>
                  <a:srgbClr val="000000"/>
                </a:solidFill>
                <a:latin typeface="Telegraf"/>
              </a:rPr>
              <a:t>pemisahan</a:t>
            </a:r>
            <a:r>
              <a:rPr lang="en-US" sz="2100" spc="42" dirty="0">
                <a:solidFill>
                  <a:srgbClr val="000000"/>
                </a:solidFill>
                <a:latin typeface="Telegraf"/>
              </a:rPr>
              <a:t> </a:t>
            </a:r>
            <a:r>
              <a:rPr lang="en-US" sz="2100" spc="42" dirty="0" err="1">
                <a:solidFill>
                  <a:srgbClr val="000000"/>
                </a:solidFill>
                <a:latin typeface="Telegraf"/>
              </a:rPr>
              <a:t>fungsi</a:t>
            </a:r>
            <a:r>
              <a:rPr lang="en-US" sz="2100" spc="42" dirty="0">
                <a:solidFill>
                  <a:srgbClr val="000000"/>
                </a:solidFill>
                <a:latin typeface="Telegraf"/>
              </a:rPr>
              <a:t> </a:t>
            </a:r>
            <a:r>
              <a:rPr lang="en-US" sz="2100" spc="42" dirty="0" err="1">
                <a:solidFill>
                  <a:srgbClr val="000000"/>
                </a:solidFill>
                <a:latin typeface="Telegraf"/>
              </a:rPr>
              <a:t>antara</a:t>
            </a:r>
            <a:r>
              <a:rPr lang="en-US" sz="2100" spc="42" dirty="0">
                <a:solidFill>
                  <a:srgbClr val="000000"/>
                </a:solidFill>
                <a:latin typeface="Telegraf"/>
              </a:rPr>
              <a:t> </a:t>
            </a:r>
            <a:r>
              <a:rPr lang="en-US" sz="2100" spc="42" dirty="0" err="1">
                <a:solidFill>
                  <a:srgbClr val="000000"/>
                </a:solidFill>
                <a:latin typeface="Telegraf"/>
              </a:rPr>
              <a:t>bagian</a:t>
            </a:r>
            <a:r>
              <a:rPr lang="en-US" sz="2100" spc="42" dirty="0">
                <a:solidFill>
                  <a:srgbClr val="000000"/>
                </a:solidFill>
                <a:latin typeface="Telegraf"/>
              </a:rPr>
              <a:t> yang </a:t>
            </a:r>
            <a:r>
              <a:rPr lang="en-US" sz="2100" spc="42" dirty="0" err="1">
                <a:solidFill>
                  <a:srgbClr val="000000"/>
                </a:solidFill>
                <a:latin typeface="Telegraf"/>
              </a:rPr>
              <a:t>melakukan</a:t>
            </a:r>
            <a:r>
              <a:rPr lang="en-US" sz="2100" spc="42" dirty="0">
                <a:solidFill>
                  <a:srgbClr val="000000"/>
                </a:solidFill>
                <a:latin typeface="Telegraf"/>
              </a:rPr>
              <a:t> </a:t>
            </a:r>
            <a:r>
              <a:rPr lang="en-US" sz="2100" spc="42" dirty="0" err="1">
                <a:solidFill>
                  <a:srgbClr val="000000"/>
                </a:solidFill>
                <a:latin typeface="Telegraf"/>
              </a:rPr>
              <a:t>akseptasi</a:t>
            </a:r>
            <a:r>
              <a:rPr lang="en-US" sz="2100" spc="42" dirty="0">
                <a:solidFill>
                  <a:srgbClr val="000000"/>
                </a:solidFill>
                <a:latin typeface="Telegraf"/>
              </a:rPr>
              <a:t>, </a:t>
            </a:r>
            <a:r>
              <a:rPr lang="en-US" sz="2100" spc="42" dirty="0" err="1">
                <a:solidFill>
                  <a:srgbClr val="000000"/>
                </a:solidFill>
                <a:latin typeface="Telegraf"/>
              </a:rPr>
              <a:t>klaim</a:t>
            </a:r>
            <a:r>
              <a:rPr lang="en-US" sz="2100" spc="42" dirty="0">
                <a:solidFill>
                  <a:srgbClr val="000000"/>
                </a:solidFill>
                <a:latin typeface="Telegraf"/>
              </a:rPr>
              <a:t>, dan </a:t>
            </a:r>
            <a:r>
              <a:rPr lang="en-US" sz="2100" spc="42" dirty="0" err="1">
                <a:solidFill>
                  <a:srgbClr val="000000"/>
                </a:solidFill>
                <a:latin typeface="Telegraf"/>
              </a:rPr>
              <a:t>keuangan</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tujuan</a:t>
            </a:r>
            <a:r>
              <a:rPr lang="en-US" sz="2100" spc="42" dirty="0">
                <a:solidFill>
                  <a:srgbClr val="000000"/>
                </a:solidFill>
                <a:latin typeface="Telegraf"/>
              </a:rPr>
              <a:t> agar </a:t>
            </a:r>
            <a:r>
              <a:rPr lang="en-US" sz="2100" spc="42" dirty="0" err="1">
                <a:solidFill>
                  <a:srgbClr val="000000"/>
                </a:solidFill>
                <a:latin typeface="Telegraf"/>
              </a:rPr>
              <a:t>setiap</a:t>
            </a:r>
            <a:r>
              <a:rPr lang="en-US" sz="2100" spc="42" dirty="0">
                <a:solidFill>
                  <a:srgbClr val="000000"/>
                </a:solidFill>
                <a:latin typeface="Telegraf"/>
              </a:rPr>
              <a:t> </a:t>
            </a:r>
            <a:r>
              <a:rPr lang="en-US" sz="2100" spc="42" dirty="0" err="1">
                <a:solidFill>
                  <a:srgbClr val="000000"/>
                </a:solidFill>
                <a:latin typeface="Telegraf"/>
              </a:rPr>
              <a:t>pihak</a:t>
            </a:r>
            <a:r>
              <a:rPr lang="en-US" sz="2100" spc="42" dirty="0">
                <a:solidFill>
                  <a:srgbClr val="000000"/>
                </a:solidFill>
                <a:latin typeface="Telegraf"/>
              </a:rPr>
              <a:t> yang </a:t>
            </a:r>
            <a:r>
              <a:rPr lang="en-US" sz="2100" spc="42" dirty="0" err="1">
                <a:solidFill>
                  <a:srgbClr val="000000"/>
                </a:solidFill>
                <a:latin typeface="Telegraf"/>
              </a:rPr>
              <a:t>terkait</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aktivitas</a:t>
            </a:r>
            <a:r>
              <a:rPr lang="en-US" sz="2100" spc="42" dirty="0">
                <a:solidFill>
                  <a:srgbClr val="000000"/>
                </a:solidFill>
                <a:latin typeface="Telegraf"/>
              </a:rPr>
              <a:t> </a:t>
            </a:r>
            <a:r>
              <a:rPr lang="en-US" sz="2100" spc="42" dirty="0" err="1">
                <a:solidFill>
                  <a:srgbClr val="000000"/>
                </a:solidFill>
                <a:latin typeface="Telegraf"/>
              </a:rPr>
              <a:t>tersebut</a:t>
            </a:r>
            <a:r>
              <a:rPr lang="en-US" sz="2100" spc="42" dirty="0">
                <a:solidFill>
                  <a:srgbClr val="000000"/>
                </a:solidFill>
                <a:latin typeface="Telegraf"/>
              </a:rPr>
              <a:t> </a:t>
            </a:r>
            <a:r>
              <a:rPr lang="en-US" sz="2100" spc="42" dirty="0" err="1">
                <a:solidFill>
                  <a:srgbClr val="000000"/>
                </a:solidFill>
                <a:latin typeface="Telegraf"/>
              </a:rPr>
              <a:t>tidak</a:t>
            </a:r>
            <a:r>
              <a:rPr lang="en-US" sz="2100" spc="42" dirty="0">
                <a:solidFill>
                  <a:srgbClr val="000000"/>
                </a:solidFill>
                <a:latin typeface="Telegraf"/>
              </a:rPr>
              <a:t> </a:t>
            </a:r>
            <a:r>
              <a:rPr lang="en-US" sz="2100" spc="42" dirty="0" err="1">
                <a:solidFill>
                  <a:srgbClr val="000000"/>
                </a:solidFill>
                <a:latin typeface="Telegraf"/>
              </a:rPr>
              <a:t>memiliki</a:t>
            </a:r>
            <a:r>
              <a:rPr lang="en-US" sz="2100" spc="42" dirty="0">
                <a:solidFill>
                  <a:srgbClr val="000000"/>
                </a:solidFill>
                <a:latin typeface="Telegraf"/>
              </a:rPr>
              <a:t> </a:t>
            </a:r>
            <a:r>
              <a:rPr lang="en-US" sz="2100" spc="42" dirty="0" err="1">
                <a:solidFill>
                  <a:srgbClr val="000000"/>
                </a:solidFill>
                <a:latin typeface="Telegraf"/>
              </a:rPr>
              <a:t>peluang</a:t>
            </a:r>
            <a:r>
              <a:rPr lang="en-US" sz="2100" spc="42" dirty="0">
                <a:solidFill>
                  <a:srgbClr val="000000"/>
                </a:solidFill>
                <a:latin typeface="Telegraf"/>
              </a:rPr>
              <a:t> </a:t>
            </a:r>
            <a:r>
              <a:rPr lang="en-US" sz="2100" spc="42" dirty="0" err="1">
                <a:solidFill>
                  <a:srgbClr val="000000"/>
                </a:solidFill>
                <a:latin typeface="Telegraf"/>
              </a:rPr>
              <a:t>untuk</a:t>
            </a:r>
            <a:r>
              <a:rPr lang="en-US" sz="2100" spc="42" dirty="0">
                <a:solidFill>
                  <a:srgbClr val="000000"/>
                </a:solidFill>
                <a:latin typeface="Telegraf"/>
              </a:rPr>
              <a:t> </a:t>
            </a:r>
            <a:r>
              <a:rPr lang="en-US" sz="2100" spc="42" dirty="0" err="1">
                <a:solidFill>
                  <a:srgbClr val="000000"/>
                </a:solidFill>
                <a:latin typeface="Telegraf"/>
              </a:rPr>
              <a:t>melakukan</a:t>
            </a:r>
            <a:r>
              <a:rPr lang="en-US" sz="2100" spc="42" dirty="0">
                <a:solidFill>
                  <a:srgbClr val="000000"/>
                </a:solidFill>
                <a:latin typeface="Telegraf"/>
              </a:rPr>
              <a:t> dan </a:t>
            </a:r>
            <a:r>
              <a:rPr lang="en-US" sz="2100" spc="42" dirty="0" err="1">
                <a:solidFill>
                  <a:srgbClr val="000000"/>
                </a:solidFill>
                <a:latin typeface="Telegraf"/>
              </a:rPr>
              <a:t>menyembunyikan</a:t>
            </a:r>
            <a:r>
              <a:rPr lang="en-US" sz="2100" spc="42" dirty="0">
                <a:solidFill>
                  <a:srgbClr val="000000"/>
                </a:solidFill>
                <a:latin typeface="Telegraf"/>
              </a:rPr>
              <a:t> Fraud</a:t>
            </a:r>
          </a:p>
          <a:p>
            <a:pPr marL="800100" lvl="1" indent="-342900">
              <a:lnSpc>
                <a:spcPts val="2940"/>
              </a:lnSpc>
              <a:buFont typeface="Arial" panose="020B0604020202020204" pitchFamily="34" charset="0"/>
              <a:buChar char="•"/>
            </a:pPr>
            <a:r>
              <a:rPr lang="en-US" sz="2100" spc="42" dirty="0" err="1">
                <a:solidFill>
                  <a:srgbClr val="000000"/>
                </a:solidFill>
                <a:latin typeface="Telegraf"/>
              </a:rPr>
              <a:t>Pengendalian</a:t>
            </a:r>
            <a:r>
              <a:rPr lang="en-US" sz="2100" spc="42" dirty="0">
                <a:solidFill>
                  <a:srgbClr val="000000"/>
                </a:solidFill>
                <a:latin typeface="Telegraf"/>
              </a:rPr>
              <a:t> </a:t>
            </a:r>
            <a:r>
              <a:rPr lang="en-US" sz="2100" spc="42" dirty="0" err="1">
                <a:solidFill>
                  <a:srgbClr val="000000"/>
                </a:solidFill>
                <a:latin typeface="Telegraf"/>
              </a:rPr>
              <a:t>sistem</a:t>
            </a:r>
            <a:r>
              <a:rPr lang="en-US" sz="2100" spc="42" dirty="0">
                <a:solidFill>
                  <a:srgbClr val="000000"/>
                </a:solidFill>
                <a:latin typeface="Telegraf"/>
              </a:rPr>
              <a:t> </a:t>
            </a:r>
            <a:r>
              <a:rPr lang="en-US" sz="2100" spc="42" dirty="0" err="1">
                <a:solidFill>
                  <a:srgbClr val="000000"/>
                </a:solidFill>
                <a:latin typeface="Telegraf"/>
              </a:rPr>
              <a:t>informasi</a:t>
            </a:r>
            <a:r>
              <a:rPr lang="en-US" sz="2100" spc="42" dirty="0">
                <a:solidFill>
                  <a:srgbClr val="000000"/>
                </a:solidFill>
                <a:latin typeface="Telegraf"/>
              </a:rPr>
              <a:t> yang </a:t>
            </a:r>
            <a:r>
              <a:rPr lang="en-US" sz="2100" spc="42" dirty="0" err="1">
                <a:solidFill>
                  <a:srgbClr val="000000"/>
                </a:solidFill>
                <a:latin typeface="Telegraf"/>
              </a:rPr>
              <a:t>mendukung</a:t>
            </a:r>
            <a:r>
              <a:rPr lang="en-US" sz="2100" spc="42" dirty="0">
                <a:solidFill>
                  <a:srgbClr val="000000"/>
                </a:solidFill>
                <a:latin typeface="Telegraf"/>
              </a:rPr>
              <a:t> </a:t>
            </a:r>
            <a:r>
              <a:rPr lang="en-US" sz="2100" spc="42" dirty="0" err="1">
                <a:solidFill>
                  <a:srgbClr val="000000"/>
                </a:solidFill>
                <a:latin typeface="Telegraf"/>
              </a:rPr>
              <a:t>pengolahan</a:t>
            </a:r>
            <a:r>
              <a:rPr lang="en-US" sz="2100" spc="42" dirty="0">
                <a:solidFill>
                  <a:srgbClr val="000000"/>
                </a:solidFill>
                <a:latin typeface="Telegraf"/>
              </a:rPr>
              <a:t>, </a:t>
            </a:r>
            <a:r>
              <a:rPr lang="en-US" sz="2100" spc="42" dirty="0" err="1">
                <a:solidFill>
                  <a:srgbClr val="000000"/>
                </a:solidFill>
                <a:latin typeface="Telegraf"/>
              </a:rPr>
              <a:t>penyimpanan</a:t>
            </a:r>
            <a:r>
              <a:rPr lang="en-US" sz="2100" spc="42" dirty="0">
                <a:solidFill>
                  <a:srgbClr val="000000"/>
                </a:solidFill>
                <a:latin typeface="Telegraf"/>
              </a:rPr>
              <a:t> dan </a:t>
            </a:r>
            <a:r>
              <a:rPr lang="en-US" sz="2100" spc="42" dirty="0" err="1">
                <a:solidFill>
                  <a:srgbClr val="000000"/>
                </a:solidFill>
                <a:latin typeface="Telegraf"/>
              </a:rPr>
              <a:t>pengamanan</a:t>
            </a:r>
            <a:r>
              <a:rPr lang="en-US" sz="2100" spc="42" dirty="0">
                <a:solidFill>
                  <a:srgbClr val="000000"/>
                </a:solidFill>
                <a:latin typeface="Telegraf"/>
              </a:rPr>
              <a:t> data </a:t>
            </a:r>
            <a:r>
              <a:rPr lang="en-US" sz="2100" spc="42" dirty="0" err="1">
                <a:solidFill>
                  <a:srgbClr val="000000"/>
                </a:solidFill>
                <a:latin typeface="Telegraf"/>
              </a:rPr>
              <a:t>secara</a:t>
            </a:r>
            <a:r>
              <a:rPr lang="en-US" sz="2100" spc="42" dirty="0">
                <a:solidFill>
                  <a:srgbClr val="000000"/>
                </a:solidFill>
                <a:latin typeface="Telegraf"/>
              </a:rPr>
              <a:t> </a:t>
            </a:r>
            <a:r>
              <a:rPr lang="en-US" sz="2100" spc="42" dirty="0" err="1">
                <a:solidFill>
                  <a:srgbClr val="000000"/>
                </a:solidFill>
                <a:latin typeface="Telegraf"/>
              </a:rPr>
              <a:t>elektronik</a:t>
            </a:r>
            <a:r>
              <a:rPr lang="en-US" sz="2100" spc="42" dirty="0">
                <a:solidFill>
                  <a:srgbClr val="000000"/>
                </a:solidFill>
                <a:latin typeface="Telegraf"/>
              </a:rPr>
              <a:t> </a:t>
            </a:r>
            <a:r>
              <a:rPr lang="en-US" sz="2100" spc="42" dirty="0" err="1">
                <a:solidFill>
                  <a:srgbClr val="000000"/>
                </a:solidFill>
                <a:latin typeface="Telegraf"/>
              </a:rPr>
              <a:t>untuk</a:t>
            </a:r>
            <a:r>
              <a:rPr lang="en-US" sz="2100" spc="42" dirty="0">
                <a:solidFill>
                  <a:srgbClr val="000000"/>
                </a:solidFill>
                <a:latin typeface="Telegraf"/>
              </a:rPr>
              <a:t> </a:t>
            </a:r>
            <a:r>
              <a:rPr lang="en-US" sz="2100" spc="42" dirty="0" err="1">
                <a:solidFill>
                  <a:srgbClr val="000000"/>
                </a:solidFill>
                <a:latin typeface="Telegraf"/>
              </a:rPr>
              <a:t>mencegah</a:t>
            </a:r>
            <a:r>
              <a:rPr lang="en-US" sz="2100" spc="42" dirty="0">
                <a:solidFill>
                  <a:srgbClr val="000000"/>
                </a:solidFill>
                <a:latin typeface="Telegraf"/>
              </a:rPr>
              <a:t> </a:t>
            </a:r>
            <a:r>
              <a:rPr lang="en-US" sz="2100" spc="42" dirty="0" err="1">
                <a:solidFill>
                  <a:srgbClr val="000000"/>
                </a:solidFill>
                <a:latin typeface="Telegraf"/>
              </a:rPr>
              <a:t>potensi</a:t>
            </a:r>
            <a:r>
              <a:rPr lang="en-US" sz="2100" spc="42" dirty="0">
                <a:solidFill>
                  <a:srgbClr val="000000"/>
                </a:solidFill>
                <a:latin typeface="Telegraf"/>
              </a:rPr>
              <a:t> </a:t>
            </a:r>
            <a:r>
              <a:rPr lang="en-US" sz="2100" spc="42" dirty="0" err="1">
                <a:solidFill>
                  <a:srgbClr val="000000"/>
                </a:solidFill>
                <a:latin typeface="Telegraf"/>
              </a:rPr>
              <a:t>terjadinya</a:t>
            </a:r>
            <a:r>
              <a:rPr lang="en-US" sz="2100" spc="42" dirty="0">
                <a:solidFill>
                  <a:srgbClr val="000000"/>
                </a:solidFill>
                <a:latin typeface="Telegraf"/>
              </a:rPr>
              <a:t> Fraud</a:t>
            </a:r>
          </a:p>
          <a:p>
            <a:pPr>
              <a:lnSpc>
                <a:spcPts val="2940"/>
              </a:lnSpc>
            </a:pPr>
            <a:endParaRPr lang="en-US" sz="2100" spc="42" dirty="0">
              <a:solidFill>
                <a:srgbClr val="000000"/>
              </a:solidFill>
              <a:latin typeface="Telegraf"/>
            </a:endParaRPr>
          </a:p>
          <a:p>
            <a:pPr>
              <a:lnSpc>
                <a:spcPts val="2940"/>
              </a:lnSpc>
            </a:pPr>
            <a:r>
              <a:rPr lang="en-US" sz="2100" spc="42" dirty="0">
                <a:solidFill>
                  <a:srgbClr val="000000"/>
                </a:solidFill>
                <a:latin typeface="Telegraf Bold"/>
              </a:rPr>
              <a:t>4. </a:t>
            </a:r>
            <a:r>
              <a:rPr lang="en-US" sz="2100" spc="42" dirty="0" err="1">
                <a:solidFill>
                  <a:srgbClr val="000000"/>
                </a:solidFill>
                <a:latin typeface="Telegraf Bold"/>
              </a:rPr>
              <a:t>Edukasi</a:t>
            </a:r>
            <a:r>
              <a:rPr lang="en-US" sz="2100" spc="42" dirty="0">
                <a:solidFill>
                  <a:srgbClr val="000000"/>
                </a:solidFill>
                <a:latin typeface="Telegraf Bold"/>
              </a:rPr>
              <a:t> dan </a:t>
            </a:r>
            <a:r>
              <a:rPr lang="en-US" sz="2100" spc="42" dirty="0" err="1">
                <a:solidFill>
                  <a:srgbClr val="000000"/>
                </a:solidFill>
                <a:latin typeface="Telegraf Bold"/>
              </a:rPr>
              <a:t>Pelatihan</a:t>
            </a:r>
            <a:endParaRPr lang="en-US" sz="2100" spc="42" dirty="0">
              <a:solidFill>
                <a:srgbClr val="000000"/>
              </a:solidFill>
              <a:latin typeface="Telegraf Bold"/>
            </a:endParaRPr>
          </a:p>
          <a:p>
            <a:pPr>
              <a:lnSpc>
                <a:spcPts val="2940"/>
              </a:lnSpc>
            </a:pP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a:t>
            </a:r>
            <a:r>
              <a:rPr lang="en-US" sz="2100" spc="42" dirty="0" err="1">
                <a:solidFill>
                  <a:srgbClr val="000000"/>
                </a:solidFill>
                <a:latin typeface="Telegraf"/>
              </a:rPr>
              <a:t>aspek</a:t>
            </a:r>
            <a:r>
              <a:rPr lang="en-US" sz="2100" spc="42" dirty="0">
                <a:solidFill>
                  <a:srgbClr val="000000"/>
                </a:solidFill>
                <a:latin typeface="Telegraf"/>
              </a:rPr>
              <a:t> </a:t>
            </a:r>
            <a:r>
              <a:rPr lang="en-US" sz="2100" spc="42" dirty="0" err="1">
                <a:solidFill>
                  <a:srgbClr val="000000"/>
                </a:solidFill>
                <a:latin typeface="Telegraf"/>
              </a:rPr>
              <a:t>edukasi</a:t>
            </a:r>
            <a:r>
              <a:rPr lang="en-US" sz="2100" spc="42" dirty="0">
                <a:solidFill>
                  <a:srgbClr val="000000"/>
                </a:solidFill>
                <a:latin typeface="Telegraf"/>
              </a:rPr>
              <a:t> dan </a:t>
            </a:r>
            <a:r>
              <a:rPr lang="en-US" sz="2100" spc="42" dirty="0" err="1">
                <a:solidFill>
                  <a:srgbClr val="000000"/>
                </a:solidFill>
                <a:latin typeface="Telegraf"/>
              </a:rPr>
              <a:t>pelatihan</a:t>
            </a:r>
            <a:r>
              <a:rPr lang="en-US" sz="2100" spc="42" dirty="0">
                <a:solidFill>
                  <a:srgbClr val="000000"/>
                </a:solidFill>
                <a:latin typeface="Telegraf"/>
              </a:rPr>
              <a:t>, Perusahaan </a:t>
            </a:r>
            <a:r>
              <a:rPr lang="en-US" sz="2100" spc="42" dirty="0" err="1">
                <a:solidFill>
                  <a:srgbClr val="000000"/>
                </a:solidFill>
                <a:latin typeface="Telegraf"/>
              </a:rPr>
              <a:t>wajib</a:t>
            </a:r>
            <a:r>
              <a:rPr lang="en-US" sz="2100" spc="42" dirty="0">
                <a:solidFill>
                  <a:srgbClr val="000000"/>
                </a:solidFill>
                <a:latin typeface="Telegraf"/>
              </a:rPr>
              <a:t> </a:t>
            </a:r>
            <a:r>
              <a:rPr lang="en-US" sz="2100" spc="42" dirty="0" err="1">
                <a:solidFill>
                  <a:srgbClr val="000000"/>
                </a:solidFill>
                <a:latin typeface="Telegraf"/>
              </a:rPr>
              <a:t>memiliki</a:t>
            </a:r>
            <a:r>
              <a:rPr lang="en-US" sz="2100" spc="42" dirty="0">
                <a:solidFill>
                  <a:srgbClr val="000000"/>
                </a:solidFill>
                <a:latin typeface="Telegraf"/>
              </a:rPr>
              <a:t> </a:t>
            </a:r>
            <a:r>
              <a:rPr lang="en-US" sz="2100" spc="42" dirty="0" err="1">
                <a:solidFill>
                  <a:srgbClr val="000000"/>
                </a:solidFill>
                <a:latin typeface="Telegraf"/>
              </a:rPr>
              <a:t>rencana</a:t>
            </a:r>
            <a:r>
              <a:rPr lang="en-US" sz="2100" spc="42" dirty="0">
                <a:solidFill>
                  <a:srgbClr val="000000"/>
                </a:solidFill>
                <a:latin typeface="Telegraf"/>
              </a:rPr>
              <a:t> </a:t>
            </a:r>
            <a:r>
              <a:rPr lang="en-US" sz="2100" spc="42" dirty="0" err="1">
                <a:solidFill>
                  <a:srgbClr val="000000"/>
                </a:solidFill>
                <a:latin typeface="Telegraf"/>
              </a:rPr>
              <a:t>edukasi</a:t>
            </a:r>
            <a:r>
              <a:rPr lang="en-US" sz="2100" spc="42" dirty="0">
                <a:solidFill>
                  <a:srgbClr val="000000"/>
                </a:solidFill>
                <a:latin typeface="Telegraf"/>
              </a:rPr>
              <a:t> dan </a:t>
            </a:r>
            <a:r>
              <a:rPr lang="en-US" sz="2100" spc="42" dirty="0" err="1">
                <a:solidFill>
                  <a:srgbClr val="000000"/>
                </a:solidFill>
                <a:latin typeface="Telegraf"/>
              </a:rPr>
              <a:t>pelatihan</a:t>
            </a:r>
            <a:r>
              <a:rPr lang="en-US" sz="2100" spc="42" dirty="0">
                <a:solidFill>
                  <a:srgbClr val="000000"/>
                </a:solidFill>
                <a:latin typeface="Telegraf"/>
              </a:rPr>
              <a:t> </a:t>
            </a:r>
            <a:r>
              <a:rPr lang="en-US" sz="2100" spc="42" dirty="0" err="1">
                <a:solidFill>
                  <a:srgbClr val="000000"/>
                </a:solidFill>
                <a:latin typeface="Telegraf"/>
              </a:rPr>
              <a:t>bagi</a:t>
            </a:r>
            <a:r>
              <a:rPr lang="en-US" sz="2100" spc="42" dirty="0">
                <a:solidFill>
                  <a:srgbClr val="000000"/>
                </a:solidFill>
                <a:latin typeface="Telegraf"/>
              </a:rPr>
              <a:t> </a:t>
            </a:r>
            <a:r>
              <a:rPr lang="en-US" sz="2100" spc="42" dirty="0" err="1">
                <a:solidFill>
                  <a:srgbClr val="000000"/>
                </a:solidFill>
                <a:latin typeface="Telegraf"/>
              </a:rPr>
              <a:t>pegawai</a:t>
            </a:r>
            <a:r>
              <a:rPr lang="en-US" sz="2100" spc="42" dirty="0">
                <a:solidFill>
                  <a:srgbClr val="000000"/>
                </a:solidFill>
                <a:latin typeface="Telegraf"/>
              </a:rPr>
              <a:t> yang </a:t>
            </a:r>
            <a:r>
              <a:rPr lang="en-US" sz="2100" spc="42" dirty="0" err="1">
                <a:solidFill>
                  <a:srgbClr val="000000"/>
                </a:solidFill>
                <a:latin typeface="Telegraf"/>
              </a:rPr>
              <a:t>terlibat</a:t>
            </a:r>
            <a:r>
              <a:rPr lang="en-US" sz="2100" spc="42" dirty="0">
                <a:solidFill>
                  <a:srgbClr val="000000"/>
                </a:solidFill>
                <a:latin typeface="Telegraf"/>
              </a:rPr>
              <a:t> </a:t>
            </a:r>
            <a:r>
              <a:rPr lang="en-US" sz="2100" spc="42" dirty="0" err="1">
                <a:solidFill>
                  <a:srgbClr val="000000"/>
                </a:solidFill>
                <a:latin typeface="Telegraf"/>
              </a:rPr>
              <a:t>dalam</a:t>
            </a:r>
            <a:r>
              <a:rPr lang="en-US" sz="2100" spc="42" dirty="0">
                <a:solidFill>
                  <a:srgbClr val="000000"/>
                </a:solidFill>
                <a:latin typeface="Telegraf"/>
              </a:rPr>
              <a:t> </a:t>
            </a:r>
            <a:r>
              <a:rPr lang="en-US" sz="2100" spc="42" dirty="0" err="1">
                <a:solidFill>
                  <a:srgbClr val="000000"/>
                </a:solidFill>
                <a:latin typeface="Telegraf"/>
              </a:rPr>
              <a:t>penerapan</a:t>
            </a:r>
            <a:r>
              <a:rPr lang="en-US" sz="2100" spc="42" dirty="0">
                <a:solidFill>
                  <a:srgbClr val="000000"/>
                </a:solidFill>
                <a:latin typeface="Telegraf"/>
              </a:rPr>
              <a:t> strategi anti Fraud. Adapun </a:t>
            </a:r>
            <a:r>
              <a:rPr lang="en-US" sz="2100" spc="42" dirty="0" err="1">
                <a:solidFill>
                  <a:srgbClr val="000000"/>
                </a:solidFill>
                <a:latin typeface="Telegraf"/>
              </a:rPr>
              <a:t>rencana</a:t>
            </a:r>
            <a:r>
              <a:rPr lang="en-US" sz="2100" spc="42" dirty="0">
                <a:solidFill>
                  <a:srgbClr val="000000"/>
                </a:solidFill>
                <a:latin typeface="Telegraf"/>
              </a:rPr>
              <a:t> </a:t>
            </a:r>
            <a:r>
              <a:rPr lang="en-US" sz="2100" spc="42" dirty="0" err="1">
                <a:solidFill>
                  <a:srgbClr val="000000"/>
                </a:solidFill>
                <a:latin typeface="Telegraf"/>
              </a:rPr>
              <a:t>edukasi</a:t>
            </a:r>
            <a:r>
              <a:rPr lang="en-US" sz="2100" spc="42" dirty="0">
                <a:solidFill>
                  <a:srgbClr val="000000"/>
                </a:solidFill>
                <a:latin typeface="Telegraf"/>
              </a:rPr>
              <a:t> dan </a:t>
            </a:r>
            <a:r>
              <a:rPr lang="en-US" sz="2100" spc="42" dirty="0" err="1">
                <a:solidFill>
                  <a:srgbClr val="000000"/>
                </a:solidFill>
                <a:latin typeface="Telegraf"/>
              </a:rPr>
              <a:t>pelatihan</a:t>
            </a:r>
            <a:r>
              <a:rPr lang="en-US" sz="2100" spc="42" dirty="0">
                <a:solidFill>
                  <a:srgbClr val="000000"/>
                </a:solidFill>
                <a:latin typeface="Telegraf"/>
              </a:rPr>
              <a:t> paling </a:t>
            </a:r>
            <a:r>
              <a:rPr lang="en-US" sz="2100" spc="42" dirty="0" err="1">
                <a:solidFill>
                  <a:srgbClr val="000000"/>
                </a:solidFill>
                <a:latin typeface="Telegraf"/>
              </a:rPr>
              <a:t>sedikit</a:t>
            </a:r>
            <a:r>
              <a:rPr lang="en-US" sz="2100" spc="42" dirty="0">
                <a:solidFill>
                  <a:srgbClr val="000000"/>
                </a:solidFill>
                <a:latin typeface="Telegraf"/>
              </a:rPr>
              <a:t> </a:t>
            </a:r>
            <a:r>
              <a:rPr lang="en-US" sz="2100" spc="42" dirty="0" err="1">
                <a:solidFill>
                  <a:srgbClr val="000000"/>
                </a:solidFill>
                <a:latin typeface="Telegraf"/>
              </a:rPr>
              <a:t>meliputi</a:t>
            </a:r>
            <a:r>
              <a:rPr lang="en-US" sz="2100" spc="42" dirty="0">
                <a:solidFill>
                  <a:srgbClr val="000000"/>
                </a:solidFill>
                <a:latin typeface="Telegraf"/>
              </a:rPr>
              <a:t> :</a:t>
            </a:r>
          </a:p>
          <a:p>
            <a:pPr>
              <a:lnSpc>
                <a:spcPts val="2940"/>
              </a:lnSpc>
            </a:pPr>
            <a:endParaRPr lang="en-US" sz="2100" spc="42" dirty="0">
              <a:solidFill>
                <a:srgbClr val="000000"/>
              </a:solidFill>
              <a:latin typeface="Telegraf"/>
            </a:endParaRPr>
          </a:p>
          <a:p>
            <a:pPr marL="800100" lvl="1" indent="-342900">
              <a:lnSpc>
                <a:spcPts val="2940"/>
              </a:lnSpc>
              <a:buFont typeface="Arial" panose="020B0604020202020204" pitchFamily="34" charset="0"/>
              <a:buChar char="•"/>
            </a:pPr>
            <a:r>
              <a:rPr lang="en-US" sz="2100" spc="42" dirty="0" err="1">
                <a:solidFill>
                  <a:srgbClr val="000000"/>
                </a:solidFill>
                <a:latin typeface="Telegraf"/>
              </a:rPr>
              <a:t>Edukasi</a:t>
            </a:r>
            <a:r>
              <a:rPr lang="en-US" sz="2100" spc="42" dirty="0">
                <a:solidFill>
                  <a:srgbClr val="000000"/>
                </a:solidFill>
                <a:latin typeface="Telegraf"/>
              </a:rPr>
              <a:t> dan </a:t>
            </a:r>
            <a:r>
              <a:rPr lang="en-US" sz="2100" spc="42" dirty="0" err="1">
                <a:solidFill>
                  <a:srgbClr val="000000"/>
                </a:solidFill>
                <a:latin typeface="Telegraf"/>
              </a:rPr>
              <a:t>pelatihan</a:t>
            </a:r>
            <a:r>
              <a:rPr lang="en-US" sz="2100" spc="42" dirty="0">
                <a:solidFill>
                  <a:srgbClr val="000000"/>
                </a:solidFill>
                <a:latin typeface="Telegraf"/>
              </a:rPr>
              <a:t> yang </a:t>
            </a:r>
            <a:r>
              <a:rPr lang="en-US" sz="2100" spc="42" dirty="0" err="1">
                <a:solidFill>
                  <a:srgbClr val="000000"/>
                </a:solidFill>
                <a:latin typeface="Telegraf"/>
              </a:rPr>
              <a:t>disesuaikan</a:t>
            </a:r>
            <a:r>
              <a:rPr lang="en-US" sz="2100" spc="42" dirty="0">
                <a:solidFill>
                  <a:srgbClr val="000000"/>
                </a:solidFill>
                <a:latin typeface="Telegraf"/>
              </a:rPr>
              <a:t> </a:t>
            </a:r>
            <a:r>
              <a:rPr lang="en-US" sz="2100" spc="42" dirty="0" err="1">
                <a:solidFill>
                  <a:srgbClr val="000000"/>
                </a:solidFill>
                <a:latin typeface="Telegraf"/>
              </a:rPr>
              <a:t>dengan</a:t>
            </a:r>
            <a:r>
              <a:rPr lang="en-US" sz="2100" spc="42" dirty="0">
                <a:solidFill>
                  <a:srgbClr val="000000"/>
                </a:solidFill>
                <a:latin typeface="Telegraf"/>
              </a:rPr>
              <a:t> </a:t>
            </a:r>
            <a:r>
              <a:rPr lang="en-US" sz="2100" spc="42" dirty="0" err="1">
                <a:solidFill>
                  <a:srgbClr val="000000"/>
                </a:solidFill>
                <a:latin typeface="Telegraf"/>
              </a:rPr>
              <a:t>kebutuhan</a:t>
            </a:r>
            <a:r>
              <a:rPr lang="en-US" sz="2100" spc="42" dirty="0">
                <a:solidFill>
                  <a:srgbClr val="000000"/>
                </a:solidFill>
                <a:latin typeface="Telegraf"/>
              </a:rPr>
              <a:t> Perusahaan dan </a:t>
            </a:r>
            <a:r>
              <a:rPr lang="en-US" sz="2100" spc="42" dirty="0" err="1">
                <a:solidFill>
                  <a:srgbClr val="000000"/>
                </a:solidFill>
                <a:latin typeface="Telegraf"/>
              </a:rPr>
              <a:t>kompleksitas</a:t>
            </a:r>
            <a:r>
              <a:rPr lang="en-US" sz="2100" spc="42" dirty="0">
                <a:solidFill>
                  <a:srgbClr val="000000"/>
                </a:solidFill>
                <a:latin typeface="Telegraf"/>
              </a:rPr>
              <a:t>    </a:t>
            </a:r>
            <a:r>
              <a:rPr lang="en-US" sz="2100" spc="42" dirty="0" err="1">
                <a:solidFill>
                  <a:srgbClr val="000000"/>
                </a:solidFill>
                <a:latin typeface="Telegraf"/>
              </a:rPr>
              <a:t>organisasi</a:t>
            </a:r>
            <a:r>
              <a:rPr lang="en-US" sz="2100" spc="42" dirty="0">
                <a:solidFill>
                  <a:srgbClr val="000000"/>
                </a:solidFill>
                <a:latin typeface="Telegraf"/>
              </a:rPr>
              <a:t> Perusahaan</a:t>
            </a:r>
          </a:p>
          <a:p>
            <a:pPr marL="800100" lvl="1" indent="-342900">
              <a:lnSpc>
                <a:spcPts val="2940"/>
              </a:lnSpc>
              <a:buFont typeface="Arial" panose="020B0604020202020204" pitchFamily="34" charset="0"/>
              <a:buChar char="•"/>
            </a:pPr>
            <a:endParaRPr lang="en-US" sz="2100" spc="42" dirty="0">
              <a:solidFill>
                <a:srgbClr val="000000"/>
              </a:solidFill>
              <a:latin typeface="Telegraf"/>
            </a:endParaRPr>
          </a:p>
          <a:p>
            <a:pPr marL="800100" lvl="1" indent="-342900">
              <a:lnSpc>
                <a:spcPts val="2940"/>
              </a:lnSpc>
              <a:buFont typeface="Arial" panose="020B0604020202020204" pitchFamily="34" charset="0"/>
              <a:buChar char="•"/>
            </a:pPr>
            <a:r>
              <a:rPr lang="en-US" sz="2100" spc="42" dirty="0" err="1">
                <a:solidFill>
                  <a:srgbClr val="000000"/>
                </a:solidFill>
                <a:latin typeface="Telegraf"/>
              </a:rPr>
              <a:t>Tahapan</a:t>
            </a:r>
            <a:r>
              <a:rPr lang="en-US" sz="2100" spc="42" dirty="0">
                <a:solidFill>
                  <a:srgbClr val="000000"/>
                </a:solidFill>
                <a:latin typeface="Telegraf"/>
              </a:rPr>
              <a:t> dan </a:t>
            </a:r>
            <a:r>
              <a:rPr lang="en-US" sz="2100" spc="42" dirty="0" err="1">
                <a:solidFill>
                  <a:srgbClr val="000000"/>
                </a:solidFill>
                <a:latin typeface="Telegraf"/>
              </a:rPr>
              <a:t>waktu</a:t>
            </a:r>
            <a:r>
              <a:rPr lang="en-US" sz="2100" spc="42" dirty="0">
                <a:solidFill>
                  <a:srgbClr val="000000"/>
                </a:solidFill>
                <a:latin typeface="Telegraf"/>
              </a:rPr>
              <a:t> </a:t>
            </a:r>
            <a:r>
              <a:rPr lang="en-US" sz="2100" spc="42" dirty="0" err="1">
                <a:solidFill>
                  <a:srgbClr val="000000"/>
                </a:solidFill>
                <a:latin typeface="Telegraf"/>
              </a:rPr>
              <a:t>penyelenggaraan</a:t>
            </a:r>
            <a:r>
              <a:rPr lang="en-US" sz="2100" spc="42" dirty="0">
                <a:solidFill>
                  <a:srgbClr val="000000"/>
                </a:solidFill>
                <a:latin typeface="Telegraf"/>
              </a:rPr>
              <a:t> paling </a:t>
            </a:r>
            <a:r>
              <a:rPr lang="en-US" sz="2100" spc="42" dirty="0" err="1">
                <a:solidFill>
                  <a:srgbClr val="000000"/>
                </a:solidFill>
                <a:latin typeface="Telegraf"/>
              </a:rPr>
              <a:t>sedikit</a:t>
            </a:r>
            <a:r>
              <a:rPr lang="en-US" sz="2100" spc="42" dirty="0">
                <a:solidFill>
                  <a:srgbClr val="000000"/>
                </a:solidFill>
                <a:latin typeface="Telegraf"/>
              </a:rPr>
              <a:t> 1 (</a:t>
            </a:r>
            <a:r>
              <a:rPr lang="en-US" sz="2100" spc="42" dirty="0" err="1">
                <a:solidFill>
                  <a:srgbClr val="000000"/>
                </a:solidFill>
                <a:latin typeface="Telegraf"/>
              </a:rPr>
              <a:t>satu</a:t>
            </a:r>
            <a:r>
              <a:rPr lang="en-US" sz="2100" spc="42" dirty="0">
                <a:solidFill>
                  <a:srgbClr val="000000"/>
                </a:solidFill>
                <a:latin typeface="Telegraf"/>
              </a:rPr>
              <a:t>) kali </a:t>
            </a:r>
            <a:r>
              <a:rPr lang="en-US" sz="2100" spc="42" dirty="0" err="1">
                <a:solidFill>
                  <a:srgbClr val="000000"/>
                </a:solidFill>
                <a:latin typeface="Telegraf"/>
              </a:rPr>
              <a:t>dalam</a:t>
            </a:r>
            <a:r>
              <a:rPr lang="en-US" sz="2100" spc="42" dirty="0">
                <a:solidFill>
                  <a:srgbClr val="000000"/>
                </a:solidFill>
                <a:latin typeface="Telegraf"/>
              </a:rPr>
              <a:t> 1 (</a:t>
            </a:r>
            <a:r>
              <a:rPr lang="en-US" sz="2100" spc="42" dirty="0" err="1">
                <a:solidFill>
                  <a:srgbClr val="000000"/>
                </a:solidFill>
                <a:latin typeface="Telegraf"/>
              </a:rPr>
              <a:t>satu</a:t>
            </a:r>
            <a:r>
              <a:rPr lang="en-US" sz="2100" spc="42" dirty="0">
                <a:solidFill>
                  <a:srgbClr val="000000"/>
                </a:solidFill>
                <a:latin typeface="Telegraf"/>
              </a:rPr>
              <a:t>) </a:t>
            </a:r>
            <a:r>
              <a:rPr lang="en-US" sz="2100" spc="42" dirty="0" err="1">
                <a:solidFill>
                  <a:srgbClr val="000000"/>
                </a:solidFill>
                <a:latin typeface="Telegraf"/>
              </a:rPr>
              <a:t>tahun</a:t>
            </a: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a:p>
            <a:pPr>
              <a:lnSpc>
                <a:spcPts val="2940"/>
              </a:lnSpc>
            </a:pPr>
            <a:endParaRPr lang="en-US" sz="2100" spc="42" dirty="0">
              <a:solidFill>
                <a:srgbClr val="000000"/>
              </a:solidFill>
              <a:latin typeface="Telegraf"/>
            </a:endParaRPr>
          </a:p>
        </p:txBody>
      </p:sp>
      <p:pic>
        <p:nvPicPr>
          <p:cNvPr id="3" name="Picture 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62864" y="0"/>
            <a:ext cx="2861656" cy="10287000"/>
          </a:xfrm>
          <a:prstGeom prst="rect">
            <a:avLst/>
          </a:prstGeom>
        </p:spPr>
      </p:pic>
      <p:sp>
        <p:nvSpPr>
          <p:cNvPr id="4" name="TextBox 4"/>
          <p:cNvSpPr txBox="1"/>
          <p:nvPr/>
        </p:nvSpPr>
        <p:spPr>
          <a:xfrm>
            <a:off x="15247950" y="981778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Bold"/>
              </a:rPr>
              <a:t>20</a:t>
            </a:r>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2457609" y="4415730"/>
            <a:ext cx="14370239"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PRINSIP PENERAPAN ANTI FRAUD</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21</a:t>
            </a:r>
          </a:p>
        </p:txBody>
      </p:sp>
    </p:spTree>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1028700"/>
            <a:ext cx="9018409" cy="656378"/>
            <a:chOff x="0" y="0"/>
            <a:chExt cx="2375219" cy="172873"/>
          </a:xfrm>
        </p:grpSpPr>
        <p:sp>
          <p:nvSpPr>
            <p:cNvPr id="3" name="Freeform 3"/>
            <p:cNvSpPr/>
            <p:nvPr/>
          </p:nvSpPr>
          <p:spPr>
            <a:xfrm>
              <a:off x="0" y="0"/>
              <a:ext cx="2375219" cy="172873"/>
            </a:xfrm>
            <a:custGeom>
              <a:avLst/>
              <a:gdLst/>
              <a:ahLst/>
              <a:cxnLst/>
              <a:rect l="l" t="t" r="r" b="b"/>
              <a:pathLst>
                <a:path w="2375219" h="172873">
                  <a:moveTo>
                    <a:pt x="43781" y="0"/>
                  </a:moveTo>
                  <a:lnTo>
                    <a:pt x="2331438" y="0"/>
                  </a:lnTo>
                  <a:cubicBezTo>
                    <a:pt x="2343049" y="0"/>
                    <a:pt x="2354185" y="4613"/>
                    <a:pt x="2362396" y="12823"/>
                  </a:cubicBezTo>
                  <a:cubicBezTo>
                    <a:pt x="2370606" y="21034"/>
                    <a:pt x="2375219" y="32170"/>
                    <a:pt x="2375219" y="43781"/>
                  </a:cubicBezTo>
                  <a:lnTo>
                    <a:pt x="2375219" y="129092"/>
                  </a:lnTo>
                  <a:cubicBezTo>
                    <a:pt x="2375219" y="153272"/>
                    <a:pt x="2355617" y="172873"/>
                    <a:pt x="2331438" y="172873"/>
                  </a:cubicBezTo>
                  <a:lnTo>
                    <a:pt x="43781" y="172873"/>
                  </a:lnTo>
                  <a:cubicBezTo>
                    <a:pt x="19602" y="172873"/>
                    <a:pt x="0" y="153272"/>
                    <a:pt x="0" y="129092"/>
                  </a:cubicBezTo>
                  <a:lnTo>
                    <a:pt x="0" y="43781"/>
                  </a:lnTo>
                  <a:cubicBezTo>
                    <a:pt x="0" y="32170"/>
                    <a:pt x="4613" y="21034"/>
                    <a:pt x="12823" y="12823"/>
                  </a:cubicBezTo>
                  <a:cubicBezTo>
                    <a:pt x="21034" y="4613"/>
                    <a:pt x="32170" y="0"/>
                    <a:pt x="43781" y="0"/>
                  </a:cubicBezTo>
                  <a:close/>
                </a:path>
              </a:pathLst>
            </a:custGeom>
            <a:solidFill>
              <a:srgbClr val="F2F2F2"/>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259899" y="2192621"/>
            <a:ext cx="14268101" cy="2529840"/>
          </a:xfrm>
          <a:prstGeom prst="rect">
            <a:avLst/>
          </a:prstGeom>
        </p:spPr>
        <p:txBody>
          <a:bodyPr lIns="0" tIns="0" rIns="0" bIns="0" rtlCol="0" anchor="t">
            <a:spAutoFit/>
          </a:bodyPr>
          <a:lstStyle/>
          <a:p>
            <a:pPr>
              <a:lnSpc>
                <a:spcPts val="3359"/>
              </a:lnSpc>
            </a:pPr>
            <a:r>
              <a:rPr lang="en-US" sz="2399" spc="47">
                <a:solidFill>
                  <a:srgbClr val="000000"/>
                </a:solidFill>
                <a:latin typeface="Telegraf"/>
              </a:rPr>
              <a:t>Prinsip-prinsip yang harus dijalankan oleh Insan karyawan Perusahaan dalam mendukung penerapan Strategi Anti Fraud adalah sebagai berikut: </a:t>
            </a:r>
          </a:p>
          <a:p>
            <a:pPr>
              <a:lnSpc>
                <a:spcPts val="3359"/>
              </a:lnSpc>
            </a:pPr>
            <a:endParaRPr lang="en-US" sz="2399" spc="47">
              <a:solidFill>
                <a:srgbClr val="000000"/>
              </a:solidFill>
              <a:latin typeface="Telegraf"/>
            </a:endParaRPr>
          </a:p>
          <a:p>
            <a:pPr algn="l">
              <a:lnSpc>
                <a:spcPts val="3359"/>
              </a:lnSpc>
            </a:pPr>
            <a:endParaRPr lang="en-US" sz="2399" spc="47">
              <a:solidFill>
                <a:srgbClr val="000000"/>
              </a:solidFill>
              <a:latin typeface="Telegraf"/>
            </a:endParaRPr>
          </a:p>
          <a:p>
            <a:pPr>
              <a:lnSpc>
                <a:spcPts val="3359"/>
              </a:lnSpc>
            </a:pPr>
            <a:endParaRPr lang="en-US" sz="2399" spc="47">
              <a:solidFill>
                <a:srgbClr val="000000"/>
              </a:solidFill>
              <a:latin typeface="Telegraf"/>
            </a:endParaRPr>
          </a:p>
          <a:p>
            <a:pPr>
              <a:lnSpc>
                <a:spcPts val="3359"/>
              </a:lnSpc>
            </a:pPr>
            <a:endParaRPr lang="en-US" sz="2399" spc="47">
              <a:solidFill>
                <a:srgbClr val="000000"/>
              </a:solidFill>
              <a:latin typeface="Telegraf"/>
            </a:endParaRPr>
          </a:p>
        </p:txBody>
      </p:sp>
      <p:sp>
        <p:nvSpPr>
          <p:cNvPr id="6" name="TextBox 6"/>
          <p:cNvSpPr txBox="1"/>
          <p:nvPr/>
        </p:nvSpPr>
        <p:spPr>
          <a:xfrm>
            <a:off x="1259899" y="3741704"/>
            <a:ext cx="15999401" cy="5746253"/>
          </a:xfrm>
          <a:prstGeom prst="rect">
            <a:avLst/>
          </a:prstGeom>
        </p:spPr>
        <p:txBody>
          <a:bodyPr lIns="0" tIns="0" rIns="0" bIns="0" rtlCol="0" anchor="t">
            <a:spAutoFit/>
          </a:bodyPr>
          <a:lstStyle/>
          <a:p>
            <a:pPr>
              <a:lnSpc>
                <a:spcPts val="4320"/>
              </a:lnSpc>
              <a:spcBef>
                <a:spcPct val="0"/>
              </a:spcBef>
            </a:pPr>
            <a:r>
              <a:rPr lang="en-US" sz="3600" dirty="0">
                <a:solidFill>
                  <a:srgbClr val="000000"/>
                </a:solidFill>
                <a:latin typeface="DM Sans Bold"/>
              </a:rPr>
              <a:t>1. </a:t>
            </a:r>
            <a:r>
              <a:rPr lang="en-US" sz="3600" dirty="0" err="1">
                <a:solidFill>
                  <a:srgbClr val="000000"/>
                </a:solidFill>
                <a:latin typeface="DM Sans Bold"/>
              </a:rPr>
              <a:t>Prinsip</a:t>
            </a:r>
            <a:r>
              <a:rPr lang="en-US" sz="3600" dirty="0">
                <a:solidFill>
                  <a:srgbClr val="000000"/>
                </a:solidFill>
                <a:latin typeface="DM Sans Bold"/>
              </a:rPr>
              <a:t> Integrity</a:t>
            </a:r>
          </a:p>
          <a:p>
            <a:pPr>
              <a:lnSpc>
                <a:spcPts val="2879"/>
              </a:lnSpc>
              <a:spcBef>
                <a:spcPct val="0"/>
              </a:spcBef>
            </a:pPr>
            <a:endParaRPr lang="en-US" sz="3600" dirty="0">
              <a:solidFill>
                <a:srgbClr val="000000"/>
              </a:solidFill>
              <a:latin typeface="DM Sans Bold"/>
            </a:endParaRPr>
          </a:p>
          <a:p>
            <a:pPr marL="914400" lvl="1" indent="-457200">
              <a:lnSpc>
                <a:spcPts val="2879"/>
              </a:lnSpc>
              <a:spcBef>
                <a:spcPct val="0"/>
              </a:spcBef>
              <a:buFont typeface="+mj-lt"/>
              <a:buAutoNum type="alphaLcPeriod"/>
            </a:pPr>
            <a:r>
              <a:rPr lang="en-US" sz="2400" dirty="0" err="1">
                <a:solidFill>
                  <a:srgbClr val="000000"/>
                </a:solidFill>
                <a:latin typeface="Telegraf"/>
              </a:rPr>
              <a:t>Jujur</a:t>
            </a:r>
            <a:r>
              <a:rPr lang="en-US" sz="2400" dirty="0">
                <a:solidFill>
                  <a:srgbClr val="000000"/>
                </a:solidFill>
                <a:latin typeface="Telegraf"/>
              </a:rPr>
              <a:t> (</a:t>
            </a:r>
            <a:r>
              <a:rPr lang="en-US" sz="2400" dirty="0" err="1">
                <a:solidFill>
                  <a:srgbClr val="000000"/>
                </a:solidFill>
                <a:latin typeface="Telegraf"/>
              </a:rPr>
              <a:t>Bersikap</a:t>
            </a:r>
            <a:r>
              <a:rPr lang="en-US" sz="2400" dirty="0">
                <a:solidFill>
                  <a:srgbClr val="000000"/>
                </a:solidFill>
                <a:latin typeface="Telegraf"/>
              </a:rPr>
              <a:t> &amp; </a:t>
            </a:r>
            <a:r>
              <a:rPr lang="en-US" sz="2400" dirty="0" err="1">
                <a:solidFill>
                  <a:srgbClr val="000000"/>
                </a:solidFill>
                <a:latin typeface="Telegraf"/>
              </a:rPr>
              <a:t>berperilaku</a:t>
            </a:r>
            <a:r>
              <a:rPr lang="en-US" sz="2400" dirty="0">
                <a:solidFill>
                  <a:srgbClr val="000000"/>
                </a:solidFill>
                <a:latin typeface="Telegraf"/>
              </a:rPr>
              <a:t> </a:t>
            </a:r>
            <a:r>
              <a:rPr lang="en-US" sz="2400" dirty="0" err="1">
                <a:solidFill>
                  <a:srgbClr val="000000"/>
                </a:solidFill>
                <a:latin typeface="Telegraf"/>
              </a:rPr>
              <a:t>jujur</a:t>
            </a:r>
            <a:r>
              <a:rPr lang="en-US" sz="2400" dirty="0">
                <a:solidFill>
                  <a:srgbClr val="000000"/>
                </a:solidFill>
                <a:latin typeface="Telegraf"/>
              </a:rPr>
              <a:t> </a:t>
            </a:r>
            <a:r>
              <a:rPr lang="en-US" sz="2400" dirty="0" err="1">
                <a:solidFill>
                  <a:srgbClr val="000000"/>
                </a:solidFill>
                <a:latin typeface="Telegraf"/>
              </a:rPr>
              <a:t>terhadap</a:t>
            </a:r>
            <a:r>
              <a:rPr lang="en-US" sz="2400" dirty="0">
                <a:solidFill>
                  <a:srgbClr val="000000"/>
                </a:solidFill>
                <a:latin typeface="Telegraf"/>
              </a:rPr>
              <a:t> </a:t>
            </a:r>
            <a:r>
              <a:rPr lang="en-US" sz="2400" dirty="0" err="1">
                <a:solidFill>
                  <a:srgbClr val="000000"/>
                </a:solidFill>
                <a:latin typeface="Telegraf"/>
              </a:rPr>
              <a:t>setiap</a:t>
            </a:r>
            <a:r>
              <a:rPr lang="en-US" sz="2400" dirty="0">
                <a:solidFill>
                  <a:srgbClr val="000000"/>
                </a:solidFill>
                <a:latin typeface="Telegraf"/>
              </a:rPr>
              <a:t> </a:t>
            </a:r>
            <a:r>
              <a:rPr lang="en-US" sz="2400" dirty="0" err="1">
                <a:solidFill>
                  <a:srgbClr val="000000"/>
                </a:solidFill>
                <a:latin typeface="Telegraf"/>
              </a:rPr>
              <a:t>ketentuan</a:t>
            </a:r>
            <a:r>
              <a:rPr lang="en-US" sz="2400" dirty="0">
                <a:solidFill>
                  <a:srgbClr val="000000"/>
                </a:solidFill>
                <a:latin typeface="Telegraf"/>
              </a:rPr>
              <a:t> yang </a:t>
            </a:r>
            <a:r>
              <a:rPr lang="en-US" sz="2400" dirty="0" err="1">
                <a:solidFill>
                  <a:srgbClr val="000000"/>
                </a:solidFill>
                <a:latin typeface="Telegraf"/>
              </a:rPr>
              <a:t>berlaku</a:t>
            </a:r>
            <a:r>
              <a:rPr lang="en-US" sz="2400" dirty="0">
                <a:solidFill>
                  <a:srgbClr val="000000"/>
                </a:solidFill>
                <a:latin typeface="Telegraf"/>
              </a:rPr>
              <a:t> di </a:t>
            </a:r>
            <a:r>
              <a:rPr lang="en-US" sz="2400" dirty="0" err="1">
                <a:solidFill>
                  <a:srgbClr val="000000"/>
                </a:solidFill>
                <a:latin typeface="Telegraf"/>
              </a:rPr>
              <a:t>perusahaan</a:t>
            </a:r>
            <a:r>
              <a:rPr lang="en-US" sz="2400" dirty="0">
                <a:solidFill>
                  <a:srgbClr val="000000"/>
                </a:solidFill>
                <a:latin typeface="Telegraf"/>
              </a:rPr>
              <a:t>, </a:t>
            </a: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merugikan</a:t>
            </a:r>
            <a:r>
              <a:rPr lang="en-US" sz="2400" dirty="0">
                <a:solidFill>
                  <a:srgbClr val="000000"/>
                </a:solidFill>
                <a:latin typeface="Telegraf"/>
              </a:rPr>
              <a:t> </a:t>
            </a:r>
            <a:r>
              <a:rPr lang="en-US" sz="2400" dirty="0" err="1">
                <a:solidFill>
                  <a:srgbClr val="000000"/>
                </a:solidFill>
                <a:latin typeface="Telegraf"/>
              </a:rPr>
              <a:t>perusahaan</a:t>
            </a:r>
            <a:r>
              <a:rPr lang="en-US" sz="2400" dirty="0">
                <a:solidFill>
                  <a:srgbClr val="000000"/>
                </a:solidFill>
                <a:latin typeface="Telegraf"/>
              </a:rPr>
              <a:t>, </a:t>
            </a:r>
            <a:r>
              <a:rPr lang="en-US" sz="2400" dirty="0" err="1">
                <a:solidFill>
                  <a:srgbClr val="000000"/>
                </a:solidFill>
                <a:latin typeface="Telegraf"/>
              </a:rPr>
              <a:t>berani</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melaporkan</a:t>
            </a:r>
            <a:r>
              <a:rPr lang="en-US" sz="2400" dirty="0">
                <a:solidFill>
                  <a:srgbClr val="000000"/>
                </a:solidFill>
                <a:latin typeface="Telegraf"/>
              </a:rPr>
              <a:t> </a:t>
            </a:r>
            <a:r>
              <a:rPr lang="en-US" sz="2400" dirty="0" err="1">
                <a:solidFill>
                  <a:srgbClr val="000000"/>
                </a:solidFill>
                <a:latin typeface="Telegraf"/>
              </a:rPr>
              <a:t>segala</a:t>
            </a:r>
            <a:r>
              <a:rPr lang="en-US" sz="2400" dirty="0">
                <a:solidFill>
                  <a:srgbClr val="000000"/>
                </a:solidFill>
                <a:latin typeface="Telegraf"/>
              </a:rPr>
              <a:t> </a:t>
            </a:r>
            <a:r>
              <a:rPr lang="en-US" sz="2400" dirty="0" err="1">
                <a:solidFill>
                  <a:srgbClr val="000000"/>
                </a:solidFill>
                <a:latin typeface="Telegraf"/>
              </a:rPr>
              <a:t>bentuk</a:t>
            </a:r>
            <a:r>
              <a:rPr lang="en-US" sz="2400" dirty="0">
                <a:solidFill>
                  <a:srgbClr val="000000"/>
                </a:solidFill>
                <a:latin typeface="Telegraf"/>
              </a:rPr>
              <a:t> </a:t>
            </a:r>
            <a:r>
              <a:rPr lang="en-US" sz="2400" dirty="0" err="1">
                <a:solidFill>
                  <a:srgbClr val="000000"/>
                </a:solidFill>
                <a:latin typeface="Telegraf"/>
              </a:rPr>
              <a:t>ketidakjujuran</a:t>
            </a:r>
            <a:r>
              <a:rPr lang="en-US" sz="2400" dirty="0">
                <a:solidFill>
                  <a:srgbClr val="000000"/>
                </a:solidFill>
                <a:latin typeface="Telegraf"/>
              </a:rPr>
              <a:t>, </a:t>
            </a:r>
            <a:r>
              <a:rPr lang="en-US" sz="2400" dirty="0" err="1">
                <a:solidFill>
                  <a:srgbClr val="000000"/>
                </a:solidFill>
                <a:latin typeface="Telegraf"/>
              </a:rPr>
              <a:t>kecurangan</a:t>
            </a:r>
            <a:r>
              <a:rPr lang="en-US" sz="2400" dirty="0">
                <a:solidFill>
                  <a:srgbClr val="000000"/>
                </a:solidFill>
                <a:latin typeface="Telegraf"/>
              </a:rPr>
              <a:t>, fraud yang </a:t>
            </a:r>
            <a:r>
              <a:rPr lang="en-US" sz="2400" dirty="0" err="1">
                <a:solidFill>
                  <a:srgbClr val="000000"/>
                </a:solidFill>
                <a:latin typeface="Telegraf"/>
              </a:rPr>
              <a:t>dilihatnya</a:t>
            </a:r>
            <a:r>
              <a:rPr lang="en-US" sz="2400" dirty="0">
                <a:solidFill>
                  <a:srgbClr val="000000"/>
                </a:solidFill>
                <a:latin typeface="Telegraf"/>
              </a:rPr>
              <a:t>, </a:t>
            </a:r>
            <a:r>
              <a:rPr lang="en-US" sz="2400" dirty="0" err="1">
                <a:solidFill>
                  <a:srgbClr val="000000"/>
                </a:solidFill>
                <a:latin typeface="Telegraf"/>
              </a:rPr>
              <a:t>serta</a:t>
            </a:r>
            <a:r>
              <a:rPr lang="en-US" sz="2400" dirty="0">
                <a:solidFill>
                  <a:srgbClr val="000000"/>
                </a:solidFill>
                <a:latin typeface="Telegraf"/>
              </a:rPr>
              <a:t> </a:t>
            </a:r>
            <a:r>
              <a:rPr lang="en-US" sz="2400" dirty="0" err="1">
                <a:solidFill>
                  <a:srgbClr val="000000"/>
                </a:solidFill>
                <a:latin typeface="Telegraf"/>
              </a:rPr>
              <a:t>mendukung</a:t>
            </a:r>
            <a:r>
              <a:rPr lang="en-US" sz="2400" dirty="0">
                <a:solidFill>
                  <a:srgbClr val="000000"/>
                </a:solidFill>
                <a:latin typeface="Telegraf"/>
              </a:rPr>
              <a:t> </a:t>
            </a:r>
            <a:r>
              <a:rPr lang="en-US" sz="2400" dirty="0" err="1">
                <a:solidFill>
                  <a:srgbClr val="000000"/>
                </a:solidFill>
                <a:latin typeface="Telegraf"/>
              </a:rPr>
              <a:t>sepenuhnya</a:t>
            </a:r>
            <a:r>
              <a:rPr lang="en-US" sz="2400" dirty="0">
                <a:solidFill>
                  <a:srgbClr val="000000"/>
                </a:solidFill>
                <a:latin typeface="Telegraf"/>
              </a:rPr>
              <a:t> </a:t>
            </a:r>
            <a:r>
              <a:rPr lang="en-US" sz="2400" dirty="0" err="1">
                <a:solidFill>
                  <a:srgbClr val="000000"/>
                </a:solidFill>
                <a:latin typeface="Telegraf"/>
              </a:rPr>
              <a:t>terhadap</a:t>
            </a:r>
            <a:r>
              <a:rPr lang="en-US" sz="2400" dirty="0">
                <a:solidFill>
                  <a:srgbClr val="000000"/>
                </a:solidFill>
                <a:latin typeface="Telegraf"/>
              </a:rPr>
              <a:t> </a:t>
            </a:r>
            <a:r>
              <a:rPr lang="en-US" sz="2400" dirty="0" err="1">
                <a:solidFill>
                  <a:srgbClr val="000000"/>
                </a:solidFill>
                <a:latin typeface="Telegraf"/>
              </a:rPr>
              <a:t>tercapainya</a:t>
            </a:r>
            <a:r>
              <a:rPr lang="en-US" sz="2400" dirty="0">
                <a:solidFill>
                  <a:srgbClr val="000000"/>
                </a:solidFill>
                <a:latin typeface="Telegraf"/>
              </a:rPr>
              <a:t> </a:t>
            </a:r>
            <a:r>
              <a:rPr lang="en-US" sz="2400" dirty="0" err="1">
                <a:solidFill>
                  <a:srgbClr val="000000"/>
                </a:solidFill>
                <a:latin typeface="Telegraf"/>
              </a:rPr>
              <a:t>visi</a:t>
            </a:r>
            <a:r>
              <a:rPr lang="en-US" sz="2400" dirty="0">
                <a:solidFill>
                  <a:srgbClr val="000000"/>
                </a:solidFill>
                <a:latin typeface="Telegraf"/>
              </a:rPr>
              <a:t> dan </a:t>
            </a:r>
            <a:r>
              <a:rPr lang="en-US" sz="2400" dirty="0" err="1">
                <a:solidFill>
                  <a:srgbClr val="000000"/>
                </a:solidFill>
                <a:latin typeface="Telegraf"/>
              </a:rPr>
              <a:t>misi</a:t>
            </a:r>
            <a:r>
              <a:rPr lang="en-US" sz="2400" dirty="0">
                <a:solidFill>
                  <a:srgbClr val="000000"/>
                </a:solidFill>
                <a:latin typeface="Telegraf"/>
              </a:rPr>
              <a:t> </a:t>
            </a:r>
            <a:r>
              <a:rPr lang="en-US" sz="2400" dirty="0" err="1">
                <a:solidFill>
                  <a:srgbClr val="000000"/>
                </a:solidFill>
                <a:latin typeface="Telegraf"/>
              </a:rPr>
              <a:t>perusahaan</a:t>
            </a:r>
            <a:r>
              <a:rPr lang="en-US" sz="2400" dirty="0">
                <a:solidFill>
                  <a:srgbClr val="000000"/>
                </a:solidFill>
                <a:latin typeface="Telegraf"/>
              </a:rPr>
              <a:t>)</a:t>
            </a:r>
          </a:p>
          <a:p>
            <a:pPr marL="914400" lvl="1" indent="-457200">
              <a:lnSpc>
                <a:spcPts val="2879"/>
              </a:lnSpc>
              <a:spcBef>
                <a:spcPct val="0"/>
              </a:spcBef>
              <a:buFont typeface="+mj-lt"/>
              <a:buAutoNum type="alphaLcPeriod"/>
            </a:pPr>
            <a:endParaRPr lang="en-US" sz="2400" dirty="0">
              <a:solidFill>
                <a:srgbClr val="000000"/>
              </a:solidFill>
              <a:latin typeface="Telegraf"/>
            </a:endParaRPr>
          </a:p>
          <a:p>
            <a:pPr marL="914400" lvl="1" indent="-457200">
              <a:lnSpc>
                <a:spcPts val="2879"/>
              </a:lnSpc>
              <a:spcBef>
                <a:spcPct val="0"/>
              </a:spcBef>
              <a:buFont typeface="+mj-lt"/>
              <a:buAutoNum type="alphaLcPeriod"/>
            </a:pPr>
            <a:r>
              <a:rPr lang="en-US" sz="2400" dirty="0" err="1">
                <a:solidFill>
                  <a:srgbClr val="000000"/>
                </a:solidFill>
                <a:latin typeface="Telegraf"/>
              </a:rPr>
              <a:t>Mematuhi</a:t>
            </a:r>
            <a:r>
              <a:rPr lang="en-US" sz="2400" dirty="0">
                <a:solidFill>
                  <a:srgbClr val="000000"/>
                </a:solidFill>
                <a:latin typeface="Telegraf"/>
              </a:rPr>
              <a:t> </a:t>
            </a:r>
            <a:r>
              <a:rPr lang="en-US" sz="2400" dirty="0" err="1">
                <a:solidFill>
                  <a:srgbClr val="000000"/>
                </a:solidFill>
                <a:latin typeface="Telegraf"/>
              </a:rPr>
              <a:t>peraturan</a:t>
            </a:r>
            <a:r>
              <a:rPr lang="en-US" sz="2400" dirty="0">
                <a:solidFill>
                  <a:srgbClr val="000000"/>
                </a:solidFill>
                <a:latin typeface="Telegraf"/>
              </a:rPr>
              <a:t>, </a:t>
            </a:r>
            <a:r>
              <a:rPr lang="en-US" sz="2400" dirty="0" err="1">
                <a:solidFill>
                  <a:srgbClr val="000000"/>
                </a:solidFill>
                <a:latin typeface="Telegraf"/>
              </a:rPr>
              <a:t>memenuhi</a:t>
            </a:r>
            <a:r>
              <a:rPr lang="en-US" sz="2400" dirty="0">
                <a:solidFill>
                  <a:srgbClr val="000000"/>
                </a:solidFill>
                <a:latin typeface="Telegraf"/>
              </a:rPr>
              <a:t> </a:t>
            </a:r>
            <a:r>
              <a:rPr lang="en-US" sz="2400" dirty="0" err="1">
                <a:solidFill>
                  <a:srgbClr val="000000"/>
                </a:solidFill>
                <a:latin typeface="Telegraf"/>
              </a:rPr>
              <a:t>janji</a:t>
            </a:r>
            <a:r>
              <a:rPr lang="en-US" sz="2400" dirty="0">
                <a:solidFill>
                  <a:srgbClr val="000000"/>
                </a:solidFill>
                <a:latin typeface="Telegraf"/>
              </a:rPr>
              <a:t> dan </a:t>
            </a:r>
            <a:r>
              <a:rPr lang="en-US" sz="2400" dirty="0" err="1">
                <a:solidFill>
                  <a:srgbClr val="000000"/>
                </a:solidFill>
                <a:latin typeface="Telegraf"/>
              </a:rPr>
              <a:t>komitment</a:t>
            </a:r>
            <a:endParaRPr lang="en-US" sz="2400" dirty="0">
              <a:solidFill>
                <a:srgbClr val="000000"/>
              </a:solidFill>
              <a:latin typeface="Telegraf"/>
            </a:endParaRPr>
          </a:p>
          <a:p>
            <a:pPr marL="914400" lvl="1" indent="-457200">
              <a:lnSpc>
                <a:spcPts val="2879"/>
              </a:lnSpc>
              <a:spcBef>
                <a:spcPct val="0"/>
              </a:spcBef>
              <a:buFont typeface="+mj-lt"/>
              <a:buAutoNum type="alphaLcPeriod"/>
            </a:pPr>
            <a:endParaRPr lang="en-US" sz="2400" dirty="0">
              <a:solidFill>
                <a:srgbClr val="000000"/>
              </a:solidFill>
              <a:latin typeface="Telegraf"/>
            </a:endParaRPr>
          </a:p>
          <a:p>
            <a:pPr marL="914400" lvl="1" indent="-457200">
              <a:lnSpc>
                <a:spcPts val="2879"/>
              </a:lnSpc>
              <a:spcBef>
                <a:spcPct val="0"/>
              </a:spcBef>
              <a:buFont typeface="+mj-lt"/>
              <a:buAutoNum type="alphaLcPeriod"/>
            </a:pPr>
            <a:r>
              <a:rPr lang="en-US" sz="2400" dirty="0" err="1">
                <a:solidFill>
                  <a:srgbClr val="000000"/>
                </a:solidFill>
                <a:latin typeface="Telegraf"/>
              </a:rPr>
              <a:t>Disiplin</a:t>
            </a:r>
            <a:r>
              <a:rPr lang="en-US" sz="2400" dirty="0">
                <a:solidFill>
                  <a:srgbClr val="000000"/>
                </a:solidFill>
                <a:latin typeface="Telegraf"/>
              </a:rPr>
              <a:t> dan </a:t>
            </a:r>
            <a:r>
              <a:rPr lang="en-US" sz="2400" dirty="0" err="1">
                <a:solidFill>
                  <a:srgbClr val="000000"/>
                </a:solidFill>
                <a:latin typeface="Telegraf"/>
              </a:rPr>
              <a:t>tepat</a:t>
            </a:r>
            <a:r>
              <a:rPr lang="en-US" sz="2400" dirty="0">
                <a:solidFill>
                  <a:srgbClr val="000000"/>
                </a:solidFill>
                <a:latin typeface="Telegraf"/>
              </a:rPr>
              <a:t> </a:t>
            </a:r>
            <a:r>
              <a:rPr lang="en-US" sz="2400" dirty="0" err="1">
                <a:solidFill>
                  <a:srgbClr val="000000"/>
                </a:solidFill>
                <a:latin typeface="Telegraf"/>
              </a:rPr>
              <a:t>waktu</a:t>
            </a:r>
            <a:endParaRPr lang="en-US" sz="2400" dirty="0">
              <a:solidFill>
                <a:srgbClr val="000000"/>
              </a:solidFill>
              <a:latin typeface="Telegraf"/>
            </a:endParaRPr>
          </a:p>
          <a:p>
            <a:pPr marL="914400" lvl="1" indent="-457200">
              <a:lnSpc>
                <a:spcPts val="2879"/>
              </a:lnSpc>
              <a:spcBef>
                <a:spcPct val="0"/>
              </a:spcBef>
              <a:buFont typeface="+mj-lt"/>
              <a:buAutoNum type="alphaLcPeriod"/>
            </a:pPr>
            <a:endParaRPr lang="en-US" sz="2400" dirty="0">
              <a:solidFill>
                <a:srgbClr val="000000"/>
              </a:solidFill>
              <a:latin typeface="Telegraf"/>
            </a:endParaRPr>
          </a:p>
          <a:p>
            <a:pPr marL="914400" lvl="1" indent="-457200">
              <a:lnSpc>
                <a:spcPts val="2879"/>
              </a:lnSpc>
              <a:spcBef>
                <a:spcPct val="0"/>
              </a:spcBef>
              <a:buFont typeface="+mj-lt"/>
              <a:buAutoNum type="alphaLcPeriod"/>
            </a:pPr>
            <a:r>
              <a:rPr lang="en-US" sz="2400" dirty="0" err="1">
                <a:solidFill>
                  <a:srgbClr val="000000"/>
                </a:solidFill>
                <a:latin typeface="Telegraf"/>
              </a:rPr>
              <a:t>Menjaga</a:t>
            </a:r>
            <a:r>
              <a:rPr lang="en-US" sz="2400" dirty="0">
                <a:solidFill>
                  <a:srgbClr val="000000"/>
                </a:solidFill>
                <a:latin typeface="Telegraf"/>
              </a:rPr>
              <a:t> </a:t>
            </a:r>
            <a:r>
              <a:rPr lang="en-US" sz="2400" dirty="0" err="1">
                <a:solidFill>
                  <a:srgbClr val="000000"/>
                </a:solidFill>
                <a:latin typeface="Telegraf"/>
              </a:rPr>
              <a:t>ucapan</a:t>
            </a:r>
            <a:r>
              <a:rPr lang="en-US" sz="2400" dirty="0">
                <a:solidFill>
                  <a:srgbClr val="000000"/>
                </a:solidFill>
                <a:latin typeface="Telegraf"/>
              </a:rPr>
              <a:t> dan </a:t>
            </a:r>
            <a:r>
              <a:rPr lang="en-US" sz="2400" dirty="0" err="1">
                <a:solidFill>
                  <a:srgbClr val="000000"/>
                </a:solidFill>
                <a:latin typeface="Telegraf"/>
              </a:rPr>
              <a:t>perbuatan</a:t>
            </a:r>
            <a:endParaRPr lang="en-US" sz="2400" dirty="0">
              <a:solidFill>
                <a:srgbClr val="000000"/>
              </a:solidFill>
              <a:latin typeface="Telegraf"/>
            </a:endParaRPr>
          </a:p>
          <a:p>
            <a:pPr marL="914400" lvl="1" indent="-457200">
              <a:lnSpc>
                <a:spcPts val="2879"/>
              </a:lnSpc>
              <a:spcBef>
                <a:spcPct val="0"/>
              </a:spcBef>
              <a:buFont typeface="+mj-lt"/>
              <a:buAutoNum type="alphaLcPeriod"/>
            </a:pPr>
            <a:endParaRPr lang="en-US" sz="2400" dirty="0">
              <a:solidFill>
                <a:srgbClr val="000000"/>
              </a:solidFill>
              <a:latin typeface="Telegraf"/>
            </a:endParaRPr>
          </a:p>
          <a:p>
            <a:pPr marL="914400" lvl="1" indent="-457200">
              <a:lnSpc>
                <a:spcPts val="2879"/>
              </a:lnSpc>
              <a:spcBef>
                <a:spcPct val="0"/>
              </a:spcBef>
              <a:buFont typeface="+mj-lt"/>
              <a:buAutoNum type="alphaLcPeriod"/>
            </a:pPr>
            <a:r>
              <a:rPr lang="en-US" sz="2400" dirty="0" err="1">
                <a:solidFill>
                  <a:srgbClr val="000000"/>
                </a:solidFill>
                <a:latin typeface="Telegraf"/>
              </a:rPr>
              <a:t>Dapat</a:t>
            </a:r>
            <a:r>
              <a:rPr lang="en-US" sz="2400" dirty="0">
                <a:solidFill>
                  <a:srgbClr val="000000"/>
                </a:solidFill>
                <a:latin typeface="Telegraf"/>
              </a:rPr>
              <a:t> </a:t>
            </a:r>
            <a:r>
              <a:rPr lang="en-US" sz="2400" dirty="0" err="1">
                <a:solidFill>
                  <a:srgbClr val="000000"/>
                </a:solidFill>
                <a:latin typeface="Telegraf"/>
              </a:rPr>
              <a:t>dipercaya</a:t>
            </a:r>
            <a:r>
              <a:rPr lang="en-US" sz="2400" dirty="0">
                <a:solidFill>
                  <a:srgbClr val="000000"/>
                </a:solidFill>
                <a:latin typeface="Telegraf"/>
              </a:rPr>
              <a:t> dan </a:t>
            </a:r>
            <a:r>
              <a:rPr lang="en-US" sz="2400" dirty="0" err="1">
                <a:solidFill>
                  <a:srgbClr val="000000"/>
                </a:solidFill>
                <a:latin typeface="Telegraf"/>
              </a:rPr>
              <a:t>teguh</a:t>
            </a:r>
            <a:r>
              <a:rPr lang="en-US" sz="2400" dirty="0">
                <a:solidFill>
                  <a:srgbClr val="000000"/>
                </a:solidFill>
                <a:latin typeface="Telegraf"/>
              </a:rPr>
              <a:t> </a:t>
            </a:r>
            <a:r>
              <a:rPr lang="en-US" sz="2400" dirty="0" err="1">
                <a:solidFill>
                  <a:srgbClr val="000000"/>
                </a:solidFill>
                <a:latin typeface="Telegraf"/>
              </a:rPr>
              <a:t>mempertahankan</a:t>
            </a:r>
            <a:r>
              <a:rPr lang="en-US" sz="2400" dirty="0">
                <a:solidFill>
                  <a:srgbClr val="000000"/>
                </a:solidFill>
                <a:latin typeface="Telegraf"/>
              </a:rPr>
              <a:t> </a:t>
            </a:r>
            <a:r>
              <a:rPr lang="en-US" sz="2400" dirty="0" err="1">
                <a:solidFill>
                  <a:srgbClr val="000000"/>
                </a:solidFill>
                <a:latin typeface="Telegraf"/>
              </a:rPr>
              <a:t>prinsip</a:t>
            </a: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p:txBody>
      </p:sp>
      <p:pic>
        <p:nvPicPr>
          <p:cNvPr id="7" name="Picture 7"/>
          <p:cNvPicPr>
            <a:picLocks noChangeAspect="1"/>
          </p:cNvPicPr>
          <p:nvPr/>
        </p:nvPicPr>
        <p:blipFill>
          <a:blip r:embed="rId2">
            <a:alphaModFix amt="44999"/>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4542404" y="0"/>
            <a:ext cx="4160184" cy="4114800"/>
          </a:xfrm>
          <a:prstGeom prst="rect">
            <a:avLst/>
          </a:prstGeom>
        </p:spPr>
      </p:pic>
      <p:sp>
        <p:nvSpPr>
          <p:cNvPr id="8" name="TextBox 8"/>
          <p:cNvSpPr txBox="1"/>
          <p:nvPr/>
        </p:nvSpPr>
        <p:spPr>
          <a:xfrm>
            <a:off x="1259899" y="1066800"/>
            <a:ext cx="9910764" cy="638175"/>
          </a:xfrm>
          <a:prstGeom prst="rect">
            <a:avLst/>
          </a:prstGeom>
        </p:spPr>
        <p:txBody>
          <a:bodyPr lIns="0" tIns="0" rIns="0" bIns="0" rtlCol="0" anchor="t">
            <a:spAutoFit/>
          </a:bodyPr>
          <a:lstStyle/>
          <a:p>
            <a:pPr>
              <a:lnSpc>
                <a:spcPts val="5040"/>
              </a:lnSpc>
            </a:pPr>
            <a:r>
              <a:rPr lang="en-US" sz="4200">
                <a:solidFill>
                  <a:srgbClr val="000000"/>
                </a:solidFill>
                <a:latin typeface="DM Sans Bold"/>
              </a:rPr>
              <a:t>Prinsip Penerapan Anti Fraud:</a:t>
            </a:r>
          </a:p>
        </p:txBody>
      </p:sp>
      <p:sp>
        <p:nvSpPr>
          <p:cNvPr id="9" name="TextBox 9"/>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10" name="TextBox 10"/>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Bold"/>
              </a:rPr>
              <a:t>22</a:t>
            </a:r>
          </a:p>
        </p:txBody>
      </p:sp>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00629"/>
            <a:ext cx="16344900" cy="7617470"/>
          </a:xfrm>
          <a:prstGeom prst="rect">
            <a:avLst/>
          </a:prstGeom>
        </p:spPr>
        <p:txBody>
          <a:bodyPr wrap="square" lIns="0" tIns="0" rIns="0" bIns="0" rtlCol="0" anchor="t">
            <a:spAutoFit/>
          </a:bodyPr>
          <a:lstStyle/>
          <a:p>
            <a:pPr>
              <a:lnSpc>
                <a:spcPts val="5508"/>
              </a:lnSpc>
            </a:pPr>
            <a:endParaRPr dirty="0"/>
          </a:p>
          <a:p>
            <a:pPr>
              <a:lnSpc>
                <a:spcPts val="5508"/>
              </a:lnSpc>
            </a:pPr>
            <a:endParaRPr dirty="0"/>
          </a:p>
          <a:p>
            <a:pPr>
              <a:lnSpc>
                <a:spcPts val="5508"/>
              </a:lnSpc>
            </a:pPr>
            <a:r>
              <a:rPr lang="en-US" sz="3600" dirty="0">
                <a:solidFill>
                  <a:srgbClr val="000000"/>
                </a:solidFill>
                <a:latin typeface="DM Sans Bold"/>
              </a:rPr>
              <a:t>2.Prinsip Tata </a:t>
            </a:r>
            <a:r>
              <a:rPr lang="en-US" sz="3600" dirty="0" err="1">
                <a:solidFill>
                  <a:srgbClr val="000000"/>
                </a:solidFill>
                <a:latin typeface="DM Sans Bold"/>
              </a:rPr>
              <a:t>Perilaku</a:t>
            </a:r>
            <a:endParaRPr lang="en-US" sz="3600" dirty="0">
              <a:solidFill>
                <a:srgbClr val="000000"/>
              </a:solidFill>
              <a:latin typeface="DM Sans Bold"/>
            </a:endParaRPr>
          </a:p>
          <a:p>
            <a:pPr>
              <a:lnSpc>
                <a:spcPts val="4750"/>
              </a:lnSpc>
            </a:pPr>
            <a:endParaRPr lang="en-US" sz="3600" dirty="0">
              <a:solidFill>
                <a:srgbClr val="000000"/>
              </a:solidFill>
              <a:latin typeface="DM Sans Bold"/>
            </a:endParaRPr>
          </a:p>
          <a:p>
            <a:pPr marL="914400" lvl="1" indent="-457200">
              <a:lnSpc>
                <a:spcPts val="3672"/>
              </a:lnSpc>
              <a:buFont typeface="+mj-lt"/>
              <a:buAutoNum type="alphaLcPeriod"/>
            </a:pPr>
            <a:r>
              <a:rPr lang="en-US" sz="2400" dirty="0" err="1">
                <a:solidFill>
                  <a:srgbClr val="000000"/>
                </a:solidFill>
                <a:latin typeface="Telegraf"/>
              </a:rPr>
              <a:t>Interaksi</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a:t>
            </a:r>
            <a:r>
              <a:rPr lang="en-US" sz="2400" dirty="0" err="1">
                <a:solidFill>
                  <a:srgbClr val="000000"/>
                </a:solidFill>
                <a:latin typeface="Telegraf"/>
              </a:rPr>
              <a:t>sesama</a:t>
            </a:r>
            <a:r>
              <a:rPr lang="en-US" sz="2400" dirty="0">
                <a:solidFill>
                  <a:srgbClr val="000000"/>
                </a:solidFill>
                <a:latin typeface="Telegraf"/>
              </a:rPr>
              <a:t> </a:t>
            </a:r>
            <a:r>
              <a:rPr lang="en-US" sz="2400" dirty="0" err="1">
                <a:solidFill>
                  <a:srgbClr val="000000"/>
                </a:solidFill>
                <a:latin typeface="Telegraf"/>
              </a:rPr>
              <a:t>karyawan</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Kepatuhan</a:t>
            </a:r>
            <a:r>
              <a:rPr lang="en-US" sz="2400" dirty="0">
                <a:solidFill>
                  <a:srgbClr val="000000"/>
                </a:solidFill>
                <a:latin typeface="Telegraf"/>
              </a:rPr>
              <a:t> </a:t>
            </a:r>
            <a:r>
              <a:rPr lang="en-US" sz="2400" dirty="0" err="1">
                <a:solidFill>
                  <a:srgbClr val="000000"/>
                </a:solidFill>
                <a:latin typeface="Telegraf"/>
              </a:rPr>
              <a:t>terhadap</a:t>
            </a:r>
            <a:r>
              <a:rPr lang="en-US" sz="2400" dirty="0">
                <a:solidFill>
                  <a:srgbClr val="000000"/>
                </a:solidFill>
                <a:latin typeface="Telegraf"/>
              </a:rPr>
              <a:t> </a:t>
            </a:r>
            <a:r>
              <a:rPr lang="en-US" sz="2400" dirty="0" err="1">
                <a:solidFill>
                  <a:srgbClr val="000000"/>
                </a:solidFill>
                <a:latin typeface="Telegraf"/>
              </a:rPr>
              <a:t>hukum</a:t>
            </a:r>
            <a:r>
              <a:rPr lang="en-US" sz="2400" dirty="0">
                <a:solidFill>
                  <a:srgbClr val="000000"/>
                </a:solidFill>
                <a:latin typeface="Telegraf"/>
              </a:rPr>
              <a:t>, </a:t>
            </a:r>
            <a:r>
              <a:rPr lang="en-US" sz="2400" dirty="0" err="1">
                <a:solidFill>
                  <a:srgbClr val="000000"/>
                </a:solidFill>
                <a:latin typeface="Telegraf"/>
              </a:rPr>
              <a:t>ketentuan</a:t>
            </a:r>
            <a:r>
              <a:rPr lang="en-US" sz="2400" dirty="0">
                <a:solidFill>
                  <a:srgbClr val="000000"/>
                </a:solidFill>
                <a:latin typeface="Telegraf"/>
              </a:rPr>
              <a:t>, dan </a:t>
            </a:r>
            <a:r>
              <a:rPr lang="en-US" sz="2400" dirty="0" err="1">
                <a:solidFill>
                  <a:srgbClr val="000000"/>
                </a:solidFill>
                <a:latin typeface="Telegraf"/>
              </a:rPr>
              <a:t>peraturan</a:t>
            </a:r>
            <a:r>
              <a:rPr lang="en-US" sz="2400" dirty="0">
                <a:solidFill>
                  <a:srgbClr val="000000"/>
                </a:solidFill>
                <a:latin typeface="Telegraf"/>
              </a:rPr>
              <a:t> lain</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Menjaga</a:t>
            </a:r>
            <a:r>
              <a:rPr lang="en-US" sz="2400" dirty="0">
                <a:solidFill>
                  <a:srgbClr val="000000"/>
                </a:solidFill>
                <a:latin typeface="Telegraf"/>
              </a:rPr>
              <a:t> </a:t>
            </a:r>
            <a:r>
              <a:rPr lang="en-US" sz="2400" dirty="0" err="1">
                <a:solidFill>
                  <a:srgbClr val="000000"/>
                </a:solidFill>
                <a:latin typeface="Telegraf"/>
              </a:rPr>
              <a:t>keamanan</a:t>
            </a:r>
            <a:r>
              <a:rPr lang="en-US" sz="2400" dirty="0">
                <a:solidFill>
                  <a:srgbClr val="000000"/>
                </a:solidFill>
                <a:latin typeface="Telegraf"/>
              </a:rPr>
              <a:t> dan </a:t>
            </a:r>
            <a:r>
              <a:rPr lang="en-US" sz="2400" dirty="0" err="1">
                <a:solidFill>
                  <a:srgbClr val="000000"/>
                </a:solidFill>
                <a:latin typeface="Telegraf"/>
              </a:rPr>
              <a:t>keselamatan</a:t>
            </a:r>
            <a:r>
              <a:rPr lang="en-US" sz="2400" dirty="0">
                <a:solidFill>
                  <a:srgbClr val="000000"/>
                </a:solidFill>
                <a:latin typeface="Telegraf"/>
              </a:rPr>
              <a:t>, </a:t>
            </a:r>
            <a:r>
              <a:rPr lang="en-US" sz="2400" dirty="0" err="1">
                <a:solidFill>
                  <a:srgbClr val="000000"/>
                </a:solidFill>
                <a:latin typeface="Telegraf"/>
              </a:rPr>
              <a:t>kesehatan</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dan </a:t>
            </a:r>
            <a:r>
              <a:rPr lang="en-US" sz="2400" dirty="0" err="1">
                <a:solidFill>
                  <a:srgbClr val="000000"/>
                </a:solidFill>
                <a:latin typeface="Telegraf"/>
              </a:rPr>
              <a:t>lingkungan</a:t>
            </a:r>
            <a:r>
              <a:rPr lang="en-US" sz="2400" dirty="0">
                <a:solidFill>
                  <a:srgbClr val="000000"/>
                </a:solidFill>
                <a:latin typeface="Telegraf"/>
              </a:rPr>
              <a:t> </a:t>
            </a:r>
            <a:r>
              <a:rPr lang="en-US" sz="2400" dirty="0" err="1">
                <a:solidFill>
                  <a:srgbClr val="000000"/>
                </a:solidFill>
                <a:latin typeface="Telegraf"/>
              </a:rPr>
              <a:t>hidup</a:t>
            </a:r>
            <a:r>
              <a:rPr lang="en-US" sz="2400" dirty="0">
                <a:solidFill>
                  <a:srgbClr val="000000"/>
                </a:solidFill>
                <a:latin typeface="Telegraf"/>
              </a:rPr>
              <a:t> (K3LL)</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Menjaga</a:t>
            </a:r>
            <a:r>
              <a:rPr lang="en-US" sz="2400" dirty="0">
                <a:solidFill>
                  <a:srgbClr val="000000"/>
                </a:solidFill>
                <a:latin typeface="Telegraf"/>
              </a:rPr>
              <a:t> </a:t>
            </a:r>
            <a:r>
              <a:rPr lang="en-US" sz="2400" dirty="0" err="1">
                <a:solidFill>
                  <a:srgbClr val="000000"/>
                </a:solidFill>
                <a:latin typeface="Telegraf"/>
              </a:rPr>
              <a:t>kerahasiaan</a:t>
            </a:r>
            <a:r>
              <a:rPr lang="en-US" sz="2400" dirty="0">
                <a:solidFill>
                  <a:srgbClr val="000000"/>
                </a:solidFill>
                <a:latin typeface="Telegraf"/>
              </a:rPr>
              <a:t> data dan </a:t>
            </a:r>
            <a:r>
              <a:rPr lang="en-US" sz="2400" dirty="0" err="1">
                <a:solidFill>
                  <a:srgbClr val="000000"/>
                </a:solidFill>
                <a:latin typeface="Telegraf"/>
              </a:rPr>
              <a:t>informasi</a:t>
            </a:r>
            <a:r>
              <a:rPr lang="en-US" sz="2400" dirty="0">
                <a:solidFill>
                  <a:srgbClr val="000000"/>
                </a:solidFill>
                <a:latin typeface="Telegraf"/>
              </a:rPr>
              <a:t> Perusahaan</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Perlindungan</a:t>
            </a:r>
            <a:r>
              <a:rPr lang="en-US" sz="2400" dirty="0">
                <a:solidFill>
                  <a:srgbClr val="000000"/>
                </a:solidFill>
                <a:latin typeface="Telegraf"/>
              </a:rPr>
              <a:t> dan </a:t>
            </a:r>
            <a:r>
              <a:rPr lang="en-US" sz="2400" dirty="0" err="1">
                <a:solidFill>
                  <a:srgbClr val="000000"/>
                </a:solidFill>
                <a:latin typeface="Telegraf"/>
              </a:rPr>
              <a:t>penggunaan</a:t>
            </a:r>
            <a:r>
              <a:rPr lang="en-US" sz="2400" dirty="0">
                <a:solidFill>
                  <a:srgbClr val="000000"/>
                </a:solidFill>
                <a:latin typeface="Telegraf"/>
              </a:rPr>
              <a:t> </a:t>
            </a:r>
            <a:r>
              <a:rPr lang="en-US" sz="2400" dirty="0" err="1">
                <a:solidFill>
                  <a:srgbClr val="000000"/>
                </a:solidFill>
                <a:latin typeface="Telegraf"/>
              </a:rPr>
              <a:t>aset</a:t>
            </a:r>
            <a:r>
              <a:rPr lang="en-US" sz="2400" dirty="0">
                <a:solidFill>
                  <a:srgbClr val="000000"/>
                </a:solidFill>
                <a:latin typeface="Telegraf"/>
              </a:rPr>
              <a:t> </a:t>
            </a:r>
            <a:r>
              <a:rPr lang="en-US" sz="2400" dirty="0" err="1">
                <a:solidFill>
                  <a:srgbClr val="000000"/>
                </a:solidFill>
                <a:latin typeface="Telegraf"/>
              </a:rPr>
              <a:t>secara</a:t>
            </a:r>
            <a:r>
              <a:rPr lang="en-US" sz="2400" dirty="0">
                <a:solidFill>
                  <a:srgbClr val="000000"/>
                </a:solidFill>
                <a:latin typeface="Telegraf"/>
              </a:rPr>
              <a:t> </a:t>
            </a:r>
            <a:r>
              <a:rPr lang="en-US" sz="2400" dirty="0" err="1">
                <a:solidFill>
                  <a:srgbClr val="000000"/>
                </a:solidFill>
                <a:latin typeface="Telegraf"/>
              </a:rPr>
              <a:t>layak</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Pengungkapan</a:t>
            </a:r>
            <a:r>
              <a:rPr lang="en-US" sz="2400" dirty="0">
                <a:solidFill>
                  <a:srgbClr val="000000"/>
                </a:solidFill>
                <a:latin typeface="Telegraf"/>
              </a:rPr>
              <a:t> </a:t>
            </a:r>
            <a:r>
              <a:rPr lang="en-US" sz="2400" dirty="0" err="1">
                <a:solidFill>
                  <a:srgbClr val="000000"/>
                </a:solidFill>
                <a:latin typeface="Telegraf"/>
              </a:rPr>
              <a:t>informasi</a:t>
            </a:r>
            <a:r>
              <a:rPr lang="en-US" sz="2400" dirty="0">
                <a:solidFill>
                  <a:srgbClr val="000000"/>
                </a:solidFill>
                <a:latin typeface="Telegraf"/>
              </a:rPr>
              <a:t> </a:t>
            </a:r>
            <a:r>
              <a:rPr lang="en-US" sz="2400" dirty="0" err="1">
                <a:solidFill>
                  <a:srgbClr val="000000"/>
                </a:solidFill>
                <a:latin typeface="Telegraf"/>
              </a:rPr>
              <a:t>keuangan</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Menghindari</a:t>
            </a:r>
            <a:r>
              <a:rPr lang="en-US" sz="2400" dirty="0">
                <a:solidFill>
                  <a:srgbClr val="000000"/>
                </a:solidFill>
                <a:latin typeface="Telegraf"/>
              </a:rPr>
              <a:t> </a:t>
            </a:r>
            <a:r>
              <a:rPr lang="en-US" sz="2400" dirty="0" err="1">
                <a:solidFill>
                  <a:srgbClr val="000000"/>
                </a:solidFill>
                <a:latin typeface="Telegraf"/>
              </a:rPr>
              <a:t>benturan</a:t>
            </a:r>
            <a:r>
              <a:rPr lang="en-US" sz="2400" dirty="0">
                <a:solidFill>
                  <a:srgbClr val="000000"/>
                </a:solidFill>
                <a:latin typeface="Telegraf"/>
              </a:rPr>
              <a:t> </a:t>
            </a:r>
            <a:r>
              <a:rPr lang="en-US" sz="2400" dirty="0" err="1">
                <a:solidFill>
                  <a:srgbClr val="000000"/>
                </a:solidFill>
                <a:latin typeface="Telegraf"/>
              </a:rPr>
              <a:t>kepentingan</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Korupsi</a:t>
            </a:r>
            <a:r>
              <a:rPr lang="en-US" sz="2400" dirty="0">
                <a:solidFill>
                  <a:srgbClr val="000000"/>
                </a:solidFill>
                <a:latin typeface="Telegraf"/>
              </a:rPr>
              <a:t>, </a:t>
            </a:r>
            <a:r>
              <a:rPr lang="en-US" sz="2400" dirty="0" err="1">
                <a:solidFill>
                  <a:srgbClr val="000000"/>
                </a:solidFill>
                <a:latin typeface="Telegraf"/>
              </a:rPr>
              <a:t>Kolusi</a:t>
            </a:r>
            <a:r>
              <a:rPr lang="en-US" sz="2400" dirty="0">
                <a:solidFill>
                  <a:srgbClr val="000000"/>
                </a:solidFill>
                <a:latin typeface="Telegraf"/>
              </a:rPr>
              <a:t> dan </a:t>
            </a:r>
            <a:r>
              <a:rPr lang="en-US" sz="2400" dirty="0" err="1">
                <a:solidFill>
                  <a:srgbClr val="000000"/>
                </a:solidFill>
                <a:latin typeface="Telegraf"/>
              </a:rPr>
              <a:t>Nepotisme</a:t>
            </a:r>
            <a:r>
              <a:rPr lang="en-US" sz="2400" dirty="0">
                <a:solidFill>
                  <a:srgbClr val="000000"/>
                </a:solidFill>
                <a:latin typeface="Telegraf"/>
              </a:rPr>
              <a:t> (KKN) dan </a:t>
            </a:r>
            <a:r>
              <a:rPr lang="en-US" sz="2400" dirty="0" err="1">
                <a:solidFill>
                  <a:srgbClr val="000000"/>
                </a:solidFill>
                <a:latin typeface="Telegraf"/>
              </a:rPr>
              <a:t>larangan</a:t>
            </a:r>
            <a:r>
              <a:rPr lang="en-US" sz="2400" dirty="0">
                <a:solidFill>
                  <a:srgbClr val="000000"/>
                </a:solidFill>
                <a:latin typeface="Telegraf"/>
              </a:rPr>
              <a:t> </a:t>
            </a:r>
            <a:r>
              <a:rPr lang="en-US" sz="2400" dirty="0" err="1">
                <a:solidFill>
                  <a:srgbClr val="000000"/>
                </a:solidFill>
                <a:latin typeface="Telegraf"/>
              </a:rPr>
              <a:t>memberi</a:t>
            </a:r>
            <a:r>
              <a:rPr lang="en-US" sz="2400" dirty="0">
                <a:solidFill>
                  <a:srgbClr val="000000"/>
                </a:solidFill>
                <a:latin typeface="Telegraf"/>
              </a:rPr>
              <a:t> dan </a:t>
            </a:r>
            <a:r>
              <a:rPr lang="en-US" sz="2400" dirty="0" err="1">
                <a:solidFill>
                  <a:srgbClr val="000000"/>
                </a:solidFill>
                <a:latin typeface="Telegraf"/>
              </a:rPr>
              <a:t>menerima</a:t>
            </a:r>
            <a:r>
              <a:rPr lang="en-US" sz="2400" dirty="0">
                <a:solidFill>
                  <a:srgbClr val="000000"/>
                </a:solidFill>
                <a:latin typeface="Telegraf"/>
              </a:rPr>
              <a:t> </a:t>
            </a:r>
            <a:r>
              <a:rPr lang="en-US" sz="2400" dirty="0" err="1">
                <a:solidFill>
                  <a:srgbClr val="000000"/>
                </a:solidFill>
                <a:latin typeface="Telegraf"/>
              </a:rPr>
              <a:t>suap</a:t>
            </a:r>
            <a:endParaRPr lang="id-ID" sz="2400" dirty="0">
              <a:solidFill>
                <a:srgbClr val="000000"/>
              </a:solidFill>
              <a:latin typeface="Telegraf"/>
            </a:endParaRPr>
          </a:p>
          <a:p>
            <a:pPr marL="914400" lvl="1" indent="-457200">
              <a:lnSpc>
                <a:spcPts val="3672"/>
              </a:lnSpc>
              <a:buFont typeface="+mj-lt"/>
              <a:buAutoNum type="alphaLcPeriod"/>
            </a:pPr>
            <a:r>
              <a:rPr lang="en-US" sz="2400" dirty="0" err="1">
                <a:solidFill>
                  <a:srgbClr val="000000"/>
                </a:solidFill>
                <a:latin typeface="Telegraf"/>
              </a:rPr>
              <a:t>Penerimaan</a:t>
            </a:r>
            <a:r>
              <a:rPr lang="en-US" sz="2400" dirty="0">
                <a:solidFill>
                  <a:srgbClr val="000000"/>
                </a:solidFill>
                <a:latin typeface="Telegraf"/>
              </a:rPr>
              <a:t> </a:t>
            </a:r>
            <a:r>
              <a:rPr lang="en-US" sz="2400" dirty="0" err="1">
                <a:solidFill>
                  <a:srgbClr val="000000"/>
                </a:solidFill>
                <a:latin typeface="Telegraf"/>
              </a:rPr>
              <a:t>Hadiah</a:t>
            </a:r>
            <a:endParaRPr lang="en-US" sz="2400" dirty="0">
              <a:solidFill>
                <a:srgbClr val="000000"/>
              </a:solidFill>
              <a:latin typeface="Telegraf"/>
            </a:endParaRPr>
          </a:p>
          <a:p>
            <a:pPr>
              <a:lnSpc>
                <a:spcPts val="4750"/>
              </a:lnSpc>
            </a:pPr>
            <a:endParaRPr lang="en-US" sz="2400" dirty="0">
              <a:solidFill>
                <a:srgbClr val="000000"/>
              </a:solidFill>
              <a:latin typeface="Telegraf"/>
            </a:endParaRPr>
          </a:p>
        </p:txBody>
      </p:sp>
      <p:sp>
        <p:nvSpPr>
          <p:cNvPr id="3" name="TextBox 3"/>
          <p:cNvSpPr txBox="1"/>
          <p:nvPr/>
        </p:nvSpPr>
        <p:spPr>
          <a:xfrm>
            <a:off x="1028700" y="6757988"/>
            <a:ext cx="13157999" cy="5053948"/>
          </a:xfrm>
          <a:prstGeom prst="rect">
            <a:avLst/>
          </a:prstGeom>
        </p:spPr>
        <p:txBody>
          <a:bodyPr lIns="0" tIns="0" rIns="0" bIns="0" rtlCol="0" anchor="t">
            <a:spAutoFit/>
          </a:bodyPr>
          <a:lstStyle/>
          <a:p>
            <a:pPr>
              <a:lnSpc>
                <a:spcPts val="4320"/>
              </a:lnSpc>
            </a:pPr>
            <a:r>
              <a:rPr lang="en-US" sz="3600" dirty="0">
                <a:solidFill>
                  <a:srgbClr val="000000"/>
                </a:solidFill>
                <a:latin typeface="DM Sans Bold"/>
              </a:rPr>
              <a:t>3.Prinsip Zero Tolerance </a:t>
            </a:r>
            <a:r>
              <a:rPr lang="en-US" sz="3600" dirty="0" err="1">
                <a:solidFill>
                  <a:srgbClr val="000000"/>
                </a:solidFill>
                <a:latin typeface="DM Sans Bold"/>
              </a:rPr>
              <a:t>terhadap</a:t>
            </a:r>
            <a:r>
              <a:rPr lang="en-US" sz="3600" dirty="0">
                <a:solidFill>
                  <a:srgbClr val="000000"/>
                </a:solidFill>
                <a:latin typeface="DM Sans Bold"/>
              </a:rPr>
              <a:t> Fraud</a:t>
            </a:r>
          </a:p>
          <a:p>
            <a:pPr>
              <a:lnSpc>
                <a:spcPts val="3725"/>
              </a:lnSpc>
            </a:pPr>
            <a:endParaRPr lang="en-US" sz="3600" dirty="0">
              <a:solidFill>
                <a:srgbClr val="000000"/>
              </a:solidFill>
              <a:latin typeface="DM Sans Bold"/>
            </a:endParaRPr>
          </a:p>
          <a:p>
            <a:pPr lvl="1">
              <a:lnSpc>
                <a:spcPts val="2885"/>
              </a:lnSpc>
            </a:pPr>
            <a:r>
              <a:rPr lang="en-US" sz="2404" dirty="0" err="1">
                <a:solidFill>
                  <a:srgbClr val="000000"/>
                </a:solidFill>
                <a:latin typeface="Telegraf"/>
              </a:rPr>
              <a:t>Merupakan</a:t>
            </a:r>
            <a:r>
              <a:rPr lang="en-US" sz="2404" dirty="0">
                <a:solidFill>
                  <a:srgbClr val="000000"/>
                </a:solidFill>
                <a:latin typeface="Telegraf"/>
              </a:rPr>
              <a:t> </a:t>
            </a:r>
            <a:r>
              <a:rPr lang="en-US" sz="2404" dirty="0" err="1">
                <a:solidFill>
                  <a:srgbClr val="000000"/>
                </a:solidFill>
                <a:latin typeface="Telegraf"/>
              </a:rPr>
              <a:t>prinsip</a:t>
            </a:r>
            <a:r>
              <a:rPr lang="en-US" sz="2404" dirty="0">
                <a:solidFill>
                  <a:srgbClr val="000000"/>
                </a:solidFill>
                <a:latin typeface="Telegraf"/>
              </a:rPr>
              <a:t> yang </a:t>
            </a:r>
            <a:r>
              <a:rPr lang="en-US" sz="2404" dirty="0" err="1">
                <a:solidFill>
                  <a:srgbClr val="000000"/>
                </a:solidFill>
                <a:latin typeface="Telegraf"/>
              </a:rPr>
              <a:t>dilaksanakan</a:t>
            </a:r>
            <a:r>
              <a:rPr lang="en-US" sz="2404" dirty="0">
                <a:solidFill>
                  <a:srgbClr val="000000"/>
                </a:solidFill>
                <a:latin typeface="Telegraf"/>
              </a:rPr>
              <a:t> Perusahaan </a:t>
            </a:r>
            <a:r>
              <a:rPr lang="en-US" sz="2404" dirty="0" err="1">
                <a:solidFill>
                  <a:srgbClr val="000000"/>
                </a:solidFill>
                <a:latin typeface="Telegraf"/>
              </a:rPr>
              <a:t>untuk</a:t>
            </a:r>
            <a:r>
              <a:rPr lang="en-US" sz="2404" dirty="0">
                <a:solidFill>
                  <a:srgbClr val="000000"/>
                </a:solidFill>
                <a:latin typeface="Telegraf"/>
              </a:rPr>
              <a:t> </a:t>
            </a:r>
            <a:r>
              <a:rPr lang="en-US" sz="2404" dirty="0" err="1">
                <a:solidFill>
                  <a:srgbClr val="000000"/>
                </a:solidFill>
                <a:latin typeface="Telegraf"/>
              </a:rPr>
              <a:t>tidak</a:t>
            </a:r>
            <a:r>
              <a:rPr lang="en-US" sz="2404" dirty="0">
                <a:solidFill>
                  <a:srgbClr val="000000"/>
                </a:solidFill>
                <a:latin typeface="Telegraf"/>
              </a:rPr>
              <a:t> </a:t>
            </a:r>
            <a:r>
              <a:rPr lang="en-US" sz="2404" dirty="0" err="1">
                <a:solidFill>
                  <a:srgbClr val="000000"/>
                </a:solidFill>
                <a:latin typeface="Telegraf"/>
              </a:rPr>
              <a:t>memberikan</a:t>
            </a:r>
            <a:r>
              <a:rPr lang="en-US" sz="2404" dirty="0">
                <a:solidFill>
                  <a:srgbClr val="000000"/>
                </a:solidFill>
                <a:latin typeface="Telegraf"/>
              </a:rPr>
              <a:t> </a:t>
            </a:r>
            <a:r>
              <a:rPr lang="en-US" sz="2404" dirty="0" err="1">
                <a:solidFill>
                  <a:srgbClr val="000000"/>
                </a:solidFill>
                <a:latin typeface="Telegraf"/>
              </a:rPr>
              <a:t>toleransi</a:t>
            </a:r>
            <a:r>
              <a:rPr lang="en-US" sz="2404" dirty="0">
                <a:solidFill>
                  <a:srgbClr val="000000"/>
                </a:solidFill>
                <a:latin typeface="Telegraf"/>
              </a:rPr>
              <a:t> </a:t>
            </a:r>
            <a:r>
              <a:rPr lang="en-US" sz="2404" dirty="0" err="1">
                <a:solidFill>
                  <a:srgbClr val="000000"/>
                </a:solidFill>
                <a:latin typeface="Telegraf"/>
              </a:rPr>
              <a:t>terhadap</a:t>
            </a:r>
            <a:r>
              <a:rPr lang="en-US" sz="2404" dirty="0">
                <a:solidFill>
                  <a:srgbClr val="000000"/>
                </a:solidFill>
                <a:latin typeface="Telegraf"/>
              </a:rPr>
              <a:t> Fraud</a:t>
            </a:r>
          </a:p>
          <a:p>
            <a:pPr>
              <a:lnSpc>
                <a:spcPts val="3725"/>
              </a:lnSpc>
            </a:pPr>
            <a:endParaRPr lang="en-US" sz="2404" dirty="0">
              <a:solidFill>
                <a:srgbClr val="000000"/>
              </a:solidFill>
              <a:latin typeface="Telegraf"/>
            </a:endParaRPr>
          </a:p>
          <a:p>
            <a:pPr>
              <a:lnSpc>
                <a:spcPts val="3725"/>
              </a:lnSpc>
            </a:pPr>
            <a:endParaRPr lang="en-US" sz="2404" dirty="0">
              <a:solidFill>
                <a:srgbClr val="000000"/>
              </a:solidFill>
              <a:latin typeface="Telegraf"/>
            </a:endParaRPr>
          </a:p>
          <a:p>
            <a:pPr>
              <a:lnSpc>
                <a:spcPts val="3725"/>
              </a:lnSpc>
              <a:spcBef>
                <a:spcPct val="0"/>
              </a:spcBef>
            </a:pPr>
            <a:endParaRPr lang="en-US" sz="2404" dirty="0">
              <a:solidFill>
                <a:srgbClr val="000000"/>
              </a:solidFill>
              <a:latin typeface="Telegraf"/>
            </a:endParaRPr>
          </a:p>
          <a:p>
            <a:pPr>
              <a:lnSpc>
                <a:spcPts val="3725"/>
              </a:lnSpc>
              <a:spcBef>
                <a:spcPct val="0"/>
              </a:spcBef>
            </a:pPr>
            <a:endParaRPr lang="en-US" sz="2404" dirty="0">
              <a:solidFill>
                <a:srgbClr val="000000"/>
              </a:solidFill>
              <a:latin typeface="Telegraf"/>
            </a:endParaRPr>
          </a:p>
          <a:p>
            <a:pPr>
              <a:lnSpc>
                <a:spcPts val="3725"/>
              </a:lnSpc>
              <a:spcBef>
                <a:spcPct val="0"/>
              </a:spcBef>
            </a:pPr>
            <a:endParaRPr lang="en-US" sz="2404" dirty="0">
              <a:solidFill>
                <a:srgbClr val="000000"/>
              </a:solidFill>
              <a:latin typeface="Telegraf"/>
            </a:endParaRPr>
          </a:p>
          <a:p>
            <a:pPr>
              <a:lnSpc>
                <a:spcPts val="3725"/>
              </a:lnSpc>
              <a:spcBef>
                <a:spcPct val="0"/>
              </a:spcBef>
            </a:pPr>
            <a:endParaRPr lang="en-US" sz="2404" dirty="0">
              <a:solidFill>
                <a:srgbClr val="000000"/>
              </a:solidFill>
              <a:latin typeface="Telegraf"/>
            </a:endParaRPr>
          </a:p>
          <a:p>
            <a:pPr>
              <a:lnSpc>
                <a:spcPts val="3725"/>
              </a:lnSpc>
              <a:spcBef>
                <a:spcPct val="0"/>
              </a:spcBef>
            </a:pPr>
            <a:endParaRPr lang="en-US" sz="2404" dirty="0">
              <a:solidFill>
                <a:srgbClr val="000000"/>
              </a:solidFill>
              <a:latin typeface="Telegraf"/>
            </a:endParaRPr>
          </a:p>
        </p:txBody>
      </p:sp>
      <p:pic>
        <p:nvPicPr>
          <p:cNvPr id="4" name="Picture 4"/>
          <p:cNvPicPr>
            <a:picLocks noChangeAspect="1"/>
          </p:cNvPicPr>
          <p:nvPr/>
        </p:nvPicPr>
        <p:blipFill>
          <a:blip r:embed="rId2">
            <a:alphaModFix amt="44999"/>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5400000">
            <a:off x="14560114" y="6505097"/>
            <a:ext cx="4160184" cy="4114800"/>
          </a:xfrm>
          <a:prstGeom prst="rect">
            <a:avLst/>
          </a:prstGeom>
        </p:spPr>
      </p:pic>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5943600" y="4381500"/>
            <a:ext cx="13564875" cy="1057275"/>
          </a:xfrm>
          <a:prstGeom prst="rect">
            <a:avLst/>
          </a:prstGeom>
        </p:spPr>
        <p:txBody>
          <a:bodyPr lIns="0" tIns="0" rIns="0" bIns="0" rtlCol="0" anchor="t">
            <a:spAutoFit/>
          </a:bodyPr>
          <a:lstStyle/>
          <a:p>
            <a:pPr>
              <a:lnSpc>
                <a:spcPts val="8399"/>
              </a:lnSpc>
            </a:pPr>
            <a:r>
              <a:rPr lang="en-US" sz="6999" dirty="0">
                <a:solidFill>
                  <a:srgbClr val="FFFFFF"/>
                </a:solidFill>
                <a:latin typeface="DM Sans Bold"/>
              </a:rPr>
              <a:t>UNSUR FRAUD</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07657" y="935071"/>
            <a:ext cx="6430913" cy="656378"/>
            <a:chOff x="0" y="0"/>
            <a:chExt cx="1693738" cy="172873"/>
          </a:xfrm>
        </p:grpSpPr>
        <p:sp>
          <p:nvSpPr>
            <p:cNvPr id="3" name="Freeform 3"/>
            <p:cNvSpPr/>
            <p:nvPr/>
          </p:nvSpPr>
          <p:spPr>
            <a:xfrm>
              <a:off x="0" y="0"/>
              <a:ext cx="1693738" cy="172873"/>
            </a:xfrm>
            <a:custGeom>
              <a:avLst/>
              <a:gdLst/>
              <a:ahLst/>
              <a:cxnLst/>
              <a:rect l="l" t="t" r="r" b="b"/>
              <a:pathLst>
                <a:path w="1693738" h="172873">
                  <a:moveTo>
                    <a:pt x="61397" y="0"/>
                  </a:moveTo>
                  <a:lnTo>
                    <a:pt x="1632341" y="0"/>
                  </a:lnTo>
                  <a:cubicBezTo>
                    <a:pt x="1666250" y="0"/>
                    <a:pt x="1693738" y="27488"/>
                    <a:pt x="1693738" y="61397"/>
                  </a:cubicBezTo>
                  <a:lnTo>
                    <a:pt x="1693738" y="111476"/>
                  </a:lnTo>
                  <a:cubicBezTo>
                    <a:pt x="1693738" y="145385"/>
                    <a:pt x="1666250" y="172873"/>
                    <a:pt x="1632341" y="172873"/>
                  </a:cubicBezTo>
                  <a:lnTo>
                    <a:pt x="61397" y="172873"/>
                  </a:lnTo>
                  <a:cubicBezTo>
                    <a:pt x="27488" y="172873"/>
                    <a:pt x="0" y="145385"/>
                    <a:pt x="0" y="111476"/>
                  </a:cubicBezTo>
                  <a:lnTo>
                    <a:pt x="0" y="61397"/>
                  </a:lnTo>
                  <a:cubicBezTo>
                    <a:pt x="0" y="27488"/>
                    <a:pt x="27488" y="0"/>
                    <a:pt x="61397" y="0"/>
                  </a:cubicBezTo>
                  <a:close/>
                </a:path>
              </a:pathLst>
            </a:custGeom>
            <a:solidFill>
              <a:srgbClr val="F2F2F2"/>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2107768"/>
            <a:ext cx="15454858" cy="8609457"/>
          </a:xfrm>
          <a:prstGeom prst="rect">
            <a:avLst/>
          </a:prstGeom>
        </p:spPr>
        <p:txBody>
          <a:bodyPr lIns="0" tIns="0" rIns="0" bIns="0" rtlCol="0" anchor="t">
            <a:spAutoFit/>
          </a:bodyPr>
          <a:lstStyle/>
          <a:p>
            <a:pPr>
              <a:lnSpc>
                <a:spcPts val="4248"/>
              </a:lnSpc>
            </a:pPr>
            <a:endParaRPr/>
          </a:p>
          <a:p>
            <a:pPr>
              <a:lnSpc>
                <a:spcPts val="4248"/>
              </a:lnSpc>
            </a:pPr>
            <a:r>
              <a:rPr lang="en-US" sz="2400">
                <a:solidFill>
                  <a:srgbClr val="000000"/>
                </a:solidFill>
                <a:latin typeface="Telegraf"/>
              </a:rPr>
              <a:t>Untuk menyatakan bahwa suatu tindakan dianggap Fraud, maka harus memenuhi 5 (lima) unsur </a:t>
            </a:r>
          </a:p>
          <a:p>
            <a:pPr>
              <a:lnSpc>
                <a:spcPts val="4248"/>
              </a:lnSpc>
            </a:pPr>
            <a:r>
              <a:rPr lang="en-US" sz="2400">
                <a:solidFill>
                  <a:srgbClr val="000000"/>
                </a:solidFill>
                <a:latin typeface="Telegraf"/>
              </a:rPr>
              <a:t>sebagai berikut:</a:t>
            </a:r>
          </a:p>
          <a:p>
            <a:pPr>
              <a:lnSpc>
                <a:spcPts val="4248"/>
              </a:lnSpc>
            </a:pPr>
            <a:endParaRPr lang="en-US" sz="2400">
              <a:solidFill>
                <a:srgbClr val="000000"/>
              </a:solidFill>
              <a:latin typeface="Telegraf"/>
            </a:endParaRPr>
          </a:p>
          <a:p>
            <a:pPr marL="518160" lvl="1" indent="-259080">
              <a:lnSpc>
                <a:spcPts val="4248"/>
              </a:lnSpc>
              <a:buFont typeface="Arial"/>
              <a:buChar char="•"/>
            </a:pPr>
            <a:r>
              <a:rPr lang="en-US" sz="2400">
                <a:solidFill>
                  <a:srgbClr val="000000"/>
                </a:solidFill>
                <a:latin typeface="Telegraf"/>
              </a:rPr>
              <a:t> Penyimpangan atau pembiaran yang sengaja dilakukan untuk mengelabui, menipu, atau memanipulasi   Perusahaan atau pihak lain</a:t>
            </a:r>
          </a:p>
          <a:p>
            <a:pPr marL="518160" lvl="1" indent="-259080">
              <a:lnSpc>
                <a:spcPts val="4248"/>
              </a:lnSpc>
              <a:buFont typeface="Arial"/>
              <a:buChar char="•"/>
            </a:pPr>
            <a:r>
              <a:rPr lang="en-US" sz="2400">
                <a:solidFill>
                  <a:srgbClr val="000000"/>
                </a:solidFill>
                <a:latin typeface="Telegraf"/>
              </a:rPr>
              <a:t> Dilakukan oleh karyawan Perusahaan</a:t>
            </a:r>
          </a:p>
          <a:p>
            <a:pPr marL="518160" lvl="1" indent="-259080">
              <a:lnSpc>
                <a:spcPts val="4248"/>
              </a:lnSpc>
              <a:buFont typeface="Arial"/>
              <a:buChar char="•"/>
            </a:pPr>
            <a:r>
              <a:rPr lang="en-US" sz="2400">
                <a:solidFill>
                  <a:srgbClr val="000000"/>
                </a:solidFill>
                <a:latin typeface="Telegraf"/>
              </a:rPr>
              <a:t>Terjadi di lingkungan Perusahaan dan/atau menggunakan sarana Perusahaan</a:t>
            </a:r>
          </a:p>
          <a:p>
            <a:pPr marL="518160" lvl="1" indent="-259080">
              <a:lnSpc>
                <a:spcPts val="4248"/>
              </a:lnSpc>
              <a:buFont typeface="Arial"/>
              <a:buChar char="•"/>
            </a:pPr>
            <a:r>
              <a:rPr lang="en-US" sz="2400">
                <a:solidFill>
                  <a:srgbClr val="000000"/>
                </a:solidFill>
                <a:latin typeface="Telegraf"/>
              </a:rPr>
              <a:t> Mengakibatkan kerugian yang diderita oleh Perusahaan</a:t>
            </a:r>
          </a:p>
          <a:p>
            <a:pPr marL="518160" lvl="1" indent="-259080">
              <a:lnSpc>
                <a:spcPts val="4248"/>
              </a:lnSpc>
              <a:buFont typeface="Arial"/>
              <a:buChar char="•"/>
            </a:pPr>
            <a:r>
              <a:rPr lang="en-US" sz="2400">
                <a:solidFill>
                  <a:srgbClr val="000000"/>
                </a:solidFill>
                <a:latin typeface="Telegraf"/>
              </a:rPr>
              <a:t> Pelaku Fraud memperoleh keuntungan baik secara langsung maupun tidak langsung</a:t>
            </a:r>
          </a:p>
          <a:p>
            <a:pPr>
              <a:lnSpc>
                <a:spcPts val="3214"/>
              </a:lnSpc>
            </a:pPr>
            <a:endParaRPr lang="en-US" sz="2400">
              <a:solidFill>
                <a:srgbClr val="000000"/>
              </a:solidFill>
              <a:latin typeface="Telegraf"/>
            </a:endParaRPr>
          </a:p>
          <a:p>
            <a:pPr>
              <a:lnSpc>
                <a:spcPts val="3214"/>
              </a:lnSpc>
            </a:pPr>
            <a:endParaRPr lang="en-US" sz="2400">
              <a:solidFill>
                <a:srgbClr val="000000"/>
              </a:solidFill>
              <a:latin typeface="Telegraf"/>
            </a:endParaRPr>
          </a:p>
          <a:p>
            <a:pPr>
              <a:lnSpc>
                <a:spcPts val="3214"/>
              </a:lnSpc>
            </a:pPr>
            <a:endParaRPr lang="en-US" sz="2400">
              <a:solidFill>
                <a:srgbClr val="000000"/>
              </a:solidFill>
              <a:latin typeface="Telegraf"/>
            </a:endParaRPr>
          </a:p>
          <a:p>
            <a:pPr>
              <a:lnSpc>
                <a:spcPts val="3214"/>
              </a:lnSpc>
              <a:spcBef>
                <a:spcPct val="0"/>
              </a:spcBef>
            </a:pPr>
            <a:endParaRPr lang="en-US" sz="2400">
              <a:solidFill>
                <a:srgbClr val="000000"/>
              </a:solidFill>
              <a:latin typeface="Telegraf"/>
            </a:endParaRPr>
          </a:p>
          <a:p>
            <a:pPr>
              <a:lnSpc>
                <a:spcPts val="3214"/>
              </a:lnSpc>
              <a:spcBef>
                <a:spcPct val="0"/>
              </a:spcBef>
            </a:pPr>
            <a:endParaRPr lang="en-US" sz="2400">
              <a:solidFill>
                <a:srgbClr val="000000"/>
              </a:solidFill>
              <a:latin typeface="Telegraf"/>
            </a:endParaRPr>
          </a:p>
          <a:p>
            <a:pPr>
              <a:lnSpc>
                <a:spcPts val="3214"/>
              </a:lnSpc>
              <a:spcBef>
                <a:spcPct val="0"/>
              </a:spcBef>
            </a:pPr>
            <a:endParaRPr lang="en-US" sz="2400">
              <a:solidFill>
                <a:srgbClr val="000000"/>
              </a:solidFill>
              <a:latin typeface="Telegraf"/>
            </a:endParaRPr>
          </a:p>
          <a:p>
            <a:pPr>
              <a:lnSpc>
                <a:spcPts val="3214"/>
              </a:lnSpc>
              <a:spcBef>
                <a:spcPct val="0"/>
              </a:spcBef>
            </a:pPr>
            <a:endParaRPr lang="en-US" sz="2400">
              <a:solidFill>
                <a:srgbClr val="000000"/>
              </a:solidFill>
              <a:latin typeface="Telegraf"/>
            </a:endParaRPr>
          </a:p>
          <a:p>
            <a:pPr>
              <a:lnSpc>
                <a:spcPts val="3214"/>
              </a:lnSpc>
              <a:spcBef>
                <a:spcPct val="0"/>
              </a:spcBef>
            </a:pPr>
            <a:endParaRPr lang="en-US" sz="2400">
              <a:solidFill>
                <a:srgbClr val="000000"/>
              </a:solidFill>
              <a:latin typeface="Telegraf"/>
            </a:endParaRPr>
          </a:p>
        </p:txBody>
      </p:sp>
      <p:pic>
        <p:nvPicPr>
          <p:cNvPr id="6" name="Picture 6"/>
          <p:cNvPicPr>
            <a:picLocks noChangeAspect="1"/>
          </p:cNvPicPr>
          <p:nvPr/>
        </p:nvPicPr>
        <p:blipFill>
          <a:blip r:embed="rId2">
            <a:alphaModFix amt="42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9639870" y="-2309777"/>
            <a:ext cx="4183253" cy="4114800"/>
          </a:xfrm>
          <a:prstGeom prst="rect">
            <a:avLst/>
          </a:prstGeom>
        </p:spPr>
      </p:pic>
      <p:sp>
        <p:nvSpPr>
          <p:cNvPr id="7" name="TextBox 7"/>
          <p:cNvSpPr txBox="1"/>
          <p:nvPr/>
        </p:nvSpPr>
        <p:spPr>
          <a:xfrm>
            <a:off x="1028700" y="854728"/>
            <a:ext cx="9910764" cy="723900"/>
          </a:xfrm>
          <a:prstGeom prst="rect">
            <a:avLst/>
          </a:prstGeom>
        </p:spPr>
        <p:txBody>
          <a:bodyPr lIns="0" tIns="0" rIns="0" bIns="0" rtlCol="0" anchor="t">
            <a:spAutoFit/>
          </a:bodyPr>
          <a:lstStyle/>
          <a:p>
            <a:pPr>
              <a:lnSpc>
                <a:spcPts val="5759"/>
              </a:lnSpc>
            </a:pPr>
            <a:r>
              <a:rPr lang="en-US" sz="4800">
                <a:solidFill>
                  <a:srgbClr val="000000"/>
                </a:solidFill>
                <a:latin typeface="DM Sans Bold"/>
              </a:rPr>
              <a:t>Unsur unsur fraud</a:t>
            </a:r>
          </a:p>
        </p:txBody>
      </p:sp>
      <p:sp>
        <p:nvSpPr>
          <p:cNvPr id="8" name="TextBox 8"/>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9" name="TextBox 9"/>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25</a:t>
            </a:r>
          </a:p>
        </p:txBody>
      </p:sp>
    </p:spTree>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4723125" y="4305300"/>
            <a:ext cx="13564875" cy="1057275"/>
          </a:xfrm>
          <a:prstGeom prst="rect">
            <a:avLst/>
          </a:prstGeom>
        </p:spPr>
        <p:txBody>
          <a:bodyPr lIns="0" tIns="0" rIns="0" bIns="0" rtlCol="0" anchor="t">
            <a:spAutoFit/>
          </a:bodyPr>
          <a:lstStyle/>
          <a:p>
            <a:pPr>
              <a:lnSpc>
                <a:spcPts val="8399"/>
              </a:lnSpc>
            </a:pPr>
            <a:r>
              <a:rPr lang="en-US" sz="6999" dirty="0">
                <a:solidFill>
                  <a:srgbClr val="FFFFFF"/>
                </a:solidFill>
                <a:latin typeface="DM Sans Bold"/>
              </a:rPr>
              <a:t>4 PILAR ANTI FRAUD</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grpSp>
        <p:nvGrpSpPr>
          <p:cNvPr id="2" name="Group 2"/>
          <p:cNvGrpSpPr/>
          <p:nvPr/>
        </p:nvGrpSpPr>
        <p:grpSpPr>
          <a:xfrm>
            <a:off x="460713" y="557239"/>
            <a:ext cx="5358048" cy="723900"/>
            <a:chOff x="0" y="0"/>
            <a:chExt cx="1411173" cy="190657"/>
          </a:xfrm>
        </p:grpSpPr>
        <p:sp>
          <p:nvSpPr>
            <p:cNvPr id="3" name="Freeform 3"/>
            <p:cNvSpPr/>
            <p:nvPr/>
          </p:nvSpPr>
          <p:spPr>
            <a:xfrm>
              <a:off x="0" y="0"/>
              <a:ext cx="1411173" cy="190657"/>
            </a:xfrm>
            <a:custGeom>
              <a:avLst/>
              <a:gdLst/>
              <a:ahLst/>
              <a:cxnLst/>
              <a:rect l="l" t="t" r="r" b="b"/>
              <a:pathLst>
                <a:path w="1411173" h="190657">
                  <a:moveTo>
                    <a:pt x="73691" y="0"/>
                  </a:moveTo>
                  <a:lnTo>
                    <a:pt x="1337483" y="0"/>
                  </a:lnTo>
                  <a:cubicBezTo>
                    <a:pt x="1378181" y="0"/>
                    <a:pt x="1411173" y="32992"/>
                    <a:pt x="1411173" y="73691"/>
                  </a:cubicBezTo>
                  <a:lnTo>
                    <a:pt x="1411173" y="116966"/>
                  </a:lnTo>
                  <a:cubicBezTo>
                    <a:pt x="1411173" y="157664"/>
                    <a:pt x="1378181" y="190657"/>
                    <a:pt x="1337483" y="190657"/>
                  </a:cubicBezTo>
                  <a:lnTo>
                    <a:pt x="73691" y="190657"/>
                  </a:lnTo>
                  <a:cubicBezTo>
                    <a:pt x="32992" y="190657"/>
                    <a:pt x="0" y="157664"/>
                    <a:pt x="0" y="116966"/>
                  </a:cubicBezTo>
                  <a:lnTo>
                    <a:pt x="0" y="73691"/>
                  </a:lnTo>
                  <a:cubicBezTo>
                    <a:pt x="0" y="32992"/>
                    <a:pt x="32992" y="0"/>
                    <a:pt x="73691" y="0"/>
                  </a:cubicBezTo>
                  <a:close/>
                </a:path>
              </a:pathLst>
            </a:custGeom>
            <a:solidFill>
              <a:srgbClr val="F2F2F2"/>
            </a:solidFill>
          </p:spPr>
        </p:sp>
        <p:sp>
          <p:nvSpPr>
            <p:cNvPr id="4" name="TextBox 4"/>
            <p:cNvSpPr txBox="1"/>
            <p:nvPr/>
          </p:nvSpPr>
          <p:spPr>
            <a:xfrm>
              <a:off x="0" y="-47625"/>
              <a:ext cx="812800" cy="860425"/>
            </a:xfrm>
            <a:prstGeom prst="rect">
              <a:avLst/>
            </a:prstGeom>
          </p:spPr>
          <p:txBody>
            <a:bodyPr lIns="50800" tIns="50800" rIns="50800" bIns="50800" rtlCol="0" anchor="ctr"/>
            <a:lstStyle/>
            <a:p>
              <a:pPr algn="ctr">
                <a:lnSpc>
                  <a:spcPts val="2100"/>
                </a:lnSpc>
              </a:pPr>
              <a:endParaRPr/>
            </a:p>
          </p:txBody>
        </p:sp>
      </p:grpSp>
      <p:pic>
        <p:nvPicPr>
          <p:cNvPr id="5" name="Picture 5"/>
          <p:cNvPicPr>
            <a:picLocks noChangeAspect="1"/>
          </p:cNvPicPr>
          <p:nvPr/>
        </p:nvPicPr>
        <p:blipFill>
          <a:blip r:embed="rId2"/>
          <a:srcRect/>
          <a:stretch>
            <a:fillRect/>
          </a:stretch>
        </p:blipFill>
        <p:spPr>
          <a:xfrm>
            <a:off x="-2141210" y="4499732"/>
            <a:ext cx="4282420" cy="8229600"/>
          </a:xfrm>
          <a:prstGeom prst="rect">
            <a:avLst/>
          </a:prstGeom>
        </p:spPr>
      </p:pic>
      <p:sp>
        <p:nvSpPr>
          <p:cNvPr id="6" name="TextBox 6"/>
          <p:cNvSpPr txBox="1"/>
          <p:nvPr/>
        </p:nvSpPr>
        <p:spPr>
          <a:xfrm>
            <a:off x="1711174" y="1252564"/>
            <a:ext cx="15357783" cy="10534650"/>
          </a:xfrm>
          <a:prstGeom prst="rect">
            <a:avLst/>
          </a:prstGeom>
        </p:spPr>
        <p:txBody>
          <a:bodyPr lIns="0" tIns="0" rIns="0" bIns="0" rtlCol="0" anchor="t">
            <a:spAutoFit/>
          </a:bodyPr>
          <a:lstStyle/>
          <a:p>
            <a:pPr>
              <a:lnSpc>
                <a:spcPts val="2645"/>
              </a:lnSpc>
            </a:pPr>
            <a:endParaRPr dirty="0"/>
          </a:p>
          <a:p>
            <a:pPr>
              <a:lnSpc>
                <a:spcPts val="2645"/>
              </a:lnSpc>
            </a:pPr>
            <a:r>
              <a:rPr lang="en-US" sz="2204" dirty="0" err="1">
                <a:solidFill>
                  <a:srgbClr val="FFFFFF"/>
                </a:solidFill>
                <a:latin typeface="Telegraf"/>
              </a:rPr>
              <a:t>Penerapan</a:t>
            </a:r>
            <a:r>
              <a:rPr lang="en-US" sz="2204" dirty="0">
                <a:solidFill>
                  <a:srgbClr val="FFFFFF"/>
                </a:solidFill>
                <a:latin typeface="Telegraf"/>
              </a:rPr>
              <a:t> Strategi Anti Fraud </a:t>
            </a:r>
            <a:r>
              <a:rPr lang="en-US" sz="2204" dirty="0" err="1">
                <a:solidFill>
                  <a:srgbClr val="FFFFFF"/>
                </a:solidFill>
                <a:latin typeface="Telegraf"/>
              </a:rPr>
              <a:t>dalam</a:t>
            </a:r>
            <a:r>
              <a:rPr lang="en-US" sz="2204" dirty="0">
                <a:solidFill>
                  <a:srgbClr val="FFFFFF"/>
                </a:solidFill>
                <a:latin typeface="Telegraf"/>
              </a:rPr>
              <a:t> </a:t>
            </a:r>
            <a:r>
              <a:rPr lang="en-US" sz="2204" dirty="0" err="1">
                <a:solidFill>
                  <a:srgbClr val="FFFFFF"/>
                </a:solidFill>
                <a:latin typeface="Telegraf"/>
              </a:rPr>
              <a:t>bentuk</a:t>
            </a:r>
            <a:r>
              <a:rPr lang="en-US" sz="2204" dirty="0">
                <a:solidFill>
                  <a:srgbClr val="FFFFFF"/>
                </a:solidFill>
                <a:latin typeface="Telegraf"/>
              </a:rPr>
              <a:t> </a:t>
            </a:r>
            <a:r>
              <a:rPr lang="en-US" sz="2204" dirty="0" err="1">
                <a:solidFill>
                  <a:srgbClr val="FFFFFF"/>
                </a:solidFill>
                <a:latin typeface="Telegraf"/>
              </a:rPr>
              <a:t>sistem</a:t>
            </a:r>
            <a:r>
              <a:rPr lang="en-US" sz="2204" dirty="0">
                <a:solidFill>
                  <a:srgbClr val="FFFFFF"/>
                </a:solidFill>
                <a:latin typeface="Telegraf"/>
              </a:rPr>
              <a:t> </a:t>
            </a:r>
            <a:r>
              <a:rPr lang="en-US" sz="2204" dirty="0" err="1">
                <a:solidFill>
                  <a:srgbClr val="FFFFFF"/>
                </a:solidFill>
                <a:latin typeface="Telegraf"/>
              </a:rPr>
              <a:t>pengendalian</a:t>
            </a:r>
            <a:r>
              <a:rPr lang="en-US" sz="2204" dirty="0">
                <a:solidFill>
                  <a:srgbClr val="FFFFFF"/>
                </a:solidFill>
                <a:latin typeface="Telegraf"/>
              </a:rPr>
              <a:t> Fraud </a:t>
            </a:r>
            <a:r>
              <a:rPr lang="en-US" sz="2204" dirty="0" err="1">
                <a:solidFill>
                  <a:srgbClr val="FFFFFF"/>
                </a:solidFill>
                <a:latin typeface="Telegraf"/>
              </a:rPr>
              <a:t>dijabarkan</a:t>
            </a:r>
            <a:r>
              <a:rPr lang="en-US" sz="2204" dirty="0">
                <a:solidFill>
                  <a:srgbClr val="FFFFFF"/>
                </a:solidFill>
                <a:latin typeface="Telegraf"/>
              </a:rPr>
              <a:t> </a:t>
            </a:r>
            <a:r>
              <a:rPr lang="en-US" sz="2204" dirty="0" err="1">
                <a:solidFill>
                  <a:srgbClr val="FFFFFF"/>
                </a:solidFill>
                <a:latin typeface="Telegraf"/>
              </a:rPr>
              <a:t>melalui</a:t>
            </a:r>
            <a:r>
              <a:rPr lang="en-US" sz="2204" dirty="0">
                <a:solidFill>
                  <a:srgbClr val="FFFFFF"/>
                </a:solidFill>
                <a:latin typeface="Telegraf"/>
              </a:rPr>
              <a:t> 4 (</a:t>
            </a:r>
            <a:r>
              <a:rPr lang="en-US" sz="2204" dirty="0" err="1">
                <a:solidFill>
                  <a:srgbClr val="FFFFFF"/>
                </a:solidFill>
                <a:latin typeface="Telegraf"/>
              </a:rPr>
              <a:t>empat</a:t>
            </a:r>
            <a:r>
              <a:rPr lang="en-US" sz="2204" dirty="0">
                <a:solidFill>
                  <a:srgbClr val="FFFFFF"/>
                </a:solidFill>
                <a:latin typeface="Telegraf"/>
              </a:rPr>
              <a:t>) pilar strategi </a:t>
            </a:r>
            <a:r>
              <a:rPr lang="en-US" sz="2204" dirty="0" err="1">
                <a:solidFill>
                  <a:srgbClr val="FFFFFF"/>
                </a:solidFill>
                <a:latin typeface="Telegraf"/>
              </a:rPr>
              <a:t>pengendalian</a:t>
            </a:r>
            <a:r>
              <a:rPr lang="en-US" sz="2204" dirty="0">
                <a:solidFill>
                  <a:srgbClr val="FFFFFF"/>
                </a:solidFill>
                <a:latin typeface="Telegraf"/>
              </a:rPr>
              <a:t> Fraud yang </a:t>
            </a:r>
            <a:r>
              <a:rPr lang="en-US" sz="2204" dirty="0" err="1">
                <a:solidFill>
                  <a:srgbClr val="FFFFFF"/>
                </a:solidFill>
                <a:latin typeface="Telegraf"/>
              </a:rPr>
              <a:t>saling</a:t>
            </a:r>
            <a:r>
              <a:rPr lang="en-US" sz="2204" dirty="0">
                <a:solidFill>
                  <a:srgbClr val="FFFFFF"/>
                </a:solidFill>
                <a:latin typeface="Telegraf"/>
              </a:rPr>
              <a:t> </a:t>
            </a:r>
            <a:r>
              <a:rPr lang="en-US" sz="2204" dirty="0" err="1">
                <a:solidFill>
                  <a:srgbClr val="FFFFFF"/>
                </a:solidFill>
                <a:latin typeface="Telegraf"/>
              </a:rPr>
              <a:t>berkaitan</a:t>
            </a:r>
            <a:r>
              <a:rPr lang="en-US" sz="2204" dirty="0">
                <a:solidFill>
                  <a:srgbClr val="FFFFFF"/>
                </a:solidFill>
                <a:latin typeface="Telegraf"/>
              </a:rPr>
              <a:t> </a:t>
            </a:r>
            <a:r>
              <a:rPr lang="en-US" sz="2204" dirty="0" err="1">
                <a:solidFill>
                  <a:srgbClr val="FFFFFF"/>
                </a:solidFill>
                <a:latin typeface="Telegraf"/>
              </a:rPr>
              <a:t>yaitu</a:t>
            </a:r>
            <a:r>
              <a:rPr lang="en-US" sz="2204" dirty="0">
                <a:solidFill>
                  <a:srgbClr val="FFFFFF"/>
                </a:solidFill>
                <a:latin typeface="Telegraf"/>
              </a:rPr>
              <a:t>:</a:t>
            </a:r>
          </a:p>
          <a:p>
            <a:pPr>
              <a:lnSpc>
                <a:spcPts val="2645"/>
              </a:lnSpc>
            </a:pPr>
            <a:endParaRPr lang="en-US" sz="2204" dirty="0">
              <a:solidFill>
                <a:srgbClr val="FFFFFF"/>
              </a:solidFill>
              <a:latin typeface="Telegraf"/>
            </a:endParaRPr>
          </a:p>
          <a:p>
            <a:pPr>
              <a:lnSpc>
                <a:spcPts val="3359"/>
              </a:lnSpc>
            </a:pPr>
            <a:r>
              <a:rPr lang="en-US" sz="2799" dirty="0">
                <a:solidFill>
                  <a:srgbClr val="F2F2F2"/>
                </a:solidFill>
                <a:latin typeface="Telegraf Bold"/>
              </a:rPr>
              <a:t>1. </a:t>
            </a:r>
            <a:r>
              <a:rPr lang="en-US" sz="2799" dirty="0" err="1">
                <a:solidFill>
                  <a:srgbClr val="F2F2F2"/>
                </a:solidFill>
                <a:latin typeface="Telegraf Bold"/>
              </a:rPr>
              <a:t>Pencegahan</a:t>
            </a:r>
            <a:r>
              <a:rPr lang="en-US" sz="2799" dirty="0">
                <a:solidFill>
                  <a:srgbClr val="F2F2F2"/>
                </a:solidFill>
                <a:latin typeface="Telegraf Bold"/>
              </a:rPr>
              <a:t> Fraud</a:t>
            </a:r>
          </a:p>
          <a:p>
            <a:pPr>
              <a:lnSpc>
                <a:spcPts val="2645"/>
              </a:lnSpc>
            </a:pPr>
            <a:r>
              <a:rPr lang="en-US" sz="2204" dirty="0">
                <a:solidFill>
                  <a:srgbClr val="FFFFFF"/>
                </a:solidFill>
                <a:latin typeface="Telegraf"/>
              </a:rPr>
              <a:t>Pilar </a:t>
            </a:r>
            <a:r>
              <a:rPr lang="en-US" sz="2204" dirty="0" err="1">
                <a:solidFill>
                  <a:srgbClr val="FFFFFF"/>
                </a:solidFill>
                <a:latin typeface="Telegraf"/>
              </a:rPr>
              <a:t>pencegahan</a:t>
            </a:r>
            <a:r>
              <a:rPr lang="en-US" sz="2204" dirty="0">
                <a:solidFill>
                  <a:srgbClr val="FFFFFF"/>
                </a:solidFill>
                <a:latin typeface="Telegraf"/>
              </a:rPr>
              <a:t> </a:t>
            </a:r>
            <a:r>
              <a:rPr lang="en-US" sz="2204" dirty="0" err="1">
                <a:solidFill>
                  <a:srgbClr val="FFFFFF"/>
                </a:solidFill>
                <a:latin typeface="Telegraf"/>
              </a:rPr>
              <a:t>memuat</a:t>
            </a:r>
            <a:r>
              <a:rPr lang="en-US" sz="2204" dirty="0">
                <a:solidFill>
                  <a:srgbClr val="FFFFFF"/>
                </a:solidFill>
                <a:latin typeface="Telegraf"/>
              </a:rPr>
              <a:t> </a:t>
            </a:r>
            <a:r>
              <a:rPr lang="en-US" sz="2204" dirty="0" err="1">
                <a:solidFill>
                  <a:srgbClr val="FFFFFF"/>
                </a:solidFill>
                <a:latin typeface="Telegraf"/>
              </a:rPr>
              <a:t>perangkat-perangkat</a:t>
            </a:r>
            <a:r>
              <a:rPr lang="en-US" sz="2204" dirty="0">
                <a:solidFill>
                  <a:srgbClr val="FFFFFF"/>
                </a:solidFill>
                <a:latin typeface="Telegraf"/>
              </a:rPr>
              <a:t> yang </a:t>
            </a:r>
            <a:r>
              <a:rPr lang="en-US" sz="2204" dirty="0" err="1">
                <a:solidFill>
                  <a:srgbClr val="FFFFFF"/>
                </a:solidFill>
                <a:latin typeface="Telegraf"/>
              </a:rPr>
              <a:t>ditujukan</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mengurangi</a:t>
            </a:r>
            <a:r>
              <a:rPr lang="en-US" sz="2204" dirty="0">
                <a:solidFill>
                  <a:srgbClr val="FFFFFF"/>
                </a:solidFill>
                <a:latin typeface="Telegraf"/>
              </a:rPr>
              <a:t> </a:t>
            </a:r>
            <a:r>
              <a:rPr lang="en-US" sz="2204" dirty="0" err="1">
                <a:solidFill>
                  <a:srgbClr val="FFFFFF"/>
                </a:solidFill>
                <a:latin typeface="Telegraf"/>
              </a:rPr>
              <a:t>potensi</a:t>
            </a:r>
            <a:r>
              <a:rPr lang="en-US" sz="2204" dirty="0">
                <a:solidFill>
                  <a:srgbClr val="FFFFFF"/>
                </a:solidFill>
                <a:latin typeface="Telegraf"/>
              </a:rPr>
              <a:t> </a:t>
            </a:r>
            <a:r>
              <a:rPr lang="en-US" sz="2204" dirty="0" err="1">
                <a:solidFill>
                  <a:srgbClr val="FFFFFF"/>
                </a:solidFill>
                <a:latin typeface="Telegraf"/>
              </a:rPr>
              <a:t>terjadinya</a:t>
            </a:r>
            <a:r>
              <a:rPr lang="en-US" sz="2204" dirty="0">
                <a:solidFill>
                  <a:srgbClr val="FFFFFF"/>
                </a:solidFill>
                <a:latin typeface="Telegraf"/>
              </a:rPr>
              <a:t> Fraud, yang paling </a:t>
            </a:r>
            <a:r>
              <a:rPr lang="en-US" sz="2204" dirty="0" err="1">
                <a:solidFill>
                  <a:srgbClr val="FFFFFF"/>
                </a:solidFill>
                <a:latin typeface="Telegraf"/>
              </a:rPr>
              <a:t>kurang</a:t>
            </a:r>
            <a:r>
              <a:rPr lang="en-US" sz="2204" dirty="0">
                <a:solidFill>
                  <a:srgbClr val="FFFFFF"/>
                </a:solidFill>
                <a:latin typeface="Telegraf"/>
              </a:rPr>
              <a:t> </a:t>
            </a:r>
            <a:r>
              <a:rPr lang="en-US" sz="2204" dirty="0" err="1">
                <a:solidFill>
                  <a:srgbClr val="FFFFFF"/>
                </a:solidFill>
                <a:latin typeface="Telegraf"/>
              </a:rPr>
              <a:t>mencakup</a:t>
            </a:r>
            <a:r>
              <a:rPr lang="en-US" sz="2204" dirty="0">
                <a:solidFill>
                  <a:srgbClr val="FFFFFF"/>
                </a:solidFill>
                <a:latin typeface="Telegraf"/>
              </a:rPr>
              <a:t>:</a:t>
            </a:r>
          </a:p>
          <a:p>
            <a:pPr>
              <a:lnSpc>
                <a:spcPts val="2645"/>
              </a:lnSpc>
            </a:pPr>
            <a:endParaRPr lang="en-US" sz="2204" dirty="0">
              <a:solidFill>
                <a:srgbClr val="FFFFFF"/>
              </a:solidFill>
              <a:latin typeface="Telegraf"/>
            </a:endParaRPr>
          </a:p>
          <a:p>
            <a:pPr>
              <a:lnSpc>
                <a:spcPts val="3359"/>
              </a:lnSpc>
            </a:pPr>
            <a:r>
              <a:rPr lang="en-US" sz="2799" dirty="0">
                <a:solidFill>
                  <a:srgbClr val="FFFFFF"/>
                </a:solidFill>
                <a:latin typeface="Telegraf"/>
              </a:rPr>
              <a:t>   A.  Anti Fraud Awareness</a:t>
            </a:r>
          </a:p>
          <a:p>
            <a:pPr marL="177800">
              <a:lnSpc>
                <a:spcPts val="2645"/>
              </a:lnSpc>
            </a:pPr>
            <a:r>
              <a:rPr lang="en-US" sz="2204" dirty="0">
                <a:solidFill>
                  <a:srgbClr val="FFFFFF"/>
                </a:solidFill>
                <a:latin typeface="Telegraf"/>
              </a:rPr>
              <a:t>Anti Fraud Awareness </a:t>
            </a:r>
            <a:r>
              <a:rPr lang="en-US" sz="2204" dirty="0" err="1">
                <a:solidFill>
                  <a:srgbClr val="FFFFFF"/>
                </a:solidFill>
                <a:latin typeface="Telegraf"/>
              </a:rPr>
              <a:t>sebagai</a:t>
            </a:r>
            <a:r>
              <a:rPr lang="en-US" sz="2204" dirty="0">
                <a:solidFill>
                  <a:srgbClr val="FFFFFF"/>
                </a:solidFill>
                <a:latin typeface="Telegraf"/>
              </a:rPr>
              <a:t> </a:t>
            </a:r>
            <a:r>
              <a:rPr lang="en-US" sz="2204" dirty="0" err="1">
                <a:solidFill>
                  <a:srgbClr val="FFFFFF"/>
                </a:solidFill>
                <a:latin typeface="Telegraf"/>
              </a:rPr>
              <a:t>upaya</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menumbuhkan</a:t>
            </a:r>
            <a:r>
              <a:rPr lang="en-US" sz="2204" dirty="0">
                <a:solidFill>
                  <a:srgbClr val="FFFFFF"/>
                </a:solidFill>
                <a:latin typeface="Telegraf"/>
              </a:rPr>
              <a:t> </a:t>
            </a:r>
            <a:r>
              <a:rPr lang="en-US" sz="2204" dirty="0" err="1">
                <a:solidFill>
                  <a:srgbClr val="FFFFFF"/>
                </a:solidFill>
                <a:latin typeface="Telegraf"/>
              </a:rPr>
              <a:t>kesadaran</a:t>
            </a:r>
            <a:r>
              <a:rPr lang="en-US" sz="2204" dirty="0">
                <a:solidFill>
                  <a:srgbClr val="FFFFFF"/>
                </a:solidFill>
                <a:latin typeface="Telegraf"/>
              </a:rPr>
              <a:t> dan </a:t>
            </a:r>
            <a:r>
              <a:rPr lang="en-US" sz="2204" dirty="0" err="1">
                <a:solidFill>
                  <a:srgbClr val="FFFFFF"/>
                </a:solidFill>
                <a:latin typeface="Telegraf"/>
              </a:rPr>
              <a:t>kepedulian</a:t>
            </a:r>
            <a:r>
              <a:rPr lang="en-US" sz="2204" dirty="0">
                <a:solidFill>
                  <a:srgbClr val="FFFFFF"/>
                </a:solidFill>
                <a:latin typeface="Telegraf"/>
              </a:rPr>
              <a:t> </a:t>
            </a:r>
            <a:r>
              <a:rPr lang="en-US" sz="2204" dirty="0" err="1">
                <a:solidFill>
                  <a:srgbClr val="FFFFFF"/>
                </a:solidFill>
                <a:latin typeface="Telegraf"/>
              </a:rPr>
              <a:t>semua</a:t>
            </a:r>
            <a:r>
              <a:rPr lang="en-US" sz="2204" dirty="0">
                <a:solidFill>
                  <a:srgbClr val="FFFFFF"/>
                </a:solidFill>
                <a:latin typeface="Telegraf"/>
              </a:rPr>
              <a:t> </a:t>
            </a:r>
            <a:r>
              <a:rPr lang="en-US" sz="2204" dirty="0" err="1">
                <a:solidFill>
                  <a:srgbClr val="FFFFFF"/>
                </a:solidFill>
                <a:latin typeface="Telegraf"/>
              </a:rPr>
              <a:t>unsur</a:t>
            </a:r>
            <a:r>
              <a:rPr lang="en-US" sz="2204" dirty="0">
                <a:solidFill>
                  <a:srgbClr val="FFFFFF"/>
                </a:solidFill>
                <a:latin typeface="Telegraf"/>
              </a:rPr>
              <a:t> di Perseroan </a:t>
            </a:r>
            <a:r>
              <a:rPr lang="en-US" sz="2204" dirty="0" err="1">
                <a:solidFill>
                  <a:srgbClr val="FFFFFF"/>
                </a:solidFill>
                <a:latin typeface="Telegraf"/>
              </a:rPr>
              <a:t>terhadap</a:t>
            </a:r>
            <a:r>
              <a:rPr lang="en-US" sz="2204" dirty="0">
                <a:solidFill>
                  <a:srgbClr val="FFFFFF"/>
                </a:solidFill>
                <a:latin typeface="Telegraf"/>
              </a:rPr>
              <a:t> </a:t>
            </a:r>
            <a:r>
              <a:rPr lang="en-US" sz="2204" dirty="0" err="1">
                <a:solidFill>
                  <a:srgbClr val="FFFFFF"/>
                </a:solidFill>
                <a:latin typeface="Telegraf"/>
              </a:rPr>
              <a:t>pengendalian</a:t>
            </a:r>
            <a:r>
              <a:rPr lang="en-US" sz="2204" dirty="0">
                <a:solidFill>
                  <a:srgbClr val="FFFFFF"/>
                </a:solidFill>
                <a:latin typeface="Telegraf"/>
              </a:rPr>
              <a:t> Fraud. </a:t>
            </a:r>
            <a:r>
              <a:rPr lang="en-US" sz="2204" dirty="0" err="1">
                <a:solidFill>
                  <a:srgbClr val="FFFFFF"/>
                </a:solidFill>
                <a:latin typeface="Telegraf"/>
              </a:rPr>
              <a:t>Upaya</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menumbuhkan</a:t>
            </a:r>
            <a:r>
              <a:rPr lang="en-US" sz="2204" dirty="0">
                <a:solidFill>
                  <a:srgbClr val="FFFFFF"/>
                </a:solidFill>
                <a:latin typeface="Telegraf"/>
              </a:rPr>
              <a:t> Anti Fraud Awareness </a:t>
            </a:r>
            <a:r>
              <a:rPr lang="en-US" sz="2204" dirty="0" err="1">
                <a:solidFill>
                  <a:srgbClr val="FFFFFF"/>
                </a:solidFill>
                <a:latin typeface="Telegraf"/>
              </a:rPr>
              <a:t>dilakukan</a:t>
            </a:r>
            <a:r>
              <a:rPr lang="en-US" sz="2204" dirty="0">
                <a:solidFill>
                  <a:srgbClr val="FFFFFF"/>
                </a:solidFill>
                <a:latin typeface="Telegraf"/>
              </a:rPr>
              <a:t> </a:t>
            </a:r>
            <a:r>
              <a:rPr lang="en-US" sz="2204" dirty="0" err="1">
                <a:solidFill>
                  <a:srgbClr val="FFFFFF"/>
                </a:solidFill>
                <a:latin typeface="Telegraf"/>
              </a:rPr>
              <a:t>antara</a:t>
            </a:r>
            <a:r>
              <a:rPr lang="en-US" sz="2204" dirty="0">
                <a:solidFill>
                  <a:srgbClr val="FFFFFF"/>
                </a:solidFill>
                <a:latin typeface="Telegraf"/>
              </a:rPr>
              <a:t> lain </a:t>
            </a:r>
            <a:r>
              <a:rPr lang="en-US" sz="2204" dirty="0" err="1">
                <a:solidFill>
                  <a:srgbClr val="FFFFFF"/>
                </a:solidFill>
                <a:latin typeface="Telegraf"/>
              </a:rPr>
              <a:t>melalui</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marL="475975" lvl="1" indent="-237988">
              <a:lnSpc>
                <a:spcPts val="2645"/>
              </a:lnSpc>
              <a:buFont typeface="Arial"/>
              <a:buChar char="•"/>
            </a:pPr>
            <a:r>
              <a:rPr lang="en-US" sz="2204" dirty="0" err="1">
                <a:solidFill>
                  <a:srgbClr val="FFFFFF"/>
                </a:solidFill>
                <a:latin typeface="Telegraf"/>
              </a:rPr>
              <a:t>Sosialisasi</a:t>
            </a:r>
            <a:r>
              <a:rPr lang="en-US" sz="2204" dirty="0">
                <a:solidFill>
                  <a:srgbClr val="FFFFFF"/>
                </a:solidFill>
                <a:latin typeface="Telegraf"/>
              </a:rPr>
              <a:t> Anti Fraud Statement</a:t>
            </a:r>
          </a:p>
          <a:p>
            <a:pPr lvl="1">
              <a:lnSpc>
                <a:spcPts val="2645"/>
              </a:lnSpc>
            </a:pPr>
            <a:r>
              <a:rPr lang="en-US" sz="2204" dirty="0">
                <a:solidFill>
                  <a:srgbClr val="FFFFFF"/>
                </a:solidFill>
                <a:latin typeface="Telegraf"/>
              </a:rPr>
              <a:t>Adapun </a:t>
            </a:r>
            <a:r>
              <a:rPr lang="en-US" sz="2204" dirty="0" err="1">
                <a:solidFill>
                  <a:srgbClr val="FFFFFF"/>
                </a:solidFill>
                <a:latin typeface="Telegraf"/>
              </a:rPr>
              <a:t>penerapannya</a:t>
            </a:r>
            <a:r>
              <a:rPr lang="en-US" sz="2204" dirty="0">
                <a:solidFill>
                  <a:srgbClr val="FFFFFF"/>
                </a:solidFill>
                <a:latin typeface="Telegraf"/>
              </a:rPr>
              <a:t> </a:t>
            </a:r>
            <a:r>
              <a:rPr lang="en-US" sz="2204" dirty="0" err="1">
                <a:solidFill>
                  <a:srgbClr val="FFFFFF"/>
                </a:solidFill>
                <a:latin typeface="Telegraf"/>
              </a:rPr>
              <a:t>bisa</a:t>
            </a:r>
            <a:r>
              <a:rPr lang="en-US" sz="2204" dirty="0">
                <a:solidFill>
                  <a:srgbClr val="FFFFFF"/>
                </a:solidFill>
                <a:latin typeface="Telegraf"/>
              </a:rPr>
              <a:t> </a:t>
            </a:r>
            <a:r>
              <a:rPr lang="en-US" sz="2204" dirty="0" err="1">
                <a:solidFill>
                  <a:srgbClr val="FFFFFF"/>
                </a:solidFill>
                <a:latin typeface="Telegraf"/>
              </a:rPr>
              <a:t>dalam</a:t>
            </a:r>
            <a:r>
              <a:rPr lang="en-US" sz="2204" dirty="0">
                <a:solidFill>
                  <a:srgbClr val="FFFFFF"/>
                </a:solidFill>
                <a:latin typeface="Telegraf"/>
              </a:rPr>
              <a:t> </a:t>
            </a:r>
            <a:r>
              <a:rPr lang="en-US" sz="2204" dirty="0" err="1">
                <a:solidFill>
                  <a:srgbClr val="FFFFFF"/>
                </a:solidFill>
                <a:latin typeface="Telegraf"/>
              </a:rPr>
              <a:t>bentuk</a:t>
            </a:r>
            <a:r>
              <a:rPr lang="en-US" sz="2204" dirty="0">
                <a:solidFill>
                  <a:srgbClr val="FFFFFF"/>
                </a:solidFill>
                <a:latin typeface="Telegraf"/>
              </a:rPr>
              <a:t> </a:t>
            </a:r>
            <a:r>
              <a:rPr lang="en-US" sz="2204" dirty="0" err="1">
                <a:solidFill>
                  <a:srgbClr val="FFFFFF"/>
                </a:solidFill>
                <a:latin typeface="Telegraf"/>
              </a:rPr>
              <a:t>kebijakan</a:t>
            </a:r>
            <a:r>
              <a:rPr lang="en-US" sz="2204" dirty="0">
                <a:solidFill>
                  <a:srgbClr val="FFFFFF"/>
                </a:solidFill>
                <a:latin typeface="Telegraf"/>
              </a:rPr>
              <a:t>/</a:t>
            </a:r>
            <a:r>
              <a:rPr lang="en-US" sz="2204" dirty="0" err="1">
                <a:solidFill>
                  <a:srgbClr val="FFFFFF"/>
                </a:solidFill>
                <a:latin typeface="Telegraf"/>
              </a:rPr>
              <a:t>pernyataan</a:t>
            </a:r>
            <a:r>
              <a:rPr lang="en-US" sz="2204" dirty="0">
                <a:solidFill>
                  <a:srgbClr val="FFFFFF"/>
                </a:solidFill>
                <a:latin typeface="Telegraf"/>
              </a:rPr>
              <a:t> zero tolerance </a:t>
            </a:r>
            <a:r>
              <a:rPr lang="en-US" sz="2204" dirty="0" err="1">
                <a:solidFill>
                  <a:srgbClr val="FFFFFF"/>
                </a:solidFill>
                <a:latin typeface="Telegraf"/>
              </a:rPr>
              <a:t>terhadap</a:t>
            </a:r>
            <a:r>
              <a:rPr lang="en-US" sz="2204" dirty="0">
                <a:solidFill>
                  <a:srgbClr val="FFFFFF"/>
                </a:solidFill>
                <a:latin typeface="Telegraf"/>
              </a:rPr>
              <a:t> fraud yang </a:t>
            </a:r>
            <a:r>
              <a:rPr lang="en-US" sz="2204" dirty="0" err="1">
                <a:solidFill>
                  <a:srgbClr val="FFFFFF"/>
                </a:solidFill>
                <a:latin typeface="Telegraf"/>
              </a:rPr>
              <a:t>disampaikan</a:t>
            </a:r>
            <a:r>
              <a:rPr lang="en-US" sz="2204" dirty="0">
                <a:solidFill>
                  <a:srgbClr val="FFFFFF"/>
                </a:solidFill>
                <a:latin typeface="Telegraf"/>
              </a:rPr>
              <a:t> </a:t>
            </a:r>
            <a:r>
              <a:rPr lang="en-US" sz="2204" dirty="0" err="1">
                <a:solidFill>
                  <a:srgbClr val="FFFFFF"/>
                </a:solidFill>
                <a:latin typeface="Telegraf"/>
              </a:rPr>
              <a:t>kepada</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internal, partner </a:t>
            </a:r>
            <a:r>
              <a:rPr lang="en-US" sz="2204" dirty="0" err="1">
                <a:solidFill>
                  <a:srgbClr val="FFFFFF"/>
                </a:solidFill>
                <a:latin typeface="Telegraf"/>
              </a:rPr>
              <a:t>kerja</a:t>
            </a:r>
            <a:r>
              <a:rPr lang="en-US" sz="2204" dirty="0">
                <a:solidFill>
                  <a:srgbClr val="FFFFFF"/>
                </a:solidFill>
                <a:latin typeface="Telegraf"/>
              </a:rPr>
              <a:t>, </a:t>
            </a:r>
            <a:r>
              <a:rPr lang="en-US" sz="2204" dirty="0" err="1">
                <a:solidFill>
                  <a:srgbClr val="FFFFFF"/>
                </a:solidFill>
                <a:latin typeface="Telegraf"/>
              </a:rPr>
              <a:t>konsumen</a:t>
            </a:r>
            <a:r>
              <a:rPr lang="en-US" sz="2204" dirty="0">
                <a:solidFill>
                  <a:srgbClr val="FFFFFF"/>
                </a:solidFill>
                <a:latin typeface="Telegraf"/>
              </a:rPr>
              <a:t> dan </a:t>
            </a:r>
            <a:r>
              <a:rPr lang="en-US" sz="2204" dirty="0" err="1">
                <a:solidFill>
                  <a:srgbClr val="FFFFFF"/>
                </a:solidFill>
                <a:latin typeface="Telegraf"/>
              </a:rPr>
              <a:t>pihak-pihak</a:t>
            </a:r>
            <a:r>
              <a:rPr lang="en-US" sz="2204" dirty="0">
                <a:solidFill>
                  <a:srgbClr val="FFFFFF"/>
                </a:solidFill>
                <a:latin typeface="Telegraf"/>
              </a:rPr>
              <a:t> </a:t>
            </a:r>
            <a:r>
              <a:rPr lang="en-US" sz="2204" dirty="0" err="1">
                <a:solidFill>
                  <a:srgbClr val="FFFFFF"/>
                </a:solidFill>
                <a:latin typeface="Telegraf"/>
              </a:rPr>
              <a:t>terkait</a:t>
            </a:r>
            <a:r>
              <a:rPr lang="en-US" sz="2204" dirty="0">
                <a:solidFill>
                  <a:srgbClr val="FFFFFF"/>
                </a:solidFill>
                <a:latin typeface="Telegraf"/>
              </a:rPr>
              <a:t> </a:t>
            </a:r>
            <a:r>
              <a:rPr lang="en-US" sz="2204" dirty="0" err="1">
                <a:solidFill>
                  <a:srgbClr val="FFFFFF"/>
                </a:solidFill>
                <a:latin typeface="Telegraf"/>
              </a:rPr>
              <a:t>dalam</a:t>
            </a:r>
            <a:r>
              <a:rPr lang="en-US" sz="2204" dirty="0">
                <a:solidFill>
                  <a:srgbClr val="FFFFFF"/>
                </a:solidFill>
                <a:latin typeface="Telegraf"/>
              </a:rPr>
              <a:t> </a:t>
            </a:r>
            <a:r>
              <a:rPr lang="en-US" sz="2204" dirty="0" err="1">
                <a:solidFill>
                  <a:srgbClr val="FFFFFF"/>
                </a:solidFill>
                <a:latin typeface="Telegraf"/>
              </a:rPr>
              <a:t>kegiatan</a:t>
            </a:r>
            <a:r>
              <a:rPr lang="en-US" sz="2204" dirty="0">
                <a:solidFill>
                  <a:srgbClr val="FFFFFF"/>
                </a:solidFill>
                <a:latin typeface="Telegraf"/>
              </a:rPr>
              <a:t> </a:t>
            </a:r>
            <a:r>
              <a:rPr lang="en-US" sz="2204" dirty="0" err="1">
                <a:solidFill>
                  <a:srgbClr val="FFFFFF"/>
                </a:solidFill>
                <a:latin typeface="Telegraf"/>
              </a:rPr>
              <a:t>bisnis</a:t>
            </a:r>
            <a:r>
              <a:rPr lang="en-US" sz="2204" dirty="0">
                <a:solidFill>
                  <a:srgbClr val="FFFFFF"/>
                </a:solidFill>
                <a:latin typeface="Telegraf"/>
              </a:rPr>
              <a:t> </a:t>
            </a:r>
            <a:r>
              <a:rPr lang="en-US" sz="2204" dirty="0" err="1">
                <a:solidFill>
                  <a:srgbClr val="FFFFFF"/>
                </a:solidFill>
                <a:latin typeface="Telegraf"/>
              </a:rPr>
              <a:t>perusahaan</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marL="475975" lvl="1" indent="-237988">
              <a:lnSpc>
                <a:spcPts val="2645"/>
              </a:lnSpc>
              <a:buFont typeface="Arial"/>
              <a:buChar char="•"/>
            </a:pPr>
            <a:r>
              <a:rPr lang="en-US" sz="2204" dirty="0">
                <a:solidFill>
                  <a:srgbClr val="FFFFFF"/>
                </a:solidFill>
                <a:latin typeface="Telegraf"/>
              </a:rPr>
              <a:t>Program employee awareness</a:t>
            </a:r>
          </a:p>
          <a:p>
            <a:pPr lvl="1">
              <a:lnSpc>
                <a:spcPts val="2645"/>
              </a:lnSpc>
            </a:pPr>
            <a:r>
              <a:rPr lang="en-US" sz="2204" dirty="0">
                <a:solidFill>
                  <a:srgbClr val="FFFFFF"/>
                </a:solidFill>
                <a:latin typeface="Telegraf"/>
              </a:rPr>
              <a:t>Adapun </a:t>
            </a:r>
            <a:r>
              <a:rPr lang="en-US" sz="2204" dirty="0" err="1">
                <a:solidFill>
                  <a:srgbClr val="FFFFFF"/>
                </a:solidFill>
                <a:latin typeface="Telegraf"/>
              </a:rPr>
              <a:t>penerapannya</a:t>
            </a:r>
            <a:r>
              <a:rPr lang="en-US" sz="2204" dirty="0">
                <a:solidFill>
                  <a:srgbClr val="FFFFFF"/>
                </a:solidFill>
                <a:latin typeface="Telegraf"/>
              </a:rPr>
              <a:t> </a:t>
            </a:r>
            <a:r>
              <a:rPr lang="en-US" sz="2204" dirty="0" err="1">
                <a:solidFill>
                  <a:srgbClr val="FFFFFF"/>
                </a:solidFill>
                <a:latin typeface="Telegraf"/>
              </a:rPr>
              <a:t>bisa</a:t>
            </a:r>
            <a:r>
              <a:rPr lang="en-US" sz="2204" dirty="0">
                <a:solidFill>
                  <a:srgbClr val="FFFFFF"/>
                </a:solidFill>
                <a:latin typeface="Telegraf"/>
              </a:rPr>
              <a:t> </a:t>
            </a:r>
            <a:r>
              <a:rPr lang="en-US" sz="2204" dirty="0" err="1">
                <a:solidFill>
                  <a:srgbClr val="FFFFFF"/>
                </a:solidFill>
                <a:latin typeface="Telegraf"/>
              </a:rPr>
              <a:t>dalam</a:t>
            </a:r>
            <a:r>
              <a:rPr lang="en-US" sz="2204" dirty="0">
                <a:solidFill>
                  <a:srgbClr val="FFFFFF"/>
                </a:solidFill>
                <a:latin typeface="Telegraf"/>
              </a:rPr>
              <a:t> </a:t>
            </a:r>
            <a:r>
              <a:rPr lang="en-US" sz="2204" dirty="0" err="1">
                <a:solidFill>
                  <a:srgbClr val="FFFFFF"/>
                </a:solidFill>
                <a:latin typeface="Telegraf"/>
              </a:rPr>
              <a:t>bentuk</a:t>
            </a:r>
            <a:r>
              <a:rPr lang="en-US" sz="2204" dirty="0">
                <a:solidFill>
                  <a:srgbClr val="FFFFFF"/>
                </a:solidFill>
                <a:latin typeface="Telegraf"/>
              </a:rPr>
              <a:t> </a:t>
            </a:r>
            <a:r>
              <a:rPr lang="en-US" sz="2204" dirty="0" err="1">
                <a:solidFill>
                  <a:srgbClr val="FFFFFF"/>
                </a:solidFill>
                <a:latin typeface="Telegraf"/>
              </a:rPr>
              <a:t>penyelenggaraan</a:t>
            </a:r>
            <a:r>
              <a:rPr lang="en-US" sz="2204" dirty="0">
                <a:solidFill>
                  <a:srgbClr val="FFFFFF"/>
                </a:solidFill>
                <a:latin typeface="Telegraf"/>
              </a:rPr>
              <a:t> seminar </a:t>
            </a:r>
            <a:r>
              <a:rPr lang="en-US" sz="2204" dirty="0" err="1">
                <a:solidFill>
                  <a:srgbClr val="FFFFFF"/>
                </a:solidFill>
                <a:latin typeface="Telegraf"/>
              </a:rPr>
              <a:t>atau</a:t>
            </a:r>
            <a:r>
              <a:rPr lang="en-US" sz="2204" dirty="0">
                <a:solidFill>
                  <a:srgbClr val="FFFFFF"/>
                </a:solidFill>
                <a:latin typeface="Telegraf"/>
              </a:rPr>
              <a:t> </a:t>
            </a:r>
            <a:r>
              <a:rPr lang="en-US" sz="2204" dirty="0" err="1">
                <a:solidFill>
                  <a:srgbClr val="FFFFFF"/>
                </a:solidFill>
                <a:latin typeface="Telegraf"/>
              </a:rPr>
              <a:t>diskusi</a:t>
            </a:r>
            <a:r>
              <a:rPr lang="en-US" sz="2204" dirty="0">
                <a:solidFill>
                  <a:srgbClr val="FFFFFF"/>
                </a:solidFill>
                <a:latin typeface="Telegraf"/>
              </a:rPr>
              <a:t> </a:t>
            </a:r>
            <a:r>
              <a:rPr lang="en-US" sz="2204" dirty="0" err="1">
                <a:solidFill>
                  <a:srgbClr val="FFFFFF"/>
                </a:solidFill>
                <a:latin typeface="Telegraf"/>
              </a:rPr>
              <a:t>terkait</a:t>
            </a:r>
            <a:r>
              <a:rPr lang="en-US" sz="2204" dirty="0">
                <a:solidFill>
                  <a:srgbClr val="FFFFFF"/>
                </a:solidFill>
                <a:latin typeface="Telegraf"/>
              </a:rPr>
              <a:t> anti Fraud, training, </a:t>
            </a:r>
            <a:r>
              <a:rPr lang="en-US" sz="2204" dirty="0" err="1">
                <a:solidFill>
                  <a:srgbClr val="FFFFFF"/>
                </a:solidFill>
                <a:latin typeface="Telegraf"/>
              </a:rPr>
              <a:t>publikasi</a:t>
            </a:r>
            <a:r>
              <a:rPr lang="en-US" sz="2204" dirty="0">
                <a:solidFill>
                  <a:srgbClr val="FFFFFF"/>
                </a:solidFill>
                <a:latin typeface="Telegraf"/>
              </a:rPr>
              <a:t> </a:t>
            </a:r>
            <a:r>
              <a:rPr lang="en-US" sz="2204" dirty="0" err="1">
                <a:solidFill>
                  <a:srgbClr val="FFFFFF"/>
                </a:solidFill>
                <a:latin typeface="Telegraf"/>
              </a:rPr>
              <a:t>mengenai</a:t>
            </a:r>
            <a:r>
              <a:rPr lang="en-US" sz="2204" dirty="0">
                <a:solidFill>
                  <a:srgbClr val="FFFFFF"/>
                </a:solidFill>
                <a:latin typeface="Telegraf"/>
              </a:rPr>
              <a:t> </a:t>
            </a:r>
            <a:r>
              <a:rPr lang="en-US" sz="2204" dirty="0" err="1">
                <a:solidFill>
                  <a:srgbClr val="FFFFFF"/>
                </a:solidFill>
                <a:latin typeface="Telegraf"/>
              </a:rPr>
              <a:t>pemahaman</a:t>
            </a:r>
            <a:r>
              <a:rPr lang="en-US" sz="2204" dirty="0">
                <a:solidFill>
                  <a:srgbClr val="FFFFFF"/>
                </a:solidFill>
                <a:latin typeface="Telegraf"/>
              </a:rPr>
              <a:t> </a:t>
            </a:r>
            <a:r>
              <a:rPr lang="en-US" sz="2204" dirty="0" err="1">
                <a:solidFill>
                  <a:srgbClr val="FFFFFF"/>
                </a:solidFill>
                <a:latin typeface="Telegraf"/>
              </a:rPr>
              <a:t>terhadap</a:t>
            </a:r>
            <a:r>
              <a:rPr lang="en-US" sz="2204" dirty="0">
                <a:solidFill>
                  <a:srgbClr val="FFFFFF"/>
                </a:solidFill>
                <a:latin typeface="Telegraf"/>
              </a:rPr>
              <a:t> </a:t>
            </a:r>
            <a:r>
              <a:rPr lang="en-US" sz="2204" dirty="0" err="1">
                <a:solidFill>
                  <a:srgbClr val="FFFFFF"/>
                </a:solidFill>
                <a:latin typeface="Telegraf"/>
              </a:rPr>
              <a:t>bentuk</a:t>
            </a:r>
            <a:r>
              <a:rPr lang="en-US" sz="2204" dirty="0">
                <a:solidFill>
                  <a:srgbClr val="FFFFFF"/>
                </a:solidFill>
                <a:latin typeface="Telegraf"/>
              </a:rPr>
              <a:t> fraud, </a:t>
            </a:r>
            <a:r>
              <a:rPr lang="en-US" sz="2204" dirty="0" err="1">
                <a:solidFill>
                  <a:srgbClr val="FFFFFF"/>
                </a:solidFill>
                <a:latin typeface="Telegraf"/>
              </a:rPr>
              <a:t>transparansi</a:t>
            </a:r>
            <a:r>
              <a:rPr lang="en-US" sz="2204" dirty="0">
                <a:solidFill>
                  <a:srgbClr val="FFFFFF"/>
                </a:solidFill>
                <a:latin typeface="Telegraf"/>
              </a:rPr>
              <a:t> </a:t>
            </a:r>
            <a:r>
              <a:rPr lang="en-US" sz="2204" dirty="0" err="1">
                <a:solidFill>
                  <a:srgbClr val="FFFFFF"/>
                </a:solidFill>
                <a:latin typeface="Telegraf"/>
              </a:rPr>
              <a:t>hasil</a:t>
            </a:r>
            <a:r>
              <a:rPr lang="en-US" sz="2204" dirty="0">
                <a:solidFill>
                  <a:srgbClr val="FFFFFF"/>
                </a:solidFill>
                <a:latin typeface="Telegraf"/>
              </a:rPr>
              <a:t> </a:t>
            </a:r>
            <a:r>
              <a:rPr lang="en-US" sz="2204" dirty="0" err="1">
                <a:solidFill>
                  <a:srgbClr val="FFFFFF"/>
                </a:solidFill>
                <a:latin typeface="Telegraf"/>
              </a:rPr>
              <a:t>investigasi</a:t>
            </a:r>
            <a:r>
              <a:rPr lang="en-US" sz="2204" dirty="0">
                <a:solidFill>
                  <a:srgbClr val="FFFFFF"/>
                </a:solidFill>
                <a:latin typeface="Telegraf"/>
              </a:rPr>
              <a:t> dan </a:t>
            </a:r>
            <a:r>
              <a:rPr lang="en-US" sz="2204" dirty="0" err="1">
                <a:solidFill>
                  <a:srgbClr val="FFFFFF"/>
                </a:solidFill>
                <a:latin typeface="Telegraf"/>
              </a:rPr>
              <a:t>tindak</a:t>
            </a:r>
            <a:r>
              <a:rPr lang="en-US" sz="2204" dirty="0">
                <a:solidFill>
                  <a:srgbClr val="FFFFFF"/>
                </a:solidFill>
                <a:latin typeface="Telegraf"/>
              </a:rPr>
              <a:t> </a:t>
            </a:r>
            <a:r>
              <a:rPr lang="en-US" sz="2204" dirty="0" err="1">
                <a:solidFill>
                  <a:srgbClr val="FFFFFF"/>
                </a:solidFill>
                <a:latin typeface="Telegraf"/>
              </a:rPr>
              <a:t>lanjut</a:t>
            </a:r>
            <a:r>
              <a:rPr lang="en-US" sz="2204" dirty="0">
                <a:solidFill>
                  <a:srgbClr val="FFFFFF"/>
                </a:solidFill>
                <a:latin typeface="Telegraf"/>
              </a:rPr>
              <a:t> </a:t>
            </a:r>
            <a:r>
              <a:rPr lang="en-US" sz="2204" dirty="0" err="1">
                <a:solidFill>
                  <a:srgbClr val="FFFFFF"/>
                </a:solidFill>
                <a:latin typeface="Telegraf"/>
              </a:rPr>
              <a:t>terhadap</a:t>
            </a:r>
            <a:r>
              <a:rPr lang="en-US" sz="2204" dirty="0">
                <a:solidFill>
                  <a:srgbClr val="FFFFFF"/>
                </a:solidFill>
                <a:latin typeface="Telegraf"/>
              </a:rPr>
              <a:t> fraud yang </a:t>
            </a:r>
            <a:r>
              <a:rPr lang="en-US" sz="2204" dirty="0" err="1">
                <a:solidFill>
                  <a:srgbClr val="FFFFFF"/>
                </a:solidFill>
                <a:latin typeface="Telegraf"/>
              </a:rPr>
              <a:t>dilakukan</a:t>
            </a:r>
            <a:r>
              <a:rPr lang="en-US" sz="2204" dirty="0">
                <a:solidFill>
                  <a:srgbClr val="FFFFFF"/>
                </a:solidFill>
                <a:latin typeface="Telegraf"/>
              </a:rPr>
              <a:t> </a:t>
            </a:r>
            <a:r>
              <a:rPr lang="en-US" sz="2204" dirty="0" err="1">
                <a:solidFill>
                  <a:srgbClr val="FFFFFF"/>
                </a:solidFill>
                <a:latin typeface="Telegraf"/>
              </a:rPr>
              <a:t>secara</a:t>
            </a:r>
            <a:r>
              <a:rPr lang="en-US" sz="2204" dirty="0">
                <a:solidFill>
                  <a:srgbClr val="FFFFFF"/>
                </a:solidFill>
                <a:latin typeface="Telegraf"/>
              </a:rPr>
              <a:t> </a:t>
            </a:r>
            <a:r>
              <a:rPr lang="en-US" sz="2204" dirty="0" err="1">
                <a:solidFill>
                  <a:srgbClr val="FFFFFF"/>
                </a:solidFill>
                <a:latin typeface="Telegraf"/>
              </a:rPr>
              <a:t>berkesinambungan</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marL="475975" lvl="1" indent="-237988">
              <a:lnSpc>
                <a:spcPts val="2645"/>
              </a:lnSpc>
              <a:buFont typeface="Arial"/>
              <a:buChar char="•"/>
            </a:pPr>
            <a:r>
              <a:rPr lang="en-US" sz="2204" dirty="0">
                <a:solidFill>
                  <a:srgbClr val="FFFFFF"/>
                </a:solidFill>
                <a:latin typeface="Telegraf"/>
              </a:rPr>
              <a:t>Program customer awareness</a:t>
            </a:r>
          </a:p>
          <a:p>
            <a:pPr lvl="1">
              <a:lnSpc>
                <a:spcPts val="2645"/>
              </a:lnSpc>
            </a:pPr>
            <a:r>
              <a:rPr lang="en-US" sz="2204" dirty="0">
                <a:solidFill>
                  <a:srgbClr val="FFFFFF"/>
                </a:solidFill>
                <a:latin typeface="Telegraf"/>
              </a:rPr>
              <a:t>Adapun </a:t>
            </a:r>
            <a:r>
              <a:rPr lang="en-US" sz="2204" dirty="0" err="1">
                <a:solidFill>
                  <a:srgbClr val="FFFFFF"/>
                </a:solidFill>
                <a:latin typeface="Telegraf"/>
              </a:rPr>
              <a:t>penerapannya</a:t>
            </a:r>
            <a:r>
              <a:rPr lang="en-US" sz="2204" dirty="0">
                <a:solidFill>
                  <a:srgbClr val="FFFFFF"/>
                </a:solidFill>
                <a:latin typeface="Telegraf"/>
              </a:rPr>
              <a:t> </a:t>
            </a:r>
            <a:r>
              <a:rPr lang="en-US" sz="2204" dirty="0" err="1">
                <a:solidFill>
                  <a:srgbClr val="FFFFFF"/>
                </a:solidFill>
                <a:latin typeface="Telegraf"/>
              </a:rPr>
              <a:t>bisa</a:t>
            </a:r>
            <a:r>
              <a:rPr lang="en-US" sz="2204" dirty="0">
                <a:solidFill>
                  <a:srgbClr val="FFFFFF"/>
                </a:solidFill>
                <a:latin typeface="Telegraf"/>
              </a:rPr>
              <a:t> </a:t>
            </a:r>
            <a:r>
              <a:rPr lang="en-US" sz="2204" dirty="0" err="1">
                <a:solidFill>
                  <a:srgbClr val="FFFFFF"/>
                </a:solidFill>
                <a:latin typeface="Telegraf"/>
              </a:rPr>
              <a:t>dalam</a:t>
            </a:r>
            <a:r>
              <a:rPr lang="en-US" sz="2204" dirty="0">
                <a:solidFill>
                  <a:srgbClr val="FFFFFF"/>
                </a:solidFill>
                <a:latin typeface="Telegraf"/>
              </a:rPr>
              <a:t> </a:t>
            </a:r>
            <a:r>
              <a:rPr lang="en-US" sz="2204" dirty="0" err="1">
                <a:solidFill>
                  <a:srgbClr val="FFFFFF"/>
                </a:solidFill>
                <a:latin typeface="Telegraf"/>
              </a:rPr>
              <a:t>bentuk</a:t>
            </a:r>
            <a:r>
              <a:rPr lang="en-US" sz="2204" dirty="0">
                <a:solidFill>
                  <a:srgbClr val="FFFFFF"/>
                </a:solidFill>
                <a:latin typeface="Telegraf"/>
              </a:rPr>
              <a:t> </a:t>
            </a:r>
            <a:r>
              <a:rPr lang="en-US" sz="2204" dirty="0" err="1">
                <a:solidFill>
                  <a:srgbClr val="FFFFFF"/>
                </a:solidFill>
                <a:latin typeface="Telegraf"/>
              </a:rPr>
              <a:t>pembuatan</a:t>
            </a:r>
            <a:r>
              <a:rPr lang="en-US" sz="2204" dirty="0">
                <a:solidFill>
                  <a:srgbClr val="FFFFFF"/>
                </a:solidFill>
                <a:latin typeface="Telegraf"/>
              </a:rPr>
              <a:t> </a:t>
            </a:r>
            <a:r>
              <a:rPr lang="en-US" sz="2204" dirty="0" err="1">
                <a:solidFill>
                  <a:srgbClr val="FFFFFF"/>
                </a:solidFill>
                <a:latin typeface="Telegraf"/>
              </a:rPr>
              <a:t>brosur</a:t>
            </a:r>
            <a:r>
              <a:rPr lang="en-US" sz="2204" dirty="0">
                <a:solidFill>
                  <a:srgbClr val="FFFFFF"/>
                </a:solidFill>
                <a:latin typeface="Telegraf"/>
              </a:rPr>
              <a:t> anti Fraud, </a:t>
            </a:r>
            <a:r>
              <a:rPr lang="en-US" sz="2204" dirty="0" err="1">
                <a:solidFill>
                  <a:srgbClr val="FFFFFF"/>
                </a:solidFill>
                <a:latin typeface="Telegraf"/>
              </a:rPr>
              <a:t>penjelasan</a:t>
            </a:r>
            <a:r>
              <a:rPr lang="en-US" sz="2204" dirty="0">
                <a:solidFill>
                  <a:srgbClr val="FFFFFF"/>
                </a:solidFill>
                <a:latin typeface="Telegraf"/>
              </a:rPr>
              <a:t> </a:t>
            </a:r>
            <a:r>
              <a:rPr lang="en-US" sz="2204" dirty="0" err="1">
                <a:solidFill>
                  <a:srgbClr val="FFFFFF"/>
                </a:solidFill>
                <a:latin typeface="Telegraf"/>
              </a:rPr>
              <a:t>tertulis</a:t>
            </a:r>
            <a:r>
              <a:rPr lang="en-US" sz="2204" dirty="0">
                <a:solidFill>
                  <a:srgbClr val="FFFFFF"/>
                </a:solidFill>
                <a:latin typeface="Telegraf"/>
              </a:rPr>
              <a:t> </a:t>
            </a:r>
            <a:r>
              <a:rPr lang="en-US" sz="2204" dirty="0" err="1">
                <a:solidFill>
                  <a:srgbClr val="FFFFFF"/>
                </a:solidFill>
                <a:latin typeface="Telegraf"/>
              </a:rPr>
              <a:t>melalui</a:t>
            </a:r>
            <a:r>
              <a:rPr lang="en-US" sz="2204" dirty="0">
                <a:solidFill>
                  <a:srgbClr val="FFFFFF"/>
                </a:solidFill>
                <a:latin typeface="Telegraf"/>
              </a:rPr>
              <a:t> website </a:t>
            </a:r>
            <a:r>
              <a:rPr lang="en-US" sz="2204" dirty="0" err="1">
                <a:solidFill>
                  <a:srgbClr val="FFFFFF"/>
                </a:solidFill>
                <a:latin typeface="Telegraf"/>
              </a:rPr>
              <a:t>perusahaan</a:t>
            </a:r>
            <a:r>
              <a:rPr lang="en-US" sz="2204" dirty="0">
                <a:solidFill>
                  <a:srgbClr val="FFFFFF"/>
                </a:solidFill>
                <a:latin typeface="Telegraf"/>
              </a:rPr>
              <a:t>, </a:t>
            </a:r>
            <a:r>
              <a:rPr lang="en-US" sz="2204" dirty="0" err="1">
                <a:solidFill>
                  <a:srgbClr val="FFFFFF"/>
                </a:solidFill>
                <a:latin typeface="Telegraf"/>
              </a:rPr>
              <a:t>maupun</a:t>
            </a:r>
            <a:r>
              <a:rPr lang="en-US" sz="2204" dirty="0">
                <a:solidFill>
                  <a:srgbClr val="FFFFFF"/>
                </a:solidFill>
                <a:latin typeface="Telegraf"/>
              </a:rPr>
              <a:t> </a:t>
            </a:r>
            <a:r>
              <a:rPr lang="en-US" sz="2204" dirty="0" err="1">
                <a:solidFill>
                  <a:srgbClr val="FFFFFF"/>
                </a:solidFill>
                <a:latin typeface="Telegraf"/>
              </a:rPr>
              <a:t>melalui</a:t>
            </a:r>
            <a:r>
              <a:rPr lang="en-US" sz="2204" dirty="0">
                <a:solidFill>
                  <a:srgbClr val="FFFFFF"/>
                </a:solidFill>
                <a:latin typeface="Telegraf"/>
              </a:rPr>
              <a:t> </a:t>
            </a:r>
            <a:r>
              <a:rPr lang="en-US" sz="2204" dirty="0" err="1">
                <a:solidFill>
                  <a:srgbClr val="FFFFFF"/>
                </a:solidFill>
                <a:latin typeface="Telegraf"/>
              </a:rPr>
              <a:t>sarana</a:t>
            </a:r>
            <a:r>
              <a:rPr lang="en-US" sz="2204" dirty="0">
                <a:solidFill>
                  <a:srgbClr val="FFFFFF"/>
                </a:solidFill>
                <a:latin typeface="Telegraf"/>
              </a:rPr>
              <a:t> </a:t>
            </a:r>
            <a:r>
              <a:rPr lang="en-US" sz="2204" dirty="0" err="1">
                <a:solidFill>
                  <a:srgbClr val="FFFFFF"/>
                </a:solidFill>
                <a:latin typeface="Telegraf"/>
              </a:rPr>
              <a:t>lainnya</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meningkatkan</a:t>
            </a:r>
            <a:r>
              <a:rPr lang="en-US" sz="2204" dirty="0">
                <a:solidFill>
                  <a:srgbClr val="FFFFFF"/>
                </a:solidFill>
                <a:latin typeface="Telegraf"/>
              </a:rPr>
              <a:t> </a:t>
            </a:r>
            <a:r>
              <a:rPr lang="en-US" sz="2204" dirty="0" err="1">
                <a:solidFill>
                  <a:srgbClr val="FFFFFF"/>
                </a:solidFill>
                <a:latin typeface="Telegraf"/>
              </a:rPr>
              <a:t>kepedulian</a:t>
            </a:r>
            <a:r>
              <a:rPr lang="en-US" sz="2204" dirty="0">
                <a:solidFill>
                  <a:srgbClr val="FFFFFF"/>
                </a:solidFill>
                <a:latin typeface="Telegraf"/>
              </a:rPr>
              <a:t> dan </a:t>
            </a:r>
            <a:r>
              <a:rPr lang="en-US" sz="2204" dirty="0" err="1">
                <a:solidFill>
                  <a:srgbClr val="FFFFFF"/>
                </a:solidFill>
                <a:latin typeface="Telegraf"/>
              </a:rPr>
              <a:t>kewaspadaan</a:t>
            </a:r>
            <a:r>
              <a:rPr lang="en-US" sz="2204" dirty="0">
                <a:solidFill>
                  <a:srgbClr val="FFFFFF"/>
                </a:solidFill>
                <a:latin typeface="Telegraf"/>
              </a:rPr>
              <a:t> </a:t>
            </a:r>
            <a:r>
              <a:rPr lang="en-US" sz="2204" dirty="0" err="1">
                <a:solidFill>
                  <a:srgbClr val="FFFFFF"/>
                </a:solidFill>
                <a:latin typeface="Telegraf"/>
              </a:rPr>
              <a:t>konsumen</a:t>
            </a:r>
            <a:r>
              <a:rPr lang="en-US" sz="2204" dirty="0">
                <a:solidFill>
                  <a:srgbClr val="FFFFFF"/>
                </a:solidFill>
                <a:latin typeface="Telegraf"/>
              </a:rPr>
              <a:t>, </a:t>
            </a:r>
            <a:r>
              <a:rPr lang="en-US" sz="2204" dirty="0" err="1">
                <a:solidFill>
                  <a:srgbClr val="FFFFFF"/>
                </a:solidFill>
                <a:latin typeface="Telegraf"/>
              </a:rPr>
              <a:t>tertanggung</a:t>
            </a:r>
            <a:r>
              <a:rPr lang="en-US" sz="2204" dirty="0">
                <a:solidFill>
                  <a:srgbClr val="FFFFFF"/>
                </a:solidFill>
                <a:latin typeface="Telegraf"/>
              </a:rPr>
              <a:t>, </a:t>
            </a:r>
            <a:r>
              <a:rPr lang="en-US" sz="2204" dirty="0" err="1">
                <a:solidFill>
                  <a:srgbClr val="FFFFFF"/>
                </a:solidFill>
                <a:latin typeface="Telegraf"/>
              </a:rPr>
              <a:t>atau</a:t>
            </a:r>
            <a:r>
              <a:rPr lang="en-US" sz="2204" dirty="0">
                <a:solidFill>
                  <a:srgbClr val="FFFFFF"/>
                </a:solidFill>
                <a:latin typeface="Telegraf"/>
              </a:rPr>
              <a:t> </a:t>
            </a:r>
            <a:r>
              <a:rPr lang="en-US" sz="2204" dirty="0" err="1">
                <a:solidFill>
                  <a:srgbClr val="FFFFFF"/>
                </a:solidFill>
                <a:latin typeface="Telegraf"/>
              </a:rPr>
              <a:t>peserta</a:t>
            </a:r>
            <a:r>
              <a:rPr lang="en-US" sz="2204" dirty="0">
                <a:solidFill>
                  <a:srgbClr val="FFFFFF"/>
                </a:solidFill>
                <a:latin typeface="Telegraf"/>
              </a:rPr>
              <a:t> </a:t>
            </a:r>
            <a:r>
              <a:rPr lang="en-US" sz="2204" dirty="0" err="1">
                <a:solidFill>
                  <a:srgbClr val="FFFFFF"/>
                </a:solidFill>
                <a:latin typeface="Telegraf"/>
              </a:rPr>
              <a:t>terhadap</a:t>
            </a:r>
            <a:r>
              <a:rPr lang="en-US" sz="2204" dirty="0">
                <a:solidFill>
                  <a:srgbClr val="FFFFFF"/>
                </a:solidFill>
                <a:latin typeface="Telegraf"/>
              </a:rPr>
              <a:t> </a:t>
            </a:r>
            <a:r>
              <a:rPr lang="en-US" sz="2204" dirty="0" err="1">
                <a:solidFill>
                  <a:srgbClr val="FFFFFF"/>
                </a:solidFill>
                <a:latin typeface="Telegraf"/>
              </a:rPr>
              <a:t>kemungkinan</a:t>
            </a:r>
            <a:r>
              <a:rPr lang="en-US" sz="2204" dirty="0">
                <a:solidFill>
                  <a:srgbClr val="FFFFFF"/>
                </a:solidFill>
                <a:latin typeface="Telegraf"/>
              </a:rPr>
              <a:t> </a:t>
            </a:r>
            <a:r>
              <a:rPr lang="en-US" sz="2204" dirty="0" err="1">
                <a:solidFill>
                  <a:srgbClr val="FFFFFF"/>
                </a:solidFill>
                <a:latin typeface="Telegraf"/>
              </a:rPr>
              <a:t>terjadinya</a:t>
            </a:r>
            <a:r>
              <a:rPr lang="en-US" sz="2204" dirty="0">
                <a:solidFill>
                  <a:srgbClr val="FFFFFF"/>
                </a:solidFill>
                <a:latin typeface="Telegraf"/>
              </a:rPr>
              <a:t> fraud</a:t>
            </a:r>
          </a:p>
          <a:p>
            <a:pPr>
              <a:lnSpc>
                <a:spcPts val="2645"/>
              </a:lnSpc>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p:txBody>
      </p:sp>
      <p:sp>
        <p:nvSpPr>
          <p:cNvPr id="7" name="TextBox 7"/>
          <p:cNvSpPr txBox="1"/>
          <p:nvPr/>
        </p:nvSpPr>
        <p:spPr>
          <a:xfrm>
            <a:off x="684696" y="557239"/>
            <a:ext cx="9910764" cy="723801"/>
          </a:xfrm>
          <a:prstGeom prst="rect">
            <a:avLst/>
          </a:prstGeom>
        </p:spPr>
        <p:txBody>
          <a:bodyPr lIns="0" tIns="0" rIns="0" bIns="0" rtlCol="0" anchor="t">
            <a:spAutoFit/>
          </a:bodyPr>
          <a:lstStyle/>
          <a:p>
            <a:pPr>
              <a:lnSpc>
                <a:spcPts val="5759"/>
              </a:lnSpc>
            </a:pPr>
            <a:r>
              <a:rPr lang="en-US" sz="4800">
                <a:solidFill>
                  <a:srgbClr val="000000"/>
                </a:solidFill>
                <a:latin typeface="DM Sans Bold"/>
              </a:rPr>
              <a:t>4 Pilar anti fraud </a:t>
            </a:r>
          </a:p>
        </p:txBody>
      </p:sp>
      <p:sp>
        <p:nvSpPr>
          <p:cNvPr id="8" name="TextBox 8"/>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9" name="TextBox 9"/>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27</a:t>
            </a:r>
          </a:p>
        </p:txBody>
      </p:sp>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29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7388249" y="0"/>
            <a:ext cx="12224393" cy="12224393"/>
          </a:xfrm>
          <a:prstGeom prst="rect">
            <a:avLst/>
          </a:prstGeom>
        </p:spPr>
      </p:pic>
      <p:pic>
        <p:nvPicPr>
          <p:cNvPr id="3" name="Picture 3"/>
          <p:cNvPicPr>
            <a:picLocks noChangeAspect="1"/>
          </p:cNvPicPr>
          <p:nvPr/>
        </p:nvPicPr>
        <p:blipFill>
          <a:blip r:embed="rId4"/>
          <a:srcRect/>
          <a:stretch>
            <a:fillRect/>
          </a:stretch>
        </p:blipFill>
        <p:spPr>
          <a:xfrm>
            <a:off x="-2141210" y="4499732"/>
            <a:ext cx="4282420" cy="8229600"/>
          </a:xfrm>
          <a:prstGeom prst="rect">
            <a:avLst/>
          </a:prstGeom>
        </p:spPr>
      </p:pic>
      <p:sp>
        <p:nvSpPr>
          <p:cNvPr id="4" name="TextBox 4"/>
          <p:cNvSpPr txBox="1"/>
          <p:nvPr/>
        </p:nvSpPr>
        <p:spPr>
          <a:xfrm>
            <a:off x="1632071" y="564677"/>
            <a:ext cx="15023859" cy="7267575"/>
          </a:xfrm>
          <a:prstGeom prst="rect">
            <a:avLst/>
          </a:prstGeom>
        </p:spPr>
        <p:txBody>
          <a:bodyPr lIns="0" tIns="0" rIns="0" bIns="0" rtlCol="0" anchor="t">
            <a:spAutoFit/>
          </a:bodyPr>
          <a:lstStyle/>
          <a:p>
            <a:pPr>
              <a:lnSpc>
                <a:spcPts val="2879"/>
              </a:lnSpc>
            </a:pPr>
            <a:endParaRPr/>
          </a:p>
          <a:p>
            <a:pPr>
              <a:lnSpc>
                <a:spcPts val="2879"/>
              </a:lnSpc>
            </a:pPr>
            <a:endParaRPr/>
          </a:p>
          <a:p>
            <a:pPr marL="518160" lvl="1" indent="-259080">
              <a:lnSpc>
                <a:spcPts val="2879"/>
              </a:lnSpc>
              <a:buFont typeface="Arial"/>
              <a:buChar char="•"/>
            </a:pPr>
            <a:r>
              <a:rPr lang="en-US" sz="2400">
                <a:solidFill>
                  <a:srgbClr val="000000"/>
                </a:solidFill>
                <a:latin typeface="Telegraf"/>
              </a:rPr>
              <a:t>Sosialisasi budaya anti Fraud yang dikakukan kepada seluruh karyawan, dewan direksi dan dewan komisaris</a:t>
            </a:r>
          </a:p>
          <a:p>
            <a:pPr>
              <a:lnSpc>
                <a:spcPts val="2879"/>
              </a:lnSpc>
            </a:pPr>
            <a:endParaRPr lang="en-US" sz="2400">
              <a:solidFill>
                <a:srgbClr val="000000"/>
              </a:solidFill>
              <a:latin typeface="Telegraf"/>
            </a:endParaRPr>
          </a:p>
          <a:p>
            <a:pPr marL="518160" lvl="1" indent="-259080">
              <a:lnSpc>
                <a:spcPts val="2879"/>
              </a:lnSpc>
              <a:buFont typeface="Arial"/>
              <a:buChar char="•"/>
            </a:pPr>
            <a:r>
              <a:rPr lang="en-US" sz="2400">
                <a:solidFill>
                  <a:srgbClr val="000000"/>
                </a:solidFill>
                <a:latin typeface="Telegraf"/>
              </a:rPr>
              <a:t>Pelaksanaan know your employee melalui pengendalian sistem rekrutmen dengan menggunakan mekanismepemeriksaan latar belakang calon karyawan dan pemeriksaan historis kredit Pefindo. Bentuk penerapan terhadap karyawan yang sudah aktif bekerja adalah melalui rotasi berkala untuk karyawan yang menempati posisi-posisi tertentu seperti Branch Manager, Branch Operational Manager, Area Opertional Manager dan Area Regional Manager</a:t>
            </a:r>
          </a:p>
          <a:p>
            <a:pPr>
              <a:lnSpc>
                <a:spcPts val="2879"/>
              </a:lnSpc>
            </a:pPr>
            <a:endParaRPr lang="en-US" sz="2400">
              <a:solidFill>
                <a:srgbClr val="000000"/>
              </a:solidFill>
              <a:latin typeface="Telegraf"/>
            </a:endParaRPr>
          </a:p>
          <a:p>
            <a:pPr marL="518160" lvl="1" indent="-259080">
              <a:lnSpc>
                <a:spcPts val="2879"/>
              </a:lnSpc>
              <a:buFont typeface="Arial"/>
              <a:buChar char="•"/>
            </a:pPr>
            <a:r>
              <a:rPr lang="en-US" sz="2400">
                <a:solidFill>
                  <a:srgbClr val="000000"/>
                </a:solidFill>
                <a:latin typeface="Telegraf"/>
              </a:rPr>
              <a:t>Peningkatan eketivitas supervisi</a:t>
            </a:r>
          </a:p>
          <a:p>
            <a:pPr>
              <a:lnSpc>
                <a:spcPts val="2879"/>
              </a:lnSpc>
            </a:pPr>
            <a:endParaRPr lang="en-US" sz="2400">
              <a:solidFill>
                <a:srgbClr val="000000"/>
              </a:solidFill>
              <a:latin typeface="Telegraf"/>
            </a:endParaRPr>
          </a:p>
          <a:p>
            <a:pPr>
              <a:lnSpc>
                <a:spcPts val="2879"/>
              </a:lnSpc>
            </a:pPr>
            <a:endParaRPr lang="en-US" sz="2400">
              <a:solidFill>
                <a:srgbClr val="000000"/>
              </a:solidFill>
              <a:latin typeface="Telegraf"/>
            </a:endParaRPr>
          </a:p>
          <a:p>
            <a:pPr>
              <a:lnSpc>
                <a:spcPts val="2879"/>
              </a:lnSpc>
            </a:pPr>
            <a:endParaRPr lang="en-US" sz="2400">
              <a:solidFill>
                <a:srgbClr val="000000"/>
              </a:solidFill>
              <a:latin typeface="Telegraf"/>
            </a:endParaRPr>
          </a:p>
          <a:p>
            <a:pPr>
              <a:lnSpc>
                <a:spcPts val="2879"/>
              </a:lnSpc>
              <a:spcBef>
                <a:spcPct val="0"/>
              </a:spcBef>
            </a:pPr>
            <a:endParaRPr lang="en-US" sz="2400">
              <a:solidFill>
                <a:srgbClr val="000000"/>
              </a:solidFill>
              <a:latin typeface="Telegraf"/>
            </a:endParaRPr>
          </a:p>
          <a:p>
            <a:pPr>
              <a:lnSpc>
                <a:spcPts val="2879"/>
              </a:lnSpc>
              <a:spcBef>
                <a:spcPct val="0"/>
              </a:spcBef>
            </a:pPr>
            <a:endParaRPr lang="en-US" sz="2400">
              <a:solidFill>
                <a:srgbClr val="000000"/>
              </a:solidFill>
              <a:latin typeface="Telegraf"/>
            </a:endParaRPr>
          </a:p>
          <a:p>
            <a:pPr>
              <a:lnSpc>
                <a:spcPts val="2879"/>
              </a:lnSpc>
              <a:spcBef>
                <a:spcPct val="0"/>
              </a:spcBef>
            </a:pPr>
            <a:endParaRPr lang="en-US" sz="2400">
              <a:solidFill>
                <a:srgbClr val="000000"/>
              </a:solidFill>
              <a:latin typeface="Telegraf"/>
            </a:endParaRPr>
          </a:p>
          <a:p>
            <a:pPr>
              <a:lnSpc>
                <a:spcPts val="2879"/>
              </a:lnSpc>
              <a:spcBef>
                <a:spcPct val="0"/>
              </a:spcBef>
            </a:pPr>
            <a:endParaRPr lang="en-US" sz="2400">
              <a:solidFill>
                <a:srgbClr val="000000"/>
              </a:solidFill>
              <a:latin typeface="Telegraf"/>
            </a:endParaRPr>
          </a:p>
          <a:p>
            <a:pPr>
              <a:lnSpc>
                <a:spcPts val="2879"/>
              </a:lnSpc>
              <a:spcBef>
                <a:spcPct val="0"/>
              </a:spcBef>
            </a:pPr>
            <a:endParaRPr lang="en-US" sz="2400">
              <a:solidFill>
                <a:srgbClr val="000000"/>
              </a:solidFill>
              <a:latin typeface="Telegraf"/>
            </a:endParaRPr>
          </a:p>
        </p:txBody>
      </p:sp>
      <p:sp>
        <p:nvSpPr>
          <p:cNvPr id="5" name="TextBox 5"/>
          <p:cNvSpPr txBox="1"/>
          <p:nvPr/>
        </p:nvSpPr>
        <p:spPr>
          <a:xfrm>
            <a:off x="1632071" y="5105400"/>
            <a:ext cx="13256788" cy="7926337"/>
          </a:xfrm>
          <a:prstGeom prst="rect">
            <a:avLst/>
          </a:prstGeom>
        </p:spPr>
        <p:txBody>
          <a:bodyPr lIns="0" tIns="0" rIns="0" bIns="0" rtlCol="0" anchor="t">
            <a:spAutoFit/>
          </a:bodyPr>
          <a:lstStyle/>
          <a:p>
            <a:pPr>
              <a:lnSpc>
                <a:spcPts val="3359"/>
              </a:lnSpc>
            </a:pPr>
            <a:endParaRPr dirty="0"/>
          </a:p>
          <a:p>
            <a:pPr>
              <a:lnSpc>
                <a:spcPts val="3359"/>
              </a:lnSpc>
            </a:pPr>
            <a:r>
              <a:rPr lang="en-US" sz="2799" dirty="0">
                <a:solidFill>
                  <a:srgbClr val="000000"/>
                </a:solidFill>
                <a:latin typeface="Telegraf"/>
              </a:rPr>
              <a:t>B. </a:t>
            </a:r>
            <a:r>
              <a:rPr lang="id-ID" sz="2799" dirty="0">
                <a:solidFill>
                  <a:srgbClr val="000000"/>
                </a:solidFill>
                <a:latin typeface="Telegraf"/>
              </a:rPr>
              <a:t>I</a:t>
            </a:r>
            <a:r>
              <a:rPr lang="en-US" sz="2799" dirty="0" err="1">
                <a:solidFill>
                  <a:srgbClr val="000000"/>
                </a:solidFill>
                <a:latin typeface="Telegraf"/>
              </a:rPr>
              <a:t>dentifikasi</a:t>
            </a:r>
            <a:r>
              <a:rPr lang="en-US" sz="2799" dirty="0">
                <a:solidFill>
                  <a:srgbClr val="000000"/>
                </a:solidFill>
                <a:latin typeface="Telegraf"/>
              </a:rPr>
              <a:t> </a:t>
            </a:r>
            <a:r>
              <a:rPr lang="en-US" sz="2799" dirty="0" err="1">
                <a:solidFill>
                  <a:srgbClr val="000000"/>
                </a:solidFill>
                <a:latin typeface="Telegraf"/>
              </a:rPr>
              <a:t>Kerawanan</a:t>
            </a:r>
            <a:r>
              <a:rPr lang="en-US" sz="2799" dirty="0">
                <a:solidFill>
                  <a:srgbClr val="000000"/>
                </a:solidFill>
                <a:latin typeface="Telegraf"/>
              </a:rPr>
              <a:t> </a:t>
            </a:r>
          </a:p>
          <a:p>
            <a:pPr>
              <a:lnSpc>
                <a:spcPts val="2879"/>
              </a:lnSpc>
            </a:pPr>
            <a:endParaRPr lang="en-US" sz="2799" dirty="0">
              <a:solidFill>
                <a:srgbClr val="000000"/>
              </a:solidFill>
              <a:latin typeface="Telegraf"/>
            </a:endParaRPr>
          </a:p>
          <a:p>
            <a:pPr marL="518160" lvl="1" indent="-259080">
              <a:lnSpc>
                <a:spcPts val="2879"/>
              </a:lnSpc>
              <a:buFont typeface="Arial"/>
              <a:buChar char="•"/>
            </a:pPr>
            <a:r>
              <a:rPr lang="en-US" sz="2400" dirty="0" err="1">
                <a:solidFill>
                  <a:srgbClr val="000000"/>
                </a:solidFill>
                <a:latin typeface="Telegraf"/>
              </a:rPr>
              <a:t>Melakukan</a:t>
            </a:r>
            <a:r>
              <a:rPr lang="en-US" sz="2400" dirty="0">
                <a:solidFill>
                  <a:srgbClr val="000000"/>
                </a:solidFill>
                <a:latin typeface="Telegraf"/>
              </a:rPr>
              <a:t> proses </a:t>
            </a:r>
            <a:r>
              <a:rPr lang="en-US" sz="2400" dirty="0" err="1">
                <a:solidFill>
                  <a:srgbClr val="000000"/>
                </a:solidFill>
                <a:latin typeface="Telegraf"/>
              </a:rPr>
              <a:t>identifikasi</a:t>
            </a:r>
            <a:r>
              <a:rPr lang="en-US" sz="2400" dirty="0">
                <a:solidFill>
                  <a:srgbClr val="000000"/>
                </a:solidFill>
                <a:latin typeface="Telegraf"/>
              </a:rPr>
              <a:t>, </a:t>
            </a:r>
            <a:r>
              <a:rPr lang="en-US" sz="2400" dirty="0" err="1">
                <a:solidFill>
                  <a:srgbClr val="000000"/>
                </a:solidFill>
                <a:latin typeface="Telegraf"/>
              </a:rPr>
              <a:t>analisis</a:t>
            </a:r>
            <a:r>
              <a:rPr lang="en-US" sz="2400" dirty="0">
                <a:solidFill>
                  <a:srgbClr val="000000"/>
                </a:solidFill>
                <a:latin typeface="Telegraf"/>
              </a:rPr>
              <a:t> </a:t>
            </a:r>
            <a:r>
              <a:rPr lang="en-US" sz="2400" dirty="0" err="1">
                <a:solidFill>
                  <a:srgbClr val="000000"/>
                </a:solidFill>
                <a:latin typeface="Telegraf"/>
              </a:rPr>
              <a:t>dan</a:t>
            </a:r>
            <a:r>
              <a:rPr lang="en-US" sz="2400" dirty="0">
                <a:solidFill>
                  <a:srgbClr val="000000"/>
                </a:solidFill>
                <a:latin typeface="Telegraf"/>
              </a:rPr>
              <a:t> </a:t>
            </a:r>
            <a:r>
              <a:rPr lang="en-US" sz="2400" dirty="0" err="1">
                <a:solidFill>
                  <a:srgbClr val="000000"/>
                </a:solidFill>
                <a:latin typeface="Telegraf"/>
              </a:rPr>
              <a:t>menilai</a:t>
            </a:r>
            <a:r>
              <a:rPr lang="en-US" sz="2400" dirty="0">
                <a:solidFill>
                  <a:srgbClr val="000000"/>
                </a:solidFill>
                <a:latin typeface="Telegraf"/>
              </a:rPr>
              <a:t> </a:t>
            </a:r>
            <a:r>
              <a:rPr lang="en-US" sz="2400" dirty="0" err="1">
                <a:solidFill>
                  <a:srgbClr val="000000"/>
                </a:solidFill>
                <a:latin typeface="Telegraf"/>
              </a:rPr>
              <a:t>setiap</a:t>
            </a:r>
            <a:r>
              <a:rPr lang="en-US" sz="2400" dirty="0">
                <a:solidFill>
                  <a:srgbClr val="000000"/>
                </a:solidFill>
                <a:latin typeface="Telegraf"/>
              </a:rPr>
              <a:t> </a:t>
            </a:r>
            <a:r>
              <a:rPr lang="en-US" sz="2400" dirty="0" err="1">
                <a:solidFill>
                  <a:srgbClr val="000000"/>
                </a:solidFill>
                <a:latin typeface="Telegraf"/>
              </a:rPr>
              <a:t>aktivitas</a:t>
            </a:r>
            <a:r>
              <a:rPr lang="en-US" sz="2400" dirty="0">
                <a:solidFill>
                  <a:srgbClr val="000000"/>
                </a:solidFill>
                <a:latin typeface="Telegraf"/>
              </a:rPr>
              <a:t> </a:t>
            </a:r>
            <a:r>
              <a:rPr lang="en-US" sz="2400" dirty="0" err="1">
                <a:solidFill>
                  <a:srgbClr val="000000"/>
                </a:solidFill>
                <a:latin typeface="Telegraf"/>
              </a:rPr>
              <a:t>operasional</a:t>
            </a:r>
            <a:r>
              <a:rPr lang="en-US" sz="2400" dirty="0">
                <a:solidFill>
                  <a:srgbClr val="000000"/>
                </a:solidFill>
                <a:latin typeface="Telegraf"/>
              </a:rPr>
              <a:t> Perusahaan </a:t>
            </a:r>
            <a:r>
              <a:rPr lang="en-US" sz="2400" dirty="0" err="1">
                <a:solidFill>
                  <a:srgbClr val="000000"/>
                </a:solidFill>
                <a:latin typeface="Telegraf"/>
              </a:rPr>
              <a:t>Pembiayaan</a:t>
            </a:r>
            <a:r>
              <a:rPr lang="en-US" sz="2400" dirty="0">
                <a:solidFill>
                  <a:srgbClr val="000000"/>
                </a:solidFill>
                <a:latin typeface="Telegraf"/>
              </a:rPr>
              <a:t> yang </a:t>
            </a:r>
            <a:r>
              <a:rPr lang="en-US" sz="2400" dirty="0" err="1">
                <a:solidFill>
                  <a:srgbClr val="000000"/>
                </a:solidFill>
                <a:latin typeface="Telegraf"/>
              </a:rPr>
              <a:t>berpotensi</a:t>
            </a:r>
            <a:r>
              <a:rPr lang="en-US" sz="2400" dirty="0">
                <a:solidFill>
                  <a:srgbClr val="000000"/>
                </a:solidFill>
                <a:latin typeface="Telegraf"/>
              </a:rPr>
              <a:t> </a:t>
            </a:r>
            <a:r>
              <a:rPr lang="en-US" sz="2400" dirty="0" err="1">
                <a:solidFill>
                  <a:srgbClr val="000000"/>
                </a:solidFill>
                <a:latin typeface="Telegraf"/>
              </a:rPr>
              <a:t>merugikan</a:t>
            </a:r>
            <a:r>
              <a:rPr lang="en-US" sz="2400" dirty="0">
                <a:solidFill>
                  <a:srgbClr val="000000"/>
                </a:solidFill>
                <a:latin typeface="Telegraf"/>
              </a:rPr>
              <a:t> Perusahaan </a:t>
            </a:r>
            <a:r>
              <a:rPr lang="en-US" sz="2400" dirty="0" err="1">
                <a:solidFill>
                  <a:srgbClr val="000000"/>
                </a:solidFill>
                <a:latin typeface="Telegraf"/>
              </a:rPr>
              <a:t>Pembiayaan</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marL="518160" lvl="1" indent="-259080">
              <a:lnSpc>
                <a:spcPts val="2879"/>
              </a:lnSpc>
              <a:buFont typeface="Arial"/>
              <a:buChar char="•"/>
            </a:pPr>
            <a:r>
              <a:rPr lang="en-US" sz="2400" dirty="0" err="1">
                <a:solidFill>
                  <a:srgbClr val="000000"/>
                </a:solidFill>
                <a:latin typeface="Telegraf"/>
              </a:rPr>
              <a:t>Mendokumentasikan</a:t>
            </a:r>
            <a:r>
              <a:rPr lang="en-US" sz="2400" dirty="0">
                <a:solidFill>
                  <a:srgbClr val="000000"/>
                </a:solidFill>
                <a:latin typeface="Telegraf"/>
              </a:rPr>
              <a:t> </a:t>
            </a:r>
            <a:r>
              <a:rPr lang="en-US" sz="2400" dirty="0" err="1">
                <a:solidFill>
                  <a:srgbClr val="000000"/>
                </a:solidFill>
                <a:latin typeface="Telegraf"/>
              </a:rPr>
              <a:t>dan</a:t>
            </a:r>
            <a:r>
              <a:rPr lang="en-US" sz="2400" dirty="0">
                <a:solidFill>
                  <a:srgbClr val="000000"/>
                </a:solidFill>
                <a:latin typeface="Telegraf"/>
              </a:rPr>
              <a:t> </a:t>
            </a:r>
            <a:r>
              <a:rPr lang="en-US" sz="2400" dirty="0" err="1">
                <a:solidFill>
                  <a:srgbClr val="000000"/>
                </a:solidFill>
                <a:latin typeface="Telegraf"/>
              </a:rPr>
              <a:t>menginformasikan</a:t>
            </a:r>
            <a:r>
              <a:rPr lang="en-US" sz="2400" dirty="0">
                <a:solidFill>
                  <a:srgbClr val="000000"/>
                </a:solidFill>
                <a:latin typeface="Telegraf"/>
              </a:rPr>
              <a:t> </a:t>
            </a:r>
            <a:r>
              <a:rPr lang="en-US" sz="2400" dirty="0" err="1">
                <a:solidFill>
                  <a:srgbClr val="000000"/>
                </a:solidFill>
                <a:latin typeface="Telegraf"/>
              </a:rPr>
              <a:t>hasil</a:t>
            </a:r>
            <a:r>
              <a:rPr lang="en-US" sz="2400" dirty="0">
                <a:solidFill>
                  <a:srgbClr val="000000"/>
                </a:solidFill>
                <a:latin typeface="Telegraf"/>
              </a:rPr>
              <a:t> </a:t>
            </a:r>
            <a:r>
              <a:rPr lang="en-US" sz="2400" dirty="0" err="1">
                <a:solidFill>
                  <a:srgbClr val="000000"/>
                </a:solidFill>
                <a:latin typeface="Telegraf"/>
              </a:rPr>
              <a:t>identifikasi</a:t>
            </a:r>
            <a:r>
              <a:rPr lang="en-US" sz="2400" dirty="0">
                <a:solidFill>
                  <a:srgbClr val="000000"/>
                </a:solidFill>
                <a:latin typeface="Telegraf"/>
              </a:rPr>
              <a:t> </a:t>
            </a:r>
            <a:r>
              <a:rPr lang="en-US" sz="2400" dirty="0" err="1">
                <a:solidFill>
                  <a:srgbClr val="000000"/>
                </a:solidFill>
                <a:latin typeface="Telegraf"/>
              </a:rPr>
              <a:t>kepada</a:t>
            </a:r>
            <a:r>
              <a:rPr lang="en-US" sz="2400" dirty="0">
                <a:solidFill>
                  <a:srgbClr val="000000"/>
                </a:solidFill>
                <a:latin typeface="Telegraf"/>
              </a:rPr>
              <a:t> </a:t>
            </a:r>
            <a:r>
              <a:rPr lang="en-US" sz="2400" dirty="0" err="1">
                <a:solidFill>
                  <a:srgbClr val="000000"/>
                </a:solidFill>
                <a:latin typeface="Telegraf"/>
              </a:rPr>
              <a:t>pihak</a:t>
            </a:r>
            <a:r>
              <a:rPr lang="en-US" sz="2400" dirty="0">
                <a:solidFill>
                  <a:srgbClr val="000000"/>
                </a:solidFill>
                <a:latin typeface="Telegraf"/>
              </a:rPr>
              <a:t> yang </a:t>
            </a:r>
            <a:r>
              <a:rPr lang="en-US" sz="2400" dirty="0" err="1">
                <a:solidFill>
                  <a:srgbClr val="000000"/>
                </a:solidFill>
                <a:latin typeface="Telegraf"/>
              </a:rPr>
              <a:t>berkepentingan</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marL="518160" lvl="1" indent="-259080">
              <a:lnSpc>
                <a:spcPts val="2879"/>
              </a:lnSpc>
              <a:buFont typeface="Arial"/>
              <a:buChar char="•"/>
            </a:pP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pengkinian</a:t>
            </a:r>
            <a:r>
              <a:rPr lang="en-US" sz="2400" dirty="0">
                <a:solidFill>
                  <a:srgbClr val="000000"/>
                </a:solidFill>
                <a:latin typeface="Telegraf"/>
              </a:rPr>
              <a:t> </a:t>
            </a:r>
            <a:r>
              <a:rPr lang="en-US" sz="2400" dirty="0" err="1">
                <a:solidFill>
                  <a:srgbClr val="000000"/>
                </a:solidFill>
                <a:latin typeface="Telegraf"/>
              </a:rPr>
              <a:t>informasi</a:t>
            </a:r>
            <a:r>
              <a:rPr lang="en-US" sz="2400" dirty="0">
                <a:solidFill>
                  <a:srgbClr val="000000"/>
                </a:solidFill>
                <a:latin typeface="Telegraf"/>
              </a:rPr>
              <a:t> </a:t>
            </a:r>
            <a:r>
              <a:rPr lang="en-US" sz="2400" dirty="0" err="1">
                <a:solidFill>
                  <a:srgbClr val="000000"/>
                </a:solidFill>
                <a:latin typeface="Telegraf"/>
              </a:rPr>
              <a:t>terutama</a:t>
            </a:r>
            <a:r>
              <a:rPr lang="en-US" sz="2400" dirty="0">
                <a:solidFill>
                  <a:srgbClr val="000000"/>
                </a:solidFill>
                <a:latin typeface="Telegraf"/>
              </a:rPr>
              <a:t> </a:t>
            </a:r>
            <a:r>
              <a:rPr lang="en-US" sz="2400" dirty="0" err="1">
                <a:solidFill>
                  <a:srgbClr val="000000"/>
                </a:solidFill>
                <a:latin typeface="Telegraf"/>
              </a:rPr>
              <a:t>terhadap</a:t>
            </a:r>
            <a:r>
              <a:rPr lang="en-US" sz="2400" dirty="0">
                <a:solidFill>
                  <a:srgbClr val="000000"/>
                </a:solidFill>
                <a:latin typeface="Telegraf"/>
              </a:rPr>
              <a:t> </a:t>
            </a:r>
            <a:r>
              <a:rPr lang="en-US" sz="2400" dirty="0" err="1">
                <a:solidFill>
                  <a:srgbClr val="000000"/>
                </a:solidFill>
                <a:latin typeface="Telegraf"/>
              </a:rPr>
              <a:t>aktivitas</a:t>
            </a:r>
            <a:r>
              <a:rPr lang="en-US" sz="2400" dirty="0">
                <a:solidFill>
                  <a:srgbClr val="000000"/>
                </a:solidFill>
                <a:latin typeface="Telegraf"/>
              </a:rPr>
              <a:t> yang </a:t>
            </a:r>
            <a:r>
              <a:rPr lang="en-US" sz="2400" dirty="0" err="1">
                <a:solidFill>
                  <a:srgbClr val="000000"/>
                </a:solidFill>
                <a:latin typeface="Telegraf"/>
              </a:rPr>
              <a:t>dinilai</a:t>
            </a:r>
            <a:r>
              <a:rPr lang="en-US" sz="2400" dirty="0">
                <a:solidFill>
                  <a:srgbClr val="000000"/>
                </a:solidFill>
                <a:latin typeface="Telegraf"/>
              </a:rPr>
              <a:t> </a:t>
            </a:r>
            <a:r>
              <a:rPr lang="en-US" sz="2400" dirty="0" err="1">
                <a:solidFill>
                  <a:srgbClr val="000000"/>
                </a:solidFill>
                <a:latin typeface="Telegraf"/>
              </a:rPr>
              <a:t>berisiko</a:t>
            </a:r>
            <a:r>
              <a:rPr lang="en-US" sz="2400" dirty="0">
                <a:solidFill>
                  <a:srgbClr val="000000"/>
                </a:solidFill>
                <a:latin typeface="Telegraf"/>
              </a:rPr>
              <a:t> </a:t>
            </a:r>
            <a:r>
              <a:rPr lang="en-US" sz="2400" dirty="0" err="1">
                <a:solidFill>
                  <a:srgbClr val="000000"/>
                </a:solidFill>
                <a:latin typeface="Telegraf"/>
              </a:rPr>
              <a:t>tinggi</a:t>
            </a:r>
            <a:r>
              <a:rPr lang="en-US" sz="2400" dirty="0">
                <a:solidFill>
                  <a:srgbClr val="000000"/>
                </a:solidFill>
                <a:latin typeface="Telegraf"/>
              </a:rPr>
              <a:t> </a:t>
            </a:r>
            <a:r>
              <a:rPr lang="en-US" sz="2400" dirty="0" err="1">
                <a:solidFill>
                  <a:srgbClr val="000000"/>
                </a:solidFill>
                <a:latin typeface="Telegraf"/>
              </a:rPr>
              <a:t>terjadinya</a:t>
            </a:r>
            <a:r>
              <a:rPr lang="en-US" sz="2400" dirty="0">
                <a:solidFill>
                  <a:srgbClr val="000000"/>
                </a:solidFill>
                <a:latin typeface="Telegraf"/>
              </a:rPr>
              <a:t> fraud</a:t>
            </a: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p:txBody>
      </p:sp>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8768479" y="-596343"/>
            <a:ext cx="13152093" cy="11651393"/>
            <a:chOff x="0" y="0"/>
            <a:chExt cx="3463926" cy="3068680"/>
          </a:xfrm>
        </p:grpSpPr>
        <p:sp>
          <p:nvSpPr>
            <p:cNvPr id="3" name="Freeform 3"/>
            <p:cNvSpPr/>
            <p:nvPr/>
          </p:nvSpPr>
          <p:spPr>
            <a:xfrm>
              <a:off x="0" y="0"/>
              <a:ext cx="3463926" cy="3068680"/>
            </a:xfrm>
            <a:custGeom>
              <a:avLst/>
              <a:gdLst/>
              <a:ahLst/>
              <a:cxnLst/>
              <a:rect l="l" t="t" r="r" b="b"/>
              <a:pathLst>
                <a:path w="3463926" h="3068680">
                  <a:moveTo>
                    <a:pt x="0" y="0"/>
                  </a:moveTo>
                  <a:lnTo>
                    <a:pt x="3463926" y="0"/>
                  </a:lnTo>
                  <a:lnTo>
                    <a:pt x="3463926" y="3068680"/>
                  </a:lnTo>
                  <a:lnTo>
                    <a:pt x="0" y="3068680"/>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1680"/>
                </a:lnSpc>
              </a:pPr>
              <a:endParaRPr/>
            </a:p>
          </p:txBody>
        </p:sp>
      </p:grpSp>
      <p:pic>
        <p:nvPicPr>
          <p:cNvPr id="5" name="Picture 5"/>
          <p:cNvPicPr>
            <a:picLocks noChangeAspect="1"/>
          </p:cNvPicPr>
          <p:nvPr/>
        </p:nvPicPr>
        <p:blipFill>
          <a:blip r:embed="rId2">
            <a:alphaModFix amt="10999"/>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2916283" y="-2751545"/>
            <a:ext cx="9005800" cy="9005800"/>
          </a:xfrm>
          <a:prstGeom prst="rect">
            <a:avLst/>
          </a:prstGeom>
        </p:spPr>
      </p:pic>
      <p:sp>
        <p:nvSpPr>
          <p:cNvPr id="6" name="TextBox 6"/>
          <p:cNvSpPr txBox="1"/>
          <p:nvPr/>
        </p:nvSpPr>
        <p:spPr>
          <a:xfrm>
            <a:off x="1290505" y="663275"/>
            <a:ext cx="15968795" cy="10438755"/>
          </a:xfrm>
          <a:prstGeom prst="rect">
            <a:avLst/>
          </a:prstGeom>
        </p:spPr>
        <p:txBody>
          <a:bodyPr lIns="0" tIns="0" rIns="0" bIns="0" rtlCol="0" anchor="t">
            <a:spAutoFit/>
          </a:bodyPr>
          <a:lstStyle/>
          <a:p>
            <a:pPr>
              <a:lnSpc>
                <a:spcPts val="2645"/>
              </a:lnSpc>
            </a:pPr>
            <a:endParaRPr dirty="0"/>
          </a:p>
          <a:p>
            <a:pPr>
              <a:lnSpc>
                <a:spcPts val="3359"/>
              </a:lnSpc>
            </a:pPr>
            <a:r>
              <a:rPr lang="en-US" sz="2799" dirty="0">
                <a:solidFill>
                  <a:srgbClr val="FFFFFF"/>
                </a:solidFill>
                <a:latin typeface="Telegraf"/>
              </a:rPr>
              <a:t>C. Know your Employee</a:t>
            </a:r>
          </a:p>
          <a:p>
            <a:pPr>
              <a:lnSpc>
                <a:spcPts val="2645"/>
              </a:lnSpc>
            </a:pPr>
            <a:endParaRPr lang="en-US" sz="2799" dirty="0">
              <a:solidFill>
                <a:srgbClr val="FFFFFF"/>
              </a:solidFill>
              <a:latin typeface="Telegraf"/>
            </a:endParaRPr>
          </a:p>
          <a:p>
            <a:pPr marL="475975" lvl="1" indent="-237988">
              <a:lnSpc>
                <a:spcPts val="2645"/>
              </a:lnSpc>
              <a:buFont typeface="Arial"/>
              <a:buChar char="•"/>
            </a:pPr>
            <a:r>
              <a:rPr lang="en-US" sz="2204" dirty="0" err="1">
                <a:solidFill>
                  <a:srgbClr val="FFFFFF"/>
                </a:solidFill>
                <a:latin typeface="Telegraf"/>
              </a:rPr>
              <a:t>Sistem</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prosedur</a:t>
            </a:r>
            <a:r>
              <a:rPr lang="en-US" sz="2204" dirty="0">
                <a:solidFill>
                  <a:srgbClr val="FFFFFF"/>
                </a:solidFill>
                <a:latin typeface="Telegraf"/>
              </a:rPr>
              <a:t> </a:t>
            </a:r>
            <a:r>
              <a:rPr lang="en-US" sz="2204" dirty="0" err="1">
                <a:solidFill>
                  <a:srgbClr val="FFFFFF"/>
                </a:solidFill>
                <a:latin typeface="Telegraf"/>
              </a:rPr>
              <a:t>rekrutmen</a:t>
            </a:r>
            <a:r>
              <a:rPr lang="en-US" sz="2204" dirty="0">
                <a:solidFill>
                  <a:srgbClr val="FFFFFF"/>
                </a:solidFill>
                <a:latin typeface="Telegraf"/>
              </a:rPr>
              <a:t> yang </a:t>
            </a:r>
            <a:r>
              <a:rPr lang="en-US" sz="2204" dirty="0" err="1">
                <a:solidFill>
                  <a:srgbClr val="FFFFFF"/>
                </a:solidFill>
                <a:latin typeface="Telegraf"/>
              </a:rPr>
              <a:t>efektif</a:t>
            </a:r>
            <a:r>
              <a:rPr lang="en-US" sz="2204" dirty="0">
                <a:solidFill>
                  <a:srgbClr val="FFFFFF"/>
                </a:solidFill>
                <a:latin typeface="Telegraf"/>
              </a:rPr>
              <a:t>, </a:t>
            </a:r>
            <a:r>
              <a:rPr lang="en-US" sz="2204" dirty="0" err="1">
                <a:solidFill>
                  <a:srgbClr val="FFFFFF"/>
                </a:solidFill>
                <a:latin typeface="Telegraf"/>
              </a:rPr>
              <a:t>dimana</a:t>
            </a:r>
            <a:r>
              <a:rPr lang="en-US" sz="2204" dirty="0">
                <a:solidFill>
                  <a:srgbClr val="FFFFFF"/>
                </a:solidFill>
                <a:latin typeface="Telegraf"/>
              </a:rPr>
              <a:t> </a:t>
            </a:r>
            <a:r>
              <a:rPr lang="en-US" sz="2204" dirty="0" err="1">
                <a:solidFill>
                  <a:srgbClr val="FFFFFF"/>
                </a:solidFill>
                <a:latin typeface="Telegraf"/>
              </a:rPr>
              <a:t>melalui</a:t>
            </a:r>
            <a:r>
              <a:rPr lang="en-US" sz="2204" dirty="0">
                <a:solidFill>
                  <a:srgbClr val="FFFFFF"/>
                </a:solidFill>
                <a:latin typeface="Telegraf"/>
              </a:rPr>
              <a:t> </a:t>
            </a:r>
            <a:r>
              <a:rPr lang="en-US" sz="2204" dirty="0" err="1">
                <a:solidFill>
                  <a:srgbClr val="FFFFFF"/>
                </a:solidFill>
                <a:latin typeface="Telegraf"/>
              </a:rPr>
              <a:t>sistem</a:t>
            </a:r>
            <a:r>
              <a:rPr lang="en-US" sz="2204" dirty="0">
                <a:solidFill>
                  <a:srgbClr val="FFFFFF"/>
                </a:solidFill>
                <a:latin typeface="Telegraf"/>
              </a:rPr>
              <a:t> </a:t>
            </a:r>
            <a:r>
              <a:rPr lang="en-US" sz="2204" dirty="0" err="1">
                <a:solidFill>
                  <a:srgbClr val="FFFFFF"/>
                </a:solidFill>
                <a:latin typeface="Telegraf"/>
              </a:rPr>
              <a:t>ini</a:t>
            </a:r>
            <a:r>
              <a:rPr lang="en-US" sz="2204" dirty="0">
                <a:solidFill>
                  <a:srgbClr val="FFFFFF"/>
                </a:solidFill>
                <a:latin typeface="Telegraf"/>
              </a:rPr>
              <a:t> </a:t>
            </a:r>
            <a:r>
              <a:rPr lang="en-US" sz="2204" dirty="0" err="1">
                <a:solidFill>
                  <a:srgbClr val="FFFFFF"/>
                </a:solidFill>
                <a:latin typeface="Telegraf"/>
              </a:rPr>
              <a:t>diharapkan</a:t>
            </a:r>
            <a:r>
              <a:rPr lang="en-US" sz="2204" dirty="0">
                <a:solidFill>
                  <a:srgbClr val="FFFFFF"/>
                </a:solidFill>
                <a:latin typeface="Telegraf"/>
              </a:rPr>
              <a:t> </a:t>
            </a:r>
            <a:r>
              <a:rPr lang="en-US" sz="2204" dirty="0" err="1">
                <a:solidFill>
                  <a:srgbClr val="FFFFFF"/>
                </a:solidFill>
                <a:latin typeface="Telegraf"/>
              </a:rPr>
              <a:t>dapat</a:t>
            </a:r>
            <a:r>
              <a:rPr lang="en-US" sz="2204" dirty="0">
                <a:solidFill>
                  <a:srgbClr val="FFFFFF"/>
                </a:solidFill>
                <a:latin typeface="Telegraf"/>
              </a:rPr>
              <a:t> </a:t>
            </a:r>
            <a:r>
              <a:rPr lang="en-US" sz="2204" dirty="0" err="1">
                <a:solidFill>
                  <a:srgbClr val="FFFFFF"/>
                </a:solidFill>
                <a:latin typeface="Telegraf"/>
              </a:rPr>
              <a:t>memperoleh</a:t>
            </a:r>
            <a:r>
              <a:rPr lang="en-US" sz="2204" dirty="0">
                <a:solidFill>
                  <a:srgbClr val="FFFFFF"/>
                </a:solidFill>
                <a:latin typeface="Telegraf"/>
              </a:rPr>
              <a:t> </a:t>
            </a:r>
            <a:r>
              <a:rPr lang="en-US" sz="2204" dirty="0" err="1">
                <a:solidFill>
                  <a:srgbClr val="FFFFFF"/>
                </a:solidFill>
                <a:latin typeface="Telegraf"/>
              </a:rPr>
              <a:t>gambaran</a:t>
            </a:r>
            <a:r>
              <a:rPr lang="en-US" sz="2204" dirty="0">
                <a:solidFill>
                  <a:srgbClr val="FFFFFF"/>
                </a:solidFill>
                <a:latin typeface="Telegraf"/>
              </a:rPr>
              <a:t> </a:t>
            </a:r>
            <a:r>
              <a:rPr lang="en-US" sz="2204" dirty="0" err="1">
                <a:solidFill>
                  <a:srgbClr val="FFFFFF"/>
                </a:solidFill>
                <a:latin typeface="Telegraf"/>
              </a:rPr>
              <a:t>mengenai</a:t>
            </a:r>
            <a:r>
              <a:rPr lang="en-US" sz="2204" dirty="0">
                <a:solidFill>
                  <a:srgbClr val="FFFFFF"/>
                </a:solidFill>
                <a:latin typeface="Telegraf"/>
              </a:rPr>
              <a:t> </a:t>
            </a:r>
            <a:r>
              <a:rPr lang="en-US" sz="2204" dirty="0" err="1">
                <a:solidFill>
                  <a:srgbClr val="FFFFFF"/>
                </a:solidFill>
                <a:latin typeface="Telegraf"/>
              </a:rPr>
              <a:t>rekam</a:t>
            </a:r>
            <a:r>
              <a:rPr lang="en-US" sz="2204" dirty="0">
                <a:solidFill>
                  <a:srgbClr val="FFFFFF"/>
                </a:solidFill>
                <a:latin typeface="Telegraf"/>
              </a:rPr>
              <a:t> </a:t>
            </a:r>
            <a:r>
              <a:rPr lang="en-US" sz="2204" dirty="0" err="1">
                <a:solidFill>
                  <a:srgbClr val="FFFFFF"/>
                </a:solidFill>
                <a:latin typeface="Telegraf"/>
              </a:rPr>
              <a:t>jejak</a:t>
            </a:r>
            <a:r>
              <a:rPr lang="en-US" sz="2204" dirty="0">
                <a:solidFill>
                  <a:srgbClr val="FFFFFF"/>
                </a:solidFill>
                <a:latin typeface="Telegraf"/>
              </a:rPr>
              <a:t> </a:t>
            </a:r>
            <a:r>
              <a:rPr lang="en-US" sz="2204" dirty="0" err="1">
                <a:solidFill>
                  <a:srgbClr val="FFFFFF"/>
                </a:solidFill>
                <a:latin typeface="Telegraf"/>
              </a:rPr>
              <a:t>calon</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(pre employee screening) </a:t>
            </a:r>
            <a:r>
              <a:rPr lang="en-US" sz="2204" dirty="0" err="1">
                <a:solidFill>
                  <a:srgbClr val="FFFFFF"/>
                </a:solidFill>
                <a:latin typeface="Telegraf"/>
              </a:rPr>
              <a:t>secara</a:t>
            </a:r>
            <a:r>
              <a:rPr lang="en-US" sz="2204" dirty="0">
                <a:solidFill>
                  <a:srgbClr val="FFFFFF"/>
                </a:solidFill>
                <a:latin typeface="Telegraf"/>
              </a:rPr>
              <a:t> </a:t>
            </a:r>
            <a:r>
              <a:rPr lang="en-US" sz="2204" dirty="0" err="1">
                <a:solidFill>
                  <a:srgbClr val="FFFFFF"/>
                </a:solidFill>
                <a:latin typeface="Telegraf"/>
              </a:rPr>
              <a:t>lengkap</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akurat</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marL="475975" lvl="1" indent="-237988">
              <a:lnSpc>
                <a:spcPts val="2645"/>
              </a:lnSpc>
              <a:buFont typeface="Arial"/>
              <a:buChar char="•"/>
            </a:pPr>
            <a:r>
              <a:rPr lang="en-US" sz="2204" dirty="0" err="1">
                <a:solidFill>
                  <a:srgbClr val="FFFFFF"/>
                </a:solidFill>
                <a:latin typeface="Telegraf"/>
              </a:rPr>
              <a:t>Sistem</a:t>
            </a:r>
            <a:r>
              <a:rPr lang="en-US" sz="2204" dirty="0">
                <a:solidFill>
                  <a:srgbClr val="FFFFFF"/>
                </a:solidFill>
                <a:latin typeface="Telegraf"/>
              </a:rPr>
              <a:t> </a:t>
            </a:r>
            <a:r>
              <a:rPr lang="en-US" sz="2204" dirty="0" err="1">
                <a:solidFill>
                  <a:srgbClr val="FFFFFF"/>
                </a:solidFill>
                <a:latin typeface="Telegraf"/>
              </a:rPr>
              <a:t>seleksi</a:t>
            </a:r>
            <a:r>
              <a:rPr lang="en-US" sz="2204" dirty="0">
                <a:solidFill>
                  <a:srgbClr val="FFFFFF"/>
                </a:solidFill>
                <a:latin typeface="Telegraf"/>
              </a:rPr>
              <a:t> yang </a:t>
            </a:r>
            <a:r>
              <a:rPr lang="en-US" sz="2204" dirty="0" err="1">
                <a:solidFill>
                  <a:srgbClr val="FFFFFF"/>
                </a:solidFill>
                <a:latin typeface="Telegraf"/>
              </a:rPr>
              <a:t>dilengkapi</a:t>
            </a:r>
            <a:r>
              <a:rPr lang="en-US" sz="2204" dirty="0">
                <a:solidFill>
                  <a:srgbClr val="FFFFFF"/>
                </a:solidFill>
                <a:latin typeface="Telegraf"/>
              </a:rPr>
              <a:t> </a:t>
            </a:r>
            <a:r>
              <a:rPr lang="en-US" sz="2204" dirty="0" err="1">
                <a:solidFill>
                  <a:srgbClr val="FFFFFF"/>
                </a:solidFill>
                <a:latin typeface="Telegraf"/>
              </a:rPr>
              <a:t>kualifikasi</a:t>
            </a:r>
            <a:r>
              <a:rPr lang="en-US" sz="2204" dirty="0">
                <a:solidFill>
                  <a:srgbClr val="FFFFFF"/>
                </a:solidFill>
                <a:latin typeface="Telegraf"/>
              </a:rPr>
              <a:t> yang </a:t>
            </a:r>
            <a:r>
              <a:rPr lang="en-US" sz="2204" dirty="0" err="1">
                <a:solidFill>
                  <a:srgbClr val="FFFFFF"/>
                </a:solidFill>
                <a:latin typeface="Telegraf"/>
              </a:rPr>
              <a:t>tepat</a:t>
            </a:r>
            <a:r>
              <a:rPr lang="en-US" sz="2204" dirty="0">
                <a:solidFill>
                  <a:srgbClr val="FFFFFF"/>
                </a:solidFill>
                <a:latin typeface="Telegraf"/>
              </a:rPr>
              <a:t> </a:t>
            </a:r>
            <a:r>
              <a:rPr lang="en-US" sz="2204" dirty="0" err="1">
                <a:solidFill>
                  <a:srgbClr val="FFFFFF"/>
                </a:solidFill>
                <a:latin typeface="Telegraf"/>
              </a:rPr>
              <a:t>dengan</a:t>
            </a:r>
            <a:r>
              <a:rPr lang="en-US" sz="2204" dirty="0">
                <a:solidFill>
                  <a:srgbClr val="FFFFFF"/>
                </a:solidFill>
                <a:latin typeface="Telegraf"/>
              </a:rPr>
              <a:t> </a:t>
            </a:r>
            <a:r>
              <a:rPr lang="en-US" sz="2204" dirty="0" err="1">
                <a:solidFill>
                  <a:srgbClr val="FFFFFF"/>
                </a:solidFill>
                <a:latin typeface="Telegraf"/>
              </a:rPr>
              <a:t>mempertimbangkan</a:t>
            </a:r>
            <a:r>
              <a:rPr lang="en-US" sz="2204" dirty="0">
                <a:solidFill>
                  <a:srgbClr val="FFFFFF"/>
                </a:solidFill>
                <a:latin typeface="Telegraf"/>
              </a:rPr>
              <a:t> </a:t>
            </a:r>
            <a:r>
              <a:rPr lang="en-US" sz="2204" dirty="0" err="1">
                <a:solidFill>
                  <a:srgbClr val="FFFFFF"/>
                </a:solidFill>
                <a:latin typeface="Telegraf"/>
              </a:rPr>
              <a:t>risiko</a:t>
            </a:r>
            <a:r>
              <a:rPr lang="en-US" sz="2204" dirty="0">
                <a:solidFill>
                  <a:srgbClr val="FFFFFF"/>
                </a:solidFill>
                <a:latin typeface="Telegraf"/>
              </a:rPr>
              <a:t>, </a:t>
            </a:r>
            <a:r>
              <a:rPr lang="en-US" sz="2204" dirty="0" err="1">
                <a:solidFill>
                  <a:srgbClr val="FFFFFF"/>
                </a:solidFill>
                <a:latin typeface="Telegraf"/>
              </a:rPr>
              <a:t>serta</a:t>
            </a:r>
            <a:r>
              <a:rPr lang="en-US" sz="2204" dirty="0">
                <a:solidFill>
                  <a:srgbClr val="FFFFFF"/>
                </a:solidFill>
                <a:latin typeface="Telegraf"/>
              </a:rPr>
              <a:t> </a:t>
            </a:r>
            <a:r>
              <a:rPr lang="en-US" sz="2204" dirty="0" err="1">
                <a:solidFill>
                  <a:srgbClr val="FFFFFF"/>
                </a:solidFill>
                <a:latin typeface="Telegraf"/>
              </a:rPr>
              <a:t>ditetapkan</a:t>
            </a:r>
            <a:r>
              <a:rPr lang="en-US" sz="2204" dirty="0">
                <a:solidFill>
                  <a:srgbClr val="FFFFFF"/>
                </a:solidFill>
                <a:latin typeface="Telegraf"/>
              </a:rPr>
              <a:t> </a:t>
            </a:r>
            <a:r>
              <a:rPr lang="en-US" sz="2204" dirty="0" err="1">
                <a:solidFill>
                  <a:srgbClr val="FFFFFF"/>
                </a:solidFill>
                <a:latin typeface="Telegraf"/>
              </a:rPr>
              <a:t>secara</a:t>
            </a:r>
            <a:r>
              <a:rPr lang="en-US" sz="2204" dirty="0">
                <a:solidFill>
                  <a:srgbClr val="FFFFFF"/>
                </a:solidFill>
                <a:latin typeface="Telegraf"/>
              </a:rPr>
              <a:t> </a:t>
            </a:r>
            <a:r>
              <a:rPr lang="en-US" sz="2204" dirty="0" err="1">
                <a:solidFill>
                  <a:srgbClr val="FFFFFF"/>
                </a:solidFill>
                <a:latin typeface="Telegraf"/>
              </a:rPr>
              <a:t>objektif</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transparan</a:t>
            </a:r>
            <a:r>
              <a:rPr lang="en-US" sz="2204" dirty="0">
                <a:solidFill>
                  <a:srgbClr val="FFFFFF"/>
                </a:solidFill>
                <a:latin typeface="Telegraf"/>
              </a:rPr>
              <a:t>. </a:t>
            </a:r>
            <a:r>
              <a:rPr lang="en-US" sz="2204" dirty="0" err="1">
                <a:solidFill>
                  <a:srgbClr val="FFFFFF"/>
                </a:solidFill>
                <a:latin typeface="Telegraf"/>
              </a:rPr>
              <a:t>Sistem</a:t>
            </a:r>
            <a:r>
              <a:rPr lang="en-US" sz="2204" dirty="0">
                <a:solidFill>
                  <a:srgbClr val="FFFFFF"/>
                </a:solidFill>
                <a:latin typeface="Telegraf"/>
              </a:rPr>
              <a:t> </a:t>
            </a:r>
            <a:r>
              <a:rPr lang="en-US" sz="2204" dirty="0" err="1">
                <a:solidFill>
                  <a:srgbClr val="FFFFFF"/>
                </a:solidFill>
                <a:latin typeface="Telegraf"/>
              </a:rPr>
              <a:t>tersebut</a:t>
            </a:r>
            <a:r>
              <a:rPr lang="en-US" sz="2204" dirty="0">
                <a:solidFill>
                  <a:srgbClr val="FFFFFF"/>
                </a:solidFill>
                <a:latin typeface="Telegraf"/>
              </a:rPr>
              <a:t> </a:t>
            </a:r>
            <a:r>
              <a:rPr lang="en-US" sz="2204" dirty="0" err="1">
                <a:solidFill>
                  <a:srgbClr val="FFFFFF"/>
                </a:solidFill>
                <a:latin typeface="Telegraf"/>
              </a:rPr>
              <a:t>harus</a:t>
            </a:r>
            <a:r>
              <a:rPr lang="en-US" sz="2204" dirty="0">
                <a:solidFill>
                  <a:srgbClr val="FFFFFF"/>
                </a:solidFill>
                <a:latin typeface="Telegraf"/>
              </a:rPr>
              <a:t> </a:t>
            </a:r>
            <a:r>
              <a:rPr lang="en-US" sz="2204" dirty="0" err="1">
                <a:solidFill>
                  <a:srgbClr val="FFFFFF"/>
                </a:solidFill>
                <a:latin typeface="Telegraf"/>
              </a:rPr>
              <a:t>menjangkau</a:t>
            </a:r>
            <a:r>
              <a:rPr lang="en-US" sz="2204" dirty="0">
                <a:solidFill>
                  <a:srgbClr val="FFFFFF"/>
                </a:solidFill>
                <a:latin typeface="Telegraf"/>
              </a:rPr>
              <a:t> </a:t>
            </a:r>
            <a:r>
              <a:rPr lang="en-US" sz="2204" dirty="0" err="1">
                <a:solidFill>
                  <a:srgbClr val="FFFFFF"/>
                </a:solidFill>
                <a:latin typeface="Telegraf"/>
              </a:rPr>
              <a:t>pelaksanaan</a:t>
            </a:r>
            <a:r>
              <a:rPr lang="en-US" sz="2204" dirty="0">
                <a:solidFill>
                  <a:srgbClr val="FFFFFF"/>
                </a:solidFill>
                <a:latin typeface="Telegraf"/>
              </a:rPr>
              <a:t> </a:t>
            </a:r>
            <a:r>
              <a:rPr lang="en-US" sz="2204" dirty="0" err="1">
                <a:solidFill>
                  <a:srgbClr val="FFFFFF"/>
                </a:solidFill>
                <a:latin typeface="Telegraf"/>
              </a:rPr>
              <a:t>promosi</a:t>
            </a:r>
            <a:r>
              <a:rPr lang="en-US" sz="2204" dirty="0">
                <a:solidFill>
                  <a:srgbClr val="FFFFFF"/>
                </a:solidFill>
                <a:latin typeface="Telegraf"/>
              </a:rPr>
              <a:t> </a:t>
            </a:r>
            <a:r>
              <a:rPr lang="en-US" sz="2204" dirty="0" err="1">
                <a:solidFill>
                  <a:srgbClr val="FFFFFF"/>
                </a:solidFill>
                <a:latin typeface="Telegraf"/>
              </a:rPr>
              <a:t>maupun</a:t>
            </a:r>
            <a:r>
              <a:rPr lang="en-US" sz="2204" dirty="0">
                <a:solidFill>
                  <a:srgbClr val="FFFFFF"/>
                </a:solidFill>
                <a:latin typeface="Telegraf"/>
              </a:rPr>
              <a:t> </a:t>
            </a:r>
            <a:r>
              <a:rPr lang="en-US" sz="2204" dirty="0" err="1">
                <a:solidFill>
                  <a:srgbClr val="FFFFFF"/>
                </a:solidFill>
                <a:latin typeface="Telegraf"/>
              </a:rPr>
              <a:t>mutasi</a:t>
            </a:r>
            <a:r>
              <a:rPr lang="en-US" sz="2204" dirty="0">
                <a:solidFill>
                  <a:srgbClr val="FFFFFF"/>
                </a:solidFill>
                <a:latin typeface="Telegraf"/>
              </a:rPr>
              <a:t>, </a:t>
            </a:r>
            <a:r>
              <a:rPr lang="en-US" sz="2204" dirty="0" err="1">
                <a:solidFill>
                  <a:srgbClr val="FFFFFF"/>
                </a:solidFill>
                <a:latin typeface="Telegraf"/>
              </a:rPr>
              <a:t>termasuk</a:t>
            </a:r>
            <a:r>
              <a:rPr lang="en-US" sz="2204" dirty="0">
                <a:solidFill>
                  <a:srgbClr val="FFFFFF"/>
                </a:solidFill>
                <a:latin typeface="Telegraf"/>
              </a:rPr>
              <a:t> </a:t>
            </a:r>
            <a:r>
              <a:rPr lang="en-US" sz="2204" dirty="0" err="1">
                <a:solidFill>
                  <a:srgbClr val="FFFFFF"/>
                </a:solidFill>
                <a:latin typeface="Telegraf"/>
              </a:rPr>
              <a:t>penempatan</a:t>
            </a:r>
            <a:r>
              <a:rPr lang="en-US" sz="2204" dirty="0">
                <a:solidFill>
                  <a:srgbClr val="FFFFFF"/>
                </a:solidFill>
                <a:latin typeface="Telegraf"/>
              </a:rPr>
              <a:t> </a:t>
            </a:r>
            <a:r>
              <a:rPr lang="en-US" sz="2204" dirty="0" err="1">
                <a:solidFill>
                  <a:srgbClr val="FFFFFF"/>
                </a:solidFill>
                <a:latin typeface="Telegraf"/>
              </a:rPr>
              <a:t>posisi</a:t>
            </a:r>
            <a:r>
              <a:rPr lang="en-US" sz="2204" dirty="0">
                <a:solidFill>
                  <a:srgbClr val="FFFFFF"/>
                </a:solidFill>
                <a:latin typeface="Telegraf"/>
              </a:rPr>
              <a:t> yang </a:t>
            </a:r>
            <a:r>
              <a:rPr lang="en-US" sz="2204" dirty="0" err="1">
                <a:solidFill>
                  <a:srgbClr val="FFFFFF"/>
                </a:solidFill>
                <a:latin typeface="Telegraf"/>
              </a:rPr>
              <a:t>memiliki</a:t>
            </a:r>
            <a:r>
              <a:rPr lang="en-US" sz="2204" dirty="0">
                <a:solidFill>
                  <a:srgbClr val="FFFFFF"/>
                </a:solidFill>
                <a:latin typeface="Telegraf"/>
              </a:rPr>
              <a:t> </a:t>
            </a:r>
            <a:r>
              <a:rPr lang="en-US" sz="2204" dirty="0" err="1">
                <a:solidFill>
                  <a:srgbClr val="FFFFFF"/>
                </a:solidFill>
                <a:latin typeface="Telegraf"/>
              </a:rPr>
              <a:t>risiko</a:t>
            </a:r>
            <a:r>
              <a:rPr lang="en-US" sz="2204" dirty="0">
                <a:solidFill>
                  <a:srgbClr val="FFFFFF"/>
                </a:solidFill>
                <a:latin typeface="Telegraf"/>
              </a:rPr>
              <a:t> </a:t>
            </a:r>
            <a:r>
              <a:rPr lang="en-US" sz="2204" dirty="0" err="1">
                <a:solidFill>
                  <a:srgbClr val="FFFFFF"/>
                </a:solidFill>
                <a:latin typeface="Telegraf"/>
              </a:rPr>
              <a:t>tinggi</a:t>
            </a:r>
            <a:r>
              <a:rPr lang="en-US" sz="2204" dirty="0">
                <a:solidFill>
                  <a:srgbClr val="FFFFFF"/>
                </a:solidFill>
                <a:latin typeface="Telegraf"/>
              </a:rPr>
              <a:t> </a:t>
            </a:r>
            <a:r>
              <a:rPr lang="en-US" sz="2204" dirty="0" err="1">
                <a:solidFill>
                  <a:srgbClr val="FFFFFF"/>
                </a:solidFill>
                <a:latin typeface="Telegraf"/>
              </a:rPr>
              <a:t>terhadap</a:t>
            </a:r>
            <a:r>
              <a:rPr lang="en-US" sz="2204" dirty="0">
                <a:solidFill>
                  <a:srgbClr val="FFFFFF"/>
                </a:solidFill>
                <a:latin typeface="Telegraf"/>
              </a:rPr>
              <a:t> fraud</a:t>
            </a:r>
          </a:p>
          <a:p>
            <a:pPr>
              <a:lnSpc>
                <a:spcPts val="2645"/>
              </a:lnSpc>
            </a:pPr>
            <a:endParaRPr lang="en-US" sz="2204" dirty="0">
              <a:solidFill>
                <a:srgbClr val="FFFFFF"/>
              </a:solidFill>
              <a:latin typeface="Telegraf"/>
            </a:endParaRPr>
          </a:p>
          <a:p>
            <a:pPr marL="475975" lvl="1" indent="-237988">
              <a:lnSpc>
                <a:spcPts val="2645"/>
              </a:lnSpc>
              <a:buFont typeface="Arial"/>
              <a:buChar char="•"/>
            </a:pPr>
            <a:r>
              <a:rPr lang="en-US" sz="2204" dirty="0" err="1">
                <a:solidFill>
                  <a:srgbClr val="FFFFFF"/>
                </a:solidFill>
                <a:latin typeface="Telegraf"/>
              </a:rPr>
              <a:t>Kebijakan</a:t>
            </a:r>
            <a:r>
              <a:rPr lang="en-US" sz="2204" dirty="0">
                <a:solidFill>
                  <a:srgbClr val="FFFFFF"/>
                </a:solidFill>
                <a:latin typeface="Telegraf"/>
              </a:rPr>
              <a:t> </a:t>
            </a:r>
            <a:r>
              <a:rPr lang="en-US" sz="2204" dirty="0" err="1">
                <a:solidFill>
                  <a:srgbClr val="FFFFFF"/>
                </a:solidFill>
                <a:latin typeface="Telegraf"/>
              </a:rPr>
              <a:t>mengenali</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(know your employee), </a:t>
            </a:r>
            <a:r>
              <a:rPr lang="en-US" sz="2204" dirty="0" err="1">
                <a:solidFill>
                  <a:srgbClr val="FFFFFF"/>
                </a:solidFill>
                <a:latin typeface="Telegraf"/>
              </a:rPr>
              <a:t>antara</a:t>
            </a:r>
            <a:r>
              <a:rPr lang="en-US" sz="2204" dirty="0">
                <a:solidFill>
                  <a:srgbClr val="FFFFFF"/>
                </a:solidFill>
                <a:latin typeface="Telegraf"/>
              </a:rPr>
              <a:t> lain </a:t>
            </a:r>
            <a:r>
              <a:rPr lang="en-US" sz="2204" dirty="0" err="1">
                <a:solidFill>
                  <a:srgbClr val="FFFFFF"/>
                </a:solidFill>
                <a:latin typeface="Telegraf"/>
              </a:rPr>
              <a:t>pengenalan</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pemantauan</a:t>
            </a:r>
            <a:r>
              <a:rPr lang="en-US" sz="2204" dirty="0">
                <a:solidFill>
                  <a:srgbClr val="FFFFFF"/>
                </a:solidFill>
                <a:latin typeface="Telegraf"/>
              </a:rPr>
              <a:t> </a:t>
            </a:r>
            <a:r>
              <a:rPr lang="en-US" sz="2204" dirty="0" err="1">
                <a:solidFill>
                  <a:srgbClr val="FFFFFF"/>
                </a:solidFill>
                <a:latin typeface="Telegraf"/>
              </a:rPr>
              <a:t>karakter</a:t>
            </a:r>
            <a:r>
              <a:rPr lang="en-US" sz="2204" dirty="0">
                <a:solidFill>
                  <a:srgbClr val="FFFFFF"/>
                </a:solidFill>
                <a:latin typeface="Telegraf"/>
              </a:rPr>
              <a:t>, </a:t>
            </a:r>
            <a:r>
              <a:rPr lang="en-US" sz="2204" dirty="0" err="1">
                <a:solidFill>
                  <a:srgbClr val="FFFFFF"/>
                </a:solidFill>
                <a:latin typeface="Telegraf"/>
              </a:rPr>
              <a:t>perilaku</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gaya</a:t>
            </a:r>
            <a:r>
              <a:rPr lang="en-US" sz="2204" dirty="0">
                <a:solidFill>
                  <a:srgbClr val="FFFFFF"/>
                </a:solidFill>
                <a:latin typeface="Telegraf"/>
              </a:rPr>
              <a:t> </a:t>
            </a:r>
            <a:r>
              <a:rPr lang="en-US" sz="2204" dirty="0" err="1">
                <a:solidFill>
                  <a:srgbClr val="FFFFFF"/>
                </a:solidFill>
                <a:latin typeface="Telegraf"/>
              </a:rPr>
              <a:t>hidup</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a:t>
            </a:r>
            <a:r>
              <a:rPr lang="en-US" sz="2204" dirty="0" err="1">
                <a:solidFill>
                  <a:srgbClr val="FFFFFF"/>
                </a:solidFill>
                <a:latin typeface="Telegraf"/>
              </a:rPr>
              <a:t>Pada</a:t>
            </a:r>
            <a:r>
              <a:rPr lang="en-US" sz="2204" dirty="0">
                <a:solidFill>
                  <a:srgbClr val="FFFFFF"/>
                </a:solidFill>
                <a:latin typeface="Telegraf"/>
              </a:rPr>
              <a:t> </a:t>
            </a:r>
            <a:r>
              <a:rPr lang="en-US" sz="2204" dirty="0" err="1">
                <a:solidFill>
                  <a:srgbClr val="FFFFFF"/>
                </a:solidFill>
                <a:latin typeface="Telegraf"/>
              </a:rPr>
              <a:t>penerapan</a:t>
            </a:r>
            <a:r>
              <a:rPr lang="en-US" sz="2204" dirty="0">
                <a:solidFill>
                  <a:srgbClr val="FFFFFF"/>
                </a:solidFill>
                <a:latin typeface="Telegraf"/>
              </a:rPr>
              <a:t> </a:t>
            </a:r>
            <a:r>
              <a:rPr lang="en-US" sz="2204" dirty="0" err="1">
                <a:solidFill>
                  <a:srgbClr val="FFFFFF"/>
                </a:solidFill>
                <a:latin typeface="Telegraf"/>
              </a:rPr>
              <a:t>tindakan</a:t>
            </a:r>
            <a:r>
              <a:rPr lang="en-US" sz="2204" dirty="0">
                <a:solidFill>
                  <a:srgbClr val="FFFFFF"/>
                </a:solidFill>
                <a:latin typeface="Telegraf"/>
              </a:rPr>
              <a:t> </a:t>
            </a:r>
            <a:r>
              <a:rPr lang="en-US" sz="2204" dirty="0" err="1">
                <a:solidFill>
                  <a:srgbClr val="FFFFFF"/>
                </a:solidFill>
                <a:latin typeface="Telegraf"/>
              </a:rPr>
              <a:t>pencegahan</a:t>
            </a:r>
            <a:r>
              <a:rPr lang="en-US" sz="2204" dirty="0">
                <a:solidFill>
                  <a:srgbClr val="FFFFFF"/>
                </a:solidFill>
                <a:latin typeface="Telegraf"/>
              </a:rPr>
              <a:t> Fraud, </a:t>
            </a:r>
            <a:r>
              <a:rPr lang="en-US" sz="2204" dirty="0" err="1">
                <a:solidFill>
                  <a:srgbClr val="FFFFFF"/>
                </a:solidFill>
                <a:latin typeface="Telegraf"/>
              </a:rPr>
              <a:t>masing-masing</a:t>
            </a:r>
            <a:r>
              <a:rPr lang="en-US" sz="2204" dirty="0">
                <a:solidFill>
                  <a:srgbClr val="FFFFFF"/>
                </a:solidFill>
                <a:latin typeface="Telegraf"/>
              </a:rPr>
              <a:t> </a:t>
            </a:r>
            <a:r>
              <a:rPr lang="en-US" sz="2204" dirty="0" err="1">
                <a:solidFill>
                  <a:srgbClr val="FFFFFF"/>
                </a:solidFill>
                <a:latin typeface="Telegraf"/>
              </a:rPr>
              <a:t>atasan</a:t>
            </a:r>
            <a:r>
              <a:rPr lang="en-US" sz="2204" dirty="0">
                <a:solidFill>
                  <a:srgbClr val="FFFFFF"/>
                </a:solidFill>
                <a:latin typeface="Telegraf"/>
              </a:rPr>
              <a:t> </a:t>
            </a:r>
            <a:r>
              <a:rPr lang="en-US" sz="2204" dirty="0" err="1">
                <a:solidFill>
                  <a:srgbClr val="FFFFFF"/>
                </a:solidFill>
                <a:latin typeface="Telegraf"/>
              </a:rPr>
              <a:t>dituntut</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mengenali</a:t>
            </a:r>
            <a:r>
              <a:rPr lang="en-US" sz="2204" dirty="0">
                <a:solidFill>
                  <a:srgbClr val="FFFFFF"/>
                </a:solidFill>
                <a:latin typeface="Telegraf"/>
              </a:rPr>
              <a:t> </a:t>
            </a:r>
            <a:r>
              <a:rPr lang="en-US" sz="2204" dirty="0" err="1">
                <a:solidFill>
                  <a:srgbClr val="FFFFFF"/>
                </a:solidFill>
                <a:latin typeface="Telegraf"/>
              </a:rPr>
              <a:t>karakter</a:t>
            </a:r>
            <a:r>
              <a:rPr lang="en-US" sz="2204" dirty="0">
                <a:solidFill>
                  <a:srgbClr val="FFFFFF"/>
                </a:solidFill>
                <a:latin typeface="Telegraf"/>
              </a:rPr>
              <a:t>, </a:t>
            </a:r>
            <a:r>
              <a:rPr lang="en-US" sz="2204" dirty="0" err="1">
                <a:solidFill>
                  <a:srgbClr val="FFFFFF"/>
                </a:solidFill>
                <a:latin typeface="Telegraf"/>
              </a:rPr>
              <a:t>perilaku</a:t>
            </a:r>
            <a:r>
              <a:rPr lang="en-US" sz="2204" dirty="0">
                <a:solidFill>
                  <a:srgbClr val="FFFFFF"/>
                </a:solidFill>
                <a:latin typeface="Telegraf"/>
              </a:rPr>
              <a:t> </a:t>
            </a:r>
            <a:r>
              <a:rPr lang="en-US" sz="2204" dirty="0" err="1">
                <a:solidFill>
                  <a:srgbClr val="FFFFFF"/>
                </a:solidFill>
                <a:latin typeface="Telegraf"/>
              </a:rPr>
              <a:t>dan</a:t>
            </a:r>
            <a:r>
              <a:rPr lang="en-US" sz="2204" dirty="0">
                <a:solidFill>
                  <a:srgbClr val="FFFFFF"/>
                </a:solidFill>
                <a:latin typeface="Telegraf"/>
              </a:rPr>
              <a:t> </a:t>
            </a:r>
            <a:r>
              <a:rPr lang="en-US" sz="2204" dirty="0" err="1">
                <a:solidFill>
                  <a:srgbClr val="FFFFFF"/>
                </a:solidFill>
                <a:latin typeface="Telegraf"/>
              </a:rPr>
              <a:t>gaya</a:t>
            </a:r>
            <a:r>
              <a:rPr lang="en-US" sz="2204" dirty="0">
                <a:solidFill>
                  <a:srgbClr val="FFFFFF"/>
                </a:solidFill>
                <a:latin typeface="Telegraf"/>
              </a:rPr>
              <a:t> </a:t>
            </a:r>
            <a:r>
              <a:rPr lang="en-US" sz="2204" dirty="0" err="1">
                <a:solidFill>
                  <a:srgbClr val="FFFFFF"/>
                </a:solidFill>
                <a:latin typeface="Telegraf"/>
              </a:rPr>
              <a:t>hidup</a:t>
            </a:r>
            <a:r>
              <a:rPr lang="en-US" sz="2204" dirty="0">
                <a:solidFill>
                  <a:srgbClr val="FFFFFF"/>
                </a:solidFill>
                <a:latin typeface="Telegraf"/>
              </a:rPr>
              <a:t> </a:t>
            </a:r>
            <a:r>
              <a:rPr lang="en-US" sz="2204" dirty="0" err="1">
                <a:solidFill>
                  <a:srgbClr val="FFFFFF"/>
                </a:solidFill>
                <a:latin typeface="Telegraf"/>
              </a:rPr>
              <a:t>masing-masing</a:t>
            </a:r>
            <a:r>
              <a:rPr lang="en-US" sz="2204" dirty="0">
                <a:solidFill>
                  <a:srgbClr val="FFFFFF"/>
                </a:solidFill>
                <a:latin typeface="Telegraf"/>
              </a:rPr>
              <a:t> </a:t>
            </a:r>
            <a:r>
              <a:rPr lang="en-US" sz="2204" dirty="0" err="1">
                <a:solidFill>
                  <a:srgbClr val="FFFFFF"/>
                </a:solidFill>
                <a:latin typeface="Telegraf"/>
              </a:rPr>
              <a:t>bawahan</a:t>
            </a:r>
            <a:r>
              <a:rPr lang="en-US" sz="2204" dirty="0">
                <a:solidFill>
                  <a:srgbClr val="FFFFFF"/>
                </a:solidFill>
                <a:latin typeface="Telegraf"/>
              </a:rPr>
              <a:t> (minimal 1 level </a:t>
            </a:r>
            <a:r>
              <a:rPr lang="en-US" sz="2204" dirty="0" err="1">
                <a:solidFill>
                  <a:srgbClr val="FFFFFF"/>
                </a:solidFill>
                <a:latin typeface="Telegraf"/>
              </a:rPr>
              <a:t>dibawahnya</a:t>
            </a:r>
            <a:r>
              <a:rPr lang="en-US" sz="2204" dirty="0">
                <a:solidFill>
                  <a:srgbClr val="FFFFFF"/>
                </a:solidFill>
                <a:latin typeface="Telegraf"/>
              </a:rPr>
              <a:t>). Hal-</a:t>
            </a:r>
            <a:r>
              <a:rPr lang="en-US" sz="2204" dirty="0" err="1">
                <a:solidFill>
                  <a:srgbClr val="FFFFFF"/>
                </a:solidFill>
                <a:latin typeface="Telegraf"/>
              </a:rPr>
              <a:t>hal</a:t>
            </a:r>
            <a:r>
              <a:rPr lang="en-US" sz="2204" dirty="0">
                <a:solidFill>
                  <a:srgbClr val="FFFFFF"/>
                </a:solidFill>
                <a:latin typeface="Telegraf"/>
              </a:rPr>
              <a:t> </a:t>
            </a:r>
            <a:r>
              <a:rPr lang="en-US" sz="2204" dirty="0" err="1">
                <a:solidFill>
                  <a:srgbClr val="FFFFFF"/>
                </a:solidFill>
                <a:latin typeface="Telegraf"/>
              </a:rPr>
              <a:t>tersebut</a:t>
            </a:r>
            <a:r>
              <a:rPr lang="en-US" sz="2204" dirty="0">
                <a:solidFill>
                  <a:srgbClr val="FFFFFF"/>
                </a:solidFill>
                <a:latin typeface="Telegraf"/>
              </a:rPr>
              <a:t> </a:t>
            </a:r>
            <a:r>
              <a:rPr lang="en-US" sz="2204" dirty="0" err="1">
                <a:solidFill>
                  <a:srgbClr val="FFFFFF"/>
                </a:solidFill>
                <a:latin typeface="Telegraf"/>
              </a:rPr>
              <a:t>dilakukan</a:t>
            </a:r>
            <a:r>
              <a:rPr lang="en-US" sz="2204" dirty="0">
                <a:solidFill>
                  <a:srgbClr val="FFFFFF"/>
                </a:solidFill>
                <a:latin typeface="Telegraf"/>
              </a:rPr>
              <a:t> </a:t>
            </a:r>
            <a:r>
              <a:rPr lang="en-US" sz="2204" dirty="0" err="1">
                <a:solidFill>
                  <a:srgbClr val="FFFFFF"/>
                </a:solidFill>
                <a:latin typeface="Telegraf"/>
              </a:rPr>
              <a:t>untuk</a:t>
            </a:r>
            <a:r>
              <a:rPr lang="en-US" sz="2204" dirty="0">
                <a:solidFill>
                  <a:srgbClr val="FFFFFF"/>
                </a:solidFill>
                <a:latin typeface="Telegraf"/>
              </a:rPr>
              <a:t> </a:t>
            </a:r>
            <a:r>
              <a:rPr lang="en-US" sz="2204" dirty="0" err="1">
                <a:solidFill>
                  <a:srgbClr val="FFFFFF"/>
                </a:solidFill>
                <a:latin typeface="Telegraf"/>
              </a:rPr>
              <a:t>mengidentifikasi</a:t>
            </a:r>
            <a:r>
              <a:rPr lang="en-US" sz="2204" dirty="0">
                <a:solidFill>
                  <a:srgbClr val="FFFFFF"/>
                </a:solidFill>
                <a:latin typeface="Telegraf"/>
              </a:rPr>
              <a:t> </a:t>
            </a:r>
            <a:r>
              <a:rPr lang="en-US" sz="2204" dirty="0" err="1">
                <a:solidFill>
                  <a:srgbClr val="FFFFFF"/>
                </a:solidFill>
                <a:latin typeface="Telegraf"/>
              </a:rPr>
              <a:t>gejala</a:t>
            </a:r>
            <a:r>
              <a:rPr lang="en-US" sz="2204" dirty="0">
                <a:solidFill>
                  <a:srgbClr val="FFFFFF"/>
                </a:solidFill>
                <a:latin typeface="Telegraf"/>
              </a:rPr>
              <a:t> Fraud yang </a:t>
            </a:r>
            <a:r>
              <a:rPr lang="en-US" sz="2204" dirty="0" err="1">
                <a:solidFill>
                  <a:srgbClr val="FFFFFF"/>
                </a:solidFill>
                <a:latin typeface="Telegraf"/>
              </a:rPr>
              <a:t>kemungkinan</a:t>
            </a:r>
            <a:r>
              <a:rPr lang="en-US" sz="2204" dirty="0">
                <a:solidFill>
                  <a:srgbClr val="FFFFFF"/>
                </a:solidFill>
                <a:latin typeface="Telegraf"/>
              </a:rPr>
              <a:t> </a:t>
            </a:r>
            <a:r>
              <a:rPr lang="en-US" sz="2204" dirty="0" err="1">
                <a:solidFill>
                  <a:srgbClr val="FFFFFF"/>
                </a:solidFill>
                <a:latin typeface="Telegraf"/>
              </a:rPr>
              <a:t>besar</a:t>
            </a:r>
            <a:r>
              <a:rPr lang="en-US" sz="2204" dirty="0">
                <a:solidFill>
                  <a:srgbClr val="FFFFFF"/>
                </a:solidFill>
                <a:latin typeface="Telegraf"/>
              </a:rPr>
              <a:t> </a:t>
            </a:r>
            <a:r>
              <a:rPr lang="en-US" sz="2204" dirty="0" err="1">
                <a:solidFill>
                  <a:srgbClr val="FFFFFF"/>
                </a:solidFill>
                <a:latin typeface="Telegraf"/>
              </a:rPr>
              <a:t>akan</a:t>
            </a:r>
            <a:r>
              <a:rPr lang="en-US" sz="2204" dirty="0">
                <a:solidFill>
                  <a:srgbClr val="FFFFFF"/>
                </a:solidFill>
                <a:latin typeface="Telegraf"/>
              </a:rPr>
              <a:t> </a:t>
            </a:r>
            <a:r>
              <a:rPr lang="en-US" sz="2204" dirty="0" err="1">
                <a:solidFill>
                  <a:srgbClr val="FFFFFF"/>
                </a:solidFill>
                <a:latin typeface="Telegraf"/>
              </a:rPr>
              <a:t>terjadi</a:t>
            </a:r>
            <a:r>
              <a:rPr lang="en-US" sz="2204" dirty="0">
                <a:solidFill>
                  <a:srgbClr val="FFFFFF"/>
                </a:solidFill>
                <a:latin typeface="Telegraf"/>
              </a:rPr>
              <a:t> </a:t>
            </a:r>
            <a:r>
              <a:rPr lang="en-US" sz="2204" dirty="0" err="1">
                <a:solidFill>
                  <a:srgbClr val="FFFFFF"/>
                </a:solidFill>
                <a:latin typeface="Telegraf"/>
              </a:rPr>
              <a:t>atau</a:t>
            </a:r>
            <a:r>
              <a:rPr lang="en-US" sz="2204" dirty="0">
                <a:solidFill>
                  <a:srgbClr val="FFFFFF"/>
                </a:solidFill>
                <a:latin typeface="Telegraf"/>
              </a:rPr>
              <a:t> </a:t>
            </a:r>
            <a:r>
              <a:rPr lang="en-US" sz="2204" dirty="0" err="1">
                <a:solidFill>
                  <a:srgbClr val="FFFFFF"/>
                </a:solidFill>
                <a:latin typeface="Telegraf"/>
              </a:rPr>
              <a:t>telah</a:t>
            </a:r>
            <a:r>
              <a:rPr lang="en-US" sz="2204" dirty="0">
                <a:solidFill>
                  <a:srgbClr val="FFFFFF"/>
                </a:solidFill>
                <a:latin typeface="Telegraf"/>
              </a:rPr>
              <a:t> </a:t>
            </a:r>
            <a:r>
              <a:rPr lang="en-US" sz="2204" dirty="0" err="1">
                <a:solidFill>
                  <a:srgbClr val="FFFFFF"/>
                </a:solidFill>
                <a:latin typeface="Telegraf"/>
              </a:rPr>
              <a:t>terjadi</a:t>
            </a:r>
            <a:r>
              <a:rPr lang="en-US" sz="2204" dirty="0">
                <a:solidFill>
                  <a:srgbClr val="FFFFFF"/>
                </a:solidFill>
                <a:latin typeface="Telegraf"/>
              </a:rPr>
              <a:t>. </a:t>
            </a:r>
          </a:p>
          <a:p>
            <a:pPr>
              <a:lnSpc>
                <a:spcPts val="2645"/>
              </a:lnSpc>
            </a:pPr>
            <a:r>
              <a:rPr lang="en-US" sz="2204" dirty="0">
                <a:solidFill>
                  <a:srgbClr val="FFFFFF"/>
                </a:solidFill>
                <a:latin typeface="Telegraf"/>
              </a:rPr>
              <a:t>        </a:t>
            </a:r>
            <a:r>
              <a:rPr lang="en-US" sz="2204" dirty="0" err="1">
                <a:solidFill>
                  <a:srgbClr val="FFFFFF"/>
                </a:solidFill>
                <a:latin typeface="Telegraf"/>
              </a:rPr>
              <a:t>Berikut</a:t>
            </a:r>
            <a:r>
              <a:rPr lang="en-US" sz="2204" dirty="0">
                <a:solidFill>
                  <a:srgbClr val="FFFFFF"/>
                </a:solidFill>
                <a:latin typeface="Telegraf"/>
              </a:rPr>
              <a:t> </a:t>
            </a:r>
            <a:r>
              <a:rPr lang="en-US" sz="2204" dirty="0" err="1">
                <a:solidFill>
                  <a:srgbClr val="FFFFFF"/>
                </a:solidFill>
                <a:latin typeface="Telegraf"/>
              </a:rPr>
              <a:t>adalah</a:t>
            </a:r>
            <a:r>
              <a:rPr lang="en-US" sz="2204" dirty="0">
                <a:solidFill>
                  <a:srgbClr val="FFFFFF"/>
                </a:solidFill>
                <a:latin typeface="Telegraf"/>
              </a:rPr>
              <a:t> </a:t>
            </a:r>
            <a:r>
              <a:rPr lang="en-US" sz="2204" dirty="0" err="1">
                <a:solidFill>
                  <a:srgbClr val="FFFFFF"/>
                </a:solidFill>
                <a:latin typeface="Telegraf"/>
              </a:rPr>
              <a:t>gejala</a:t>
            </a:r>
            <a:r>
              <a:rPr lang="en-US" sz="2204" dirty="0">
                <a:solidFill>
                  <a:srgbClr val="FFFFFF"/>
                </a:solidFill>
                <a:latin typeface="Telegraf"/>
              </a:rPr>
              <a:t> Fraud yang </a:t>
            </a:r>
            <a:r>
              <a:rPr lang="en-US" sz="2204" dirty="0" err="1">
                <a:solidFill>
                  <a:srgbClr val="FFFFFF"/>
                </a:solidFill>
                <a:latin typeface="Telegraf"/>
              </a:rPr>
              <a:t>dapat</a:t>
            </a:r>
            <a:r>
              <a:rPr lang="en-US" sz="2204" dirty="0">
                <a:solidFill>
                  <a:srgbClr val="FFFFFF"/>
                </a:solidFill>
                <a:latin typeface="Telegraf"/>
              </a:rPr>
              <a:t> </a:t>
            </a:r>
            <a:r>
              <a:rPr lang="en-US" sz="2204" dirty="0" err="1">
                <a:solidFill>
                  <a:srgbClr val="FFFFFF"/>
                </a:solidFill>
                <a:latin typeface="Telegraf"/>
              </a:rPr>
              <a:t>dikenali</a:t>
            </a:r>
            <a:r>
              <a:rPr lang="en-US" sz="2204" dirty="0">
                <a:solidFill>
                  <a:srgbClr val="FFFFFF"/>
                </a:solidFill>
                <a:latin typeface="Telegraf"/>
              </a:rPr>
              <a:t> </a:t>
            </a:r>
            <a:r>
              <a:rPr lang="en-US" sz="2204" dirty="0" err="1">
                <a:solidFill>
                  <a:srgbClr val="FFFFFF"/>
                </a:solidFill>
                <a:latin typeface="Telegraf"/>
              </a:rPr>
              <a:t>dari</a:t>
            </a:r>
            <a:r>
              <a:rPr lang="en-US" sz="2204" dirty="0">
                <a:solidFill>
                  <a:srgbClr val="FFFFFF"/>
                </a:solidFill>
                <a:latin typeface="Telegraf"/>
              </a:rPr>
              <a:t> </a:t>
            </a:r>
            <a:r>
              <a:rPr lang="en-US" sz="2204" dirty="0" err="1">
                <a:solidFill>
                  <a:srgbClr val="FFFFFF"/>
                </a:solidFill>
                <a:latin typeface="Telegraf"/>
              </a:rPr>
              <a:t>perubahan</a:t>
            </a:r>
            <a:r>
              <a:rPr lang="en-US" sz="2204" dirty="0">
                <a:solidFill>
                  <a:srgbClr val="FFFFFF"/>
                </a:solidFill>
                <a:latin typeface="Telegraf"/>
              </a:rPr>
              <a:t> </a:t>
            </a:r>
            <a:r>
              <a:rPr lang="en-US" sz="2204" dirty="0" err="1">
                <a:solidFill>
                  <a:srgbClr val="FFFFFF"/>
                </a:solidFill>
                <a:latin typeface="Telegraf"/>
              </a:rPr>
              <a:t>pola</a:t>
            </a:r>
            <a:r>
              <a:rPr lang="en-US" sz="2204" dirty="0">
                <a:solidFill>
                  <a:srgbClr val="FFFFFF"/>
                </a:solidFill>
                <a:latin typeface="Telegraf"/>
              </a:rPr>
              <a:t> </a:t>
            </a:r>
            <a:r>
              <a:rPr lang="en-US" sz="2204" dirty="0" err="1">
                <a:solidFill>
                  <a:srgbClr val="FFFFFF"/>
                </a:solidFill>
                <a:latin typeface="Telegraf"/>
              </a:rPr>
              <a:t>hidup</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a:t>
            </a:r>
          </a:p>
          <a:p>
            <a:pPr>
              <a:lnSpc>
                <a:spcPts val="2645"/>
              </a:lnSpc>
            </a:pPr>
            <a:endParaRPr lang="en-US" sz="2204" dirty="0">
              <a:solidFill>
                <a:srgbClr val="FFFFFF"/>
              </a:solidFill>
              <a:latin typeface="Telegraf"/>
            </a:endParaRPr>
          </a:p>
          <a:p>
            <a:pPr marL="892175" indent="-457200">
              <a:lnSpc>
                <a:spcPts val="2645"/>
              </a:lnSpc>
              <a:buFont typeface="+mj-lt"/>
              <a:buAutoNum type="alphaLcPeriod"/>
            </a:pPr>
            <a:r>
              <a:rPr lang="id-ID" sz="2204" dirty="0">
                <a:solidFill>
                  <a:srgbClr val="FFFFFF"/>
                </a:solidFill>
                <a:latin typeface="Telegraf"/>
              </a:rPr>
              <a:t>K</a:t>
            </a:r>
            <a:r>
              <a:rPr lang="en-US" sz="2204" dirty="0" err="1">
                <a:solidFill>
                  <a:srgbClr val="FFFFFF"/>
                </a:solidFill>
                <a:latin typeface="Telegraf"/>
              </a:rPr>
              <a:t>aryawan</a:t>
            </a:r>
            <a:r>
              <a:rPr lang="en-US" sz="2204" dirty="0">
                <a:solidFill>
                  <a:srgbClr val="FFFFFF"/>
                </a:solidFill>
                <a:latin typeface="Telegraf"/>
              </a:rPr>
              <a:t> </a:t>
            </a:r>
            <a:r>
              <a:rPr lang="en-US" sz="2204" dirty="0" err="1">
                <a:solidFill>
                  <a:srgbClr val="FFFFFF"/>
                </a:solidFill>
                <a:latin typeface="Telegraf"/>
              </a:rPr>
              <a:t>memiliki</a:t>
            </a:r>
            <a:r>
              <a:rPr lang="en-US" sz="2204" dirty="0">
                <a:solidFill>
                  <a:srgbClr val="FFFFFF"/>
                </a:solidFill>
                <a:latin typeface="Telegraf"/>
              </a:rPr>
              <a:t> </a:t>
            </a:r>
            <a:r>
              <a:rPr lang="en-US" sz="2204" dirty="0" err="1">
                <a:solidFill>
                  <a:srgbClr val="FFFFFF"/>
                </a:solidFill>
                <a:latin typeface="Telegraf"/>
              </a:rPr>
              <a:t>banyak</a:t>
            </a:r>
            <a:r>
              <a:rPr lang="en-US" sz="2204" dirty="0">
                <a:solidFill>
                  <a:srgbClr val="FFFFFF"/>
                </a:solidFill>
                <a:latin typeface="Telegraf"/>
              </a:rPr>
              <a:t> </a:t>
            </a:r>
            <a:r>
              <a:rPr lang="en-US" sz="2204" dirty="0" err="1">
                <a:solidFill>
                  <a:srgbClr val="FFFFFF"/>
                </a:solidFill>
                <a:latin typeface="Telegraf"/>
              </a:rPr>
              <a:t>permasalahan</a:t>
            </a:r>
            <a:r>
              <a:rPr lang="en-US" sz="2204" dirty="0">
                <a:solidFill>
                  <a:srgbClr val="FFFFFF"/>
                </a:solidFill>
                <a:latin typeface="Telegraf"/>
              </a:rPr>
              <a:t> </a:t>
            </a:r>
            <a:r>
              <a:rPr lang="en-US" sz="2204" dirty="0" err="1">
                <a:solidFill>
                  <a:srgbClr val="FFFFFF"/>
                </a:solidFill>
                <a:latin typeface="Telegraf"/>
              </a:rPr>
              <a:t>hidup</a:t>
            </a:r>
            <a:r>
              <a:rPr lang="en-US" sz="2204" dirty="0">
                <a:solidFill>
                  <a:srgbClr val="FFFFFF"/>
                </a:solidFill>
                <a:latin typeface="Telegraf"/>
              </a:rPr>
              <a:t> yang </a:t>
            </a:r>
            <a:r>
              <a:rPr lang="en-US" sz="2204" dirty="0" err="1">
                <a:solidFill>
                  <a:srgbClr val="FFFFFF"/>
                </a:solidFill>
                <a:latin typeface="Telegraf"/>
              </a:rPr>
              <a:t>belum</a:t>
            </a:r>
            <a:r>
              <a:rPr lang="en-US" sz="2204" dirty="0">
                <a:solidFill>
                  <a:srgbClr val="FFFFFF"/>
                </a:solidFill>
                <a:latin typeface="Telegraf"/>
              </a:rPr>
              <a:t> </a:t>
            </a:r>
            <a:r>
              <a:rPr lang="en-US" sz="2204" dirty="0" err="1">
                <a:solidFill>
                  <a:srgbClr val="FFFFFF"/>
                </a:solidFill>
                <a:latin typeface="Telegraf"/>
              </a:rPr>
              <a:t>terselesaikan</a:t>
            </a:r>
            <a:r>
              <a:rPr lang="en-US" sz="2204" dirty="0">
                <a:solidFill>
                  <a:srgbClr val="FFFFFF"/>
                </a:solidFill>
                <a:latin typeface="Telegraf"/>
              </a:rPr>
              <a:t>, </a:t>
            </a:r>
            <a:r>
              <a:rPr lang="en-US" sz="2204" dirty="0" err="1">
                <a:solidFill>
                  <a:srgbClr val="FFFFFF"/>
                </a:solidFill>
                <a:latin typeface="Telegraf"/>
              </a:rPr>
              <a:t>terutama</a:t>
            </a:r>
            <a:r>
              <a:rPr lang="en-US" sz="2204" dirty="0">
                <a:solidFill>
                  <a:srgbClr val="FFFFFF"/>
                </a:solidFill>
                <a:latin typeface="Telegraf"/>
              </a:rPr>
              <a:t> </a:t>
            </a:r>
            <a:r>
              <a:rPr lang="en-US" sz="2204" dirty="0" err="1">
                <a:solidFill>
                  <a:srgbClr val="FFFFFF"/>
                </a:solidFill>
                <a:latin typeface="Telegraf"/>
              </a:rPr>
              <a:t>masalah</a:t>
            </a:r>
            <a:r>
              <a:rPr lang="en-US" sz="2204" dirty="0">
                <a:solidFill>
                  <a:srgbClr val="FFFFFF"/>
                </a:solidFill>
                <a:latin typeface="Telegraf"/>
              </a:rPr>
              <a:t> </a:t>
            </a:r>
            <a:r>
              <a:rPr lang="en-US" sz="2204" dirty="0" err="1">
                <a:solidFill>
                  <a:srgbClr val="FFFFFF"/>
                </a:solidFill>
                <a:latin typeface="Telegraf"/>
              </a:rPr>
              <a:t>keuangan</a:t>
            </a:r>
            <a:endParaRPr lang="id-ID" sz="2204" dirty="0">
              <a:solidFill>
                <a:srgbClr val="FFFFFF"/>
              </a:solidFill>
              <a:latin typeface="Telegraf"/>
            </a:endParaRPr>
          </a:p>
          <a:p>
            <a:pPr marL="892175" indent="-457200">
              <a:lnSpc>
                <a:spcPts val="2645"/>
              </a:lnSpc>
              <a:buFont typeface="+mj-lt"/>
              <a:buAutoNum type="alphaLcPeriod"/>
            </a:pPr>
            <a:r>
              <a:rPr lang="id-ID" sz="2204" dirty="0">
                <a:solidFill>
                  <a:srgbClr val="FFFFFF"/>
                </a:solidFill>
                <a:latin typeface="Telegraf"/>
              </a:rPr>
              <a:t>M</a:t>
            </a:r>
            <a:r>
              <a:rPr lang="en-US" sz="2204" dirty="0" err="1">
                <a:solidFill>
                  <a:srgbClr val="FFFFFF"/>
                </a:solidFill>
                <a:latin typeface="Telegraf"/>
              </a:rPr>
              <a:t>emiliki</a:t>
            </a:r>
            <a:r>
              <a:rPr lang="en-US" sz="2204" dirty="0">
                <a:solidFill>
                  <a:srgbClr val="FFFFFF"/>
                </a:solidFill>
                <a:latin typeface="Telegraf"/>
              </a:rPr>
              <a:t> </a:t>
            </a:r>
            <a:r>
              <a:rPr lang="en-US" sz="2204" dirty="0" err="1">
                <a:solidFill>
                  <a:srgbClr val="FFFFFF"/>
                </a:solidFill>
                <a:latin typeface="Telegraf"/>
              </a:rPr>
              <a:t>banyak</a:t>
            </a:r>
            <a:r>
              <a:rPr lang="en-US" sz="2204" dirty="0">
                <a:solidFill>
                  <a:srgbClr val="FFFFFF"/>
                </a:solidFill>
                <a:latin typeface="Telegraf"/>
              </a:rPr>
              <a:t> </a:t>
            </a:r>
            <a:r>
              <a:rPr lang="en-US" sz="2204" dirty="0" err="1">
                <a:solidFill>
                  <a:srgbClr val="FFFFFF"/>
                </a:solidFill>
                <a:latin typeface="Telegraf"/>
              </a:rPr>
              <a:t>hutang</a:t>
            </a:r>
            <a:r>
              <a:rPr lang="en-US" sz="2204" dirty="0">
                <a:solidFill>
                  <a:srgbClr val="FFFFFF"/>
                </a:solidFill>
                <a:latin typeface="Telegraf"/>
              </a:rPr>
              <a:t>, </a:t>
            </a:r>
            <a:r>
              <a:rPr lang="en-US" sz="2204" dirty="0" err="1">
                <a:solidFill>
                  <a:srgbClr val="FFFFFF"/>
                </a:solidFill>
                <a:latin typeface="Telegraf"/>
              </a:rPr>
              <a:t>sering</a:t>
            </a:r>
            <a:r>
              <a:rPr lang="en-US" sz="2204" dirty="0">
                <a:solidFill>
                  <a:srgbClr val="FFFFFF"/>
                </a:solidFill>
                <a:latin typeface="Telegraf"/>
              </a:rPr>
              <a:t> </a:t>
            </a:r>
            <a:r>
              <a:rPr lang="en-US" sz="2204" dirty="0" err="1">
                <a:solidFill>
                  <a:srgbClr val="FFFFFF"/>
                </a:solidFill>
                <a:latin typeface="Telegraf"/>
              </a:rPr>
              <a:t>ditagih</a:t>
            </a:r>
            <a:r>
              <a:rPr lang="en-US" sz="2204" dirty="0">
                <a:solidFill>
                  <a:srgbClr val="FFFFFF"/>
                </a:solidFill>
                <a:latin typeface="Telegraf"/>
              </a:rPr>
              <a:t> collector</a:t>
            </a:r>
            <a:endParaRPr lang="id-ID" sz="2204" dirty="0">
              <a:solidFill>
                <a:srgbClr val="FFFFFF"/>
              </a:solidFill>
              <a:latin typeface="Telegraf"/>
            </a:endParaRPr>
          </a:p>
          <a:p>
            <a:pPr marL="892175" indent="-457200">
              <a:lnSpc>
                <a:spcPts val="2645"/>
              </a:lnSpc>
              <a:buFont typeface="+mj-lt"/>
              <a:buAutoNum type="alphaLcPeriod"/>
            </a:pPr>
            <a:r>
              <a:rPr lang="id-ID" sz="2204" dirty="0">
                <a:solidFill>
                  <a:srgbClr val="FFFFFF"/>
                </a:solidFill>
                <a:latin typeface="Telegraf"/>
              </a:rPr>
              <a:t>M</a:t>
            </a:r>
            <a:r>
              <a:rPr lang="en-US" sz="2204" dirty="0" err="1">
                <a:solidFill>
                  <a:srgbClr val="FFFFFF"/>
                </a:solidFill>
                <a:latin typeface="Telegraf"/>
              </a:rPr>
              <a:t>engalami</a:t>
            </a:r>
            <a:r>
              <a:rPr lang="en-US" sz="2204" dirty="0">
                <a:solidFill>
                  <a:srgbClr val="FFFFFF"/>
                </a:solidFill>
                <a:latin typeface="Telegraf"/>
              </a:rPr>
              <a:t> </a:t>
            </a:r>
            <a:r>
              <a:rPr lang="en-US" sz="2204" dirty="0" err="1">
                <a:solidFill>
                  <a:srgbClr val="FFFFFF"/>
                </a:solidFill>
                <a:latin typeface="Telegraf"/>
              </a:rPr>
              <a:t>sakit</a:t>
            </a:r>
            <a:r>
              <a:rPr lang="en-US" sz="2204" dirty="0">
                <a:solidFill>
                  <a:srgbClr val="FFFFFF"/>
                </a:solidFill>
                <a:latin typeface="Telegraf"/>
              </a:rPr>
              <a:t> yang </a:t>
            </a:r>
            <a:r>
              <a:rPr lang="en-US" sz="2204" dirty="0" err="1">
                <a:solidFill>
                  <a:srgbClr val="FFFFFF"/>
                </a:solidFill>
                <a:latin typeface="Telegraf"/>
              </a:rPr>
              <a:t>berkepanjangan</a:t>
            </a:r>
            <a:endParaRPr lang="id-ID" sz="2204" dirty="0">
              <a:solidFill>
                <a:srgbClr val="FFFFFF"/>
              </a:solidFill>
              <a:latin typeface="Telegraf"/>
            </a:endParaRPr>
          </a:p>
          <a:p>
            <a:pPr marL="892175" indent="-457200">
              <a:lnSpc>
                <a:spcPts val="2645"/>
              </a:lnSpc>
              <a:buFont typeface="+mj-lt"/>
              <a:buAutoNum type="alphaLcPeriod"/>
            </a:pPr>
            <a:r>
              <a:rPr lang="id-ID" sz="2204" dirty="0">
                <a:solidFill>
                  <a:srgbClr val="FFFFFF"/>
                </a:solidFill>
                <a:latin typeface="Telegraf"/>
              </a:rPr>
              <a:t>P</a:t>
            </a:r>
            <a:r>
              <a:rPr lang="en-US" sz="2204" dirty="0" err="1">
                <a:solidFill>
                  <a:srgbClr val="FFFFFF"/>
                </a:solidFill>
                <a:latin typeface="Telegraf"/>
              </a:rPr>
              <a:t>ola</a:t>
            </a:r>
            <a:r>
              <a:rPr lang="en-US" sz="2204" dirty="0">
                <a:solidFill>
                  <a:srgbClr val="FFFFFF"/>
                </a:solidFill>
                <a:latin typeface="Telegraf"/>
              </a:rPr>
              <a:t> </a:t>
            </a:r>
            <a:r>
              <a:rPr lang="en-US" sz="2204" dirty="0" err="1">
                <a:solidFill>
                  <a:srgbClr val="FFFFFF"/>
                </a:solidFill>
                <a:latin typeface="Telegraf"/>
              </a:rPr>
              <a:t>gaya</a:t>
            </a:r>
            <a:r>
              <a:rPr lang="en-US" sz="2204" dirty="0">
                <a:solidFill>
                  <a:srgbClr val="FFFFFF"/>
                </a:solidFill>
                <a:latin typeface="Telegraf"/>
              </a:rPr>
              <a:t> </a:t>
            </a:r>
            <a:r>
              <a:rPr lang="en-US" sz="2204" dirty="0" err="1">
                <a:solidFill>
                  <a:srgbClr val="FFFFFF"/>
                </a:solidFill>
                <a:latin typeface="Telegraf"/>
              </a:rPr>
              <a:t>hidup</a:t>
            </a:r>
            <a:r>
              <a:rPr lang="en-US" sz="2204" dirty="0">
                <a:solidFill>
                  <a:srgbClr val="FFFFFF"/>
                </a:solidFill>
                <a:latin typeface="Telegraf"/>
              </a:rPr>
              <a:t> </a:t>
            </a:r>
            <a:r>
              <a:rPr lang="en-US" sz="2204" dirty="0" err="1">
                <a:solidFill>
                  <a:srgbClr val="FFFFFF"/>
                </a:solidFill>
                <a:latin typeface="Telegraf"/>
              </a:rPr>
              <a:t>mewah</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a:lnSpc>
                <a:spcPts val="2645"/>
              </a:lnSpc>
            </a:pPr>
            <a:r>
              <a:rPr lang="en-US" sz="2204" dirty="0" err="1">
                <a:solidFill>
                  <a:srgbClr val="FFFFFF"/>
                </a:solidFill>
                <a:latin typeface="Telegraf"/>
              </a:rPr>
              <a:t>Catatan</a:t>
            </a:r>
            <a:r>
              <a:rPr lang="en-US" sz="2204" dirty="0">
                <a:solidFill>
                  <a:srgbClr val="FFFFFF"/>
                </a:solidFill>
                <a:latin typeface="Telegraf"/>
              </a:rPr>
              <a:t> : </a:t>
            </a:r>
            <a:r>
              <a:rPr lang="id-ID" sz="2204" dirty="0">
                <a:solidFill>
                  <a:srgbClr val="FFFFFF"/>
                </a:solidFill>
                <a:latin typeface="Telegraf"/>
              </a:rPr>
              <a:t>A</a:t>
            </a:r>
            <a:r>
              <a:rPr lang="en-US" sz="2204" dirty="0" err="1">
                <a:solidFill>
                  <a:srgbClr val="FFFFFF"/>
                </a:solidFill>
                <a:latin typeface="Telegraf"/>
              </a:rPr>
              <a:t>pabila</a:t>
            </a:r>
            <a:r>
              <a:rPr lang="en-US" sz="2204" dirty="0">
                <a:solidFill>
                  <a:srgbClr val="FFFFFF"/>
                </a:solidFill>
                <a:latin typeface="Telegraf"/>
              </a:rPr>
              <a:t> </a:t>
            </a:r>
            <a:r>
              <a:rPr lang="en-US" sz="2204" dirty="0" err="1">
                <a:solidFill>
                  <a:srgbClr val="FFFFFF"/>
                </a:solidFill>
                <a:latin typeface="Telegraf"/>
              </a:rPr>
              <a:t>menemukan</a:t>
            </a:r>
            <a:r>
              <a:rPr lang="en-US" sz="2204" dirty="0">
                <a:solidFill>
                  <a:srgbClr val="FFFFFF"/>
                </a:solidFill>
                <a:latin typeface="Telegraf"/>
              </a:rPr>
              <a:t> </a:t>
            </a:r>
            <a:r>
              <a:rPr lang="en-US" sz="2204" dirty="0" err="1">
                <a:solidFill>
                  <a:srgbClr val="FFFFFF"/>
                </a:solidFill>
                <a:latin typeface="Telegraf"/>
              </a:rPr>
              <a:t>gejala-gejala</a:t>
            </a:r>
            <a:r>
              <a:rPr lang="en-US" sz="2204" dirty="0">
                <a:solidFill>
                  <a:srgbClr val="FFFFFF"/>
                </a:solidFill>
                <a:latin typeface="Telegraf"/>
              </a:rPr>
              <a:t> yang </a:t>
            </a:r>
            <a:r>
              <a:rPr lang="en-US" sz="2204" dirty="0" err="1">
                <a:solidFill>
                  <a:srgbClr val="FFFFFF"/>
                </a:solidFill>
                <a:latin typeface="Telegraf"/>
              </a:rPr>
              <a:t>dijelaskan</a:t>
            </a:r>
            <a:r>
              <a:rPr lang="en-US" sz="2204" dirty="0">
                <a:solidFill>
                  <a:srgbClr val="FFFFFF"/>
                </a:solidFill>
                <a:latin typeface="Telegraf"/>
              </a:rPr>
              <a:t> </a:t>
            </a:r>
            <a:r>
              <a:rPr lang="en-US" sz="2204" dirty="0" err="1">
                <a:solidFill>
                  <a:srgbClr val="FFFFFF"/>
                </a:solidFill>
                <a:latin typeface="Telegraf"/>
              </a:rPr>
              <a:t>sebagai</a:t>
            </a:r>
            <a:r>
              <a:rPr lang="en-US" sz="2204" dirty="0">
                <a:solidFill>
                  <a:srgbClr val="FFFFFF"/>
                </a:solidFill>
                <a:latin typeface="Telegraf"/>
              </a:rPr>
              <a:t> </a:t>
            </a:r>
            <a:r>
              <a:rPr lang="en-US" sz="2204" dirty="0" err="1">
                <a:solidFill>
                  <a:srgbClr val="FFFFFF"/>
                </a:solidFill>
                <a:latin typeface="Telegraf"/>
              </a:rPr>
              <a:t>dimaksud</a:t>
            </a:r>
            <a:r>
              <a:rPr lang="en-US" sz="2204" dirty="0">
                <a:solidFill>
                  <a:srgbClr val="FFFFFF"/>
                </a:solidFill>
                <a:latin typeface="Telegraf"/>
              </a:rPr>
              <a:t> </a:t>
            </a:r>
            <a:r>
              <a:rPr lang="en-US" sz="2204" dirty="0" err="1">
                <a:solidFill>
                  <a:srgbClr val="FFFFFF"/>
                </a:solidFill>
                <a:latin typeface="Telegraf"/>
              </a:rPr>
              <a:t>diatas</a:t>
            </a:r>
            <a:r>
              <a:rPr lang="en-US" sz="2204" dirty="0">
                <a:solidFill>
                  <a:srgbClr val="FFFFFF"/>
                </a:solidFill>
                <a:latin typeface="Telegraf"/>
              </a:rPr>
              <a:t> </a:t>
            </a:r>
            <a:r>
              <a:rPr lang="en-US" sz="2204" dirty="0" err="1">
                <a:solidFill>
                  <a:srgbClr val="FFFFFF"/>
                </a:solidFill>
                <a:latin typeface="Telegraf"/>
              </a:rPr>
              <a:t>pada</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a:t>
            </a:r>
            <a:r>
              <a:rPr lang="en-US" sz="2204" dirty="0" err="1">
                <a:solidFill>
                  <a:srgbClr val="FFFFFF"/>
                </a:solidFill>
                <a:latin typeface="Telegraf"/>
              </a:rPr>
              <a:t>maka</a:t>
            </a:r>
            <a:r>
              <a:rPr lang="en-US" sz="2204" dirty="0">
                <a:solidFill>
                  <a:srgbClr val="FFFFFF"/>
                </a:solidFill>
                <a:latin typeface="Telegraf"/>
              </a:rPr>
              <a:t> </a:t>
            </a:r>
            <a:r>
              <a:rPr lang="en-US" sz="2204" dirty="0" err="1">
                <a:solidFill>
                  <a:srgbClr val="FFFFFF"/>
                </a:solidFill>
                <a:latin typeface="Telegraf"/>
              </a:rPr>
              <a:t>atasan</a:t>
            </a:r>
            <a:r>
              <a:rPr lang="en-US" sz="2204" dirty="0">
                <a:solidFill>
                  <a:srgbClr val="FFFFFF"/>
                </a:solidFill>
                <a:latin typeface="Telegraf"/>
              </a:rPr>
              <a:t> </a:t>
            </a:r>
            <a:r>
              <a:rPr lang="en-US" sz="2204" dirty="0" err="1">
                <a:solidFill>
                  <a:srgbClr val="FFFFFF"/>
                </a:solidFill>
                <a:latin typeface="Telegraf"/>
              </a:rPr>
              <a:t>perlu</a:t>
            </a:r>
            <a:r>
              <a:rPr lang="en-US" sz="2204" dirty="0">
                <a:solidFill>
                  <a:srgbClr val="FFFFFF"/>
                </a:solidFill>
                <a:latin typeface="Telegraf"/>
              </a:rPr>
              <a:t>     </a:t>
            </a:r>
            <a:r>
              <a:rPr lang="en-US" sz="2204" dirty="0" err="1">
                <a:solidFill>
                  <a:srgbClr val="FFFFFF"/>
                </a:solidFill>
                <a:latin typeface="Telegraf"/>
              </a:rPr>
              <a:t>melakukan</a:t>
            </a:r>
            <a:r>
              <a:rPr lang="en-US" sz="2204" dirty="0">
                <a:solidFill>
                  <a:srgbClr val="FFFFFF"/>
                </a:solidFill>
                <a:latin typeface="Telegraf"/>
              </a:rPr>
              <a:t> </a:t>
            </a:r>
            <a:r>
              <a:rPr lang="en-US" sz="2204" dirty="0" err="1">
                <a:solidFill>
                  <a:srgbClr val="FFFFFF"/>
                </a:solidFill>
                <a:latin typeface="Telegraf"/>
              </a:rPr>
              <a:t>pemantauan</a:t>
            </a:r>
            <a:r>
              <a:rPr lang="en-US" sz="2204" dirty="0">
                <a:solidFill>
                  <a:srgbClr val="FFFFFF"/>
                </a:solidFill>
                <a:latin typeface="Telegraf"/>
              </a:rPr>
              <a:t> yang </a:t>
            </a:r>
            <a:r>
              <a:rPr lang="en-US" sz="2204" dirty="0" err="1">
                <a:solidFill>
                  <a:srgbClr val="FFFFFF"/>
                </a:solidFill>
                <a:latin typeface="Telegraf"/>
              </a:rPr>
              <a:t>intensif</a:t>
            </a:r>
            <a:r>
              <a:rPr lang="en-US" sz="2204" dirty="0">
                <a:solidFill>
                  <a:srgbClr val="FFFFFF"/>
                </a:solidFill>
                <a:latin typeface="Telegraf"/>
              </a:rPr>
              <a:t> </a:t>
            </a:r>
            <a:r>
              <a:rPr lang="en-US" sz="2204" dirty="0" err="1">
                <a:solidFill>
                  <a:srgbClr val="FFFFFF"/>
                </a:solidFill>
                <a:latin typeface="Telegraf"/>
              </a:rPr>
              <a:t>pada</a:t>
            </a:r>
            <a:r>
              <a:rPr lang="en-US" sz="2204" dirty="0">
                <a:solidFill>
                  <a:srgbClr val="FFFFFF"/>
                </a:solidFill>
                <a:latin typeface="Telegraf"/>
              </a:rPr>
              <a:t> proses </a:t>
            </a:r>
            <a:r>
              <a:rPr lang="en-US" sz="2204" dirty="0" err="1">
                <a:solidFill>
                  <a:srgbClr val="FFFFFF"/>
                </a:solidFill>
                <a:latin typeface="Telegraf"/>
              </a:rPr>
              <a:t>kerja</a:t>
            </a:r>
            <a:r>
              <a:rPr lang="en-US" sz="2204" dirty="0">
                <a:solidFill>
                  <a:srgbClr val="FFFFFF"/>
                </a:solidFill>
                <a:latin typeface="Telegraf"/>
              </a:rPr>
              <a:t> yang </a:t>
            </a:r>
            <a:r>
              <a:rPr lang="en-US" sz="2204" dirty="0" err="1">
                <a:solidFill>
                  <a:srgbClr val="FFFFFF"/>
                </a:solidFill>
                <a:latin typeface="Telegraf"/>
              </a:rPr>
              <a:t>dilakukan</a:t>
            </a:r>
            <a:r>
              <a:rPr lang="en-US" sz="2204" dirty="0">
                <a:solidFill>
                  <a:srgbClr val="FFFFFF"/>
                </a:solidFill>
                <a:latin typeface="Telegraf"/>
              </a:rPr>
              <a:t> </a:t>
            </a:r>
            <a:r>
              <a:rPr lang="en-US" sz="2204" dirty="0" err="1">
                <a:solidFill>
                  <a:srgbClr val="FFFFFF"/>
                </a:solidFill>
                <a:latin typeface="Telegraf"/>
              </a:rPr>
              <a:t>oleh</a:t>
            </a:r>
            <a:r>
              <a:rPr lang="en-US" sz="2204" dirty="0">
                <a:solidFill>
                  <a:srgbClr val="FFFFFF"/>
                </a:solidFill>
                <a:latin typeface="Telegraf"/>
              </a:rPr>
              <a:t> </a:t>
            </a:r>
            <a:r>
              <a:rPr lang="en-US" sz="2204" dirty="0" err="1">
                <a:solidFill>
                  <a:srgbClr val="FFFFFF"/>
                </a:solidFill>
                <a:latin typeface="Telegraf"/>
              </a:rPr>
              <a:t>karyawan</a:t>
            </a:r>
            <a:r>
              <a:rPr lang="en-US" sz="2204" dirty="0">
                <a:solidFill>
                  <a:srgbClr val="FFFFFF"/>
                </a:solidFill>
                <a:latin typeface="Telegraf"/>
              </a:rPr>
              <a:t> </a:t>
            </a:r>
            <a:r>
              <a:rPr lang="en-US" sz="2204" dirty="0" err="1">
                <a:solidFill>
                  <a:srgbClr val="FFFFFF"/>
                </a:solidFill>
                <a:latin typeface="Telegraf"/>
              </a:rPr>
              <a:t>tersebut</a:t>
            </a:r>
            <a:r>
              <a:rPr lang="en-US" sz="2204" dirty="0">
                <a:solidFill>
                  <a:srgbClr val="FFFFFF"/>
                </a:solidFill>
                <a:latin typeface="Telegraf"/>
              </a:rPr>
              <a:t> </a:t>
            </a:r>
            <a:r>
              <a:rPr lang="en-US" sz="2204" dirty="0" err="1">
                <a:solidFill>
                  <a:srgbClr val="FFFFFF"/>
                </a:solidFill>
                <a:latin typeface="Telegraf"/>
              </a:rPr>
              <a:t>guna</a:t>
            </a:r>
            <a:r>
              <a:rPr lang="en-US" sz="2204" dirty="0">
                <a:solidFill>
                  <a:srgbClr val="FFFFFF"/>
                </a:solidFill>
                <a:latin typeface="Telegraf"/>
              </a:rPr>
              <a:t> </a:t>
            </a:r>
            <a:r>
              <a:rPr lang="en-US" sz="2204" dirty="0" err="1">
                <a:solidFill>
                  <a:srgbClr val="FFFFFF"/>
                </a:solidFill>
                <a:latin typeface="Telegraf"/>
              </a:rPr>
              <a:t>membuktikan</a:t>
            </a:r>
            <a:r>
              <a:rPr lang="en-US" sz="2204" dirty="0">
                <a:solidFill>
                  <a:srgbClr val="FFFFFF"/>
                </a:solidFill>
                <a:latin typeface="Telegraf"/>
              </a:rPr>
              <a:t> </a:t>
            </a:r>
            <a:r>
              <a:rPr lang="en-US" sz="2204" dirty="0" err="1">
                <a:solidFill>
                  <a:srgbClr val="FFFFFF"/>
                </a:solidFill>
                <a:latin typeface="Telegraf"/>
              </a:rPr>
              <a:t>kebenaran</a:t>
            </a:r>
            <a:r>
              <a:rPr lang="en-US" sz="2204" dirty="0">
                <a:solidFill>
                  <a:srgbClr val="FFFFFF"/>
                </a:solidFill>
                <a:latin typeface="Telegraf"/>
              </a:rPr>
              <a:t> </a:t>
            </a:r>
            <a:r>
              <a:rPr lang="en-US" sz="2204" dirty="0" err="1">
                <a:solidFill>
                  <a:srgbClr val="FFFFFF"/>
                </a:solidFill>
                <a:latin typeface="Telegraf"/>
              </a:rPr>
              <a:t>dari</a:t>
            </a:r>
            <a:r>
              <a:rPr lang="en-US" sz="2204" dirty="0">
                <a:solidFill>
                  <a:srgbClr val="FFFFFF"/>
                </a:solidFill>
                <a:latin typeface="Telegraf"/>
              </a:rPr>
              <a:t> </a:t>
            </a:r>
            <a:r>
              <a:rPr lang="en-US" sz="2204" dirty="0" err="1">
                <a:solidFill>
                  <a:srgbClr val="FFFFFF"/>
                </a:solidFill>
                <a:latin typeface="Telegraf"/>
              </a:rPr>
              <a:t>indikasi</a:t>
            </a:r>
            <a:r>
              <a:rPr lang="en-US" sz="2204" dirty="0">
                <a:solidFill>
                  <a:srgbClr val="FFFFFF"/>
                </a:solidFill>
                <a:latin typeface="Telegraf"/>
              </a:rPr>
              <a:t> Fraud </a:t>
            </a:r>
            <a:r>
              <a:rPr lang="en-US" sz="2204" dirty="0" err="1">
                <a:solidFill>
                  <a:srgbClr val="FFFFFF"/>
                </a:solidFill>
                <a:latin typeface="Telegraf"/>
              </a:rPr>
              <a:t>tersebut</a:t>
            </a:r>
            <a:endParaRPr lang="en-US" sz="2204" dirty="0">
              <a:solidFill>
                <a:srgbClr val="FFFFFF"/>
              </a:solidFill>
              <a:latin typeface="Telegraf"/>
            </a:endParaRPr>
          </a:p>
          <a:p>
            <a:pPr>
              <a:lnSpc>
                <a:spcPts val="2645"/>
              </a:lnSpc>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a:p>
            <a:pPr>
              <a:lnSpc>
                <a:spcPts val="2645"/>
              </a:lnSpc>
              <a:spcBef>
                <a:spcPct val="0"/>
              </a:spcBef>
            </a:pPr>
            <a:endParaRPr lang="en-US" sz="2204" dirty="0">
              <a:solidFill>
                <a:srgbClr val="FFFFFF"/>
              </a:solidFill>
              <a:latin typeface="Telegraf"/>
            </a:endParaRPr>
          </a:p>
        </p:txBody>
      </p:sp>
      <p:sp>
        <p:nvSpPr>
          <p:cNvPr id="7" name="TextBox 7"/>
          <p:cNvSpPr txBox="1"/>
          <p:nvPr/>
        </p:nvSpPr>
        <p:spPr>
          <a:xfrm>
            <a:off x="243658" y="-7671100"/>
            <a:ext cx="17800684" cy="8362950"/>
          </a:xfrm>
          <a:prstGeom prst="rect">
            <a:avLst/>
          </a:prstGeom>
        </p:spPr>
        <p:txBody>
          <a:bodyPr lIns="0" tIns="0" rIns="0" bIns="0" rtlCol="0" anchor="t">
            <a:spAutoFit/>
          </a:bodyPr>
          <a:lstStyle/>
          <a:p>
            <a:pPr>
              <a:lnSpc>
                <a:spcPts val="2645"/>
              </a:lnSpc>
            </a:pPr>
            <a:endParaRPr/>
          </a:p>
          <a:p>
            <a:pPr>
              <a:lnSpc>
                <a:spcPts val="2645"/>
              </a:lnSpc>
            </a:pPr>
            <a:r>
              <a:rPr lang="en-US" sz="2204">
                <a:solidFill>
                  <a:srgbClr val="000000"/>
                </a:solidFill>
                <a:latin typeface="Telegraf"/>
              </a:rPr>
              <a:t>C. Know your Employee</a:t>
            </a:r>
          </a:p>
          <a:p>
            <a:pPr>
              <a:lnSpc>
                <a:spcPts val="2645"/>
              </a:lnSpc>
            </a:pPr>
            <a:endParaRPr lang="en-US" sz="2204">
              <a:solidFill>
                <a:srgbClr val="000000"/>
              </a:solidFill>
              <a:latin typeface="Telegraf"/>
            </a:endParaRPr>
          </a:p>
          <a:p>
            <a:pPr marL="475975" lvl="1" indent="-237988">
              <a:lnSpc>
                <a:spcPts val="2645"/>
              </a:lnSpc>
              <a:buFont typeface="Arial"/>
              <a:buChar char="•"/>
            </a:pPr>
            <a:r>
              <a:rPr lang="en-US" sz="2204">
                <a:solidFill>
                  <a:srgbClr val="000000"/>
                </a:solidFill>
                <a:latin typeface="Telegraf"/>
              </a:rPr>
              <a:t>Sistem dan prosedur rekrutmen yang efektif, dimana melalui sistem ini diharapkan dapat memperoleh gambaran mengenai rekam jejak calon karyawan (pre employee screening) secara lengkap dan akurat</a:t>
            </a:r>
          </a:p>
          <a:p>
            <a:pPr marL="475975" lvl="1" indent="-237988">
              <a:lnSpc>
                <a:spcPts val="2645"/>
              </a:lnSpc>
              <a:buFont typeface="Arial"/>
              <a:buChar char="•"/>
            </a:pPr>
            <a:r>
              <a:rPr lang="en-US" sz="2204">
                <a:solidFill>
                  <a:srgbClr val="000000"/>
                </a:solidFill>
                <a:latin typeface="Telegraf"/>
              </a:rPr>
              <a:t>Sistem seleksi yang dilengkapi kualifikasi yang tepat dengan mempertimbangkan risiko, serta ditetapkan secara objektif dan transparan. Sistem tersebut harus menjangkau pelaksanaan promosi maupun mutasi, termasuk penempatan posisi yang memiliki risiko tinggi terhadap fraud</a:t>
            </a:r>
          </a:p>
          <a:p>
            <a:pPr marL="475975" lvl="1" indent="-237988">
              <a:lnSpc>
                <a:spcPts val="2645"/>
              </a:lnSpc>
              <a:buFont typeface="Arial"/>
              <a:buChar char="•"/>
            </a:pPr>
            <a:r>
              <a:rPr lang="en-US" sz="2204">
                <a:solidFill>
                  <a:srgbClr val="000000"/>
                </a:solidFill>
                <a:latin typeface="Telegraf"/>
              </a:rPr>
              <a:t>Kebijakan mengenali karyawan (know your employee), antara lain pengenalan dan pemantauan karakter, perilaku dan gaya hidup karyawan. Pada penerapan tindakan pencegahan Fraud, masing-masing atasan dituntut untuk mengenali karakter, perilaku dan gaya hidup masing-masing bawahan (minimal 1 level dibawahnya). Hal-hal tersebut dilakukan untuk mengidentifikasi gejala Fraud yang kemungkinan besar akan terjadi atau telah terjadi. </a:t>
            </a:r>
          </a:p>
          <a:p>
            <a:pPr>
              <a:lnSpc>
                <a:spcPts val="2645"/>
              </a:lnSpc>
            </a:pPr>
            <a:r>
              <a:rPr lang="en-US" sz="2204">
                <a:solidFill>
                  <a:srgbClr val="000000"/>
                </a:solidFill>
                <a:latin typeface="Telegraf"/>
              </a:rPr>
              <a:t>        Berikut adalah gejala Fraud yang dapat dikenali dari perubahan pola hidup karyawan :</a:t>
            </a:r>
          </a:p>
          <a:p>
            <a:pPr>
              <a:lnSpc>
                <a:spcPts val="2645"/>
              </a:lnSpc>
            </a:pPr>
            <a:endParaRPr lang="en-US" sz="2204">
              <a:solidFill>
                <a:srgbClr val="000000"/>
              </a:solidFill>
              <a:latin typeface="Telegraf"/>
            </a:endParaRPr>
          </a:p>
          <a:p>
            <a:pPr>
              <a:lnSpc>
                <a:spcPts val="2645"/>
              </a:lnSpc>
            </a:pPr>
            <a:r>
              <a:rPr lang="en-US" sz="2204">
                <a:solidFill>
                  <a:srgbClr val="000000"/>
                </a:solidFill>
                <a:latin typeface="Telegraf"/>
              </a:rPr>
              <a:t>-karyawan memiliki banyak permasalahan hidup yang belum terselesaikan, terutama masalah keuangan</a:t>
            </a:r>
          </a:p>
          <a:p>
            <a:pPr>
              <a:lnSpc>
                <a:spcPts val="2645"/>
              </a:lnSpc>
            </a:pPr>
            <a:r>
              <a:rPr lang="en-US" sz="2204">
                <a:solidFill>
                  <a:srgbClr val="000000"/>
                </a:solidFill>
                <a:latin typeface="Telegraf"/>
              </a:rPr>
              <a:t>-memiliki banyak hutang, sering ditagih collector</a:t>
            </a:r>
          </a:p>
          <a:p>
            <a:pPr>
              <a:lnSpc>
                <a:spcPts val="2645"/>
              </a:lnSpc>
            </a:pPr>
            <a:r>
              <a:rPr lang="en-US" sz="2204">
                <a:solidFill>
                  <a:srgbClr val="000000"/>
                </a:solidFill>
                <a:latin typeface="Telegraf"/>
              </a:rPr>
              <a:t>-mengalami sakit yang berkepanjangan</a:t>
            </a:r>
          </a:p>
          <a:p>
            <a:pPr>
              <a:lnSpc>
                <a:spcPts val="2645"/>
              </a:lnSpc>
            </a:pPr>
            <a:r>
              <a:rPr lang="en-US" sz="2204">
                <a:solidFill>
                  <a:srgbClr val="000000"/>
                </a:solidFill>
                <a:latin typeface="Telegraf"/>
              </a:rPr>
              <a:t>-pola gaya hidup mewah</a:t>
            </a:r>
          </a:p>
          <a:p>
            <a:pPr>
              <a:lnSpc>
                <a:spcPts val="2645"/>
              </a:lnSpc>
            </a:pPr>
            <a:endParaRPr lang="en-US" sz="2204">
              <a:solidFill>
                <a:srgbClr val="000000"/>
              </a:solidFill>
              <a:latin typeface="Telegraf"/>
            </a:endParaRPr>
          </a:p>
          <a:p>
            <a:pPr>
              <a:lnSpc>
                <a:spcPts val="2645"/>
              </a:lnSpc>
            </a:pPr>
            <a:endParaRPr lang="en-US" sz="2204">
              <a:solidFill>
                <a:srgbClr val="000000"/>
              </a:solidFill>
              <a:latin typeface="Telegraf"/>
            </a:endParaRPr>
          </a:p>
          <a:p>
            <a:pPr>
              <a:lnSpc>
                <a:spcPts val="2645"/>
              </a:lnSpc>
              <a:spcBef>
                <a:spcPct val="0"/>
              </a:spcBef>
            </a:pPr>
            <a:endParaRPr lang="en-US" sz="2204">
              <a:solidFill>
                <a:srgbClr val="000000"/>
              </a:solidFill>
              <a:latin typeface="Telegraf"/>
            </a:endParaRPr>
          </a:p>
          <a:p>
            <a:pPr>
              <a:lnSpc>
                <a:spcPts val="2645"/>
              </a:lnSpc>
              <a:spcBef>
                <a:spcPct val="0"/>
              </a:spcBef>
            </a:pPr>
            <a:endParaRPr lang="en-US" sz="2204">
              <a:solidFill>
                <a:srgbClr val="000000"/>
              </a:solidFill>
              <a:latin typeface="Telegraf"/>
            </a:endParaRPr>
          </a:p>
          <a:p>
            <a:pPr>
              <a:lnSpc>
                <a:spcPts val="2645"/>
              </a:lnSpc>
              <a:spcBef>
                <a:spcPct val="0"/>
              </a:spcBef>
            </a:pPr>
            <a:endParaRPr lang="en-US" sz="2204">
              <a:solidFill>
                <a:srgbClr val="000000"/>
              </a:solidFill>
              <a:latin typeface="Telegraf"/>
            </a:endParaRPr>
          </a:p>
          <a:p>
            <a:pPr>
              <a:lnSpc>
                <a:spcPts val="2645"/>
              </a:lnSpc>
              <a:spcBef>
                <a:spcPct val="0"/>
              </a:spcBef>
            </a:pPr>
            <a:endParaRPr lang="en-US" sz="2204">
              <a:solidFill>
                <a:srgbClr val="000000"/>
              </a:solidFill>
              <a:latin typeface="Telegraf"/>
            </a:endParaRPr>
          </a:p>
          <a:p>
            <a:pPr>
              <a:lnSpc>
                <a:spcPts val="2645"/>
              </a:lnSpc>
              <a:spcBef>
                <a:spcPct val="0"/>
              </a:spcBef>
            </a:pPr>
            <a:endParaRPr lang="en-US" sz="2204">
              <a:solidFill>
                <a:srgbClr val="000000"/>
              </a:solidFill>
              <a:latin typeface="Telegraf"/>
            </a:endParaRPr>
          </a:p>
        </p:txBody>
      </p:sp>
      <p:sp>
        <p:nvSpPr>
          <p:cNvPr id="8" name="TextBox 8"/>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9" name="TextBox 9"/>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313155" y="-257813"/>
            <a:ext cx="20093884" cy="20542075"/>
          </a:xfrm>
          <a:prstGeom prst="rect">
            <a:avLst/>
          </a:prstGeom>
        </p:spPr>
      </p:pic>
      <p:sp>
        <p:nvSpPr>
          <p:cNvPr id="3" name="TextBox 3"/>
          <p:cNvSpPr txBox="1"/>
          <p:nvPr/>
        </p:nvSpPr>
        <p:spPr>
          <a:xfrm>
            <a:off x="795711" y="704850"/>
            <a:ext cx="16883964" cy="9830383"/>
          </a:xfrm>
          <a:prstGeom prst="rect">
            <a:avLst/>
          </a:prstGeom>
        </p:spPr>
        <p:txBody>
          <a:bodyPr lIns="0" tIns="0" rIns="0" bIns="0" rtlCol="0" anchor="t">
            <a:spAutoFit/>
          </a:bodyPr>
          <a:lstStyle/>
          <a:p>
            <a:pPr algn="just">
              <a:lnSpc>
                <a:spcPts val="3359"/>
              </a:lnSpc>
            </a:pPr>
            <a:r>
              <a:rPr lang="en-US" sz="2799" dirty="0">
                <a:solidFill>
                  <a:srgbClr val="000000"/>
                </a:solidFill>
                <a:latin typeface="Telegraf Bold"/>
              </a:rPr>
              <a:t>2. </a:t>
            </a:r>
            <a:r>
              <a:rPr lang="en-US" sz="2799" dirty="0" err="1">
                <a:solidFill>
                  <a:srgbClr val="000000"/>
                </a:solidFill>
                <a:latin typeface="Telegraf Bold"/>
              </a:rPr>
              <a:t>Deteksi</a:t>
            </a:r>
            <a:r>
              <a:rPr lang="en-US" sz="2799" dirty="0">
                <a:solidFill>
                  <a:srgbClr val="000000"/>
                </a:solidFill>
                <a:latin typeface="Telegraf Bold"/>
              </a:rPr>
              <a:t> Fraud</a:t>
            </a:r>
          </a:p>
          <a:p>
            <a:pPr algn="just">
              <a:lnSpc>
                <a:spcPts val="2639"/>
              </a:lnSpc>
            </a:pPr>
            <a:r>
              <a:rPr lang="en-US" sz="2199" dirty="0" err="1">
                <a:solidFill>
                  <a:srgbClr val="000000"/>
                </a:solidFill>
                <a:latin typeface="Telegraf"/>
              </a:rPr>
              <a:t>Memuat</a:t>
            </a:r>
            <a:r>
              <a:rPr lang="en-US" sz="2199" dirty="0">
                <a:solidFill>
                  <a:srgbClr val="000000"/>
                </a:solidFill>
                <a:latin typeface="Telegraf"/>
              </a:rPr>
              <a:t> </a:t>
            </a:r>
            <a:r>
              <a:rPr lang="en-US" sz="2199" dirty="0" err="1">
                <a:solidFill>
                  <a:srgbClr val="000000"/>
                </a:solidFill>
                <a:latin typeface="Telegraf"/>
              </a:rPr>
              <a:t>mekanismen</a:t>
            </a:r>
            <a:r>
              <a:rPr lang="en-US" sz="2199" dirty="0">
                <a:solidFill>
                  <a:srgbClr val="000000"/>
                </a:solidFill>
                <a:latin typeface="Telegraf"/>
              </a:rPr>
              <a:t> yang </a:t>
            </a:r>
            <a:r>
              <a:rPr lang="en-US" sz="2199" dirty="0" err="1">
                <a:solidFill>
                  <a:srgbClr val="000000"/>
                </a:solidFill>
                <a:latin typeface="Telegraf"/>
              </a:rPr>
              <a:t>dilakukan</a:t>
            </a:r>
            <a:r>
              <a:rPr lang="en-US" sz="2199" dirty="0">
                <a:solidFill>
                  <a:srgbClr val="000000"/>
                </a:solidFill>
                <a:latin typeface="Telegraf"/>
              </a:rPr>
              <a:t> </a:t>
            </a:r>
            <a:r>
              <a:rPr lang="en-US" sz="2199" dirty="0" err="1">
                <a:solidFill>
                  <a:srgbClr val="000000"/>
                </a:solidFill>
                <a:latin typeface="Telegraf"/>
              </a:rPr>
              <a:t>dalam</a:t>
            </a:r>
            <a:r>
              <a:rPr lang="en-US" sz="2199" dirty="0">
                <a:solidFill>
                  <a:srgbClr val="000000"/>
                </a:solidFill>
                <a:latin typeface="Telegraf"/>
              </a:rPr>
              <a:t> </a:t>
            </a:r>
            <a:r>
              <a:rPr lang="en-US" sz="2199" dirty="0" err="1">
                <a:solidFill>
                  <a:srgbClr val="000000"/>
                </a:solidFill>
                <a:latin typeface="Telegraf"/>
              </a:rPr>
              <a:t>rangka</a:t>
            </a:r>
            <a:r>
              <a:rPr lang="en-US" sz="2199" dirty="0">
                <a:solidFill>
                  <a:srgbClr val="000000"/>
                </a:solidFill>
                <a:latin typeface="Telegraf"/>
              </a:rPr>
              <a:t> </a:t>
            </a:r>
            <a:r>
              <a:rPr lang="en-US" sz="2199" dirty="0" err="1">
                <a:solidFill>
                  <a:srgbClr val="000000"/>
                </a:solidFill>
                <a:latin typeface="Telegraf"/>
              </a:rPr>
              <a:t>mengidentifikasi</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menemukan</a:t>
            </a:r>
            <a:r>
              <a:rPr lang="en-US" sz="2199" dirty="0">
                <a:solidFill>
                  <a:srgbClr val="000000"/>
                </a:solidFill>
                <a:latin typeface="Telegraf"/>
              </a:rPr>
              <a:t> </a:t>
            </a:r>
            <a:r>
              <a:rPr lang="en-US" sz="2199" dirty="0" err="1">
                <a:solidFill>
                  <a:srgbClr val="000000"/>
                </a:solidFill>
                <a:latin typeface="Telegraf"/>
              </a:rPr>
              <a:t>kejadian</a:t>
            </a:r>
            <a:r>
              <a:rPr lang="en-US" sz="2199" dirty="0">
                <a:solidFill>
                  <a:srgbClr val="000000"/>
                </a:solidFill>
                <a:latin typeface="Telegraf"/>
              </a:rPr>
              <a:t> </a:t>
            </a:r>
            <a:r>
              <a:rPr lang="en-US" sz="2199" dirty="0" err="1">
                <a:solidFill>
                  <a:srgbClr val="000000"/>
                </a:solidFill>
                <a:latin typeface="Telegraf"/>
              </a:rPr>
              <a:t>kecurangan</a:t>
            </a:r>
            <a:r>
              <a:rPr lang="en-US" sz="2199" dirty="0">
                <a:solidFill>
                  <a:srgbClr val="000000"/>
                </a:solidFill>
                <a:latin typeface="Telegraf"/>
              </a:rPr>
              <a:t> </a:t>
            </a:r>
            <a:r>
              <a:rPr lang="en-US" sz="2199" dirty="0" err="1">
                <a:solidFill>
                  <a:srgbClr val="000000"/>
                </a:solidFill>
                <a:latin typeface="Telegraf"/>
              </a:rPr>
              <a:t>dalam</a:t>
            </a:r>
            <a:r>
              <a:rPr lang="en-US" sz="2199" dirty="0">
                <a:solidFill>
                  <a:srgbClr val="000000"/>
                </a:solidFill>
                <a:latin typeface="Telegraf"/>
              </a:rPr>
              <a:t> </a:t>
            </a:r>
            <a:r>
              <a:rPr lang="en-US" sz="2199" dirty="0" err="1">
                <a:solidFill>
                  <a:srgbClr val="000000"/>
                </a:solidFill>
                <a:latin typeface="Telegraf"/>
              </a:rPr>
              <a:t>kegiatan</a:t>
            </a:r>
            <a:r>
              <a:rPr lang="en-US" sz="2199" dirty="0">
                <a:solidFill>
                  <a:srgbClr val="000000"/>
                </a:solidFill>
                <a:latin typeface="Telegraf"/>
              </a:rPr>
              <a:t> </a:t>
            </a:r>
            <a:r>
              <a:rPr lang="en-US" sz="2199" dirty="0" err="1">
                <a:solidFill>
                  <a:srgbClr val="000000"/>
                </a:solidFill>
                <a:latin typeface="Telegraf"/>
              </a:rPr>
              <a:t>operasional</a:t>
            </a:r>
            <a:r>
              <a:rPr lang="en-US" sz="2199" dirty="0">
                <a:solidFill>
                  <a:srgbClr val="000000"/>
                </a:solidFill>
                <a:latin typeface="Telegraf"/>
              </a:rPr>
              <a:t>, yang </a:t>
            </a:r>
            <a:r>
              <a:rPr lang="en-US" sz="2199" dirty="0" err="1">
                <a:solidFill>
                  <a:srgbClr val="000000"/>
                </a:solidFill>
                <a:latin typeface="Telegraf"/>
              </a:rPr>
              <a:t>mencakup</a:t>
            </a:r>
            <a:r>
              <a:rPr lang="en-US" sz="2199" dirty="0">
                <a:solidFill>
                  <a:srgbClr val="000000"/>
                </a:solidFill>
                <a:latin typeface="Telegraf"/>
              </a:rPr>
              <a:t> paling </a:t>
            </a:r>
            <a:r>
              <a:rPr lang="en-US" sz="2199" dirty="0" err="1">
                <a:solidFill>
                  <a:srgbClr val="000000"/>
                </a:solidFill>
                <a:latin typeface="Telegraf"/>
              </a:rPr>
              <a:t>kurang</a:t>
            </a:r>
            <a:r>
              <a:rPr lang="en-US" sz="2199" dirty="0">
                <a:solidFill>
                  <a:srgbClr val="000000"/>
                </a:solidFill>
                <a:latin typeface="Telegraf"/>
              </a:rPr>
              <a:t> </a:t>
            </a:r>
            <a:r>
              <a:rPr lang="en-US" sz="2199" dirty="0" err="1">
                <a:solidFill>
                  <a:srgbClr val="000000"/>
                </a:solidFill>
                <a:latin typeface="Telegraf"/>
              </a:rPr>
              <a:t>ketentuan</a:t>
            </a:r>
            <a:r>
              <a:rPr lang="en-US" sz="2199" dirty="0">
                <a:solidFill>
                  <a:srgbClr val="000000"/>
                </a:solidFill>
                <a:latin typeface="Telegraf"/>
              </a:rPr>
              <a:t> Whistleblowing</a:t>
            </a:r>
          </a:p>
          <a:p>
            <a:pPr algn="just">
              <a:lnSpc>
                <a:spcPts val="2639"/>
              </a:lnSpc>
            </a:pPr>
            <a:endParaRPr lang="en-US" sz="2199" dirty="0">
              <a:solidFill>
                <a:srgbClr val="000000"/>
              </a:solidFill>
              <a:latin typeface="Telegraf"/>
            </a:endParaRPr>
          </a:p>
          <a:p>
            <a:pPr algn="just">
              <a:lnSpc>
                <a:spcPts val="3359"/>
              </a:lnSpc>
            </a:pPr>
            <a:r>
              <a:rPr lang="en-US" sz="2799" dirty="0">
                <a:solidFill>
                  <a:srgbClr val="000000"/>
                </a:solidFill>
                <a:latin typeface="Telegraf Bold"/>
              </a:rPr>
              <a:t>Whistleblowing</a:t>
            </a:r>
          </a:p>
          <a:p>
            <a:pPr algn="just">
              <a:lnSpc>
                <a:spcPts val="3079"/>
              </a:lnSpc>
            </a:pPr>
            <a:r>
              <a:rPr lang="en-US" sz="2199" dirty="0" err="1">
                <a:solidFill>
                  <a:srgbClr val="000000"/>
                </a:solidFill>
                <a:latin typeface="Telegraf"/>
              </a:rPr>
              <a:t>Tujuan</a:t>
            </a:r>
            <a:r>
              <a:rPr lang="en-US" sz="2199" dirty="0">
                <a:solidFill>
                  <a:srgbClr val="000000"/>
                </a:solidFill>
                <a:latin typeface="Telegraf"/>
              </a:rPr>
              <a:t> </a:t>
            </a:r>
            <a:r>
              <a:rPr lang="en-US" sz="2199" dirty="0" err="1">
                <a:solidFill>
                  <a:srgbClr val="000000"/>
                </a:solidFill>
                <a:latin typeface="Telegraf"/>
              </a:rPr>
              <a:t>sistem</a:t>
            </a:r>
            <a:r>
              <a:rPr lang="en-US" sz="2199" dirty="0">
                <a:solidFill>
                  <a:srgbClr val="000000"/>
                </a:solidFill>
                <a:latin typeface="Telegraf"/>
              </a:rPr>
              <a:t> Whistleblowing (</a:t>
            </a:r>
            <a:r>
              <a:rPr lang="en-US" sz="2199" dirty="0" err="1">
                <a:solidFill>
                  <a:srgbClr val="000000"/>
                </a:solidFill>
                <a:latin typeface="Telegraf"/>
              </a:rPr>
              <a:t>Peniup</a:t>
            </a:r>
            <a:r>
              <a:rPr lang="en-US" sz="2199" dirty="0">
                <a:solidFill>
                  <a:srgbClr val="000000"/>
                </a:solidFill>
                <a:latin typeface="Telegraf"/>
              </a:rPr>
              <a:t> </a:t>
            </a:r>
            <a:r>
              <a:rPr lang="en-US" sz="2199" dirty="0" err="1">
                <a:solidFill>
                  <a:srgbClr val="000000"/>
                </a:solidFill>
                <a:latin typeface="Telegraf"/>
              </a:rPr>
              <a:t>Peluit</a:t>
            </a:r>
            <a:r>
              <a:rPr lang="en-US" sz="2199" dirty="0">
                <a:solidFill>
                  <a:srgbClr val="000000"/>
                </a:solidFill>
                <a:latin typeface="Telegraf"/>
              </a:rPr>
              <a:t>) </a:t>
            </a:r>
            <a:r>
              <a:rPr lang="en-US" sz="2199" dirty="0" err="1">
                <a:solidFill>
                  <a:srgbClr val="000000"/>
                </a:solidFill>
                <a:latin typeface="Telegraf"/>
              </a:rPr>
              <a:t>adalah</a:t>
            </a:r>
            <a:r>
              <a:rPr lang="en-US" sz="2199" dirty="0">
                <a:solidFill>
                  <a:srgbClr val="000000"/>
                </a:solidFill>
                <a:latin typeface="Telegraf"/>
              </a:rPr>
              <a:t> </a:t>
            </a:r>
            <a:r>
              <a:rPr lang="en-US" sz="2199" dirty="0" err="1">
                <a:solidFill>
                  <a:srgbClr val="000000"/>
                </a:solidFill>
                <a:latin typeface="Telegraf"/>
              </a:rPr>
              <a:t>sebagai</a:t>
            </a:r>
            <a:r>
              <a:rPr lang="en-US" sz="2199" dirty="0">
                <a:solidFill>
                  <a:srgbClr val="000000"/>
                </a:solidFill>
                <a:latin typeface="Telegraf"/>
              </a:rPr>
              <a:t> </a:t>
            </a:r>
            <a:r>
              <a:rPr lang="en-US" sz="2199" dirty="0" err="1">
                <a:solidFill>
                  <a:srgbClr val="000000"/>
                </a:solidFill>
                <a:latin typeface="Telegraf"/>
              </a:rPr>
              <a:t>sarana</a:t>
            </a:r>
            <a:r>
              <a:rPr lang="en-US" sz="2199" dirty="0">
                <a:solidFill>
                  <a:srgbClr val="000000"/>
                </a:solidFill>
                <a:latin typeface="Telegraf"/>
              </a:rPr>
              <a:t> </a:t>
            </a:r>
            <a:r>
              <a:rPr lang="en-US" sz="2199" dirty="0" err="1">
                <a:solidFill>
                  <a:srgbClr val="000000"/>
                </a:solidFill>
                <a:latin typeface="Telegraf"/>
              </a:rPr>
              <a:t>bagi</a:t>
            </a:r>
            <a:r>
              <a:rPr lang="en-US" sz="2199" dirty="0">
                <a:solidFill>
                  <a:srgbClr val="000000"/>
                </a:solidFill>
                <a:latin typeface="Telegraf"/>
              </a:rPr>
              <a:t> </a:t>
            </a:r>
            <a:r>
              <a:rPr lang="en-US" sz="2199" dirty="0" err="1">
                <a:solidFill>
                  <a:srgbClr val="000000"/>
                </a:solidFill>
                <a:latin typeface="Telegraf"/>
              </a:rPr>
              <a:t>karyawan</a:t>
            </a:r>
            <a:r>
              <a:rPr lang="en-US" sz="2199" dirty="0">
                <a:solidFill>
                  <a:srgbClr val="000000"/>
                </a:solidFill>
                <a:latin typeface="Telegraf"/>
              </a:rPr>
              <a:t> </a:t>
            </a:r>
            <a:r>
              <a:rPr lang="en-US" sz="2199" dirty="0" err="1">
                <a:solidFill>
                  <a:srgbClr val="000000"/>
                </a:solidFill>
                <a:latin typeface="Telegraf"/>
              </a:rPr>
              <a:t>untuk</a:t>
            </a:r>
            <a:r>
              <a:rPr lang="en-US" sz="2199" dirty="0">
                <a:solidFill>
                  <a:srgbClr val="000000"/>
                </a:solidFill>
                <a:latin typeface="Telegraf"/>
              </a:rPr>
              <a:t> </a:t>
            </a:r>
            <a:r>
              <a:rPr lang="en-US" sz="2199" dirty="0" err="1">
                <a:solidFill>
                  <a:srgbClr val="000000"/>
                </a:solidFill>
                <a:latin typeface="Telegraf"/>
              </a:rPr>
              <a:t>melaporkan</a:t>
            </a:r>
            <a:r>
              <a:rPr lang="en-US" sz="2199" dirty="0">
                <a:solidFill>
                  <a:srgbClr val="000000"/>
                </a:solidFill>
                <a:latin typeface="Telegraf"/>
              </a:rPr>
              <a:t> </a:t>
            </a:r>
            <a:r>
              <a:rPr lang="en-US" sz="2199" dirty="0" err="1">
                <a:solidFill>
                  <a:srgbClr val="000000"/>
                </a:solidFill>
                <a:latin typeface="Telegraf"/>
              </a:rPr>
              <a:t>tindak</a:t>
            </a:r>
            <a:r>
              <a:rPr lang="en-US" sz="2199" dirty="0">
                <a:solidFill>
                  <a:srgbClr val="000000"/>
                </a:solidFill>
                <a:latin typeface="Telegraf"/>
              </a:rPr>
              <a:t> </a:t>
            </a:r>
            <a:r>
              <a:rPr lang="en-US" sz="2199" dirty="0" err="1">
                <a:solidFill>
                  <a:srgbClr val="000000"/>
                </a:solidFill>
                <a:latin typeface="Telegraf"/>
              </a:rPr>
              <a:t>kecurangan</a:t>
            </a:r>
            <a:r>
              <a:rPr lang="en-US" sz="2199" dirty="0">
                <a:solidFill>
                  <a:srgbClr val="000000"/>
                </a:solidFill>
                <a:latin typeface="Telegraf"/>
              </a:rPr>
              <a:t>, </a:t>
            </a:r>
            <a:r>
              <a:rPr lang="en-US" sz="2199" dirty="0" err="1">
                <a:solidFill>
                  <a:srgbClr val="000000"/>
                </a:solidFill>
                <a:latin typeface="Telegraf"/>
              </a:rPr>
              <a:t>pelanggaran</a:t>
            </a:r>
            <a:r>
              <a:rPr lang="en-US" sz="2199" dirty="0">
                <a:solidFill>
                  <a:srgbClr val="000000"/>
                </a:solidFill>
                <a:latin typeface="Telegraf"/>
              </a:rPr>
              <a:t> </a:t>
            </a:r>
            <a:r>
              <a:rPr lang="en-US" sz="2199" dirty="0" err="1">
                <a:solidFill>
                  <a:srgbClr val="000000"/>
                </a:solidFill>
                <a:latin typeface="Telegraf"/>
              </a:rPr>
              <a:t>terhadap</a:t>
            </a:r>
            <a:r>
              <a:rPr lang="en-US" sz="2199" dirty="0">
                <a:solidFill>
                  <a:srgbClr val="000000"/>
                </a:solidFill>
                <a:latin typeface="Telegraf"/>
              </a:rPr>
              <a:t> </a:t>
            </a:r>
            <a:r>
              <a:rPr lang="en-US" sz="2199" dirty="0" err="1">
                <a:solidFill>
                  <a:srgbClr val="000000"/>
                </a:solidFill>
                <a:latin typeface="Telegraf"/>
              </a:rPr>
              <a:t>hukum</a:t>
            </a:r>
            <a:r>
              <a:rPr lang="en-US" sz="2199" dirty="0">
                <a:solidFill>
                  <a:srgbClr val="000000"/>
                </a:solidFill>
                <a:latin typeface="Telegraf"/>
              </a:rPr>
              <a:t>, </a:t>
            </a:r>
            <a:r>
              <a:rPr lang="en-US" sz="2199" dirty="0" err="1">
                <a:solidFill>
                  <a:srgbClr val="000000"/>
                </a:solidFill>
                <a:latin typeface="Telegraf"/>
              </a:rPr>
              <a:t>Peraturan</a:t>
            </a:r>
            <a:r>
              <a:rPr lang="en-US" sz="2199" dirty="0">
                <a:solidFill>
                  <a:srgbClr val="000000"/>
                </a:solidFill>
                <a:latin typeface="Telegraf"/>
              </a:rPr>
              <a:t> Perusahaan, </a:t>
            </a:r>
            <a:r>
              <a:rPr lang="en-US" sz="2199" dirty="0" err="1">
                <a:solidFill>
                  <a:srgbClr val="000000"/>
                </a:solidFill>
                <a:latin typeface="Telegraf"/>
              </a:rPr>
              <a:t>Kode</a:t>
            </a:r>
            <a:r>
              <a:rPr lang="en-US" sz="2199" dirty="0">
                <a:solidFill>
                  <a:srgbClr val="000000"/>
                </a:solidFill>
                <a:latin typeface="Telegraf"/>
              </a:rPr>
              <a:t> </a:t>
            </a:r>
            <a:r>
              <a:rPr lang="en-US" sz="2199" dirty="0" err="1">
                <a:solidFill>
                  <a:srgbClr val="000000"/>
                </a:solidFill>
                <a:latin typeface="Telegraf"/>
              </a:rPr>
              <a:t>Etik</a:t>
            </a:r>
            <a:r>
              <a:rPr lang="en-US" sz="2199" dirty="0">
                <a:solidFill>
                  <a:srgbClr val="000000"/>
                </a:solidFill>
                <a:latin typeface="Telegraf"/>
              </a:rPr>
              <a:t>, </a:t>
            </a:r>
            <a:r>
              <a:rPr lang="en-US" sz="2199" dirty="0" err="1">
                <a:solidFill>
                  <a:srgbClr val="000000"/>
                </a:solidFill>
                <a:latin typeface="Telegraf"/>
              </a:rPr>
              <a:t>kebijakan</a:t>
            </a:r>
            <a:r>
              <a:rPr lang="en-US" sz="2199" dirty="0">
                <a:solidFill>
                  <a:srgbClr val="000000"/>
                </a:solidFill>
                <a:latin typeface="Telegraf"/>
              </a:rPr>
              <a:t> internal </a:t>
            </a:r>
            <a:r>
              <a:rPr lang="en-US" sz="2199" dirty="0" err="1">
                <a:solidFill>
                  <a:srgbClr val="000000"/>
                </a:solidFill>
                <a:latin typeface="Telegraf"/>
              </a:rPr>
              <a:t>lainnya</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a:t>
            </a:r>
            <a:r>
              <a:rPr lang="en-US" sz="2199" dirty="0" err="1">
                <a:solidFill>
                  <a:srgbClr val="000000"/>
                </a:solidFill>
                <a:latin typeface="Telegraf"/>
              </a:rPr>
              <a:t>atau</a:t>
            </a:r>
            <a:r>
              <a:rPr lang="en-US" sz="2199" dirty="0">
                <a:solidFill>
                  <a:srgbClr val="000000"/>
                </a:solidFill>
                <a:latin typeface="Telegraf"/>
              </a:rPr>
              <a:t> </a:t>
            </a:r>
            <a:r>
              <a:rPr lang="en-US" sz="2199" dirty="0" err="1">
                <a:solidFill>
                  <a:srgbClr val="000000"/>
                </a:solidFill>
                <a:latin typeface="Telegraf"/>
              </a:rPr>
              <a:t>benturan</a:t>
            </a:r>
            <a:r>
              <a:rPr lang="en-US" sz="2199" dirty="0">
                <a:solidFill>
                  <a:srgbClr val="000000"/>
                </a:solidFill>
                <a:latin typeface="Telegraf"/>
              </a:rPr>
              <a:t> </a:t>
            </a:r>
            <a:r>
              <a:rPr lang="en-US" sz="2199" dirty="0" err="1">
                <a:solidFill>
                  <a:srgbClr val="000000"/>
                </a:solidFill>
                <a:latin typeface="Telegraf"/>
              </a:rPr>
              <a:t>kepentingan</a:t>
            </a:r>
            <a:r>
              <a:rPr lang="en-US" sz="2199" dirty="0">
                <a:solidFill>
                  <a:srgbClr val="000000"/>
                </a:solidFill>
                <a:latin typeface="Telegraf"/>
              </a:rPr>
              <a:t>, </a:t>
            </a:r>
            <a:r>
              <a:rPr lang="en-US" sz="2199" dirty="0" err="1">
                <a:solidFill>
                  <a:srgbClr val="000000"/>
                </a:solidFill>
                <a:latin typeface="Telegraf"/>
              </a:rPr>
              <a:t>tanpa</a:t>
            </a:r>
            <a:r>
              <a:rPr lang="en-US" sz="2199" dirty="0">
                <a:solidFill>
                  <a:srgbClr val="000000"/>
                </a:solidFill>
                <a:latin typeface="Telegraf"/>
              </a:rPr>
              <a:t> rasa </a:t>
            </a:r>
            <a:r>
              <a:rPr lang="en-US" sz="2199" dirty="0" err="1">
                <a:solidFill>
                  <a:srgbClr val="000000"/>
                </a:solidFill>
                <a:latin typeface="Telegraf"/>
              </a:rPr>
              <a:t>takut</a:t>
            </a:r>
            <a:r>
              <a:rPr lang="en-US" sz="2199" dirty="0">
                <a:solidFill>
                  <a:srgbClr val="000000"/>
                </a:solidFill>
                <a:latin typeface="Telegraf"/>
              </a:rPr>
              <a:t> </a:t>
            </a:r>
            <a:r>
              <a:rPr lang="en-US" sz="2199" dirty="0" err="1">
                <a:solidFill>
                  <a:srgbClr val="000000"/>
                </a:solidFill>
                <a:latin typeface="Telegraf"/>
              </a:rPr>
              <a:t>atau</a:t>
            </a:r>
            <a:r>
              <a:rPr lang="en-US" sz="2199" dirty="0">
                <a:solidFill>
                  <a:srgbClr val="000000"/>
                </a:solidFill>
                <a:latin typeface="Telegraf"/>
              </a:rPr>
              <a:t> </a:t>
            </a:r>
            <a:r>
              <a:rPr lang="en-US" sz="2199" dirty="0" err="1">
                <a:solidFill>
                  <a:srgbClr val="000000"/>
                </a:solidFill>
                <a:latin typeface="Telegraf"/>
              </a:rPr>
              <a:t>khawatir</a:t>
            </a:r>
            <a:r>
              <a:rPr lang="en-US" sz="2199" dirty="0">
                <a:solidFill>
                  <a:srgbClr val="000000"/>
                </a:solidFill>
                <a:latin typeface="Telegraf"/>
              </a:rPr>
              <a:t> </a:t>
            </a:r>
            <a:r>
              <a:rPr lang="en-US" sz="2199" dirty="0" err="1">
                <a:solidFill>
                  <a:srgbClr val="000000"/>
                </a:solidFill>
                <a:latin typeface="Telegraf"/>
              </a:rPr>
              <a:t>karena</a:t>
            </a:r>
            <a:r>
              <a:rPr lang="en-US" sz="2199" dirty="0">
                <a:solidFill>
                  <a:srgbClr val="000000"/>
                </a:solidFill>
                <a:latin typeface="Telegraf"/>
              </a:rPr>
              <a:t> </a:t>
            </a:r>
            <a:r>
              <a:rPr lang="en-US" sz="2199" dirty="0" err="1">
                <a:solidFill>
                  <a:srgbClr val="000000"/>
                </a:solidFill>
                <a:latin typeface="Telegraf"/>
              </a:rPr>
              <a:t>dijamin</a:t>
            </a:r>
            <a:r>
              <a:rPr lang="en-US" sz="2199" dirty="0">
                <a:solidFill>
                  <a:srgbClr val="000000"/>
                </a:solidFill>
                <a:latin typeface="Telegraf"/>
              </a:rPr>
              <a:t> </a:t>
            </a:r>
            <a:r>
              <a:rPr lang="en-US" sz="2199" dirty="0" err="1">
                <a:solidFill>
                  <a:srgbClr val="000000"/>
                </a:solidFill>
                <a:latin typeface="Telegraf"/>
              </a:rPr>
              <a:t>kerahasiaanya</a:t>
            </a:r>
            <a:r>
              <a:rPr lang="en-US" sz="2199" dirty="0">
                <a:solidFill>
                  <a:srgbClr val="000000"/>
                </a:solidFill>
                <a:latin typeface="Telegraf"/>
              </a:rPr>
              <a:t>. </a:t>
            </a:r>
            <a:r>
              <a:rPr lang="en-US" sz="2199" dirty="0" err="1">
                <a:solidFill>
                  <a:srgbClr val="000000"/>
                </a:solidFill>
                <a:latin typeface="Telegraf"/>
              </a:rPr>
              <a:t>Selain</a:t>
            </a:r>
            <a:r>
              <a:rPr lang="en-US" sz="2199" dirty="0">
                <a:solidFill>
                  <a:srgbClr val="000000"/>
                </a:solidFill>
                <a:latin typeface="Telegraf"/>
              </a:rPr>
              <a:t> </a:t>
            </a:r>
            <a:r>
              <a:rPr lang="en-US" sz="2199" dirty="0" err="1">
                <a:solidFill>
                  <a:srgbClr val="000000"/>
                </a:solidFill>
                <a:latin typeface="Telegraf"/>
              </a:rPr>
              <a:t>itu</a:t>
            </a:r>
            <a:r>
              <a:rPr lang="en-US" sz="2199" dirty="0">
                <a:solidFill>
                  <a:srgbClr val="000000"/>
                </a:solidFill>
                <a:latin typeface="Telegraf"/>
              </a:rPr>
              <a:t>, Whistleblowing </a:t>
            </a:r>
            <a:r>
              <a:rPr lang="en-US" sz="2199" dirty="0" err="1">
                <a:solidFill>
                  <a:srgbClr val="000000"/>
                </a:solidFill>
                <a:latin typeface="Telegraf"/>
              </a:rPr>
              <a:t>juga</a:t>
            </a:r>
            <a:r>
              <a:rPr lang="en-US" sz="2199" dirty="0">
                <a:solidFill>
                  <a:srgbClr val="000000"/>
                </a:solidFill>
                <a:latin typeface="Telegraf"/>
              </a:rPr>
              <a:t> </a:t>
            </a:r>
            <a:r>
              <a:rPr lang="en-US" sz="2199" dirty="0" err="1">
                <a:solidFill>
                  <a:srgbClr val="000000"/>
                </a:solidFill>
                <a:latin typeface="Telegraf"/>
              </a:rPr>
              <a:t>ditujukan</a:t>
            </a:r>
            <a:r>
              <a:rPr lang="en-US" sz="2199" dirty="0">
                <a:solidFill>
                  <a:srgbClr val="000000"/>
                </a:solidFill>
                <a:latin typeface="Telegraf"/>
              </a:rPr>
              <a:t> agar </a:t>
            </a:r>
            <a:r>
              <a:rPr lang="en-US" sz="2199" dirty="0" err="1">
                <a:solidFill>
                  <a:srgbClr val="000000"/>
                </a:solidFill>
                <a:latin typeface="Telegraf"/>
              </a:rPr>
              <a:t>kecurangan</a:t>
            </a:r>
            <a:r>
              <a:rPr lang="en-US" sz="2199" dirty="0">
                <a:solidFill>
                  <a:srgbClr val="000000"/>
                </a:solidFill>
                <a:latin typeface="Telegraf"/>
              </a:rPr>
              <a:t> yang </a:t>
            </a:r>
            <a:r>
              <a:rPr lang="en-US" sz="2199" dirty="0" err="1">
                <a:solidFill>
                  <a:srgbClr val="000000"/>
                </a:solidFill>
                <a:latin typeface="Telegraf"/>
              </a:rPr>
              <a:t>terjadi</a:t>
            </a:r>
            <a:r>
              <a:rPr lang="en-US" sz="2199" dirty="0">
                <a:solidFill>
                  <a:srgbClr val="000000"/>
                </a:solidFill>
                <a:latin typeface="Telegraf"/>
              </a:rPr>
              <a:t> </a:t>
            </a:r>
            <a:r>
              <a:rPr lang="en-US" sz="2199" dirty="0" err="1">
                <a:solidFill>
                  <a:srgbClr val="000000"/>
                </a:solidFill>
                <a:latin typeface="Telegraf"/>
              </a:rPr>
              <a:t>dapat</a:t>
            </a:r>
            <a:r>
              <a:rPr lang="en-US" sz="2199" dirty="0">
                <a:solidFill>
                  <a:srgbClr val="000000"/>
                </a:solidFill>
                <a:latin typeface="Telegraf"/>
              </a:rPr>
              <a:t> </a:t>
            </a:r>
            <a:r>
              <a:rPr lang="en-US" sz="2199" dirty="0" err="1">
                <a:solidFill>
                  <a:srgbClr val="000000"/>
                </a:solidFill>
                <a:latin typeface="Telegraf"/>
              </a:rPr>
              <a:t>dideteksi</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dicegah</a:t>
            </a:r>
            <a:r>
              <a:rPr lang="en-US" sz="2199" dirty="0">
                <a:solidFill>
                  <a:srgbClr val="000000"/>
                </a:solidFill>
                <a:latin typeface="Telegraf"/>
              </a:rPr>
              <a:t> </a:t>
            </a:r>
            <a:r>
              <a:rPr lang="en-US" sz="2199" dirty="0" err="1">
                <a:solidFill>
                  <a:srgbClr val="000000"/>
                </a:solidFill>
                <a:latin typeface="Telegraf"/>
              </a:rPr>
              <a:t>sedini</a:t>
            </a:r>
            <a:r>
              <a:rPr lang="en-US" sz="2199" dirty="0">
                <a:solidFill>
                  <a:srgbClr val="000000"/>
                </a:solidFill>
                <a:latin typeface="Telegraf"/>
              </a:rPr>
              <a:t> </a:t>
            </a:r>
            <a:r>
              <a:rPr lang="en-US" sz="2199" dirty="0" err="1">
                <a:solidFill>
                  <a:srgbClr val="000000"/>
                </a:solidFill>
                <a:latin typeface="Telegraf"/>
              </a:rPr>
              <a:t>mungkin</a:t>
            </a:r>
            <a:endParaRPr lang="en-US" sz="2199" dirty="0">
              <a:solidFill>
                <a:srgbClr val="000000"/>
              </a:solidFill>
              <a:latin typeface="Telegraf"/>
            </a:endParaRPr>
          </a:p>
          <a:p>
            <a:pPr algn="just">
              <a:lnSpc>
                <a:spcPts val="3079"/>
              </a:lnSpc>
            </a:pPr>
            <a:r>
              <a:rPr lang="en-US" sz="2199" dirty="0" err="1">
                <a:solidFill>
                  <a:srgbClr val="000000"/>
                </a:solidFill>
                <a:latin typeface="Telegraf"/>
              </a:rPr>
              <a:t>Bentuk</a:t>
            </a:r>
            <a:r>
              <a:rPr lang="en-US" sz="2199" dirty="0">
                <a:solidFill>
                  <a:srgbClr val="000000"/>
                </a:solidFill>
                <a:latin typeface="Telegraf"/>
              </a:rPr>
              <a:t> </a:t>
            </a:r>
            <a:r>
              <a:rPr lang="en-US" sz="2199" dirty="0" err="1">
                <a:solidFill>
                  <a:srgbClr val="000000"/>
                </a:solidFill>
                <a:latin typeface="Telegraf"/>
              </a:rPr>
              <a:t>penerapan</a:t>
            </a:r>
            <a:r>
              <a:rPr lang="en-US" sz="2199" dirty="0">
                <a:solidFill>
                  <a:srgbClr val="000000"/>
                </a:solidFill>
                <a:latin typeface="Telegraf"/>
              </a:rPr>
              <a:t> Whistleblowing </a:t>
            </a:r>
            <a:r>
              <a:rPr lang="en-US" sz="2199" dirty="0" err="1">
                <a:solidFill>
                  <a:srgbClr val="000000"/>
                </a:solidFill>
                <a:latin typeface="Telegraf"/>
              </a:rPr>
              <a:t>dimulai</a:t>
            </a:r>
            <a:r>
              <a:rPr lang="en-US" sz="2199" dirty="0">
                <a:solidFill>
                  <a:srgbClr val="000000"/>
                </a:solidFill>
                <a:latin typeface="Telegraf"/>
              </a:rPr>
              <a:t> </a:t>
            </a:r>
            <a:r>
              <a:rPr lang="en-US" sz="2199" dirty="0" err="1">
                <a:solidFill>
                  <a:srgbClr val="000000"/>
                </a:solidFill>
                <a:latin typeface="Telegraf"/>
              </a:rPr>
              <a:t>dari</a:t>
            </a:r>
            <a:r>
              <a:rPr lang="en-US" sz="2199" dirty="0">
                <a:solidFill>
                  <a:srgbClr val="000000"/>
                </a:solidFill>
                <a:latin typeface="Telegraf"/>
              </a:rPr>
              <a:t> </a:t>
            </a:r>
            <a:r>
              <a:rPr lang="en-US" sz="2199" dirty="0" err="1">
                <a:solidFill>
                  <a:srgbClr val="000000"/>
                </a:solidFill>
                <a:latin typeface="Telegraf"/>
              </a:rPr>
              <a:t>penyusunan</a:t>
            </a:r>
            <a:r>
              <a:rPr lang="en-US" sz="2199" dirty="0">
                <a:solidFill>
                  <a:srgbClr val="000000"/>
                </a:solidFill>
                <a:latin typeface="Telegraf"/>
              </a:rPr>
              <a:t> </a:t>
            </a:r>
            <a:r>
              <a:rPr lang="en-US" sz="2199" dirty="0" err="1">
                <a:solidFill>
                  <a:srgbClr val="000000"/>
                </a:solidFill>
                <a:latin typeface="Telegraf"/>
              </a:rPr>
              <a:t>kebijakan</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mekanisme</a:t>
            </a:r>
            <a:r>
              <a:rPr lang="en-US" sz="2199" dirty="0">
                <a:solidFill>
                  <a:srgbClr val="000000"/>
                </a:solidFill>
                <a:latin typeface="Telegraf"/>
              </a:rPr>
              <a:t> Whistleblowing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perangkat</a:t>
            </a:r>
            <a:r>
              <a:rPr lang="en-US" sz="2199" dirty="0">
                <a:solidFill>
                  <a:srgbClr val="000000"/>
                </a:solidFill>
                <a:latin typeface="Telegraf"/>
              </a:rPr>
              <a:t> </a:t>
            </a:r>
            <a:r>
              <a:rPr lang="en-US" sz="2199" dirty="0" err="1">
                <a:solidFill>
                  <a:srgbClr val="000000"/>
                </a:solidFill>
                <a:latin typeface="Telegraf"/>
              </a:rPr>
              <a:t>kerja</a:t>
            </a:r>
            <a:r>
              <a:rPr lang="en-US" sz="2199" dirty="0">
                <a:solidFill>
                  <a:srgbClr val="000000"/>
                </a:solidFill>
                <a:latin typeface="Telegraf"/>
              </a:rPr>
              <a:t> yang </a:t>
            </a:r>
            <a:r>
              <a:rPr lang="en-US" sz="2199" dirty="0" err="1">
                <a:solidFill>
                  <a:srgbClr val="000000"/>
                </a:solidFill>
                <a:latin typeface="Telegraf"/>
              </a:rPr>
              <a:t>dirumuskan</a:t>
            </a:r>
            <a:r>
              <a:rPr lang="en-US" sz="2199" dirty="0">
                <a:solidFill>
                  <a:srgbClr val="000000"/>
                </a:solidFill>
                <a:latin typeface="Telegraf"/>
              </a:rPr>
              <a:t> </a:t>
            </a:r>
            <a:r>
              <a:rPr lang="en-US" sz="2199" dirty="0" err="1">
                <a:solidFill>
                  <a:srgbClr val="000000"/>
                </a:solidFill>
                <a:latin typeface="Telegraf"/>
              </a:rPr>
              <a:t>secara</a:t>
            </a:r>
            <a:r>
              <a:rPr lang="en-US" sz="2199" dirty="0">
                <a:solidFill>
                  <a:srgbClr val="000000"/>
                </a:solidFill>
                <a:latin typeface="Telegraf"/>
              </a:rPr>
              <a:t> </a:t>
            </a:r>
            <a:r>
              <a:rPr lang="en-US" sz="2199" dirty="0" err="1">
                <a:solidFill>
                  <a:srgbClr val="000000"/>
                </a:solidFill>
                <a:latin typeface="Telegraf"/>
              </a:rPr>
              <a:t>jelas</a:t>
            </a:r>
            <a:r>
              <a:rPr lang="en-US" sz="2199" dirty="0">
                <a:solidFill>
                  <a:srgbClr val="000000"/>
                </a:solidFill>
                <a:latin typeface="Telegraf"/>
              </a:rPr>
              <a:t>, </a:t>
            </a:r>
            <a:r>
              <a:rPr lang="en-US" sz="2199" dirty="0" err="1">
                <a:solidFill>
                  <a:srgbClr val="000000"/>
                </a:solidFill>
                <a:latin typeface="Telegraf"/>
              </a:rPr>
              <a:t>mudah</a:t>
            </a:r>
            <a:r>
              <a:rPr lang="en-US" sz="2199" dirty="0">
                <a:solidFill>
                  <a:srgbClr val="000000"/>
                </a:solidFill>
                <a:latin typeface="Telegraf"/>
              </a:rPr>
              <a:t> </a:t>
            </a:r>
            <a:r>
              <a:rPr lang="en-US" sz="2199" dirty="0" err="1">
                <a:solidFill>
                  <a:srgbClr val="000000"/>
                </a:solidFill>
                <a:latin typeface="Telegraf"/>
              </a:rPr>
              <a:t>dimengerti</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dapat</a:t>
            </a:r>
            <a:r>
              <a:rPr lang="en-US" sz="2199" dirty="0">
                <a:solidFill>
                  <a:srgbClr val="000000"/>
                </a:solidFill>
                <a:latin typeface="Telegraf"/>
              </a:rPr>
              <a:t> </a:t>
            </a:r>
            <a:r>
              <a:rPr lang="en-US" sz="2199" dirty="0" err="1">
                <a:solidFill>
                  <a:srgbClr val="000000"/>
                </a:solidFill>
                <a:latin typeface="Telegraf"/>
              </a:rPr>
              <a:t>diimplementasikan</a:t>
            </a:r>
            <a:r>
              <a:rPr lang="en-US" sz="2199" dirty="0">
                <a:solidFill>
                  <a:srgbClr val="000000"/>
                </a:solidFill>
                <a:latin typeface="Telegraf"/>
              </a:rPr>
              <a:t> </a:t>
            </a:r>
            <a:r>
              <a:rPr lang="en-US" sz="2199" dirty="0" err="1">
                <a:solidFill>
                  <a:srgbClr val="000000"/>
                </a:solidFill>
                <a:latin typeface="Telegraf"/>
              </a:rPr>
              <a:t>secara</a:t>
            </a:r>
            <a:r>
              <a:rPr lang="en-US" sz="2199" dirty="0">
                <a:solidFill>
                  <a:srgbClr val="000000"/>
                </a:solidFill>
                <a:latin typeface="Telegraf"/>
              </a:rPr>
              <a:t> </a:t>
            </a:r>
            <a:r>
              <a:rPr lang="en-US" sz="2199" dirty="0" err="1">
                <a:solidFill>
                  <a:srgbClr val="000000"/>
                </a:solidFill>
                <a:latin typeface="Telegraf"/>
              </a:rPr>
              <a:t>efektif</a:t>
            </a:r>
            <a:r>
              <a:rPr lang="en-US" sz="2199" dirty="0">
                <a:solidFill>
                  <a:srgbClr val="000000"/>
                </a:solidFill>
                <a:latin typeface="Telegraf"/>
              </a:rPr>
              <a:t> yang paling </a:t>
            </a:r>
            <a:r>
              <a:rPr lang="en-US" sz="2199" dirty="0" err="1">
                <a:solidFill>
                  <a:srgbClr val="000000"/>
                </a:solidFill>
                <a:latin typeface="Telegraf"/>
              </a:rPr>
              <a:t>sedikit</a:t>
            </a:r>
            <a:r>
              <a:rPr lang="en-US" sz="2199" dirty="0">
                <a:solidFill>
                  <a:srgbClr val="000000"/>
                </a:solidFill>
                <a:latin typeface="Telegraf"/>
              </a:rPr>
              <a:t> </a:t>
            </a:r>
            <a:r>
              <a:rPr lang="en-US" sz="2199" dirty="0" err="1">
                <a:solidFill>
                  <a:srgbClr val="000000"/>
                </a:solidFill>
                <a:latin typeface="Telegraf"/>
              </a:rPr>
              <a:t>meliputi</a:t>
            </a:r>
            <a:r>
              <a:rPr lang="en-US" sz="2199" dirty="0">
                <a:solidFill>
                  <a:srgbClr val="000000"/>
                </a:solidFill>
                <a:latin typeface="Telegraf"/>
              </a:rPr>
              <a:t> :</a:t>
            </a:r>
          </a:p>
          <a:p>
            <a:pPr marL="474979" lvl="1" indent="-237490" algn="just">
              <a:lnSpc>
                <a:spcPts val="3079"/>
              </a:lnSpc>
              <a:buFont typeface="Arial"/>
              <a:buChar char="•"/>
            </a:pPr>
            <a:r>
              <a:rPr lang="en-US" sz="2199" dirty="0" err="1">
                <a:solidFill>
                  <a:srgbClr val="000000"/>
                </a:solidFill>
                <a:latin typeface="Telegraf"/>
              </a:rPr>
              <a:t>Perlindungan</a:t>
            </a:r>
            <a:r>
              <a:rPr lang="en-US" sz="2199" dirty="0">
                <a:solidFill>
                  <a:srgbClr val="000000"/>
                </a:solidFill>
                <a:latin typeface="Telegraf"/>
              </a:rPr>
              <a:t> </a:t>
            </a:r>
            <a:r>
              <a:rPr lang="en-US" sz="2199" dirty="0" err="1">
                <a:solidFill>
                  <a:srgbClr val="000000"/>
                </a:solidFill>
                <a:latin typeface="Telegraf"/>
              </a:rPr>
              <a:t>kepada</a:t>
            </a:r>
            <a:r>
              <a:rPr lang="en-US" sz="2199" dirty="0">
                <a:solidFill>
                  <a:srgbClr val="000000"/>
                </a:solidFill>
                <a:latin typeface="Telegraf"/>
              </a:rPr>
              <a:t> Whistleblower </a:t>
            </a:r>
            <a:r>
              <a:rPr lang="en-US" sz="2199" dirty="0" err="1">
                <a:solidFill>
                  <a:srgbClr val="000000"/>
                </a:solidFill>
                <a:latin typeface="Telegraf"/>
              </a:rPr>
              <a:t>serta</a:t>
            </a:r>
            <a:r>
              <a:rPr lang="en-US" sz="2199" dirty="0">
                <a:solidFill>
                  <a:srgbClr val="000000"/>
                </a:solidFill>
                <a:latin typeface="Telegraf"/>
              </a:rPr>
              <a:t> </a:t>
            </a:r>
            <a:r>
              <a:rPr lang="en-US" sz="2199" dirty="0" err="1">
                <a:solidFill>
                  <a:srgbClr val="000000"/>
                </a:solidFill>
                <a:latin typeface="Telegraf"/>
              </a:rPr>
              <a:t>menjamin</a:t>
            </a:r>
            <a:r>
              <a:rPr lang="en-US" sz="2199" dirty="0">
                <a:solidFill>
                  <a:srgbClr val="000000"/>
                </a:solidFill>
                <a:latin typeface="Telegraf"/>
              </a:rPr>
              <a:t> </a:t>
            </a:r>
            <a:r>
              <a:rPr lang="en-US" sz="2199" dirty="0" err="1">
                <a:solidFill>
                  <a:srgbClr val="000000"/>
                </a:solidFill>
                <a:latin typeface="Telegraf"/>
              </a:rPr>
              <a:t>kerahasiaan</a:t>
            </a:r>
            <a:r>
              <a:rPr lang="en-US" sz="2199" dirty="0">
                <a:solidFill>
                  <a:srgbClr val="000000"/>
                </a:solidFill>
                <a:latin typeface="Telegraf"/>
              </a:rPr>
              <a:t> </a:t>
            </a:r>
            <a:r>
              <a:rPr lang="en-US" sz="2199" dirty="0" err="1">
                <a:solidFill>
                  <a:srgbClr val="000000"/>
                </a:solidFill>
                <a:latin typeface="Telegraf"/>
              </a:rPr>
              <a:t>indentitas</a:t>
            </a:r>
            <a:r>
              <a:rPr lang="en-US" sz="2199" dirty="0">
                <a:solidFill>
                  <a:srgbClr val="000000"/>
                </a:solidFill>
                <a:latin typeface="Telegraf"/>
              </a:rPr>
              <a:t> </a:t>
            </a:r>
            <a:r>
              <a:rPr lang="en-US" sz="2199" dirty="0" err="1">
                <a:solidFill>
                  <a:srgbClr val="000000"/>
                </a:solidFill>
                <a:latin typeface="Telegraf"/>
              </a:rPr>
              <a:t>pelapor</a:t>
            </a:r>
            <a:r>
              <a:rPr lang="en-US" sz="2199" dirty="0">
                <a:solidFill>
                  <a:srgbClr val="000000"/>
                </a:solidFill>
                <a:latin typeface="Telegraf"/>
              </a:rPr>
              <a:t>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laporan</a:t>
            </a:r>
            <a:r>
              <a:rPr lang="en-US" sz="2199" dirty="0">
                <a:solidFill>
                  <a:srgbClr val="000000"/>
                </a:solidFill>
                <a:latin typeface="Telegraf"/>
              </a:rPr>
              <a:t> Fraud yang </a:t>
            </a:r>
            <a:r>
              <a:rPr lang="en-US" sz="2199" dirty="0" err="1">
                <a:solidFill>
                  <a:srgbClr val="000000"/>
                </a:solidFill>
                <a:latin typeface="Telegraf"/>
              </a:rPr>
              <a:t>disampaikan</a:t>
            </a:r>
            <a:endParaRPr lang="en-US" sz="2199" dirty="0">
              <a:solidFill>
                <a:srgbClr val="000000"/>
              </a:solidFill>
              <a:latin typeface="Telegraf"/>
            </a:endParaRPr>
          </a:p>
          <a:p>
            <a:pPr marL="474979" lvl="1" indent="-237490" algn="just">
              <a:lnSpc>
                <a:spcPts val="3079"/>
              </a:lnSpc>
              <a:buFont typeface="Arial"/>
              <a:buChar char="•"/>
            </a:pPr>
            <a:r>
              <a:rPr lang="en-US" sz="2199" dirty="0" err="1">
                <a:solidFill>
                  <a:srgbClr val="000000"/>
                </a:solidFill>
                <a:latin typeface="Telegraf"/>
              </a:rPr>
              <a:t>Menyusun</a:t>
            </a:r>
            <a:r>
              <a:rPr lang="en-US" sz="2199" dirty="0">
                <a:solidFill>
                  <a:srgbClr val="000000"/>
                </a:solidFill>
                <a:latin typeface="Telegraf"/>
              </a:rPr>
              <a:t> </a:t>
            </a:r>
            <a:r>
              <a:rPr lang="en-US" sz="2199" dirty="0" err="1">
                <a:solidFill>
                  <a:srgbClr val="000000"/>
                </a:solidFill>
                <a:latin typeface="Telegraf"/>
              </a:rPr>
              <a:t>ketentuan</a:t>
            </a:r>
            <a:r>
              <a:rPr lang="en-US" sz="2199" dirty="0">
                <a:solidFill>
                  <a:srgbClr val="000000"/>
                </a:solidFill>
                <a:latin typeface="Telegraf"/>
              </a:rPr>
              <a:t> internal </a:t>
            </a:r>
            <a:r>
              <a:rPr lang="en-US" sz="2199" dirty="0" err="1">
                <a:solidFill>
                  <a:srgbClr val="000000"/>
                </a:solidFill>
                <a:latin typeface="Telegraf"/>
              </a:rPr>
              <a:t>terkait</a:t>
            </a:r>
            <a:r>
              <a:rPr lang="en-US" sz="2199" dirty="0">
                <a:solidFill>
                  <a:srgbClr val="000000"/>
                </a:solidFill>
                <a:latin typeface="Telegraf"/>
              </a:rPr>
              <a:t> </a:t>
            </a:r>
            <a:r>
              <a:rPr lang="en-US" sz="2199" dirty="0" err="1">
                <a:solidFill>
                  <a:srgbClr val="000000"/>
                </a:solidFill>
                <a:latin typeface="Telegraf"/>
              </a:rPr>
              <a:t>pengaduan</a:t>
            </a:r>
            <a:r>
              <a:rPr lang="en-US" sz="2199" dirty="0">
                <a:solidFill>
                  <a:srgbClr val="000000"/>
                </a:solidFill>
                <a:latin typeface="Telegraf"/>
              </a:rPr>
              <a:t> Fraud </a:t>
            </a:r>
            <a:r>
              <a:rPr lang="en-US" sz="2199" dirty="0" err="1">
                <a:solidFill>
                  <a:srgbClr val="000000"/>
                </a:solidFill>
                <a:latin typeface="Telegraf"/>
              </a:rPr>
              <a:t>dan</a:t>
            </a:r>
            <a:r>
              <a:rPr lang="en-US" sz="2199" dirty="0">
                <a:solidFill>
                  <a:srgbClr val="000000"/>
                </a:solidFill>
                <a:latin typeface="Telegraf"/>
              </a:rPr>
              <a:t> </a:t>
            </a:r>
            <a:r>
              <a:rPr lang="en-US" sz="2199" dirty="0" err="1">
                <a:solidFill>
                  <a:srgbClr val="000000"/>
                </a:solidFill>
                <a:latin typeface="Telegraf"/>
              </a:rPr>
              <a:t>mengacu</a:t>
            </a:r>
            <a:r>
              <a:rPr lang="en-US" sz="2199" dirty="0">
                <a:solidFill>
                  <a:srgbClr val="000000"/>
                </a:solidFill>
                <a:latin typeface="Telegraf"/>
              </a:rPr>
              <a:t> </a:t>
            </a:r>
            <a:r>
              <a:rPr lang="en-US" sz="2199" dirty="0" err="1">
                <a:solidFill>
                  <a:srgbClr val="000000"/>
                </a:solidFill>
                <a:latin typeface="Telegraf"/>
              </a:rPr>
              <a:t>pada</a:t>
            </a:r>
            <a:r>
              <a:rPr lang="en-US" sz="2199" dirty="0">
                <a:solidFill>
                  <a:srgbClr val="000000"/>
                </a:solidFill>
                <a:latin typeface="Telegraf"/>
              </a:rPr>
              <a:t> </a:t>
            </a:r>
            <a:r>
              <a:rPr lang="en-US" sz="2199" dirty="0" err="1">
                <a:solidFill>
                  <a:srgbClr val="000000"/>
                </a:solidFill>
                <a:latin typeface="Telegraf"/>
              </a:rPr>
              <a:t>ketentuan</a:t>
            </a:r>
            <a:r>
              <a:rPr lang="en-US" sz="2199" dirty="0">
                <a:solidFill>
                  <a:srgbClr val="000000"/>
                </a:solidFill>
                <a:latin typeface="Telegraf"/>
              </a:rPr>
              <a:t> </a:t>
            </a:r>
            <a:r>
              <a:rPr lang="en-US" sz="2199" dirty="0" err="1">
                <a:solidFill>
                  <a:srgbClr val="000000"/>
                </a:solidFill>
                <a:latin typeface="Telegraf"/>
              </a:rPr>
              <a:t>peraturan</a:t>
            </a:r>
            <a:r>
              <a:rPr lang="en-US" sz="2199" dirty="0">
                <a:solidFill>
                  <a:srgbClr val="000000"/>
                </a:solidFill>
                <a:latin typeface="Telegraf"/>
              </a:rPr>
              <a:t> </a:t>
            </a:r>
            <a:r>
              <a:rPr lang="en-US" sz="2199" dirty="0" err="1">
                <a:solidFill>
                  <a:srgbClr val="000000"/>
                </a:solidFill>
                <a:latin typeface="Telegraf"/>
              </a:rPr>
              <a:t>perundang-undangan</a:t>
            </a:r>
            <a:endParaRPr lang="en-US" sz="2199" dirty="0">
              <a:solidFill>
                <a:srgbClr val="000000"/>
              </a:solidFill>
              <a:latin typeface="Telegraf"/>
            </a:endParaRPr>
          </a:p>
          <a:p>
            <a:pPr marL="474979" lvl="1" indent="-237490" algn="just">
              <a:lnSpc>
                <a:spcPts val="3079"/>
              </a:lnSpc>
              <a:buFont typeface="Arial"/>
              <a:buChar char="•"/>
            </a:pPr>
            <a:r>
              <a:rPr lang="en-US" sz="2199" dirty="0" err="1">
                <a:solidFill>
                  <a:srgbClr val="000000"/>
                </a:solidFill>
                <a:latin typeface="Telegraf"/>
              </a:rPr>
              <a:t>Menyusun</a:t>
            </a:r>
            <a:r>
              <a:rPr lang="en-US" sz="2199" dirty="0">
                <a:solidFill>
                  <a:srgbClr val="000000"/>
                </a:solidFill>
                <a:latin typeface="Telegraf"/>
              </a:rPr>
              <a:t> </a:t>
            </a:r>
            <a:r>
              <a:rPr lang="en-US" sz="2199" dirty="0" err="1">
                <a:solidFill>
                  <a:srgbClr val="000000"/>
                </a:solidFill>
                <a:latin typeface="Telegraf"/>
              </a:rPr>
              <a:t>sistem</a:t>
            </a:r>
            <a:r>
              <a:rPr lang="en-US" sz="2199" dirty="0">
                <a:solidFill>
                  <a:srgbClr val="000000"/>
                </a:solidFill>
                <a:latin typeface="Telegraf"/>
              </a:rPr>
              <a:t> </a:t>
            </a:r>
            <a:r>
              <a:rPr lang="en-US" sz="2199" dirty="0" err="1">
                <a:solidFill>
                  <a:srgbClr val="000000"/>
                </a:solidFill>
                <a:latin typeface="Telegraf"/>
              </a:rPr>
              <a:t>pelaporan</a:t>
            </a:r>
            <a:r>
              <a:rPr lang="en-US" sz="2199" dirty="0">
                <a:solidFill>
                  <a:srgbClr val="000000"/>
                </a:solidFill>
                <a:latin typeface="Telegraf"/>
              </a:rPr>
              <a:t> Fraud yang </a:t>
            </a:r>
            <a:r>
              <a:rPr lang="en-US" sz="2199" dirty="0" err="1">
                <a:solidFill>
                  <a:srgbClr val="000000"/>
                </a:solidFill>
                <a:latin typeface="Telegraf"/>
              </a:rPr>
              <a:t>memuat</a:t>
            </a:r>
            <a:r>
              <a:rPr lang="en-US" sz="2199" dirty="0">
                <a:solidFill>
                  <a:srgbClr val="000000"/>
                </a:solidFill>
                <a:latin typeface="Telegraf"/>
              </a:rPr>
              <a:t> paling </a:t>
            </a:r>
            <a:r>
              <a:rPr lang="en-US" sz="2199" dirty="0" err="1">
                <a:solidFill>
                  <a:srgbClr val="000000"/>
                </a:solidFill>
                <a:latin typeface="Telegraf"/>
              </a:rPr>
              <a:t>sedikit</a:t>
            </a:r>
            <a:r>
              <a:rPr lang="en-US" sz="2199" dirty="0">
                <a:solidFill>
                  <a:srgbClr val="000000"/>
                </a:solidFill>
                <a:latin typeface="Telegraf"/>
              </a:rPr>
              <a:t> :</a:t>
            </a:r>
          </a:p>
          <a:p>
            <a:pPr algn="just">
              <a:lnSpc>
                <a:spcPts val="3079"/>
              </a:lnSpc>
            </a:pPr>
            <a:r>
              <a:rPr lang="en-US" sz="2199" dirty="0">
                <a:solidFill>
                  <a:srgbClr val="000000"/>
                </a:solidFill>
                <a:latin typeface="Telegraf"/>
              </a:rPr>
              <a:t>        -</a:t>
            </a:r>
            <a:r>
              <a:rPr lang="id-ID" sz="2199" dirty="0">
                <a:solidFill>
                  <a:srgbClr val="000000"/>
                </a:solidFill>
                <a:latin typeface="Telegraf"/>
              </a:rPr>
              <a:t> C</a:t>
            </a:r>
            <a:r>
              <a:rPr lang="en-US" sz="2199" dirty="0" err="1">
                <a:solidFill>
                  <a:srgbClr val="000000"/>
                </a:solidFill>
                <a:latin typeface="Telegraf"/>
              </a:rPr>
              <a:t>ara</a:t>
            </a:r>
            <a:r>
              <a:rPr lang="en-US" sz="2199" dirty="0">
                <a:solidFill>
                  <a:srgbClr val="000000"/>
                </a:solidFill>
                <a:latin typeface="Telegraf"/>
              </a:rPr>
              <a:t> </a:t>
            </a:r>
            <a:r>
              <a:rPr lang="en-US" sz="2199" dirty="0" err="1">
                <a:solidFill>
                  <a:srgbClr val="000000"/>
                </a:solidFill>
                <a:latin typeface="Telegraf"/>
              </a:rPr>
              <a:t>pelaporan</a:t>
            </a:r>
            <a:endParaRPr lang="en-US" sz="2199" dirty="0">
              <a:solidFill>
                <a:srgbClr val="000000"/>
              </a:solidFill>
              <a:latin typeface="Telegraf"/>
            </a:endParaRPr>
          </a:p>
          <a:p>
            <a:pPr algn="just">
              <a:lnSpc>
                <a:spcPts val="3079"/>
              </a:lnSpc>
            </a:pPr>
            <a:r>
              <a:rPr lang="en-US" sz="2199" dirty="0">
                <a:solidFill>
                  <a:srgbClr val="000000"/>
                </a:solidFill>
                <a:latin typeface="Telegraf"/>
              </a:rPr>
              <a:t>        -</a:t>
            </a:r>
            <a:r>
              <a:rPr lang="id-ID" sz="2199" dirty="0">
                <a:solidFill>
                  <a:srgbClr val="000000"/>
                </a:solidFill>
                <a:latin typeface="Telegraf"/>
              </a:rPr>
              <a:t> S</a:t>
            </a:r>
            <a:r>
              <a:rPr lang="en-US" sz="2199" dirty="0" err="1">
                <a:solidFill>
                  <a:srgbClr val="000000"/>
                </a:solidFill>
                <a:latin typeface="Telegraf"/>
              </a:rPr>
              <a:t>arana</a:t>
            </a:r>
            <a:endParaRPr lang="en-US" sz="2199" dirty="0">
              <a:solidFill>
                <a:srgbClr val="000000"/>
              </a:solidFill>
              <a:latin typeface="Telegraf"/>
            </a:endParaRPr>
          </a:p>
          <a:p>
            <a:pPr algn="just">
              <a:lnSpc>
                <a:spcPts val="3079"/>
              </a:lnSpc>
            </a:pPr>
            <a:r>
              <a:rPr lang="en-US" sz="2199" dirty="0">
                <a:solidFill>
                  <a:srgbClr val="000000"/>
                </a:solidFill>
                <a:latin typeface="Telegraf"/>
              </a:rPr>
              <a:t>        -</a:t>
            </a:r>
            <a:r>
              <a:rPr lang="id-ID" sz="2199" dirty="0">
                <a:solidFill>
                  <a:srgbClr val="000000"/>
                </a:solidFill>
                <a:latin typeface="Telegraf"/>
              </a:rPr>
              <a:t> P</a:t>
            </a:r>
            <a:r>
              <a:rPr lang="en-US" sz="2199" dirty="0" err="1">
                <a:solidFill>
                  <a:srgbClr val="000000"/>
                </a:solidFill>
                <a:latin typeface="Telegraf"/>
              </a:rPr>
              <a:t>ihak</a:t>
            </a:r>
            <a:r>
              <a:rPr lang="en-US" sz="2199" dirty="0">
                <a:solidFill>
                  <a:srgbClr val="000000"/>
                </a:solidFill>
                <a:latin typeface="Telegraf"/>
              </a:rPr>
              <a:t> yang </a:t>
            </a:r>
            <a:r>
              <a:rPr lang="en-US" sz="2199" dirty="0" err="1">
                <a:solidFill>
                  <a:srgbClr val="000000"/>
                </a:solidFill>
                <a:latin typeface="Telegraf"/>
              </a:rPr>
              <a:t>bertanggung</a:t>
            </a:r>
            <a:r>
              <a:rPr lang="en-US" sz="2199" dirty="0">
                <a:solidFill>
                  <a:srgbClr val="000000"/>
                </a:solidFill>
                <a:latin typeface="Telegraf"/>
              </a:rPr>
              <a:t> </a:t>
            </a:r>
            <a:r>
              <a:rPr lang="en-US" sz="2199" dirty="0" err="1">
                <a:solidFill>
                  <a:srgbClr val="000000"/>
                </a:solidFill>
                <a:latin typeface="Telegraf"/>
              </a:rPr>
              <a:t>jawab</a:t>
            </a:r>
            <a:r>
              <a:rPr lang="en-US" sz="2199" dirty="0">
                <a:solidFill>
                  <a:srgbClr val="000000"/>
                </a:solidFill>
                <a:latin typeface="Telegraf"/>
              </a:rPr>
              <a:t> </a:t>
            </a:r>
            <a:r>
              <a:rPr lang="en-US" sz="2199" dirty="0" err="1">
                <a:solidFill>
                  <a:srgbClr val="000000"/>
                </a:solidFill>
                <a:latin typeface="Telegraf"/>
              </a:rPr>
              <a:t>untuk</a:t>
            </a:r>
            <a:r>
              <a:rPr lang="en-US" sz="2199" dirty="0">
                <a:solidFill>
                  <a:srgbClr val="000000"/>
                </a:solidFill>
                <a:latin typeface="Telegraf"/>
              </a:rPr>
              <a:t> </a:t>
            </a:r>
            <a:r>
              <a:rPr lang="en-US" sz="2199" dirty="0" err="1">
                <a:solidFill>
                  <a:srgbClr val="000000"/>
                </a:solidFill>
                <a:latin typeface="Telegraf"/>
              </a:rPr>
              <a:t>menangani</a:t>
            </a:r>
            <a:r>
              <a:rPr lang="en-US" sz="2199" dirty="0">
                <a:solidFill>
                  <a:srgbClr val="000000"/>
                </a:solidFill>
                <a:latin typeface="Telegraf"/>
              </a:rPr>
              <a:t> </a:t>
            </a:r>
            <a:r>
              <a:rPr lang="en-US" sz="2199" dirty="0" err="1">
                <a:solidFill>
                  <a:srgbClr val="000000"/>
                </a:solidFill>
                <a:latin typeface="Telegraf"/>
              </a:rPr>
              <a:t>pelaporan</a:t>
            </a:r>
            <a:endParaRPr lang="en-US" sz="2199" dirty="0">
              <a:solidFill>
                <a:srgbClr val="000000"/>
              </a:solidFill>
              <a:latin typeface="Telegraf"/>
            </a:endParaRPr>
          </a:p>
          <a:p>
            <a:pPr algn="just">
              <a:lnSpc>
                <a:spcPts val="3079"/>
              </a:lnSpc>
            </a:pPr>
            <a:r>
              <a:rPr lang="en-US" sz="2199" dirty="0">
                <a:solidFill>
                  <a:srgbClr val="000000"/>
                </a:solidFill>
                <a:latin typeface="Telegraf"/>
              </a:rPr>
              <a:t>        -</a:t>
            </a:r>
            <a:r>
              <a:rPr lang="id-ID" sz="2199" dirty="0">
                <a:solidFill>
                  <a:srgbClr val="000000"/>
                </a:solidFill>
                <a:latin typeface="Telegraf"/>
              </a:rPr>
              <a:t> M</a:t>
            </a:r>
            <a:r>
              <a:rPr lang="en-US" sz="2199" dirty="0" err="1">
                <a:solidFill>
                  <a:srgbClr val="000000"/>
                </a:solidFill>
                <a:latin typeface="Telegraf"/>
              </a:rPr>
              <a:t>ekanisme</a:t>
            </a:r>
            <a:r>
              <a:rPr lang="en-US" sz="2199" dirty="0">
                <a:solidFill>
                  <a:srgbClr val="000000"/>
                </a:solidFill>
                <a:latin typeface="Telegraf"/>
              </a:rPr>
              <a:t> </a:t>
            </a:r>
            <a:r>
              <a:rPr lang="en-US" sz="2199" dirty="0" err="1">
                <a:solidFill>
                  <a:srgbClr val="000000"/>
                </a:solidFill>
                <a:latin typeface="Telegraf"/>
              </a:rPr>
              <a:t>tindak</a:t>
            </a:r>
            <a:r>
              <a:rPr lang="en-US" sz="2199" dirty="0">
                <a:solidFill>
                  <a:srgbClr val="000000"/>
                </a:solidFill>
                <a:latin typeface="Telegraf"/>
              </a:rPr>
              <a:t> </a:t>
            </a:r>
            <a:r>
              <a:rPr lang="en-US" sz="2199" dirty="0" err="1">
                <a:solidFill>
                  <a:srgbClr val="000000"/>
                </a:solidFill>
                <a:latin typeface="Telegraf"/>
              </a:rPr>
              <a:t>lanjut</a:t>
            </a:r>
            <a:r>
              <a:rPr lang="en-US" sz="2199" dirty="0">
                <a:solidFill>
                  <a:srgbClr val="000000"/>
                </a:solidFill>
                <a:latin typeface="Telegraf"/>
              </a:rPr>
              <a:t> </a:t>
            </a:r>
            <a:r>
              <a:rPr lang="en-US" sz="2199" dirty="0" err="1">
                <a:solidFill>
                  <a:srgbClr val="000000"/>
                </a:solidFill>
                <a:latin typeface="Telegraf"/>
              </a:rPr>
              <a:t>terhadap</a:t>
            </a:r>
            <a:r>
              <a:rPr lang="en-US" sz="2199" dirty="0">
                <a:solidFill>
                  <a:srgbClr val="000000"/>
                </a:solidFill>
                <a:latin typeface="Telegraf"/>
              </a:rPr>
              <a:t> </a:t>
            </a:r>
            <a:r>
              <a:rPr lang="en-US" sz="2199" dirty="0" err="1">
                <a:solidFill>
                  <a:srgbClr val="000000"/>
                </a:solidFill>
                <a:latin typeface="Telegraf"/>
              </a:rPr>
              <a:t>kejadian</a:t>
            </a:r>
            <a:r>
              <a:rPr lang="en-US" sz="2199" dirty="0">
                <a:solidFill>
                  <a:srgbClr val="000000"/>
                </a:solidFill>
                <a:latin typeface="Telegraf"/>
              </a:rPr>
              <a:t> Fraud yang </a:t>
            </a:r>
            <a:r>
              <a:rPr lang="en-US" sz="2199" dirty="0" err="1">
                <a:solidFill>
                  <a:srgbClr val="000000"/>
                </a:solidFill>
                <a:latin typeface="Telegraf"/>
              </a:rPr>
              <a:t>dilaporkan</a:t>
            </a:r>
            <a:endParaRPr lang="en-US" sz="2199" dirty="0">
              <a:solidFill>
                <a:srgbClr val="000000"/>
              </a:solidFill>
              <a:latin typeface="Telegraf"/>
            </a:endParaRPr>
          </a:p>
          <a:p>
            <a:pPr marL="474979" lvl="1" indent="-237490" algn="just">
              <a:lnSpc>
                <a:spcPts val="3079"/>
              </a:lnSpc>
              <a:buFont typeface="Arial"/>
              <a:buChar char="•"/>
            </a:pPr>
            <a:r>
              <a:rPr lang="en-US" sz="2199" dirty="0">
                <a:solidFill>
                  <a:srgbClr val="000000"/>
                </a:solidFill>
                <a:latin typeface="Telegraf"/>
              </a:rPr>
              <a:t>Media </a:t>
            </a:r>
            <a:r>
              <a:rPr lang="en-US" sz="2199" dirty="0" err="1">
                <a:solidFill>
                  <a:srgbClr val="000000"/>
                </a:solidFill>
                <a:latin typeface="Telegraf"/>
              </a:rPr>
              <a:t>Pengaduan</a:t>
            </a:r>
            <a:r>
              <a:rPr lang="en-US" sz="2199" dirty="0">
                <a:solidFill>
                  <a:srgbClr val="000000"/>
                </a:solidFill>
                <a:latin typeface="Telegraf"/>
              </a:rPr>
              <a:t>  </a:t>
            </a:r>
          </a:p>
          <a:p>
            <a:pPr algn="just">
              <a:lnSpc>
                <a:spcPts val="2639"/>
              </a:lnSpc>
            </a:pPr>
            <a:endParaRPr lang="en-US" sz="2199" dirty="0">
              <a:solidFill>
                <a:srgbClr val="000000"/>
              </a:solidFill>
              <a:latin typeface="Telegraf"/>
            </a:endParaRPr>
          </a:p>
          <a:p>
            <a:pPr algn="just">
              <a:lnSpc>
                <a:spcPts val="2639"/>
              </a:lnSpc>
            </a:pPr>
            <a:r>
              <a:rPr lang="en-US" sz="2199" dirty="0" err="1">
                <a:solidFill>
                  <a:srgbClr val="000000"/>
                </a:solidFill>
                <a:latin typeface="Telegraf"/>
              </a:rPr>
              <a:t>Pelapor</a:t>
            </a:r>
            <a:r>
              <a:rPr lang="en-US" sz="2199" dirty="0">
                <a:solidFill>
                  <a:srgbClr val="000000"/>
                </a:solidFill>
                <a:latin typeface="Telegraf"/>
              </a:rPr>
              <a:t> </a:t>
            </a:r>
            <a:r>
              <a:rPr lang="en-US" sz="2199" dirty="0" err="1">
                <a:solidFill>
                  <a:srgbClr val="000000"/>
                </a:solidFill>
                <a:latin typeface="Telegraf"/>
              </a:rPr>
              <a:t>atau</a:t>
            </a:r>
            <a:r>
              <a:rPr lang="en-US" sz="2199" dirty="0">
                <a:solidFill>
                  <a:srgbClr val="000000"/>
                </a:solidFill>
                <a:latin typeface="Telegraf"/>
              </a:rPr>
              <a:t> Whistleblower </a:t>
            </a:r>
            <a:r>
              <a:rPr lang="en-US" sz="2199" dirty="0" err="1">
                <a:solidFill>
                  <a:srgbClr val="000000"/>
                </a:solidFill>
                <a:latin typeface="Telegraf"/>
              </a:rPr>
              <a:t>dapat</a:t>
            </a:r>
            <a:r>
              <a:rPr lang="en-US" sz="2199" dirty="0">
                <a:solidFill>
                  <a:srgbClr val="000000"/>
                </a:solidFill>
                <a:latin typeface="Telegraf"/>
              </a:rPr>
              <a:t> </a:t>
            </a:r>
            <a:r>
              <a:rPr lang="en-US" sz="2199" dirty="0" err="1">
                <a:solidFill>
                  <a:srgbClr val="000000"/>
                </a:solidFill>
                <a:latin typeface="Telegraf"/>
              </a:rPr>
              <a:t>melaporkan</a:t>
            </a:r>
            <a:r>
              <a:rPr lang="en-US" sz="2199" dirty="0">
                <a:solidFill>
                  <a:srgbClr val="000000"/>
                </a:solidFill>
                <a:latin typeface="Telegraf"/>
              </a:rPr>
              <a:t> </a:t>
            </a:r>
            <a:r>
              <a:rPr lang="en-US" sz="2199" dirty="0" err="1">
                <a:solidFill>
                  <a:srgbClr val="000000"/>
                </a:solidFill>
                <a:latin typeface="Telegraf"/>
              </a:rPr>
              <a:t>pengaduan</a:t>
            </a:r>
            <a:r>
              <a:rPr lang="en-US" sz="2199" dirty="0">
                <a:solidFill>
                  <a:srgbClr val="000000"/>
                </a:solidFill>
                <a:latin typeface="Telegraf"/>
              </a:rPr>
              <a:t> </a:t>
            </a:r>
            <a:r>
              <a:rPr lang="en-US" sz="2199" dirty="0" err="1">
                <a:solidFill>
                  <a:srgbClr val="000000"/>
                </a:solidFill>
                <a:latin typeface="Telegraf"/>
              </a:rPr>
              <a:t>dugaan</a:t>
            </a:r>
            <a:r>
              <a:rPr lang="en-US" sz="2199" dirty="0">
                <a:solidFill>
                  <a:srgbClr val="000000"/>
                </a:solidFill>
                <a:latin typeface="Telegraf"/>
              </a:rPr>
              <a:t> </a:t>
            </a:r>
            <a:r>
              <a:rPr lang="en-US" sz="2199" dirty="0" err="1">
                <a:solidFill>
                  <a:srgbClr val="000000"/>
                </a:solidFill>
                <a:latin typeface="Telegraf"/>
              </a:rPr>
              <a:t>pelanggaran</a:t>
            </a:r>
            <a:r>
              <a:rPr lang="en-US" sz="2199" dirty="0">
                <a:solidFill>
                  <a:srgbClr val="000000"/>
                </a:solidFill>
                <a:latin typeface="Telegraf"/>
              </a:rPr>
              <a:t> </a:t>
            </a:r>
            <a:r>
              <a:rPr lang="en-US" sz="2199" dirty="0" err="1">
                <a:solidFill>
                  <a:srgbClr val="000000"/>
                </a:solidFill>
                <a:latin typeface="Telegraf"/>
              </a:rPr>
              <a:t>melalui</a:t>
            </a:r>
            <a:r>
              <a:rPr lang="en-US" sz="2199" dirty="0">
                <a:solidFill>
                  <a:srgbClr val="000000"/>
                </a:solidFill>
                <a:latin typeface="Telegraf"/>
              </a:rPr>
              <a:t> media </a:t>
            </a:r>
            <a:r>
              <a:rPr lang="en-US" sz="2199" dirty="0" err="1">
                <a:solidFill>
                  <a:srgbClr val="000000"/>
                </a:solidFill>
                <a:latin typeface="Telegraf"/>
              </a:rPr>
              <a:t>komunikasi</a:t>
            </a:r>
            <a:r>
              <a:rPr lang="en-US" sz="2199" dirty="0">
                <a:solidFill>
                  <a:srgbClr val="000000"/>
                </a:solidFill>
                <a:latin typeface="Telegraf"/>
              </a:rPr>
              <a:t> </a:t>
            </a:r>
            <a:r>
              <a:rPr lang="en-US" sz="2199" dirty="0" err="1">
                <a:solidFill>
                  <a:srgbClr val="000000"/>
                </a:solidFill>
                <a:latin typeface="Telegraf"/>
              </a:rPr>
              <a:t>Pelaporan</a:t>
            </a:r>
            <a:r>
              <a:rPr lang="en-US" sz="2199" dirty="0">
                <a:solidFill>
                  <a:srgbClr val="000000"/>
                </a:solidFill>
                <a:latin typeface="Telegraf"/>
              </a:rPr>
              <a:t> </a:t>
            </a:r>
            <a:r>
              <a:rPr lang="en-US" sz="2199" dirty="0" err="1">
                <a:solidFill>
                  <a:srgbClr val="000000"/>
                </a:solidFill>
                <a:latin typeface="Telegraf"/>
              </a:rPr>
              <a:t>Pelanggaran</a:t>
            </a:r>
            <a:r>
              <a:rPr lang="en-US" sz="2199" dirty="0">
                <a:solidFill>
                  <a:srgbClr val="000000"/>
                </a:solidFill>
                <a:latin typeface="Telegraf"/>
              </a:rPr>
              <a:t> (Whistle Blowing System) </a:t>
            </a:r>
            <a:r>
              <a:rPr lang="en-US" sz="2199" dirty="0" err="1">
                <a:solidFill>
                  <a:srgbClr val="000000"/>
                </a:solidFill>
                <a:latin typeface="Telegraf"/>
              </a:rPr>
              <a:t>sebagai</a:t>
            </a:r>
            <a:r>
              <a:rPr lang="en-US" sz="2199" dirty="0">
                <a:solidFill>
                  <a:srgbClr val="000000"/>
                </a:solidFill>
                <a:latin typeface="Telegraf"/>
              </a:rPr>
              <a:t> </a:t>
            </a:r>
            <a:r>
              <a:rPr lang="en-US" sz="2199" dirty="0" err="1">
                <a:solidFill>
                  <a:srgbClr val="000000"/>
                </a:solidFill>
                <a:latin typeface="Telegraf"/>
              </a:rPr>
              <a:t>berikut</a:t>
            </a:r>
            <a:r>
              <a:rPr lang="en-US" sz="2199" dirty="0">
                <a:solidFill>
                  <a:srgbClr val="000000"/>
                </a:solidFill>
                <a:latin typeface="Telegraf"/>
              </a:rPr>
              <a:t> :</a:t>
            </a:r>
          </a:p>
          <a:p>
            <a:pPr algn="just">
              <a:lnSpc>
                <a:spcPts val="2639"/>
              </a:lnSpc>
            </a:pPr>
            <a:r>
              <a:rPr lang="en-US" sz="2199" dirty="0">
                <a:solidFill>
                  <a:srgbClr val="000000"/>
                </a:solidFill>
                <a:latin typeface="Telegraf"/>
              </a:rPr>
              <a:t>        -</a:t>
            </a:r>
            <a:r>
              <a:rPr lang="en-US" sz="2199" dirty="0" err="1">
                <a:solidFill>
                  <a:srgbClr val="000000"/>
                </a:solidFill>
                <a:latin typeface="Telegraf"/>
              </a:rPr>
              <a:t>Layar</a:t>
            </a:r>
            <a:r>
              <a:rPr lang="en-US" sz="2199" dirty="0">
                <a:solidFill>
                  <a:srgbClr val="000000"/>
                </a:solidFill>
                <a:latin typeface="Telegraf"/>
              </a:rPr>
              <a:t> 848 Whistleblowing System</a:t>
            </a:r>
          </a:p>
          <a:p>
            <a:pPr algn="just">
              <a:lnSpc>
                <a:spcPts val="2639"/>
              </a:lnSpc>
            </a:pPr>
            <a:r>
              <a:rPr lang="en-US" sz="2199" dirty="0">
                <a:solidFill>
                  <a:srgbClr val="000000"/>
                </a:solidFill>
                <a:latin typeface="Telegraf"/>
              </a:rPr>
              <a:t>        -</a:t>
            </a:r>
            <a:r>
              <a:rPr lang="en-US" sz="2199" dirty="0" err="1">
                <a:solidFill>
                  <a:srgbClr val="000000"/>
                </a:solidFill>
                <a:latin typeface="Telegraf"/>
              </a:rPr>
              <a:t>Nomor</a:t>
            </a:r>
            <a:r>
              <a:rPr lang="en-US" sz="2199" dirty="0">
                <a:solidFill>
                  <a:srgbClr val="000000"/>
                </a:solidFill>
                <a:latin typeface="Telegraf"/>
              </a:rPr>
              <a:t> 08112702900 (</a:t>
            </a:r>
            <a:r>
              <a:rPr lang="en-US" sz="2199" dirty="0" err="1">
                <a:solidFill>
                  <a:srgbClr val="000000"/>
                </a:solidFill>
                <a:latin typeface="Telegraf"/>
              </a:rPr>
              <a:t>telepon</a:t>
            </a:r>
            <a:r>
              <a:rPr lang="en-US" sz="2199" dirty="0">
                <a:solidFill>
                  <a:srgbClr val="000000"/>
                </a:solidFill>
                <a:latin typeface="Telegraf"/>
              </a:rPr>
              <a:t> &amp; </a:t>
            </a:r>
            <a:r>
              <a:rPr lang="en-US" sz="2199" dirty="0" err="1">
                <a:solidFill>
                  <a:srgbClr val="000000"/>
                </a:solidFill>
                <a:latin typeface="Telegraf"/>
              </a:rPr>
              <a:t>whatsapp</a:t>
            </a:r>
            <a:r>
              <a:rPr lang="en-US" sz="2199" dirty="0">
                <a:solidFill>
                  <a:srgbClr val="000000"/>
                </a:solidFill>
                <a:latin typeface="Telegraf"/>
              </a:rPr>
              <a:t>)</a:t>
            </a:r>
          </a:p>
          <a:p>
            <a:pPr algn="just">
              <a:lnSpc>
                <a:spcPts val="2879"/>
              </a:lnSpc>
            </a:pPr>
            <a:endParaRPr lang="en-US" sz="2199" dirty="0">
              <a:solidFill>
                <a:srgbClr val="000000"/>
              </a:solidFill>
              <a:latin typeface="Telegraf"/>
            </a:endParaRPr>
          </a:p>
          <a:p>
            <a:pPr algn="just">
              <a:lnSpc>
                <a:spcPts val="2879"/>
              </a:lnSpc>
            </a:pPr>
            <a:endParaRPr lang="en-US" sz="2199" dirty="0">
              <a:solidFill>
                <a:srgbClr val="000000"/>
              </a:solidFill>
              <a:latin typeface="Telegraf"/>
            </a:endParaRPr>
          </a:p>
        </p:txBody>
      </p:sp>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Bold"/>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49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1240696" y="-1173803"/>
            <a:ext cx="15109502" cy="13213946"/>
          </a:xfrm>
          <a:prstGeom prst="rect">
            <a:avLst/>
          </a:prstGeom>
        </p:spPr>
      </p:pic>
      <p:sp>
        <p:nvSpPr>
          <p:cNvPr id="3" name="TextBox 3"/>
          <p:cNvSpPr txBox="1"/>
          <p:nvPr/>
        </p:nvSpPr>
        <p:spPr>
          <a:xfrm>
            <a:off x="1028700" y="807816"/>
            <a:ext cx="15230502" cy="10837390"/>
          </a:xfrm>
          <a:prstGeom prst="rect">
            <a:avLst/>
          </a:prstGeom>
        </p:spPr>
        <p:txBody>
          <a:bodyPr lIns="0" tIns="0" rIns="0" bIns="0" rtlCol="0" anchor="t">
            <a:spAutoFit/>
          </a:bodyPr>
          <a:lstStyle/>
          <a:p>
            <a:pPr>
              <a:lnSpc>
                <a:spcPts val="3359"/>
              </a:lnSpc>
            </a:pPr>
            <a:r>
              <a:rPr lang="en-US" sz="2799" dirty="0">
                <a:solidFill>
                  <a:srgbClr val="FFFFFF"/>
                </a:solidFill>
                <a:latin typeface="DM Sans Bold"/>
              </a:rPr>
              <a:t>3.  </a:t>
            </a:r>
            <a:r>
              <a:rPr lang="en-US" sz="2799" dirty="0" err="1">
                <a:solidFill>
                  <a:srgbClr val="FFFFFF"/>
                </a:solidFill>
                <a:latin typeface="DM Sans Bold"/>
              </a:rPr>
              <a:t>Investigasi</a:t>
            </a:r>
            <a:r>
              <a:rPr lang="en-US" sz="2799" dirty="0">
                <a:solidFill>
                  <a:srgbClr val="FFFFFF"/>
                </a:solidFill>
                <a:latin typeface="DM Sans Bold"/>
              </a:rPr>
              <a:t>, </a:t>
            </a:r>
            <a:r>
              <a:rPr lang="en-US" sz="2799" dirty="0" err="1">
                <a:solidFill>
                  <a:srgbClr val="FFFFFF"/>
                </a:solidFill>
                <a:latin typeface="DM Sans Bold"/>
              </a:rPr>
              <a:t>pelaporan</a:t>
            </a:r>
            <a:r>
              <a:rPr lang="en-US" sz="2799" dirty="0">
                <a:solidFill>
                  <a:srgbClr val="FFFFFF"/>
                </a:solidFill>
                <a:latin typeface="DM Sans Bold"/>
              </a:rPr>
              <a:t> &amp; </a:t>
            </a:r>
            <a:r>
              <a:rPr lang="en-US" sz="2799" dirty="0" err="1">
                <a:solidFill>
                  <a:srgbClr val="FFFFFF"/>
                </a:solidFill>
                <a:latin typeface="DM Sans Bold"/>
              </a:rPr>
              <a:t>sanksi</a:t>
            </a:r>
            <a:endParaRPr lang="en-US" sz="2799" dirty="0">
              <a:solidFill>
                <a:srgbClr val="FFFFFF"/>
              </a:solidFill>
              <a:latin typeface="DM Sans Bold"/>
            </a:endParaRPr>
          </a:p>
          <a:p>
            <a:pPr>
              <a:lnSpc>
                <a:spcPts val="2879"/>
              </a:lnSpc>
            </a:pPr>
            <a:endParaRPr lang="en-US" sz="2799" dirty="0">
              <a:solidFill>
                <a:srgbClr val="FFFFFF"/>
              </a:solidFill>
              <a:latin typeface="DM Sans Bold"/>
            </a:endParaRPr>
          </a:p>
          <a:p>
            <a:pPr>
              <a:lnSpc>
                <a:spcPts val="2879"/>
              </a:lnSpc>
            </a:pPr>
            <a:r>
              <a:rPr lang="en-US" sz="2400" dirty="0">
                <a:solidFill>
                  <a:srgbClr val="FFFFFF"/>
                </a:solidFill>
                <a:latin typeface="Telegraf"/>
              </a:rPr>
              <a:t> </a:t>
            </a:r>
            <a:r>
              <a:rPr lang="en-US" sz="2400" b="1" dirty="0">
                <a:solidFill>
                  <a:srgbClr val="FFFFFF"/>
                </a:solidFill>
                <a:latin typeface="Telegraf"/>
              </a:rPr>
              <a:t>a. </a:t>
            </a:r>
            <a:r>
              <a:rPr lang="en-US" sz="2400" b="1" dirty="0" err="1">
                <a:solidFill>
                  <a:srgbClr val="FFFFFF"/>
                </a:solidFill>
                <a:latin typeface="Telegraf"/>
              </a:rPr>
              <a:t>Standar</a:t>
            </a:r>
            <a:r>
              <a:rPr lang="en-US" sz="2400" b="1" dirty="0">
                <a:solidFill>
                  <a:srgbClr val="FFFFFF"/>
                </a:solidFill>
                <a:latin typeface="Telegraf"/>
              </a:rPr>
              <a:t> </a:t>
            </a:r>
            <a:r>
              <a:rPr lang="en-US" sz="2400" b="1" dirty="0" err="1">
                <a:solidFill>
                  <a:srgbClr val="FFFFFF"/>
                </a:solidFill>
                <a:latin typeface="Telegraf"/>
              </a:rPr>
              <a:t>Investigasi</a:t>
            </a:r>
            <a:r>
              <a:rPr lang="en-US" sz="2400" b="1" dirty="0">
                <a:solidFill>
                  <a:srgbClr val="FFFFFF"/>
                </a:solidFill>
                <a:latin typeface="Telegraf"/>
              </a:rPr>
              <a:t> </a:t>
            </a: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Kegiatan</a:t>
            </a:r>
            <a:r>
              <a:rPr lang="en-US" sz="2400" dirty="0">
                <a:solidFill>
                  <a:srgbClr val="FFFFFF"/>
                </a:solidFill>
                <a:latin typeface="Telegraf"/>
              </a:rPr>
              <a:t> </a:t>
            </a:r>
            <a:r>
              <a:rPr lang="en-US" sz="2400" dirty="0" err="1">
                <a:solidFill>
                  <a:srgbClr val="FFFFFF"/>
                </a:solidFill>
                <a:latin typeface="Telegraf"/>
              </a:rPr>
              <a:t>investigasi</a:t>
            </a:r>
            <a:r>
              <a:rPr lang="en-US" sz="2400" dirty="0">
                <a:solidFill>
                  <a:srgbClr val="FFFFFF"/>
                </a:solidFill>
                <a:latin typeface="Telegraf"/>
              </a:rPr>
              <a:t> </a:t>
            </a:r>
            <a:r>
              <a:rPr lang="en-US" sz="2400" dirty="0" err="1">
                <a:solidFill>
                  <a:srgbClr val="FFFFFF"/>
                </a:solidFill>
                <a:latin typeface="Telegraf"/>
              </a:rPr>
              <a:t>merupakan</a:t>
            </a:r>
            <a:r>
              <a:rPr lang="en-US" sz="2400" dirty="0">
                <a:solidFill>
                  <a:srgbClr val="FFFFFF"/>
                </a:solidFill>
                <a:latin typeface="Telegraf"/>
              </a:rPr>
              <a:t> </a:t>
            </a:r>
            <a:r>
              <a:rPr lang="en-US" sz="2400" dirty="0" err="1">
                <a:solidFill>
                  <a:srgbClr val="FFFFFF"/>
                </a:solidFill>
                <a:latin typeface="Telegraf"/>
              </a:rPr>
              <a:t>kegiatan</a:t>
            </a:r>
            <a:r>
              <a:rPr lang="en-US" sz="2400" dirty="0">
                <a:solidFill>
                  <a:srgbClr val="FFFFFF"/>
                </a:solidFill>
                <a:latin typeface="Telegraf"/>
              </a:rPr>
              <a:t> </a:t>
            </a:r>
            <a:r>
              <a:rPr lang="en-US" sz="2400" dirty="0" err="1">
                <a:solidFill>
                  <a:srgbClr val="FFFFFF"/>
                </a:solidFill>
                <a:latin typeface="Telegraf"/>
              </a:rPr>
              <a:t>penelitian</a:t>
            </a:r>
            <a:r>
              <a:rPr lang="en-US" sz="2400" dirty="0">
                <a:solidFill>
                  <a:srgbClr val="FFFFFF"/>
                </a:solidFill>
                <a:latin typeface="Telegraf"/>
              </a:rPr>
              <a:t> dan </a:t>
            </a:r>
            <a:r>
              <a:rPr lang="en-US" sz="2400" dirty="0" err="1">
                <a:solidFill>
                  <a:srgbClr val="FFFFFF"/>
                </a:solidFill>
                <a:latin typeface="Telegraf"/>
              </a:rPr>
              <a:t>pengujian</a:t>
            </a:r>
            <a:r>
              <a:rPr lang="en-US" sz="2400" dirty="0">
                <a:solidFill>
                  <a:srgbClr val="FFFFFF"/>
                </a:solidFill>
                <a:latin typeface="Telegraf"/>
              </a:rPr>
              <a:t> </a:t>
            </a:r>
            <a:r>
              <a:rPr lang="en-US" sz="2400" dirty="0" err="1">
                <a:solidFill>
                  <a:srgbClr val="FFFFFF"/>
                </a:solidFill>
                <a:latin typeface="Telegraf"/>
              </a:rPr>
              <a:t>secara</a:t>
            </a:r>
            <a:r>
              <a:rPr lang="en-US" sz="2400" dirty="0">
                <a:solidFill>
                  <a:srgbClr val="FFFFFF"/>
                </a:solidFill>
                <a:latin typeface="Telegraf"/>
              </a:rPr>
              <a:t> </a:t>
            </a:r>
            <a:r>
              <a:rPr lang="en-US" sz="2400" dirty="0" err="1">
                <a:solidFill>
                  <a:srgbClr val="FFFFFF"/>
                </a:solidFill>
                <a:latin typeface="Telegraf"/>
              </a:rPr>
              <a:t>mendalam</a:t>
            </a:r>
            <a:r>
              <a:rPr lang="en-US" sz="2400" dirty="0">
                <a:solidFill>
                  <a:srgbClr val="FFFFFF"/>
                </a:solidFill>
                <a:latin typeface="Telegraf"/>
              </a:rPr>
              <a:t> </a:t>
            </a:r>
            <a:r>
              <a:rPr lang="en-US" sz="2400" dirty="0" err="1">
                <a:solidFill>
                  <a:srgbClr val="FFFFFF"/>
                </a:solidFill>
                <a:latin typeface="Telegraf"/>
              </a:rPr>
              <a:t>dengan</a:t>
            </a:r>
            <a:r>
              <a:rPr lang="en-US" sz="2400" dirty="0">
                <a:solidFill>
                  <a:srgbClr val="FFFFFF"/>
                </a:solidFill>
                <a:latin typeface="Telegraf"/>
              </a:rPr>
              <a:t> </a:t>
            </a:r>
            <a:r>
              <a:rPr lang="en-US" sz="2400" dirty="0" err="1">
                <a:solidFill>
                  <a:srgbClr val="FFFFFF"/>
                </a:solidFill>
                <a:latin typeface="Telegraf"/>
              </a:rPr>
              <a:t>maksud</a:t>
            </a:r>
            <a:r>
              <a:rPr lang="en-US" sz="2400" dirty="0">
                <a:solidFill>
                  <a:srgbClr val="FFFFFF"/>
                </a:solidFill>
                <a:latin typeface="Telegraf"/>
              </a:rPr>
              <a:t> </a:t>
            </a:r>
            <a:r>
              <a:rPr lang="en-US" sz="2400" dirty="0" err="1">
                <a:solidFill>
                  <a:srgbClr val="FFFFFF"/>
                </a:solidFill>
                <a:latin typeface="Telegraf"/>
              </a:rPr>
              <a:t>untuk</a:t>
            </a:r>
            <a:r>
              <a:rPr lang="en-US" sz="2400" dirty="0">
                <a:solidFill>
                  <a:srgbClr val="FFFFFF"/>
                </a:solidFill>
                <a:latin typeface="Telegraf"/>
              </a:rPr>
              <a:t> </a:t>
            </a:r>
            <a:r>
              <a:rPr lang="en-US" sz="2400" dirty="0" err="1">
                <a:solidFill>
                  <a:srgbClr val="FFFFFF"/>
                </a:solidFill>
                <a:latin typeface="Telegraf"/>
              </a:rPr>
              <a:t>mencari</a:t>
            </a:r>
            <a:r>
              <a:rPr lang="en-US" sz="2400" dirty="0">
                <a:solidFill>
                  <a:srgbClr val="FFFFFF"/>
                </a:solidFill>
                <a:latin typeface="Telegraf"/>
              </a:rPr>
              <a:t> </a:t>
            </a:r>
            <a:r>
              <a:rPr lang="en-US" sz="2400" dirty="0" err="1">
                <a:solidFill>
                  <a:srgbClr val="FFFFFF"/>
                </a:solidFill>
                <a:latin typeface="Telegraf"/>
              </a:rPr>
              <a:t>kebenaran</a:t>
            </a:r>
            <a:r>
              <a:rPr lang="en-US" sz="2400" dirty="0">
                <a:solidFill>
                  <a:srgbClr val="FFFFFF"/>
                </a:solidFill>
                <a:latin typeface="Telegraf"/>
              </a:rPr>
              <a:t> </a:t>
            </a:r>
            <a:r>
              <a:rPr lang="en-US" sz="2400" dirty="0" err="1">
                <a:solidFill>
                  <a:srgbClr val="FFFFFF"/>
                </a:solidFill>
                <a:latin typeface="Telegraf"/>
              </a:rPr>
              <a:t>untuk</a:t>
            </a:r>
            <a:r>
              <a:rPr lang="en-US" sz="2400" dirty="0">
                <a:solidFill>
                  <a:srgbClr val="FFFFFF"/>
                </a:solidFill>
                <a:latin typeface="Telegraf"/>
              </a:rPr>
              <a:t> </a:t>
            </a:r>
            <a:r>
              <a:rPr lang="en-US" sz="2400" dirty="0" err="1">
                <a:solidFill>
                  <a:srgbClr val="FFFFFF"/>
                </a:solidFill>
                <a:latin typeface="Telegraf"/>
              </a:rPr>
              <a:t>menentukan</a:t>
            </a:r>
            <a:r>
              <a:rPr lang="en-US" sz="2400" dirty="0">
                <a:solidFill>
                  <a:srgbClr val="FFFFFF"/>
                </a:solidFill>
                <a:latin typeface="Telegraf"/>
              </a:rPr>
              <a:t> </a:t>
            </a:r>
            <a:r>
              <a:rPr lang="en-US" sz="2400" dirty="0" err="1">
                <a:solidFill>
                  <a:srgbClr val="FFFFFF"/>
                </a:solidFill>
                <a:latin typeface="Telegraf"/>
              </a:rPr>
              <a:t>bahwa</a:t>
            </a:r>
            <a:r>
              <a:rPr lang="en-US" sz="2400" dirty="0">
                <a:solidFill>
                  <a:srgbClr val="FFFFFF"/>
                </a:solidFill>
                <a:latin typeface="Telegraf"/>
              </a:rPr>
              <a:t> </a:t>
            </a:r>
            <a:r>
              <a:rPr lang="en-US" sz="2400" dirty="0" err="1">
                <a:solidFill>
                  <a:srgbClr val="FFFFFF"/>
                </a:solidFill>
                <a:latin typeface="Telegraf"/>
              </a:rPr>
              <a:t>kecurigaan</a:t>
            </a:r>
            <a:r>
              <a:rPr lang="en-US" sz="2400" dirty="0">
                <a:solidFill>
                  <a:srgbClr val="FFFFFF"/>
                </a:solidFill>
                <a:latin typeface="Telegraf"/>
              </a:rPr>
              <a:t> </a:t>
            </a:r>
            <a:r>
              <a:rPr lang="en-US" sz="2400" dirty="0" err="1">
                <a:solidFill>
                  <a:srgbClr val="FFFFFF"/>
                </a:solidFill>
                <a:latin typeface="Telegraf"/>
              </a:rPr>
              <a:t>atau</a:t>
            </a:r>
            <a:r>
              <a:rPr lang="en-US" sz="2400" dirty="0">
                <a:solidFill>
                  <a:srgbClr val="FFFFFF"/>
                </a:solidFill>
                <a:latin typeface="Telegraf"/>
              </a:rPr>
              <a:t> </a:t>
            </a:r>
            <a:r>
              <a:rPr lang="en-US" sz="2400" dirty="0" err="1">
                <a:solidFill>
                  <a:srgbClr val="FFFFFF"/>
                </a:solidFill>
                <a:latin typeface="Telegraf"/>
              </a:rPr>
              <a:t>dugaan</a:t>
            </a:r>
            <a:r>
              <a:rPr lang="en-US" sz="2400" dirty="0">
                <a:solidFill>
                  <a:srgbClr val="FFFFFF"/>
                </a:solidFill>
                <a:latin typeface="Telegraf"/>
              </a:rPr>
              <a:t> </a:t>
            </a:r>
            <a:r>
              <a:rPr lang="en-US" sz="2400" dirty="0" err="1">
                <a:solidFill>
                  <a:srgbClr val="FFFFFF"/>
                </a:solidFill>
                <a:latin typeface="Telegraf"/>
              </a:rPr>
              <a:t>terbukti</a:t>
            </a:r>
            <a:r>
              <a:rPr lang="en-US" sz="2400" dirty="0">
                <a:solidFill>
                  <a:srgbClr val="FFFFFF"/>
                </a:solidFill>
                <a:latin typeface="Telegraf"/>
              </a:rPr>
              <a:t> </a:t>
            </a:r>
            <a:r>
              <a:rPr lang="en-US" sz="2400" dirty="0" err="1">
                <a:solidFill>
                  <a:srgbClr val="FFFFFF"/>
                </a:solidFill>
                <a:latin typeface="Telegraf"/>
              </a:rPr>
              <a:t>atau</a:t>
            </a:r>
            <a:r>
              <a:rPr lang="en-US" sz="2400" dirty="0">
                <a:solidFill>
                  <a:srgbClr val="FFFFFF"/>
                </a:solidFill>
                <a:latin typeface="Telegraf"/>
              </a:rPr>
              <a:t> </a:t>
            </a:r>
            <a:r>
              <a:rPr lang="en-US" sz="2400" dirty="0" err="1">
                <a:solidFill>
                  <a:srgbClr val="FFFFFF"/>
                </a:solidFill>
                <a:latin typeface="Telegraf"/>
              </a:rPr>
              <a:t>tidak</a:t>
            </a:r>
            <a:r>
              <a:rPr lang="en-US" sz="2400" dirty="0">
                <a:solidFill>
                  <a:srgbClr val="FFFFFF"/>
                </a:solidFill>
                <a:latin typeface="Telegraf"/>
              </a:rPr>
              <a:t> </a:t>
            </a:r>
            <a:r>
              <a:rPr lang="en-US" sz="2400" dirty="0" err="1">
                <a:solidFill>
                  <a:srgbClr val="FFFFFF"/>
                </a:solidFill>
                <a:latin typeface="Telegraf"/>
              </a:rPr>
              <a:t>terbukti</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Seluruh</a:t>
            </a:r>
            <a:r>
              <a:rPr lang="en-US" sz="2400" dirty="0">
                <a:solidFill>
                  <a:srgbClr val="FFFFFF"/>
                </a:solidFill>
                <a:latin typeface="Telegraf"/>
              </a:rPr>
              <a:t> </a:t>
            </a:r>
            <a:r>
              <a:rPr lang="en-US" sz="2400" dirty="0" err="1">
                <a:solidFill>
                  <a:srgbClr val="FFFFFF"/>
                </a:solidFill>
                <a:latin typeface="Telegraf"/>
              </a:rPr>
              <a:t>investigasi</a:t>
            </a:r>
            <a:r>
              <a:rPr lang="en-US" sz="2400" dirty="0">
                <a:solidFill>
                  <a:srgbClr val="FFFFFF"/>
                </a:solidFill>
                <a:latin typeface="Telegraf"/>
              </a:rPr>
              <a:t> </a:t>
            </a:r>
            <a:r>
              <a:rPr lang="en-US" sz="2400" dirty="0" err="1">
                <a:solidFill>
                  <a:srgbClr val="FFFFFF"/>
                </a:solidFill>
                <a:latin typeface="Telegraf"/>
              </a:rPr>
              <a:t>harus</a:t>
            </a:r>
            <a:r>
              <a:rPr lang="en-US" sz="2400" dirty="0">
                <a:solidFill>
                  <a:srgbClr val="FFFFFF"/>
                </a:solidFill>
                <a:latin typeface="Telegraf"/>
              </a:rPr>
              <a:t> </a:t>
            </a:r>
            <a:r>
              <a:rPr lang="en-US" sz="2400" dirty="0" err="1">
                <a:solidFill>
                  <a:srgbClr val="FFFFFF"/>
                </a:solidFill>
                <a:latin typeface="Telegraf"/>
              </a:rPr>
              <a:t>dilandasi</a:t>
            </a:r>
            <a:r>
              <a:rPr lang="en-US" sz="2400" dirty="0">
                <a:solidFill>
                  <a:srgbClr val="FFFFFF"/>
                </a:solidFill>
                <a:latin typeface="Telegraf"/>
              </a:rPr>
              <a:t> </a:t>
            </a:r>
            <a:r>
              <a:rPr lang="en-US" sz="2400" dirty="0" err="1">
                <a:solidFill>
                  <a:srgbClr val="FFFFFF"/>
                </a:solidFill>
                <a:latin typeface="Telegraf"/>
              </a:rPr>
              <a:t>praktik</a:t>
            </a:r>
            <a:r>
              <a:rPr lang="en-US" sz="2400" dirty="0">
                <a:solidFill>
                  <a:srgbClr val="FFFFFF"/>
                </a:solidFill>
                <a:latin typeface="Telegraf"/>
              </a:rPr>
              <a:t> yang </a:t>
            </a:r>
            <a:r>
              <a:rPr lang="en-US" sz="2400" dirty="0" err="1">
                <a:solidFill>
                  <a:srgbClr val="FFFFFF"/>
                </a:solidFill>
                <a:latin typeface="Telegraf"/>
              </a:rPr>
              <a:t>diakui</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id-ID" sz="2400" dirty="0" err="1">
                <a:solidFill>
                  <a:srgbClr val="FFFFFF"/>
                </a:solidFill>
                <a:latin typeface="Telegraf"/>
              </a:rPr>
              <a:t>K</a:t>
            </a:r>
            <a:r>
              <a:rPr lang="en-US" sz="2400" dirty="0" err="1">
                <a:solidFill>
                  <a:srgbClr val="FFFFFF"/>
                </a:solidFill>
                <a:latin typeface="Telegraf"/>
              </a:rPr>
              <a:t>egiatan</a:t>
            </a:r>
            <a:r>
              <a:rPr lang="en-US" sz="2400" dirty="0">
                <a:solidFill>
                  <a:srgbClr val="FFFFFF"/>
                </a:solidFill>
                <a:latin typeface="Telegraf"/>
              </a:rPr>
              <a:t> </a:t>
            </a:r>
            <a:r>
              <a:rPr lang="en-US" sz="2400" dirty="0" err="1">
                <a:solidFill>
                  <a:srgbClr val="FFFFFF"/>
                </a:solidFill>
                <a:latin typeface="Telegraf"/>
              </a:rPr>
              <a:t>investigasi</a:t>
            </a:r>
            <a:r>
              <a:rPr lang="en-US" sz="2400" dirty="0">
                <a:solidFill>
                  <a:srgbClr val="FFFFFF"/>
                </a:solidFill>
                <a:latin typeface="Telegraf"/>
              </a:rPr>
              <a:t> </a:t>
            </a:r>
            <a:r>
              <a:rPr lang="en-US" sz="2400" dirty="0" err="1">
                <a:solidFill>
                  <a:srgbClr val="FFFFFF"/>
                </a:solidFill>
                <a:latin typeface="Telegraf"/>
              </a:rPr>
              <a:t>mencakup</a:t>
            </a:r>
            <a:r>
              <a:rPr lang="en-US" sz="2400" dirty="0">
                <a:solidFill>
                  <a:srgbClr val="FFFFFF"/>
                </a:solidFill>
                <a:latin typeface="Telegraf"/>
              </a:rPr>
              <a:t> </a:t>
            </a:r>
            <a:r>
              <a:rPr lang="en-US" sz="2400" dirty="0" err="1">
                <a:solidFill>
                  <a:srgbClr val="FFFFFF"/>
                </a:solidFill>
                <a:latin typeface="Telegraf"/>
              </a:rPr>
              <a:t>pemanfaatan</a:t>
            </a:r>
            <a:r>
              <a:rPr lang="en-US" sz="2400" dirty="0">
                <a:solidFill>
                  <a:srgbClr val="FFFFFF"/>
                </a:solidFill>
                <a:latin typeface="Telegraf"/>
              </a:rPr>
              <a:t> </a:t>
            </a:r>
            <a:r>
              <a:rPr lang="en-US" sz="2400" dirty="0" err="1">
                <a:solidFill>
                  <a:srgbClr val="FFFFFF"/>
                </a:solidFill>
                <a:latin typeface="Telegraf"/>
              </a:rPr>
              <a:t>sumber-sumber</a:t>
            </a:r>
            <a:r>
              <a:rPr lang="en-US" sz="2400" dirty="0">
                <a:solidFill>
                  <a:srgbClr val="FFFFFF"/>
                </a:solidFill>
                <a:latin typeface="Telegraf"/>
              </a:rPr>
              <a:t> </a:t>
            </a:r>
            <a:r>
              <a:rPr lang="en-US" sz="2400" dirty="0" err="1">
                <a:solidFill>
                  <a:srgbClr val="FFFFFF"/>
                </a:solidFill>
                <a:latin typeface="Telegraf"/>
              </a:rPr>
              <a:t>bukti</a:t>
            </a:r>
            <a:r>
              <a:rPr lang="en-US" sz="2400" dirty="0">
                <a:solidFill>
                  <a:srgbClr val="FFFFFF"/>
                </a:solidFill>
                <a:latin typeface="Telegraf"/>
              </a:rPr>
              <a:t> yang </a:t>
            </a:r>
            <a:r>
              <a:rPr lang="en-US" sz="2400" dirty="0" err="1">
                <a:solidFill>
                  <a:srgbClr val="FFFFFF"/>
                </a:solidFill>
                <a:latin typeface="Telegraf"/>
              </a:rPr>
              <a:t>didapat</a:t>
            </a:r>
            <a:r>
              <a:rPr lang="en-US" sz="2400" dirty="0">
                <a:solidFill>
                  <a:srgbClr val="FFFFFF"/>
                </a:solidFill>
                <a:latin typeface="Telegraf"/>
              </a:rPr>
              <a:t> </a:t>
            </a:r>
            <a:r>
              <a:rPr lang="en-US" sz="2400" dirty="0" err="1">
                <a:solidFill>
                  <a:srgbClr val="FFFFFF"/>
                </a:solidFill>
                <a:latin typeface="Telegraf"/>
              </a:rPr>
              <a:t>mendukung</a:t>
            </a:r>
            <a:r>
              <a:rPr lang="en-US" sz="2400" dirty="0">
                <a:solidFill>
                  <a:srgbClr val="FFFFFF"/>
                </a:solidFill>
                <a:latin typeface="Telegraf"/>
              </a:rPr>
              <a:t> </a:t>
            </a:r>
            <a:r>
              <a:rPr lang="en-US" sz="2400" dirty="0" err="1">
                <a:solidFill>
                  <a:srgbClr val="FFFFFF"/>
                </a:solidFill>
                <a:latin typeface="Telegraf"/>
              </a:rPr>
              <a:t>fakta</a:t>
            </a:r>
            <a:r>
              <a:rPr lang="en-US" sz="2400" dirty="0">
                <a:solidFill>
                  <a:srgbClr val="FFFFFF"/>
                </a:solidFill>
                <a:latin typeface="Telegraf"/>
              </a:rPr>
              <a:t> yang </a:t>
            </a:r>
            <a:r>
              <a:rPr lang="en-US" sz="2400" dirty="0" err="1">
                <a:solidFill>
                  <a:srgbClr val="FFFFFF"/>
                </a:solidFill>
                <a:latin typeface="Telegraf"/>
              </a:rPr>
              <a:t>dipermasalahkan</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Mengumpulkan</a:t>
            </a:r>
            <a:r>
              <a:rPr lang="en-US" sz="2400" dirty="0">
                <a:solidFill>
                  <a:srgbClr val="FFFFFF"/>
                </a:solidFill>
                <a:latin typeface="Telegraf"/>
              </a:rPr>
              <a:t> </a:t>
            </a:r>
            <a:r>
              <a:rPr lang="en-US" sz="2400" dirty="0" err="1">
                <a:solidFill>
                  <a:srgbClr val="FFFFFF"/>
                </a:solidFill>
                <a:latin typeface="Telegraf"/>
              </a:rPr>
              <a:t>fakta-fakta</a:t>
            </a:r>
            <a:r>
              <a:rPr lang="en-US" sz="2400" dirty="0">
                <a:solidFill>
                  <a:srgbClr val="FFFFFF"/>
                </a:solidFill>
                <a:latin typeface="Telegraf"/>
              </a:rPr>
              <a:t> </a:t>
            </a:r>
            <a:r>
              <a:rPr lang="en-US" sz="2400" dirty="0" err="1">
                <a:solidFill>
                  <a:srgbClr val="FFFFFF"/>
                </a:solidFill>
                <a:latin typeface="Telegraf"/>
              </a:rPr>
              <a:t>sedemikian</a:t>
            </a:r>
            <a:r>
              <a:rPr lang="en-US" sz="2400" dirty="0">
                <a:solidFill>
                  <a:srgbClr val="FFFFFF"/>
                </a:solidFill>
                <a:latin typeface="Telegraf"/>
              </a:rPr>
              <a:t> </a:t>
            </a:r>
            <a:r>
              <a:rPr lang="en-US" sz="2400" dirty="0" err="1">
                <a:solidFill>
                  <a:srgbClr val="FFFFFF"/>
                </a:solidFill>
                <a:latin typeface="Telegraf"/>
              </a:rPr>
              <a:t>rupa</a:t>
            </a:r>
            <a:r>
              <a:rPr lang="en-US" sz="2400" dirty="0">
                <a:solidFill>
                  <a:srgbClr val="FFFFFF"/>
                </a:solidFill>
                <a:latin typeface="Telegraf"/>
              </a:rPr>
              <a:t> </a:t>
            </a:r>
            <a:r>
              <a:rPr lang="en-US" sz="2400" dirty="0" err="1">
                <a:solidFill>
                  <a:srgbClr val="FFFFFF"/>
                </a:solidFill>
                <a:latin typeface="Telegraf"/>
              </a:rPr>
              <a:t>sehingga</a:t>
            </a:r>
            <a:r>
              <a:rPr lang="en-US" sz="2400" dirty="0">
                <a:solidFill>
                  <a:srgbClr val="FFFFFF"/>
                </a:solidFill>
                <a:latin typeface="Telegraf"/>
              </a:rPr>
              <a:t> </a:t>
            </a:r>
            <a:r>
              <a:rPr lang="en-US" sz="2400" dirty="0" err="1">
                <a:solidFill>
                  <a:srgbClr val="FFFFFF"/>
                </a:solidFill>
                <a:latin typeface="Telegraf"/>
              </a:rPr>
              <a:t>bukti-bukti</a:t>
            </a:r>
            <a:r>
              <a:rPr lang="en-US" sz="2400" dirty="0">
                <a:solidFill>
                  <a:srgbClr val="FFFFFF"/>
                </a:solidFill>
                <a:latin typeface="Telegraf"/>
              </a:rPr>
              <a:t> yang </a:t>
            </a:r>
            <a:r>
              <a:rPr lang="en-US" sz="2400" dirty="0" err="1">
                <a:solidFill>
                  <a:srgbClr val="FFFFFF"/>
                </a:solidFill>
                <a:latin typeface="Telegraf"/>
              </a:rPr>
              <a:t>diperoleh</a:t>
            </a:r>
            <a:r>
              <a:rPr lang="en-US" sz="2400" dirty="0">
                <a:solidFill>
                  <a:srgbClr val="FFFFFF"/>
                </a:solidFill>
                <a:latin typeface="Telegraf"/>
              </a:rPr>
              <a:t> </a:t>
            </a:r>
            <a:r>
              <a:rPr lang="en-US" sz="2400" dirty="0" err="1">
                <a:solidFill>
                  <a:srgbClr val="FFFFFF"/>
                </a:solidFill>
                <a:latin typeface="Telegraf"/>
              </a:rPr>
              <a:t>tersebut</a:t>
            </a:r>
            <a:r>
              <a:rPr lang="en-US" sz="2400" dirty="0">
                <a:solidFill>
                  <a:srgbClr val="FFFFFF"/>
                </a:solidFill>
                <a:latin typeface="Telegraf"/>
              </a:rPr>
              <a:t> </a:t>
            </a:r>
            <a:r>
              <a:rPr lang="en-US" sz="2400" dirty="0" err="1">
                <a:solidFill>
                  <a:srgbClr val="FFFFFF"/>
                </a:solidFill>
                <a:latin typeface="Telegraf"/>
              </a:rPr>
              <a:t>dapat</a:t>
            </a:r>
            <a:r>
              <a:rPr lang="en-US" sz="2400" dirty="0">
                <a:solidFill>
                  <a:srgbClr val="FFFFFF"/>
                </a:solidFill>
                <a:latin typeface="Telegraf"/>
              </a:rPr>
              <a:t> </a:t>
            </a:r>
            <a:r>
              <a:rPr lang="en-US" sz="2400" dirty="0" err="1">
                <a:solidFill>
                  <a:srgbClr val="FFFFFF"/>
                </a:solidFill>
                <a:latin typeface="Telegraf"/>
              </a:rPr>
              <a:t>memberikan</a:t>
            </a:r>
            <a:r>
              <a:rPr lang="en-US" sz="2400" dirty="0">
                <a:solidFill>
                  <a:srgbClr val="FFFFFF"/>
                </a:solidFill>
                <a:latin typeface="Telegraf"/>
              </a:rPr>
              <a:t> </a:t>
            </a:r>
            <a:r>
              <a:rPr lang="en-US" sz="2400" dirty="0" err="1">
                <a:solidFill>
                  <a:srgbClr val="FFFFFF"/>
                </a:solidFill>
                <a:latin typeface="Telegraf"/>
              </a:rPr>
              <a:t>kesimpulan</a:t>
            </a:r>
            <a:r>
              <a:rPr lang="en-US" sz="2400" dirty="0">
                <a:solidFill>
                  <a:srgbClr val="FFFFFF"/>
                </a:solidFill>
                <a:latin typeface="Telegraf"/>
              </a:rPr>
              <a:t> (</a:t>
            </a:r>
            <a:r>
              <a:rPr lang="en-US" sz="2400" dirty="0" err="1">
                <a:solidFill>
                  <a:srgbClr val="FFFFFF"/>
                </a:solidFill>
                <a:latin typeface="Telegraf"/>
              </a:rPr>
              <a:t>bahwa</a:t>
            </a:r>
            <a:r>
              <a:rPr lang="en-US" sz="2400" dirty="0">
                <a:solidFill>
                  <a:srgbClr val="FFFFFF"/>
                </a:solidFill>
                <a:latin typeface="Telegraf"/>
              </a:rPr>
              <a:t> </a:t>
            </a:r>
            <a:r>
              <a:rPr lang="en-US" sz="2400" dirty="0" err="1">
                <a:solidFill>
                  <a:srgbClr val="FFFFFF"/>
                </a:solidFill>
                <a:latin typeface="Telegraf"/>
              </a:rPr>
              <a:t>telah</a:t>
            </a:r>
            <a:r>
              <a:rPr lang="en-US" sz="2400" dirty="0">
                <a:solidFill>
                  <a:srgbClr val="FFFFFF"/>
                </a:solidFill>
                <a:latin typeface="Telegraf"/>
              </a:rPr>
              <a:t> </a:t>
            </a:r>
            <a:r>
              <a:rPr lang="en-US" sz="2400" dirty="0" err="1">
                <a:solidFill>
                  <a:srgbClr val="FFFFFF"/>
                </a:solidFill>
                <a:latin typeface="Telegraf"/>
              </a:rPr>
              <a:t>terjadi</a:t>
            </a:r>
            <a:r>
              <a:rPr lang="en-US" sz="2400" dirty="0">
                <a:solidFill>
                  <a:srgbClr val="FFFFFF"/>
                </a:solidFill>
                <a:latin typeface="Telegraf"/>
              </a:rPr>
              <a:t> </a:t>
            </a:r>
            <a:r>
              <a:rPr lang="en-US" sz="2400" dirty="0" err="1">
                <a:solidFill>
                  <a:srgbClr val="FFFFFF"/>
                </a:solidFill>
                <a:latin typeface="Telegraf"/>
              </a:rPr>
              <a:t>tindak</a:t>
            </a:r>
            <a:r>
              <a:rPr lang="en-US" sz="2400" dirty="0">
                <a:solidFill>
                  <a:srgbClr val="FFFFFF"/>
                </a:solidFill>
                <a:latin typeface="Telegraf"/>
              </a:rPr>
              <a:t> </a:t>
            </a:r>
            <a:r>
              <a:rPr lang="en-US" sz="2400" dirty="0" err="1">
                <a:solidFill>
                  <a:srgbClr val="FFFFFF"/>
                </a:solidFill>
                <a:latin typeface="Telegraf"/>
              </a:rPr>
              <a:t>kejahatan</a:t>
            </a:r>
            <a:r>
              <a:rPr lang="en-US" sz="2400" dirty="0">
                <a:solidFill>
                  <a:srgbClr val="FFFFFF"/>
                </a:solidFill>
                <a:latin typeface="Telegraf"/>
              </a:rPr>
              <a:t> dan </a:t>
            </a:r>
            <a:r>
              <a:rPr lang="en-US" sz="2400" dirty="0" err="1">
                <a:solidFill>
                  <a:srgbClr val="FFFFFF"/>
                </a:solidFill>
                <a:latin typeface="Telegraf"/>
              </a:rPr>
              <a:t>pelaku</a:t>
            </a:r>
            <a:r>
              <a:rPr lang="en-US" sz="2400" dirty="0">
                <a:solidFill>
                  <a:srgbClr val="FFFFFF"/>
                </a:solidFill>
                <a:latin typeface="Telegraf"/>
              </a:rPr>
              <a:t> </a:t>
            </a:r>
            <a:r>
              <a:rPr lang="en-US" sz="2400" dirty="0" err="1">
                <a:solidFill>
                  <a:srgbClr val="FFFFFF"/>
                </a:solidFill>
                <a:latin typeface="Telegraf"/>
              </a:rPr>
              <a:t>kejahatan</a:t>
            </a:r>
            <a:r>
              <a:rPr lang="en-US" sz="2400" dirty="0">
                <a:solidFill>
                  <a:srgbClr val="FFFFFF"/>
                </a:solidFill>
                <a:latin typeface="Telegraf"/>
              </a:rPr>
              <a:t> </a:t>
            </a:r>
            <a:r>
              <a:rPr lang="en-US" sz="2400" dirty="0" err="1">
                <a:solidFill>
                  <a:srgbClr val="FFFFFF"/>
                </a:solidFill>
                <a:latin typeface="Telegraf"/>
              </a:rPr>
              <a:t>tersebut</a:t>
            </a:r>
            <a:r>
              <a:rPr lang="en-US" sz="2400" dirty="0">
                <a:solidFill>
                  <a:srgbClr val="FFFFFF"/>
                </a:solidFill>
                <a:latin typeface="Telegraf"/>
              </a:rPr>
              <a:t> </a:t>
            </a:r>
            <a:r>
              <a:rPr lang="en-US" sz="2400" dirty="0" err="1">
                <a:solidFill>
                  <a:srgbClr val="FFFFFF"/>
                </a:solidFill>
                <a:latin typeface="Telegraf"/>
              </a:rPr>
              <a:t>terindentifikasi</a:t>
            </a:r>
            <a:r>
              <a:rPr lang="en-US" sz="2400" dirty="0">
                <a:solidFill>
                  <a:srgbClr val="FFFFFF"/>
                </a:solidFill>
                <a:latin typeface="Telegraf"/>
              </a:rPr>
              <a:t>)</a:t>
            </a: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Pastikan</a:t>
            </a:r>
            <a:r>
              <a:rPr lang="en-US" sz="2400" dirty="0">
                <a:solidFill>
                  <a:srgbClr val="FFFFFF"/>
                </a:solidFill>
                <a:latin typeface="Telegraf"/>
              </a:rPr>
              <a:t> </a:t>
            </a:r>
            <a:r>
              <a:rPr lang="en-US" sz="2400" dirty="0" err="1">
                <a:solidFill>
                  <a:srgbClr val="FFFFFF"/>
                </a:solidFill>
                <a:latin typeface="Telegraf"/>
              </a:rPr>
              <a:t>bahwa</a:t>
            </a:r>
            <a:r>
              <a:rPr lang="en-US" sz="2400" dirty="0">
                <a:solidFill>
                  <a:srgbClr val="FFFFFF"/>
                </a:solidFill>
                <a:latin typeface="Telegraf"/>
              </a:rPr>
              <a:t> para investigator </a:t>
            </a:r>
            <a:r>
              <a:rPr lang="en-US" sz="2400" dirty="0" err="1">
                <a:solidFill>
                  <a:srgbClr val="FFFFFF"/>
                </a:solidFill>
                <a:latin typeface="Telegraf"/>
              </a:rPr>
              <a:t>mengerti</a:t>
            </a:r>
            <a:r>
              <a:rPr lang="en-US" sz="2400" dirty="0">
                <a:solidFill>
                  <a:srgbClr val="FFFFFF"/>
                </a:solidFill>
                <a:latin typeface="Telegraf"/>
              </a:rPr>
              <a:t> </a:t>
            </a:r>
            <a:r>
              <a:rPr lang="en-US" sz="2400" dirty="0" err="1">
                <a:solidFill>
                  <a:srgbClr val="FFFFFF"/>
                </a:solidFill>
                <a:latin typeface="Telegraf"/>
              </a:rPr>
              <a:t>hak-hak</a:t>
            </a:r>
            <a:r>
              <a:rPr lang="en-US" sz="2400" dirty="0">
                <a:solidFill>
                  <a:srgbClr val="FFFFFF"/>
                </a:solidFill>
                <a:latin typeface="Telegraf"/>
              </a:rPr>
              <a:t> </a:t>
            </a:r>
            <a:r>
              <a:rPr lang="en-US" sz="2400" dirty="0" err="1">
                <a:solidFill>
                  <a:srgbClr val="FFFFFF"/>
                </a:solidFill>
                <a:latin typeface="Telegraf"/>
              </a:rPr>
              <a:t>asasi</a:t>
            </a:r>
            <a:r>
              <a:rPr lang="en-US" sz="2400" dirty="0">
                <a:solidFill>
                  <a:srgbClr val="FFFFFF"/>
                </a:solidFill>
                <a:latin typeface="Telegraf"/>
              </a:rPr>
              <a:t> </a:t>
            </a:r>
            <a:r>
              <a:rPr lang="en-US" sz="2400" dirty="0" err="1">
                <a:solidFill>
                  <a:srgbClr val="FFFFFF"/>
                </a:solidFill>
                <a:latin typeface="Telegraf"/>
              </a:rPr>
              <a:t>pegawai</a:t>
            </a:r>
            <a:r>
              <a:rPr lang="en-US" sz="2400" dirty="0">
                <a:solidFill>
                  <a:srgbClr val="FFFFFF"/>
                </a:solidFill>
                <a:latin typeface="Telegraf"/>
              </a:rPr>
              <a:t> dan </a:t>
            </a:r>
            <a:r>
              <a:rPr lang="en-US" sz="2400" dirty="0" err="1">
                <a:solidFill>
                  <a:srgbClr val="FFFFFF"/>
                </a:solidFill>
                <a:latin typeface="Telegraf"/>
              </a:rPr>
              <a:t>senantiasa</a:t>
            </a:r>
            <a:r>
              <a:rPr lang="en-US" sz="2400" dirty="0">
                <a:solidFill>
                  <a:srgbClr val="FFFFFF"/>
                </a:solidFill>
                <a:latin typeface="Telegraf"/>
              </a:rPr>
              <a:t> </a:t>
            </a:r>
            <a:r>
              <a:rPr lang="en-US" sz="2400" dirty="0" err="1">
                <a:solidFill>
                  <a:srgbClr val="FFFFFF"/>
                </a:solidFill>
                <a:latin typeface="Telegraf"/>
              </a:rPr>
              <a:t>menghormatinya</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Liput</a:t>
            </a:r>
            <a:r>
              <a:rPr lang="en-US" sz="2400" dirty="0">
                <a:solidFill>
                  <a:srgbClr val="FFFFFF"/>
                </a:solidFill>
                <a:latin typeface="Telegraf"/>
              </a:rPr>
              <a:t> </a:t>
            </a:r>
            <a:r>
              <a:rPr lang="en-US" sz="2400" dirty="0" err="1">
                <a:solidFill>
                  <a:srgbClr val="FFFFFF"/>
                </a:solidFill>
                <a:latin typeface="Telegraf"/>
              </a:rPr>
              <a:t>seluruh</a:t>
            </a:r>
            <a:r>
              <a:rPr lang="en-US" sz="2400" dirty="0">
                <a:solidFill>
                  <a:srgbClr val="FFFFFF"/>
                </a:solidFill>
                <a:latin typeface="Telegraf"/>
              </a:rPr>
              <a:t> </a:t>
            </a:r>
            <a:r>
              <a:rPr lang="en-US" sz="2400" dirty="0" err="1">
                <a:solidFill>
                  <a:srgbClr val="FFFFFF"/>
                </a:solidFill>
                <a:latin typeface="Telegraf"/>
              </a:rPr>
              <a:t>tahapan</a:t>
            </a:r>
            <a:r>
              <a:rPr lang="en-US" sz="2400" dirty="0">
                <a:solidFill>
                  <a:srgbClr val="FFFFFF"/>
                </a:solidFill>
                <a:latin typeface="Telegraf"/>
              </a:rPr>
              <a:t> </a:t>
            </a:r>
            <a:r>
              <a:rPr lang="en-US" sz="2400" dirty="0" err="1">
                <a:solidFill>
                  <a:srgbClr val="FFFFFF"/>
                </a:solidFill>
                <a:latin typeface="Telegraf"/>
              </a:rPr>
              <a:t>kunci</a:t>
            </a:r>
            <a:r>
              <a:rPr lang="en-US" sz="2400" dirty="0">
                <a:solidFill>
                  <a:srgbClr val="FFFFFF"/>
                </a:solidFill>
                <a:latin typeface="Telegraf"/>
              </a:rPr>
              <a:t> </a:t>
            </a:r>
            <a:r>
              <a:rPr lang="en-US" sz="2400" dirty="0" err="1">
                <a:solidFill>
                  <a:srgbClr val="FFFFFF"/>
                </a:solidFill>
                <a:latin typeface="Telegraf"/>
              </a:rPr>
              <a:t>dalam</a:t>
            </a:r>
            <a:r>
              <a:rPr lang="en-US" sz="2400" dirty="0">
                <a:solidFill>
                  <a:srgbClr val="FFFFFF"/>
                </a:solidFill>
                <a:latin typeface="Telegraf"/>
              </a:rPr>
              <a:t> proses </a:t>
            </a:r>
            <a:r>
              <a:rPr lang="en-US" sz="2400" dirty="0" err="1">
                <a:solidFill>
                  <a:srgbClr val="FFFFFF"/>
                </a:solidFill>
                <a:latin typeface="Telegraf"/>
              </a:rPr>
              <a:t>investigasi</a:t>
            </a:r>
            <a:r>
              <a:rPr lang="en-US" sz="2400" dirty="0">
                <a:solidFill>
                  <a:srgbClr val="FFFFFF"/>
                </a:solidFill>
                <a:latin typeface="Telegraf"/>
              </a:rPr>
              <a:t>, </a:t>
            </a:r>
            <a:r>
              <a:rPr lang="en-US" sz="2400" dirty="0" err="1">
                <a:solidFill>
                  <a:srgbClr val="FFFFFF"/>
                </a:solidFill>
                <a:latin typeface="Telegraf"/>
              </a:rPr>
              <a:t>termasuk</a:t>
            </a:r>
            <a:r>
              <a:rPr lang="en-US" sz="2400" dirty="0">
                <a:solidFill>
                  <a:srgbClr val="FFFFFF"/>
                </a:solidFill>
                <a:latin typeface="Telegraf"/>
              </a:rPr>
              <a:t> </a:t>
            </a:r>
            <a:r>
              <a:rPr lang="en-US" sz="2400" dirty="0" err="1">
                <a:solidFill>
                  <a:srgbClr val="FFFFFF"/>
                </a:solidFill>
                <a:latin typeface="Telegraf"/>
              </a:rPr>
              <a:t>perencanaan</a:t>
            </a:r>
            <a:r>
              <a:rPr lang="en-US" sz="2400" dirty="0">
                <a:solidFill>
                  <a:srgbClr val="FFFFFF"/>
                </a:solidFill>
                <a:latin typeface="Telegraf"/>
              </a:rPr>
              <a:t> </a:t>
            </a:r>
            <a:r>
              <a:rPr lang="en-US" sz="2400" dirty="0" err="1">
                <a:solidFill>
                  <a:srgbClr val="FFFFFF"/>
                </a:solidFill>
                <a:latin typeface="Telegraf"/>
              </a:rPr>
              <a:t>pengumpulan</a:t>
            </a:r>
            <a:r>
              <a:rPr lang="en-US" sz="2400" dirty="0">
                <a:solidFill>
                  <a:srgbClr val="FFFFFF"/>
                </a:solidFill>
                <a:latin typeface="Telegraf"/>
              </a:rPr>
              <a:t> </a:t>
            </a:r>
            <a:r>
              <a:rPr lang="en-US" sz="2400" dirty="0" err="1">
                <a:solidFill>
                  <a:srgbClr val="FFFFFF"/>
                </a:solidFill>
                <a:latin typeface="Telegraf"/>
              </a:rPr>
              <a:t>bukti</a:t>
            </a:r>
            <a:r>
              <a:rPr lang="en-US" sz="2400" dirty="0">
                <a:solidFill>
                  <a:srgbClr val="FFFFFF"/>
                </a:solidFill>
                <a:latin typeface="Telegraf"/>
              </a:rPr>
              <a:t> dan </a:t>
            </a:r>
            <a:r>
              <a:rPr lang="en-US" sz="2400" dirty="0" err="1">
                <a:solidFill>
                  <a:srgbClr val="FFFFFF"/>
                </a:solidFill>
                <a:latin typeface="Telegraf"/>
              </a:rPr>
              <a:t>barang</a:t>
            </a:r>
            <a:r>
              <a:rPr lang="en-US" sz="2400" dirty="0">
                <a:solidFill>
                  <a:srgbClr val="FFFFFF"/>
                </a:solidFill>
                <a:latin typeface="Telegraf"/>
              </a:rPr>
              <a:t> </a:t>
            </a:r>
            <a:r>
              <a:rPr lang="en-US" sz="2400" dirty="0" err="1">
                <a:solidFill>
                  <a:srgbClr val="FFFFFF"/>
                </a:solidFill>
                <a:latin typeface="Telegraf"/>
              </a:rPr>
              <a:t>bukti</a:t>
            </a:r>
            <a:r>
              <a:rPr lang="en-US" sz="2400" dirty="0">
                <a:solidFill>
                  <a:srgbClr val="FFFFFF"/>
                </a:solidFill>
                <a:latin typeface="Telegraf"/>
              </a:rPr>
              <a:t>, </a:t>
            </a:r>
            <a:r>
              <a:rPr lang="en-US" sz="2400" dirty="0" err="1">
                <a:solidFill>
                  <a:srgbClr val="FFFFFF"/>
                </a:solidFill>
                <a:latin typeface="Telegraf"/>
              </a:rPr>
              <a:t>wawancara</a:t>
            </a:r>
            <a:r>
              <a:rPr lang="en-US" sz="2400" dirty="0">
                <a:solidFill>
                  <a:srgbClr val="FFFFFF"/>
                </a:solidFill>
                <a:latin typeface="Telegraf"/>
              </a:rPr>
              <a:t>, </a:t>
            </a:r>
            <a:r>
              <a:rPr lang="en-US" sz="2400" dirty="0" err="1">
                <a:solidFill>
                  <a:srgbClr val="FFFFFF"/>
                </a:solidFill>
                <a:latin typeface="Telegraf"/>
              </a:rPr>
              <a:t>kontak</a:t>
            </a:r>
            <a:r>
              <a:rPr lang="en-US" sz="2400" dirty="0">
                <a:solidFill>
                  <a:srgbClr val="FFFFFF"/>
                </a:solidFill>
                <a:latin typeface="Telegraf"/>
              </a:rPr>
              <a:t> </a:t>
            </a:r>
            <a:r>
              <a:rPr lang="en-US" sz="2400" dirty="0" err="1">
                <a:solidFill>
                  <a:srgbClr val="FFFFFF"/>
                </a:solidFill>
                <a:latin typeface="Telegraf"/>
              </a:rPr>
              <a:t>dengan</a:t>
            </a:r>
            <a:r>
              <a:rPr lang="en-US" sz="2400" dirty="0">
                <a:solidFill>
                  <a:srgbClr val="FFFFFF"/>
                </a:solidFill>
                <a:latin typeface="Telegraf"/>
              </a:rPr>
              <a:t> </a:t>
            </a:r>
            <a:r>
              <a:rPr lang="en-US" sz="2400" dirty="0" err="1">
                <a:solidFill>
                  <a:srgbClr val="FFFFFF"/>
                </a:solidFill>
                <a:latin typeface="Telegraf"/>
              </a:rPr>
              <a:t>pihak</a:t>
            </a:r>
            <a:r>
              <a:rPr lang="en-US" sz="2400" dirty="0">
                <a:solidFill>
                  <a:srgbClr val="FFFFFF"/>
                </a:solidFill>
                <a:latin typeface="Telegraf"/>
              </a:rPr>
              <a:t> </a:t>
            </a:r>
            <a:r>
              <a:rPr lang="en-US" sz="2400" dirty="0" err="1">
                <a:solidFill>
                  <a:srgbClr val="FFFFFF"/>
                </a:solidFill>
                <a:latin typeface="Telegraf"/>
              </a:rPr>
              <a:t>ketiga</a:t>
            </a:r>
            <a:r>
              <a:rPr lang="en-US" sz="2400" dirty="0">
                <a:solidFill>
                  <a:srgbClr val="FFFFFF"/>
                </a:solidFill>
                <a:latin typeface="Telegraf"/>
              </a:rPr>
              <a:t>, </a:t>
            </a:r>
            <a:r>
              <a:rPr lang="en-US" sz="2400" dirty="0" err="1">
                <a:solidFill>
                  <a:srgbClr val="FFFFFF"/>
                </a:solidFill>
                <a:latin typeface="Telegraf"/>
              </a:rPr>
              <a:t>pengamanan</a:t>
            </a:r>
            <a:r>
              <a:rPr lang="en-US" sz="2400" dirty="0">
                <a:solidFill>
                  <a:srgbClr val="FFFFFF"/>
                </a:solidFill>
                <a:latin typeface="Telegraf"/>
              </a:rPr>
              <a:t> </a:t>
            </a:r>
            <a:r>
              <a:rPr lang="en-US" sz="2400" dirty="0" err="1">
                <a:solidFill>
                  <a:srgbClr val="FFFFFF"/>
                </a:solidFill>
                <a:latin typeface="Telegraf"/>
              </a:rPr>
              <a:t>mengenai</a:t>
            </a:r>
            <a:r>
              <a:rPr lang="en-US" sz="2400" dirty="0">
                <a:solidFill>
                  <a:srgbClr val="FFFFFF"/>
                </a:solidFill>
                <a:latin typeface="Telegraf"/>
              </a:rPr>
              <a:t> </a:t>
            </a:r>
            <a:r>
              <a:rPr lang="en-US" sz="2400" dirty="0" err="1">
                <a:solidFill>
                  <a:srgbClr val="FFFFFF"/>
                </a:solidFill>
                <a:latin typeface="Telegraf"/>
              </a:rPr>
              <a:t>hal-hal</a:t>
            </a:r>
            <a:r>
              <a:rPr lang="en-US" sz="2400" dirty="0">
                <a:solidFill>
                  <a:srgbClr val="FFFFFF"/>
                </a:solidFill>
                <a:latin typeface="Telegraf"/>
              </a:rPr>
              <a:t> yang </a:t>
            </a:r>
            <a:r>
              <a:rPr lang="en-US" sz="2400" dirty="0" err="1">
                <a:solidFill>
                  <a:srgbClr val="FFFFFF"/>
                </a:solidFill>
                <a:latin typeface="Telegraf"/>
              </a:rPr>
              <a:t>bersifat</a:t>
            </a:r>
            <a:r>
              <a:rPr lang="en-US" sz="2400" dirty="0">
                <a:solidFill>
                  <a:srgbClr val="FFFFFF"/>
                </a:solidFill>
                <a:latin typeface="Telegraf"/>
              </a:rPr>
              <a:t> </a:t>
            </a:r>
            <a:r>
              <a:rPr lang="en-US" sz="2400" dirty="0" err="1">
                <a:solidFill>
                  <a:srgbClr val="FFFFFF"/>
                </a:solidFill>
                <a:latin typeface="Telegraf"/>
              </a:rPr>
              <a:t>rahasia</a:t>
            </a:r>
            <a:r>
              <a:rPr lang="en-US" sz="2400" dirty="0">
                <a:solidFill>
                  <a:srgbClr val="FFFFFF"/>
                </a:solidFill>
                <a:latin typeface="Telegraf"/>
              </a:rPr>
              <a:t>, </a:t>
            </a:r>
            <a:r>
              <a:rPr lang="en-US" sz="2400" dirty="0" err="1">
                <a:solidFill>
                  <a:srgbClr val="FFFFFF"/>
                </a:solidFill>
                <a:latin typeface="Telegraf"/>
              </a:rPr>
              <a:t>ikut</a:t>
            </a:r>
            <a:r>
              <a:rPr lang="en-US" sz="2400" dirty="0">
                <a:solidFill>
                  <a:srgbClr val="FFFFFF"/>
                </a:solidFill>
                <a:latin typeface="Telegraf"/>
              </a:rPr>
              <a:t> tata </a:t>
            </a:r>
            <a:r>
              <a:rPr lang="en-US" sz="2400" dirty="0" err="1">
                <a:solidFill>
                  <a:srgbClr val="FFFFFF"/>
                </a:solidFill>
                <a:latin typeface="Telegraf"/>
              </a:rPr>
              <a:t>cara</a:t>
            </a:r>
            <a:r>
              <a:rPr lang="en-US" sz="2400" dirty="0">
                <a:solidFill>
                  <a:srgbClr val="FFFFFF"/>
                </a:solidFill>
                <a:latin typeface="Telegraf"/>
              </a:rPr>
              <a:t> </a:t>
            </a:r>
            <a:r>
              <a:rPr lang="en-US" sz="2400" dirty="0" err="1">
                <a:solidFill>
                  <a:srgbClr val="FFFFFF"/>
                </a:solidFill>
                <a:latin typeface="Telegraf"/>
              </a:rPr>
              <a:t>atau</a:t>
            </a:r>
            <a:r>
              <a:rPr lang="en-US" sz="2400" dirty="0">
                <a:solidFill>
                  <a:srgbClr val="FFFFFF"/>
                </a:solidFill>
                <a:latin typeface="Telegraf"/>
              </a:rPr>
              <a:t> </a:t>
            </a:r>
            <a:r>
              <a:rPr lang="en-US" sz="2400" dirty="0" err="1">
                <a:solidFill>
                  <a:srgbClr val="FFFFFF"/>
                </a:solidFill>
                <a:latin typeface="Telegraf"/>
              </a:rPr>
              <a:t>protokol</a:t>
            </a:r>
            <a:r>
              <a:rPr lang="en-US" sz="2400" dirty="0">
                <a:solidFill>
                  <a:srgbClr val="FFFFFF"/>
                </a:solidFill>
                <a:latin typeface="Telegraf"/>
              </a:rPr>
              <a:t>, </a:t>
            </a:r>
            <a:r>
              <a:rPr lang="en-US" sz="2400" dirty="0" err="1">
                <a:solidFill>
                  <a:srgbClr val="FFFFFF"/>
                </a:solidFill>
                <a:latin typeface="Telegraf"/>
              </a:rPr>
              <a:t>dokumentasi</a:t>
            </a:r>
            <a:r>
              <a:rPr lang="en-US" sz="2400" dirty="0">
                <a:solidFill>
                  <a:srgbClr val="FFFFFF"/>
                </a:solidFill>
                <a:latin typeface="Telegraf"/>
              </a:rPr>
              <a:t> dan </a:t>
            </a:r>
            <a:r>
              <a:rPr lang="en-US" sz="2400" dirty="0" err="1">
                <a:solidFill>
                  <a:srgbClr val="FFFFFF"/>
                </a:solidFill>
                <a:latin typeface="Telegraf"/>
              </a:rPr>
              <a:t>penyelenggara</a:t>
            </a:r>
            <a:r>
              <a:rPr lang="en-US" sz="2400" dirty="0">
                <a:solidFill>
                  <a:srgbClr val="FFFFFF"/>
                </a:solidFill>
                <a:latin typeface="Telegraf"/>
              </a:rPr>
              <a:t> </a:t>
            </a:r>
            <a:r>
              <a:rPr lang="en-US" sz="2400" dirty="0" err="1">
                <a:solidFill>
                  <a:srgbClr val="FFFFFF"/>
                </a:solidFill>
                <a:latin typeface="Telegraf"/>
              </a:rPr>
              <a:t>catatan</a:t>
            </a:r>
            <a:r>
              <a:rPr lang="en-US" sz="2400" dirty="0">
                <a:solidFill>
                  <a:srgbClr val="FFFFFF"/>
                </a:solidFill>
                <a:latin typeface="Telegraf"/>
              </a:rPr>
              <a:t>, </a:t>
            </a:r>
            <a:r>
              <a:rPr lang="en-US" sz="2400" dirty="0" err="1">
                <a:solidFill>
                  <a:srgbClr val="FFFFFF"/>
                </a:solidFill>
                <a:latin typeface="Telegraf"/>
              </a:rPr>
              <a:t>melibatkan</a:t>
            </a:r>
            <a:r>
              <a:rPr lang="en-US" sz="2400" dirty="0">
                <a:solidFill>
                  <a:srgbClr val="FFFFFF"/>
                </a:solidFill>
                <a:latin typeface="Telegraf"/>
              </a:rPr>
              <a:t> dan/</a:t>
            </a:r>
            <a:r>
              <a:rPr lang="en-US" sz="2400" dirty="0" err="1">
                <a:solidFill>
                  <a:srgbClr val="FFFFFF"/>
                </a:solidFill>
                <a:latin typeface="Telegraf"/>
              </a:rPr>
              <a:t>atau</a:t>
            </a:r>
            <a:r>
              <a:rPr lang="en-US" sz="2400" dirty="0">
                <a:solidFill>
                  <a:srgbClr val="FFFFFF"/>
                </a:solidFill>
                <a:latin typeface="Telegraf"/>
              </a:rPr>
              <a:t> </a:t>
            </a:r>
            <a:r>
              <a:rPr lang="en-US" sz="2400" dirty="0" err="1">
                <a:solidFill>
                  <a:srgbClr val="FFFFFF"/>
                </a:solidFill>
                <a:latin typeface="Telegraf"/>
              </a:rPr>
              <a:t>melapor</a:t>
            </a:r>
            <a:r>
              <a:rPr lang="en-US" sz="2400" dirty="0">
                <a:solidFill>
                  <a:srgbClr val="FFFFFF"/>
                </a:solidFill>
                <a:latin typeface="Telegraf"/>
              </a:rPr>
              <a:t> </a:t>
            </a:r>
            <a:r>
              <a:rPr lang="en-US" sz="2400" dirty="0" err="1">
                <a:solidFill>
                  <a:srgbClr val="FFFFFF"/>
                </a:solidFill>
                <a:latin typeface="Telegraf"/>
              </a:rPr>
              <a:t>ke</a:t>
            </a:r>
            <a:r>
              <a:rPr lang="en-US" sz="2400" dirty="0">
                <a:solidFill>
                  <a:srgbClr val="FFFFFF"/>
                </a:solidFill>
                <a:latin typeface="Telegraf"/>
              </a:rPr>
              <a:t> </a:t>
            </a:r>
            <a:r>
              <a:rPr lang="en-US" sz="2400" dirty="0" err="1">
                <a:solidFill>
                  <a:srgbClr val="FFFFFF"/>
                </a:solidFill>
                <a:latin typeface="Telegraf"/>
              </a:rPr>
              <a:t>polisi</a:t>
            </a:r>
            <a:r>
              <a:rPr lang="en-US" sz="2400" dirty="0">
                <a:solidFill>
                  <a:srgbClr val="FFFFFF"/>
                </a:solidFill>
                <a:latin typeface="Telegraf"/>
              </a:rPr>
              <a:t>, </a:t>
            </a:r>
            <a:r>
              <a:rPr lang="en-US" sz="2400" dirty="0" err="1">
                <a:solidFill>
                  <a:srgbClr val="FFFFFF"/>
                </a:solidFill>
                <a:latin typeface="Telegraf"/>
              </a:rPr>
              <a:t>kewajiban</a:t>
            </a:r>
            <a:r>
              <a:rPr lang="en-US" sz="2400" dirty="0">
                <a:solidFill>
                  <a:srgbClr val="FFFFFF"/>
                </a:solidFill>
                <a:latin typeface="Telegraf"/>
              </a:rPr>
              <a:t> </a:t>
            </a:r>
            <a:r>
              <a:rPr lang="en-US" sz="2400" dirty="0" err="1">
                <a:solidFill>
                  <a:srgbClr val="FFFFFF"/>
                </a:solidFill>
                <a:latin typeface="Telegraf"/>
              </a:rPr>
              <a:t>hukum</a:t>
            </a:r>
            <a:r>
              <a:rPr lang="en-US" sz="2400" dirty="0">
                <a:solidFill>
                  <a:srgbClr val="FFFFFF"/>
                </a:solidFill>
                <a:latin typeface="Telegraf"/>
              </a:rPr>
              <a:t>, dan </a:t>
            </a:r>
            <a:r>
              <a:rPr lang="en-US" sz="2400" dirty="0" err="1">
                <a:solidFill>
                  <a:srgbClr val="FFFFFF"/>
                </a:solidFill>
                <a:latin typeface="Telegraf"/>
              </a:rPr>
              <a:t>persyaratan</a:t>
            </a:r>
            <a:r>
              <a:rPr lang="en-US" sz="2400" dirty="0">
                <a:solidFill>
                  <a:srgbClr val="FFFFFF"/>
                </a:solidFill>
                <a:latin typeface="Telegraf"/>
              </a:rPr>
              <a:t> </a:t>
            </a:r>
            <a:r>
              <a:rPr lang="en-US" sz="2400" dirty="0" err="1">
                <a:solidFill>
                  <a:srgbClr val="FFFFFF"/>
                </a:solidFill>
                <a:latin typeface="Telegraf"/>
              </a:rPr>
              <a:t>mengenai</a:t>
            </a:r>
            <a:r>
              <a:rPr lang="en-US" sz="2400" dirty="0">
                <a:solidFill>
                  <a:srgbClr val="FFFFFF"/>
                </a:solidFill>
                <a:latin typeface="Telegraf"/>
              </a:rPr>
              <a:t> </a:t>
            </a:r>
            <a:r>
              <a:rPr lang="en-US" sz="2400" dirty="0" err="1">
                <a:solidFill>
                  <a:srgbClr val="FFFFFF"/>
                </a:solidFill>
                <a:latin typeface="Telegraf"/>
              </a:rPr>
              <a:t>pelaporan</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p:txBody>
      </p:sp>
      <p:sp>
        <p:nvSpPr>
          <p:cNvPr id="4" name="TextBox 4"/>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5" name="TextBox 5"/>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58300"/>
            <a:ext cx="18863518" cy="6178474"/>
            <a:chOff x="0" y="0"/>
            <a:chExt cx="4968169" cy="1627252"/>
          </a:xfrm>
        </p:grpSpPr>
        <p:sp>
          <p:nvSpPr>
            <p:cNvPr id="3" name="Freeform 3"/>
            <p:cNvSpPr/>
            <p:nvPr/>
          </p:nvSpPr>
          <p:spPr>
            <a:xfrm>
              <a:off x="0" y="0"/>
              <a:ext cx="4968170" cy="1627252"/>
            </a:xfrm>
            <a:custGeom>
              <a:avLst/>
              <a:gdLst/>
              <a:ahLst/>
              <a:cxnLst/>
              <a:rect l="l" t="t" r="r" b="b"/>
              <a:pathLst>
                <a:path w="4968170" h="1627252">
                  <a:moveTo>
                    <a:pt x="0" y="0"/>
                  </a:moveTo>
                  <a:lnTo>
                    <a:pt x="4968170" y="0"/>
                  </a:lnTo>
                  <a:lnTo>
                    <a:pt x="4968170" y="1627252"/>
                  </a:lnTo>
                  <a:lnTo>
                    <a:pt x="0" y="1627252"/>
                  </a:lnTo>
                  <a:close/>
                </a:path>
              </a:pathLst>
            </a:custGeom>
            <a:solidFill>
              <a:srgbClr val="0097B2"/>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1680"/>
                </a:lnSpc>
              </a:pPr>
              <a:endParaRPr/>
            </a:p>
          </p:txBody>
        </p:sp>
      </p:grpSp>
      <p:sp>
        <p:nvSpPr>
          <p:cNvPr id="5" name="TextBox 5"/>
          <p:cNvSpPr txBox="1"/>
          <p:nvPr/>
        </p:nvSpPr>
        <p:spPr>
          <a:xfrm>
            <a:off x="206199" y="1128012"/>
            <a:ext cx="18081801" cy="8617744"/>
          </a:xfrm>
          <a:prstGeom prst="rect">
            <a:avLst/>
          </a:prstGeom>
        </p:spPr>
        <p:txBody>
          <a:bodyPr lIns="0" tIns="0" rIns="0" bIns="0" rtlCol="0" anchor="t">
            <a:spAutoFit/>
          </a:bodyPr>
          <a:lstStyle/>
          <a:p>
            <a:pPr>
              <a:lnSpc>
                <a:spcPts val="2815"/>
              </a:lnSpc>
            </a:pPr>
            <a:r>
              <a:rPr lang="en-US" sz="2199" b="1" dirty="0">
                <a:solidFill>
                  <a:srgbClr val="000000"/>
                </a:solidFill>
                <a:latin typeface="Telegraf"/>
              </a:rPr>
              <a:t>B. </a:t>
            </a:r>
            <a:r>
              <a:rPr lang="en-US" sz="2199" b="1" dirty="0" err="1">
                <a:solidFill>
                  <a:srgbClr val="000000"/>
                </a:solidFill>
                <a:latin typeface="Telegraf"/>
              </a:rPr>
              <a:t>Standar</a:t>
            </a:r>
            <a:r>
              <a:rPr lang="en-US" sz="2199" b="1" dirty="0">
                <a:solidFill>
                  <a:srgbClr val="000000"/>
                </a:solidFill>
                <a:latin typeface="Telegraf"/>
              </a:rPr>
              <a:t> </a:t>
            </a:r>
            <a:r>
              <a:rPr lang="en-US" sz="2199" b="1" dirty="0" err="1">
                <a:solidFill>
                  <a:srgbClr val="000000"/>
                </a:solidFill>
                <a:latin typeface="Telegraf"/>
              </a:rPr>
              <a:t>Pelaporan</a:t>
            </a:r>
            <a:endParaRPr lang="en-US" sz="2199" b="1" dirty="0">
              <a:solidFill>
                <a:srgbClr val="000000"/>
              </a:solidFill>
              <a:latin typeface="Telegraf"/>
            </a:endParaRPr>
          </a:p>
          <a:p>
            <a:pPr>
              <a:lnSpc>
                <a:spcPts val="2815"/>
              </a:lnSpc>
            </a:pPr>
            <a:r>
              <a:rPr lang="en-US" sz="2199" dirty="0" err="1">
                <a:solidFill>
                  <a:srgbClr val="000000"/>
                </a:solidFill>
                <a:latin typeface="Telegraf"/>
              </a:rPr>
              <a:t>Mekanisme</a:t>
            </a:r>
            <a:r>
              <a:rPr lang="en-US" sz="2199" dirty="0">
                <a:solidFill>
                  <a:srgbClr val="000000"/>
                </a:solidFill>
                <a:latin typeface="Telegraf"/>
              </a:rPr>
              <a:t> </a:t>
            </a:r>
            <a:r>
              <a:rPr lang="en-US" sz="2199" dirty="0" err="1">
                <a:solidFill>
                  <a:srgbClr val="000000"/>
                </a:solidFill>
                <a:latin typeface="Telegraf"/>
              </a:rPr>
              <a:t>pelaporan</a:t>
            </a:r>
            <a:r>
              <a:rPr lang="en-US" sz="2199" dirty="0">
                <a:solidFill>
                  <a:srgbClr val="000000"/>
                </a:solidFill>
                <a:latin typeface="Telegraf"/>
              </a:rPr>
              <a:t> </a:t>
            </a:r>
            <a:r>
              <a:rPr lang="en-US" sz="2199" dirty="0" err="1">
                <a:solidFill>
                  <a:srgbClr val="000000"/>
                </a:solidFill>
                <a:latin typeface="Telegraf"/>
              </a:rPr>
              <a:t>kejadian</a:t>
            </a:r>
            <a:r>
              <a:rPr lang="en-US" sz="2199" dirty="0">
                <a:solidFill>
                  <a:srgbClr val="000000"/>
                </a:solidFill>
                <a:latin typeface="Telegraf"/>
              </a:rPr>
              <a:t> Fraud </a:t>
            </a:r>
            <a:r>
              <a:rPr lang="en-US" sz="2199" dirty="0" err="1">
                <a:solidFill>
                  <a:srgbClr val="000000"/>
                </a:solidFill>
                <a:latin typeface="Telegraf"/>
              </a:rPr>
              <a:t>kepada</a:t>
            </a:r>
            <a:r>
              <a:rPr lang="en-US" sz="2199" dirty="0">
                <a:solidFill>
                  <a:srgbClr val="000000"/>
                </a:solidFill>
                <a:latin typeface="Telegraf"/>
              </a:rPr>
              <a:t> internal Perusahaan </a:t>
            </a:r>
            <a:r>
              <a:rPr lang="en-US" sz="2199" dirty="0" err="1">
                <a:solidFill>
                  <a:srgbClr val="000000"/>
                </a:solidFill>
                <a:latin typeface="Telegraf"/>
              </a:rPr>
              <a:t>maupun</a:t>
            </a:r>
            <a:r>
              <a:rPr lang="en-US" sz="2199" dirty="0">
                <a:solidFill>
                  <a:srgbClr val="000000"/>
                </a:solidFill>
                <a:latin typeface="Telegraf"/>
              </a:rPr>
              <a:t> </a:t>
            </a:r>
            <a:r>
              <a:rPr lang="en-US" sz="2199" dirty="0" err="1">
                <a:solidFill>
                  <a:srgbClr val="000000"/>
                </a:solidFill>
                <a:latin typeface="Telegraf"/>
              </a:rPr>
              <a:t>kepada</a:t>
            </a:r>
            <a:r>
              <a:rPr lang="en-US" sz="2199" dirty="0">
                <a:solidFill>
                  <a:srgbClr val="000000"/>
                </a:solidFill>
                <a:latin typeface="Telegraf"/>
              </a:rPr>
              <a:t> </a:t>
            </a:r>
            <a:r>
              <a:rPr lang="en-US" sz="2199" dirty="0" err="1">
                <a:solidFill>
                  <a:srgbClr val="000000"/>
                </a:solidFill>
                <a:latin typeface="Telegraf"/>
              </a:rPr>
              <a:t>Otoritas</a:t>
            </a:r>
            <a:r>
              <a:rPr lang="en-US" sz="2199" dirty="0">
                <a:solidFill>
                  <a:srgbClr val="000000"/>
                </a:solidFill>
                <a:latin typeface="Telegraf"/>
              </a:rPr>
              <a:t> Jasa </a:t>
            </a:r>
            <a:r>
              <a:rPr lang="en-US" sz="2199" dirty="0" err="1">
                <a:solidFill>
                  <a:srgbClr val="000000"/>
                </a:solidFill>
                <a:latin typeface="Telegraf"/>
              </a:rPr>
              <a:t>Keuangan</a:t>
            </a:r>
            <a:r>
              <a:rPr lang="en-US" sz="2199" dirty="0">
                <a:solidFill>
                  <a:srgbClr val="000000"/>
                </a:solidFill>
                <a:latin typeface="Telegraf"/>
              </a:rPr>
              <a:t> </a:t>
            </a:r>
            <a:r>
              <a:rPr lang="en-US" sz="2199" dirty="0" err="1">
                <a:solidFill>
                  <a:srgbClr val="000000"/>
                </a:solidFill>
                <a:latin typeface="Telegraf"/>
              </a:rPr>
              <a:t>meliputi</a:t>
            </a:r>
            <a:r>
              <a:rPr lang="en-US" sz="2199" dirty="0">
                <a:solidFill>
                  <a:srgbClr val="000000"/>
                </a:solidFill>
                <a:latin typeface="Telegraf"/>
              </a:rPr>
              <a:t> :</a:t>
            </a:r>
          </a:p>
          <a:p>
            <a:pPr>
              <a:lnSpc>
                <a:spcPts val="2815"/>
              </a:lnSpc>
            </a:pPr>
            <a:endParaRPr lang="en-US" sz="2199" dirty="0">
              <a:solidFill>
                <a:srgbClr val="000000"/>
              </a:solidFill>
              <a:latin typeface="Telegraf"/>
            </a:endParaRPr>
          </a:p>
          <a:p>
            <a:pPr marL="474979" lvl="1" indent="-237490">
              <a:lnSpc>
                <a:spcPts val="2815"/>
              </a:lnSpc>
              <a:buFont typeface="Arial"/>
              <a:buChar char="•"/>
            </a:pPr>
            <a:r>
              <a:rPr lang="en-US" sz="2199" dirty="0" err="1">
                <a:solidFill>
                  <a:srgbClr val="000000"/>
                </a:solidFill>
                <a:latin typeface="Telegraf"/>
              </a:rPr>
              <a:t>Pelaporan</a:t>
            </a:r>
            <a:r>
              <a:rPr lang="en-US" sz="2199" dirty="0">
                <a:solidFill>
                  <a:srgbClr val="000000"/>
                </a:solidFill>
                <a:latin typeface="Telegraf"/>
              </a:rPr>
              <a:t> Fraud </a:t>
            </a:r>
            <a:r>
              <a:rPr lang="en-US" sz="2199" dirty="0" err="1">
                <a:solidFill>
                  <a:srgbClr val="000000"/>
                </a:solidFill>
                <a:latin typeface="Telegraf"/>
              </a:rPr>
              <a:t>secara</a:t>
            </a:r>
            <a:r>
              <a:rPr lang="en-US" sz="2199" dirty="0">
                <a:solidFill>
                  <a:srgbClr val="000000"/>
                </a:solidFill>
                <a:latin typeface="Telegraf"/>
              </a:rPr>
              <a:t> </a:t>
            </a:r>
            <a:r>
              <a:rPr lang="en-US" sz="2199" dirty="0" err="1">
                <a:solidFill>
                  <a:srgbClr val="000000"/>
                </a:solidFill>
                <a:latin typeface="Telegraf"/>
              </a:rPr>
              <a:t>berkala</a:t>
            </a:r>
            <a:r>
              <a:rPr lang="en-US" sz="2199" dirty="0">
                <a:solidFill>
                  <a:srgbClr val="000000"/>
                </a:solidFill>
                <a:latin typeface="Telegraf"/>
              </a:rPr>
              <a:t> </a:t>
            </a:r>
            <a:r>
              <a:rPr lang="en-US" sz="2199" dirty="0" err="1">
                <a:solidFill>
                  <a:srgbClr val="000000"/>
                </a:solidFill>
                <a:latin typeface="Telegraf"/>
              </a:rPr>
              <a:t>kepada</a:t>
            </a:r>
            <a:r>
              <a:rPr lang="en-US" sz="2199" dirty="0">
                <a:solidFill>
                  <a:srgbClr val="000000"/>
                </a:solidFill>
                <a:latin typeface="Telegraf"/>
              </a:rPr>
              <a:t> </a:t>
            </a:r>
            <a:r>
              <a:rPr lang="en-US" sz="2199" dirty="0" err="1">
                <a:solidFill>
                  <a:srgbClr val="000000"/>
                </a:solidFill>
                <a:latin typeface="Telegraf"/>
              </a:rPr>
              <a:t>Komisaris</a:t>
            </a:r>
            <a:r>
              <a:rPr lang="en-US" sz="2199" dirty="0">
                <a:solidFill>
                  <a:srgbClr val="000000"/>
                </a:solidFill>
                <a:latin typeface="Telegraf"/>
              </a:rPr>
              <a:t> dan </a:t>
            </a:r>
            <a:r>
              <a:rPr lang="en-US" sz="2199" dirty="0" err="1">
                <a:solidFill>
                  <a:srgbClr val="000000"/>
                </a:solidFill>
                <a:latin typeface="Telegraf"/>
              </a:rPr>
              <a:t>Otoritas</a:t>
            </a:r>
            <a:r>
              <a:rPr lang="en-US" sz="2199" dirty="0">
                <a:solidFill>
                  <a:srgbClr val="000000"/>
                </a:solidFill>
                <a:latin typeface="Telegraf"/>
              </a:rPr>
              <a:t> Jasa </a:t>
            </a:r>
            <a:r>
              <a:rPr lang="en-US" sz="2199" dirty="0" err="1">
                <a:solidFill>
                  <a:srgbClr val="000000"/>
                </a:solidFill>
                <a:latin typeface="Telegraf"/>
              </a:rPr>
              <a:t>Keuangan</a:t>
            </a:r>
            <a:endParaRPr lang="en-US" sz="2199" dirty="0">
              <a:solidFill>
                <a:srgbClr val="000000"/>
              </a:solidFill>
              <a:latin typeface="Telegraf"/>
            </a:endParaRPr>
          </a:p>
          <a:p>
            <a:pPr marL="474979" lvl="1" indent="-237490">
              <a:lnSpc>
                <a:spcPts val="2815"/>
              </a:lnSpc>
              <a:buFont typeface="Arial"/>
              <a:buChar char="•"/>
            </a:pPr>
            <a:r>
              <a:rPr lang="en-US" sz="2199" dirty="0" err="1">
                <a:solidFill>
                  <a:srgbClr val="000000"/>
                </a:solidFill>
                <a:latin typeface="Telegraf"/>
              </a:rPr>
              <a:t>Laporan</a:t>
            </a:r>
            <a:r>
              <a:rPr lang="en-US" sz="2199" dirty="0">
                <a:solidFill>
                  <a:srgbClr val="000000"/>
                </a:solidFill>
                <a:latin typeface="Telegraf"/>
              </a:rPr>
              <a:t> Strategi Anti Fraud </a:t>
            </a:r>
            <a:r>
              <a:rPr lang="en-US" sz="2199" dirty="0" err="1">
                <a:solidFill>
                  <a:srgbClr val="000000"/>
                </a:solidFill>
                <a:latin typeface="Telegraf"/>
              </a:rPr>
              <a:t>kepada</a:t>
            </a:r>
            <a:r>
              <a:rPr lang="en-US" sz="2199" dirty="0">
                <a:solidFill>
                  <a:srgbClr val="000000"/>
                </a:solidFill>
                <a:latin typeface="Telegraf"/>
              </a:rPr>
              <a:t> </a:t>
            </a:r>
            <a:r>
              <a:rPr lang="en-US" sz="2199" dirty="0" err="1">
                <a:solidFill>
                  <a:srgbClr val="000000"/>
                </a:solidFill>
                <a:latin typeface="Telegraf"/>
              </a:rPr>
              <a:t>Otoritas</a:t>
            </a:r>
            <a:r>
              <a:rPr lang="en-US" sz="2199" dirty="0">
                <a:solidFill>
                  <a:srgbClr val="000000"/>
                </a:solidFill>
                <a:latin typeface="Telegraf"/>
              </a:rPr>
              <a:t> Jasa </a:t>
            </a:r>
            <a:r>
              <a:rPr lang="en-US" sz="2199" dirty="0" err="1">
                <a:solidFill>
                  <a:srgbClr val="000000"/>
                </a:solidFill>
                <a:latin typeface="Telegraf"/>
              </a:rPr>
              <a:t>Keuangan</a:t>
            </a:r>
            <a:r>
              <a:rPr lang="en-US" sz="2199" dirty="0">
                <a:solidFill>
                  <a:srgbClr val="000000"/>
                </a:solidFill>
                <a:latin typeface="Telegraf"/>
              </a:rPr>
              <a:t> </a:t>
            </a:r>
            <a:r>
              <a:rPr lang="en-US" sz="2199" dirty="0" err="1">
                <a:solidFill>
                  <a:srgbClr val="000000"/>
                </a:solidFill>
                <a:latin typeface="Telegraf"/>
              </a:rPr>
              <a:t>sebagai</a:t>
            </a:r>
            <a:r>
              <a:rPr lang="en-US" sz="2199" dirty="0">
                <a:solidFill>
                  <a:srgbClr val="000000"/>
                </a:solidFill>
                <a:latin typeface="Telegraf"/>
              </a:rPr>
              <a:t> </a:t>
            </a:r>
            <a:r>
              <a:rPr lang="en-US" sz="2199" dirty="0" err="1">
                <a:solidFill>
                  <a:srgbClr val="000000"/>
                </a:solidFill>
                <a:latin typeface="Telegraf"/>
              </a:rPr>
              <a:t>berikut</a:t>
            </a:r>
            <a:r>
              <a:rPr lang="en-US" sz="2199" dirty="0">
                <a:solidFill>
                  <a:srgbClr val="000000"/>
                </a:solidFill>
                <a:latin typeface="Telegraf"/>
              </a:rPr>
              <a:t> :</a:t>
            </a:r>
          </a:p>
          <a:p>
            <a:pPr defTabSz="722313">
              <a:lnSpc>
                <a:spcPts val="2815"/>
              </a:lnSpc>
            </a:pPr>
            <a:r>
              <a:rPr lang="en-US" sz="2199" dirty="0">
                <a:solidFill>
                  <a:srgbClr val="000000"/>
                </a:solidFill>
                <a:latin typeface="Telegraf"/>
              </a:rPr>
              <a:t>         -</a:t>
            </a:r>
            <a:r>
              <a:rPr lang="id-ID" sz="2199" dirty="0">
                <a:solidFill>
                  <a:srgbClr val="000000"/>
                </a:solidFill>
                <a:latin typeface="Telegraf"/>
              </a:rPr>
              <a:t> </a:t>
            </a:r>
            <a:r>
              <a:rPr lang="en-US" sz="2199" dirty="0" err="1">
                <a:solidFill>
                  <a:srgbClr val="000000"/>
                </a:solidFill>
                <a:latin typeface="Telegraf"/>
              </a:rPr>
              <a:t>Laporan</a:t>
            </a:r>
            <a:r>
              <a:rPr lang="en-US" sz="2199" dirty="0">
                <a:solidFill>
                  <a:srgbClr val="000000"/>
                </a:solidFill>
                <a:latin typeface="Telegraf"/>
              </a:rPr>
              <a:t> </a:t>
            </a:r>
            <a:r>
              <a:rPr lang="en-US" sz="2199" dirty="0" err="1">
                <a:solidFill>
                  <a:srgbClr val="000000"/>
                </a:solidFill>
                <a:latin typeface="Telegraf"/>
              </a:rPr>
              <a:t>penerapan</a:t>
            </a:r>
            <a:r>
              <a:rPr lang="en-US" sz="2199" dirty="0">
                <a:solidFill>
                  <a:srgbClr val="000000"/>
                </a:solidFill>
                <a:latin typeface="Telegraf"/>
              </a:rPr>
              <a:t> Strategi Anti Fraud </a:t>
            </a:r>
            <a:r>
              <a:rPr lang="en-US" sz="2199" dirty="0" err="1">
                <a:solidFill>
                  <a:srgbClr val="000000"/>
                </a:solidFill>
                <a:latin typeface="Telegraf"/>
              </a:rPr>
              <a:t>sebagai</a:t>
            </a:r>
            <a:r>
              <a:rPr lang="en-US" sz="2199" dirty="0">
                <a:solidFill>
                  <a:srgbClr val="000000"/>
                </a:solidFill>
                <a:latin typeface="Telegraf"/>
              </a:rPr>
              <a:t> </a:t>
            </a:r>
            <a:r>
              <a:rPr lang="en-US" sz="2199" dirty="0" err="1">
                <a:solidFill>
                  <a:srgbClr val="000000"/>
                </a:solidFill>
                <a:latin typeface="Telegraf"/>
              </a:rPr>
              <a:t>bagian</a:t>
            </a:r>
            <a:r>
              <a:rPr lang="en-US" sz="2199" dirty="0">
                <a:solidFill>
                  <a:srgbClr val="000000"/>
                </a:solidFill>
                <a:latin typeface="Telegraf"/>
              </a:rPr>
              <a:t> </a:t>
            </a:r>
            <a:r>
              <a:rPr lang="en-US" sz="2199" dirty="0" err="1">
                <a:solidFill>
                  <a:srgbClr val="000000"/>
                </a:solidFill>
                <a:latin typeface="Telegraf"/>
              </a:rPr>
              <a:t>dalam</a:t>
            </a:r>
            <a:r>
              <a:rPr lang="en-US" sz="2199" dirty="0">
                <a:solidFill>
                  <a:srgbClr val="000000"/>
                </a:solidFill>
                <a:latin typeface="Telegraf"/>
              </a:rPr>
              <a:t> </a:t>
            </a:r>
            <a:r>
              <a:rPr lang="en-US" sz="2199" dirty="0" err="1">
                <a:solidFill>
                  <a:srgbClr val="000000"/>
                </a:solidFill>
                <a:latin typeface="Telegraf"/>
              </a:rPr>
              <a:t>pelaporan</a:t>
            </a:r>
            <a:r>
              <a:rPr lang="en-US" sz="2199" dirty="0">
                <a:solidFill>
                  <a:srgbClr val="000000"/>
                </a:solidFill>
                <a:latin typeface="Telegraf"/>
              </a:rPr>
              <a:t> </a:t>
            </a:r>
            <a:r>
              <a:rPr lang="en-US" sz="2199" dirty="0" err="1">
                <a:solidFill>
                  <a:srgbClr val="000000"/>
                </a:solidFill>
                <a:latin typeface="Telegraf"/>
              </a:rPr>
              <a:t>penerapan</a:t>
            </a:r>
            <a:r>
              <a:rPr lang="en-US" sz="2199" dirty="0">
                <a:solidFill>
                  <a:srgbClr val="000000"/>
                </a:solidFill>
                <a:latin typeface="Telegraf"/>
              </a:rPr>
              <a:t> tata </a:t>
            </a:r>
            <a:r>
              <a:rPr lang="en-US" sz="2199" dirty="0" err="1">
                <a:solidFill>
                  <a:srgbClr val="000000"/>
                </a:solidFill>
                <a:latin typeface="Telegraf"/>
              </a:rPr>
              <a:t>kelola</a:t>
            </a:r>
            <a:r>
              <a:rPr lang="en-US" sz="2199" dirty="0">
                <a:solidFill>
                  <a:srgbClr val="000000"/>
                </a:solidFill>
                <a:latin typeface="Telegraf"/>
              </a:rPr>
              <a:t> </a:t>
            </a:r>
            <a:r>
              <a:rPr lang="en-US" sz="2199" dirty="0" err="1">
                <a:solidFill>
                  <a:srgbClr val="000000"/>
                </a:solidFill>
                <a:latin typeface="Telegraf"/>
              </a:rPr>
              <a:t>perusahaan</a:t>
            </a:r>
            <a:r>
              <a:rPr lang="en-US" sz="2199" dirty="0">
                <a:solidFill>
                  <a:srgbClr val="000000"/>
                </a:solidFill>
                <a:latin typeface="Telegraf"/>
              </a:rPr>
              <a:t> yang </a:t>
            </a:r>
            <a:r>
              <a:rPr lang="en-US" sz="2199" dirty="0" err="1">
                <a:solidFill>
                  <a:srgbClr val="000000"/>
                </a:solidFill>
                <a:latin typeface="Telegraf"/>
              </a:rPr>
              <a:t>baik</a:t>
            </a:r>
            <a:r>
              <a:rPr lang="en-US" sz="2199" dirty="0">
                <a:solidFill>
                  <a:srgbClr val="000000"/>
                </a:solidFill>
                <a:latin typeface="Telegraf"/>
              </a:rPr>
              <a:t> </a:t>
            </a:r>
            <a:r>
              <a:rPr lang="en-US" sz="2199" dirty="0" err="1">
                <a:solidFill>
                  <a:srgbClr val="000000"/>
                </a:solidFill>
                <a:latin typeface="Telegraf"/>
              </a:rPr>
              <a:t>bagi</a:t>
            </a:r>
            <a:r>
              <a:rPr lang="en-US" sz="2199" dirty="0">
                <a:solidFill>
                  <a:srgbClr val="000000"/>
                </a:solidFill>
                <a:latin typeface="Telegraf"/>
              </a:rPr>
              <a:t> </a:t>
            </a:r>
            <a:r>
              <a:rPr lang="id-ID" sz="2199" dirty="0">
                <a:solidFill>
                  <a:srgbClr val="000000"/>
                </a:solidFill>
                <a:latin typeface="Telegraf"/>
              </a:rPr>
              <a:t>	</a:t>
            </a:r>
            <a:r>
              <a:rPr lang="en-US" sz="2199" dirty="0">
                <a:solidFill>
                  <a:srgbClr val="000000"/>
                </a:solidFill>
                <a:latin typeface="Telegraf"/>
              </a:rPr>
              <a:t>Perusahaan </a:t>
            </a:r>
          </a:p>
          <a:p>
            <a:pPr marL="722313" indent="-722313">
              <a:lnSpc>
                <a:spcPts val="2815"/>
              </a:lnSpc>
            </a:pPr>
            <a:r>
              <a:rPr lang="en-US" sz="2199" dirty="0">
                <a:solidFill>
                  <a:srgbClr val="000000"/>
                </a:solidFill>
                <a:latin typeface="Telegraf"/>
              </a:rPr>
              <a:t>         -</a:t>
            </a:r>
            <a:r>
              <a:rPr lang="id-ID" sz="2199" dirty="0">
                <a:solidFill>
                  <a:srgbClr val="000000"/>
                </a:solidFill>
                <a:latin typeface="Telegraf"/>
              </a:rPr>
              <a:t> </a:t>
            </a:r>
            <a:r>
              <a:rPr lang="en-US" sz="2199" dirty="0" err="1">
                <a:solidFill>
                  <a:srgbClr val="000000"/>
                </a:solidFill>
                <a:latin typeface="Telegraf"/>
              </a:rPr>
              <a:t>Laporan</a:t>
            </a:r>
            <a:r>
              <a:rPr lang="en-US" sz="2199" dirty="0">
                <a:solidFill>
                  <a:srgbClr val="000000"/>
                </a:solidFill>
                <a:latin typeface="Telegraf"/>
              </a:rPr>
              <a:t> </a:t>
            </a:r>
            <a:r>
              <a:rPr lang="en-US" sz="2199" dirty="0" err="1">
                <a:solidFill>
                  <a:srgbClr val="000000"/>
                </a:solidFill>
                <a:latin typeface="Telegraf"/>
              </a:rPr>
              <a:t>setiap</a:t>
            </a:r>
            <a:r>
              <a:rPr lang="en-US" sz="2199" dirty="0">
                <a:solidFill>
                  <a:srgbClr val="000000"/>
                </a:solidFill>
                <a:latin typeface="Telegraf"/>
              </a:rPr>
              <a:t> Fraud yang </a:t>
            </a:r>
            <a:r>
              <a:rPr lang="en-US" sz="2199" dirty="0" err="1">
                <a:solidFill>
                  <a:srgbClr val="000000"/>
                </a:solidFill>
                <a:latin typeface="Telegraf"/>
              </a:rPr>
              <a:t>diperkirakan</a:t>
            </a:r>
            <a:r>
              <a:rPr lang="en-US" sz="2199" dirty="0">
                <a:solidFill>
                  <a:srgbClr val="000000"/>
                </a:solidFill>
                <a:latin typeface="Telegraf"/>
              </a:rPr>
              <a:t> </a:t>
            </a:r>
            <a:r>
              <a:rPr lang="en-US" sz="2199" dirty="0" err="1">
                <a:solidFill>
                  <a:srgbClr val="000000"/>
                </a:solidFill>
                <a:latin typeface="Telegraf"/>
              </a:rPr>
              <a:t>berdampak</a:t>
            </a:r>
            <a:r>
              <a:rPr lang="en-US" sz="2199" dirty="0">
                <a:solidFill>
                  <a:srgbClr val="000000"/>
                </a:solidFill>
                <a:latin typeface="Telegraf"/>
              </a:rPr>
              <a:t> </a:t>
            </a:r>
            <a:r>
              <a:rPr lang="en-US" sz="2199" dirty="0" err="1">
                <a:solidFill>
                  <a:srgbClr val="000000"/>
                </a:solidFill>
                <a:latin typeface="Telegraf"/>
              </a:rPr>
              <a:t>negatif</a:t>
            </a:r>
            <a:r>
              <a:rPr lang="en-US" sz="2199" dirty="0">
                <a:solidFill>
                  <a:srgbClr val="000000"/>
                </a:solidFill>
                <a:latin typeface="Telegraf"/>
              </a:rPr>
              <a:t> </a:t>
            </a:r>
            <a:r>
              <a:rPr lang="en-US" sz="2199" dirty="0" err="1">
                <a:solidFill>
                  <a:srgbClr val="000000"/>
                </a:solidFill>
                <a:latin typeface="Telegraf"/>
              </a:rPr>
              <a:t>secara</a:t>
            </a:r>
            <a:r>
              <a:rPr lang="en-US" sz="2199" dirty="0">
                <a:solidFill>
                  <a:srgbClr val="000000"/>
                </a:solidFill>
                <a:latin typeface="Telegraf"/>
              </a:rPr>
              <a:t> </a:t>
            </a:r>
            <a:r>
              <a:rPr lang="en-US" sz="2199" dirty="0" err="1">
                <a:solidFill>
                  <a:srgbClr val="000000"/>
                </a:solidFill>
                <a:latin typeface="Telegraf"/>
              </a:rPr>
              <a:t>signifikan</a:t>
            </a:r>
            <a:r>
              <a:rPr lang="en-US" sz="2199" dirty="0">
                <a:solidFill>
                  <a:srgbClr val="000000"/>
                </a:solidFill>
                <a:latin typeface="Telegraf"/>
              </a:rPr>
              <a:t> </a:t>
            </a:r>
            <a:r>
              <a:rPr lang="en-US" sz="2199" dirty="0" err="1">
                <a:solidFill>
                  <a:srgbClr val="000000"/>
                </a:solidFill>
                <a:latin typeface="Telegraf"/>
              </a:rPr>
              <a:t>terhadap</a:t>
            </a:r>
            <a:r>
              <a:rPr lang="en-US" sz="2199" dirty="0">
                <a:solidFill>
                  <a:srgbClr val="000000"/>
                </a:solidFill>
                <a:latin typeface="Telegraf"/>
              </a:rPr>
              <a:t> Perusahaan</a:t>
            </a:r>
          </a:p>
          <a:p>
            <a:pPr>
              <a:lnSpc>
                <a:spcPts val="2815"/>
              </a:lnSpc>
            </a:pPr>
            <a:endParaRPr lang="en-US" sz="2199" dirty="0">
              <a:solidFill>
                <a:srgbClr val="000000"/>
              </a:solidFill>
              <a:latin typeface="Telegraf"/>
            </a:endParaRPr>
          </a:p>
          <a:p>
            <a:pPr marL="474979" lvl="1" indent="-237490">
              <a:lnSpc>
                <a:spcPts val="2815"/>
              </a:lnSpc>
              <a:buFont typeface="Arial"/>
              <a:buChar char="•"/>
            </a:pPr>
            <a:r>
              <a:rPr lang="en-US" sz="2199" dirty="0">
                <a:solidFill>
                  <a:srgbClr val="000000"/>
                </a:solidFill>
                <a:latin typeface="Telegraf"/>
              </a:rPr>
              <a:t>Fraud yang </a:t>
            </a:r>
            <a:r>
              <a:rPr lang="en-US" sz="2199" dirty="0" err="1">
                <a:solidFill>
                  <a:srgbClr val="000000"/>
                </a:solidFill>
                <a:latin typeface="Telegraf"/>
              </a:rPr>
              <a:t>dikategorikan</a:t>
            </a:r>
            <a:r>
              <a:rPr lang="en-US" sz="2199" dirty="0">
                <a:solidFill>
                  <a:srgbClr val="000000"/>
                </a:solidFill>
                <a:latin typeface="Telegraf"/>
              </a:rPr>
              <a:t> </a:t>
            </a:r>
            <a:r>
              <a:rPr lang="en-US" sz="2199" dirty="0" err="1">
                <a:solidFill>
                  <a:srgbClr val="000000"/>
                </a:solidFill>
                <a:latin typeface="Telegraf"/>
              </a:rPr>
              <a:t>memiliki</a:t>
            </a:r>
            <a:r>
              <a:rPr lang="en-US" sz="2199" dirty="0">
                <a:solidFill>
                  <a:srgbClr val="000000"/>
                </a:solidFill>
                <a:latin typeface="Telegraf"/>
              </a:rPr>
              <a:t> </a:t>
            </a:r>
            <a:r>
              <a:rPr lang="en-US" sz="2199" dirty="0" err="1">
                <a:solidFill>
                  <a:srgbClr val="000000"/>
                </a:solidFill>
                <a:latin typeface="Telegraf"/>
              </a:rPr>
              <a:t>dampak</a:t>
            </a:r>
            <a:r>
              <a:rPr lang="en-US" sz="2199" dirty="0">
                <a:solidFill>
                  <a:srgbClr val="000000"/>
                </a:solidFill>
                <a:latin typeface="Telegraf"/>
              </a:rPr>
              <a:t> </a:t>
            </a:r>
            <a:r>
              <a:rPr lang="en-US" sz="2199" dirty="0" err="1">
                <a:solidFill>
                  <a:srgbClr val="000000"/>
                </a:solidFill>
                <a:latin typeface="Telegraf"/>
              </a:rPr>
              <a:t>negatif</a:t>
            </a:r>
            <a:r>
              <a:rPr lang="en-US" sz="2199" dirty="0">
                <a:solidFill>
                  <a:srgbClr val="000000"/>
                </a:solidFill>
                <a:latin typeface="Telegraf"/>
              </a:rPr>
              <a:t> dan </a:t>
            </a:r>
            <a:r>
              <a:rPr lang="en-US" sz="2199" dirty="0" err="1">
                <a:solidFill>
                  <a:srgbClr val="000000"/>
                </a:solidFill>
                <a:latin typeface="Telegraf"/>
              </a:rPr>
              <a:t>signifikan</a:t>
            </a:r>
            <a:r>
              <a:rPr lang="en-US" sz="2199" dirty="0">
                <a:solidFill>
                  <a:srgbClr val="000000"/>
                </a:solidFill>
                <a:latin typeface="Telegraf"/>
              </a:rPr>
              <a:t> </a:t>
            </a:r>
            <a:r>
              <a:rPr lang="en-US" sz="2199" dirty="0" err="1">
                <a:solidFill>
                  <a:srgbClr val="000000"/>
                </a:solidFill>
                <a:latin typeface="Telegraf"/>
              </a:rPr>
              <a:t>terhadap</a:t>
            </a:r>
            <a:r>
              <a:rPr lang="en-US" sz="2199" dirty="0">
                <a:solidFill>
                  <a:srgbClr val="000000"/>
                </a:solidFill>
                <a:latin typeface="Telegraf"/>
              </a:rPr>
              <a:t> Perusahaan </a:t>
            </a:r>
            <a:r>
              <a:rPr lang="en-US" sz="2199" dirty="0" err="1">
                <a:solidFill>
                  <a:srgbClr val="000000"/>
                </a:solidFill>
                <a:latin typeface="Telegraf"/>
              </a:rPr>
              <a:t>adalah</a:t>
            </a:r>
            <a:r>
              <a:rPr lang="en-US" sz="2199" dirty="0">
                <a:solidFill>
                  <a:srgbClr val="000000"/>
                </a:solidFill>
                <a:latin typeface="Telegraf"/>
              </a:rPr>
              <a:t> </a:t>
            </a:r>
            <a:r>
              <a:rPr lang="en-US" sz="2199" dirty="0" err="1">
                <a:solidFill>
                  <a:srgbClr val="000000"/>
                </a:solidFill>
                <a:latin typeface="Telegraf"/>
              </a:rPr>
              <a:t>tindakan</a:t>
            </a:r>
            <a:r>
              <a:rPr lang="en-US" sz="2199" dirty="0">
                <a:solidFill>
                  <a:srgbClr val="000000"/>
                </a:solidFill>
                <a:latin typeface="Telegraf"/>
              </a:rPr>
              <a:t> </a:t>
            </a:r>
            <a:r>
              <a:rPr lang="en-US" sz="2199" dirty="0" err="1">
                <a:solidFill>
                  <a:srgbClr val="000000"/>
                </a:solidFill>
                <a:latin typeface="Telegraf"/>
              </a:rPr>
              <a:t>kecurangan</a:t>
            </a:r>
            <a:r>
              <a:rPr lang="en-US" sz="2199" dirty="0">
                <a:solidFill>
                  <a:srgbClr val="000000"/>
                </a:solidFill>
                <a:latin typeface="Telegraf"/>
              </a:rPr>
              <a:t> yang </a:t>
            </a:r>
            <a:r>
              <a:rPr lang="en-US" sz="2199" dirty="0" err="1">
                <a:solidFill>
                  <a:srgbClr val="000000"/>
                </a:solidFill>
                <a:latin typeface="Telegraf"/>
              </a:rPr>
              <a:t>bersifat</a:t>
            </a:r>
            <a:r>
              <a:rPr lang="en-US" sz="2199" dirty="0">
                <a:solidFill>
                  <a:srgbClr val="000000"/>
                </a:solidFill>
                <a:latin typeface="Telegraf"/>
              </a:rPr>
              <a:t> :</a:t>
            </a:r>
          </a:p>
          <a:p>
            <a:pPr>
              <a:lnSpc>
                <a:spcPts val="2815"/>
              </a:lnSpc>
            </a:pPr>
            <a:r>
              <a:rPr lang="en-US" sz="2199" dirty="0">
                <a:solidFill>
                  <a:srgbClr val="000000"/>
                </a:solidFill>
                <a:latin typeface="Telegraf"/>
              </a:rPr>
              <a:t>         -</a:t>
            </a:r>
            <a:r>
              <a:rPr lang="id-ID" sz="2199" dirty="0">
                <a:solidFill>
                  <a:srgbClr val="000000"/>
                </a:solidFill>
                <a:latin typeface="Telegraf"/>
              </a:rPr>
              <a:t> </a:t>
            </a:r>
            <a:r>
              <a:rPr lang="en-US" sz="2199" dirty="0" err="1">
                <a:solidFill>
                  <a:srgbClr val="000000"/>
                </a:solidFill>
                <a:latin typeface="Telegraf"/>
              </a:rPr>
              <a:t>Tindakan</a:t>
            </a:r>
            <a:r>
              <a:rPr lang="en-US" sz="2199" dirty="0">
                <a:solidFill>
                  <a:srgbClr val="000000"/>
                </a:solidFill>
                <a:latin typeface="Telegraf"/>
              </a:rPr>
              <a:t> </a:t>
            </a:r>
            <a:r>
              <a:rPr lang="en-US" sz="2199" dirty="0" err="1">
                <a:solidFill>
                  <a:srgbClr val="000000"/>
                </a:solidFill>
                <a:latin typeface="Telegraf"/>
              </a:rPr>
              <a:t>kecurangan</a:t>
            </a:r>
            <a:r>
              <a:rPr lang="en-US" sz="2199" dirty="0">
                <a:solidFill>
                  <a:srgbClr val="000000"/>
                </a:solidFill>
                <a:latin typeface="Telegraf"/>
              </a:rPr>
              <a:t> yang </a:t>
            </a:r>
            <a:r>
              <a:rPr lang="en-US" sz="2199" dirty="0" err="1">
                <a:solidFill>
                  <a:srgbClr val="000000"/>
                </a:solidFill>
                <a:latin typeface="Telegraf"/>
              </a:rPr>
              <a:t>menimbulkan</a:t>
            </a:r>
            <a:r>
              <a:rPr lang="en-US" sz="2199" dirty="0">
                <a:solidFill>
                  <a:srgbClr val="000000"/>
                </a:solidFill>
                <a:latin typeface="Telegraf"/>
              </a:rPr>
              <a:t> </a:t>
            </a:r>
            <a:r>
              <a:rPr lang="en-US" sz="2199" dirty="0" err="1">
                <a:solidFill>
                  <a:srgbClr val="000000"/>
                </a:solidFill>
                <a:latin typeface="Telegraf"/>
              </a:rPr>
              <a:t>kerugian</a:t>
            </a:r>
            <a:r>
              <a:rPr lang="en-US" sz="2199" dirty="0">
                <a:solidFill>
                  <a:srgbClr val="000000"/>
                </a:solidFill>
                <a:latin typeface="Telegraf"/>
              </a:rPr>
              <a:t> Perusahaan </a:t>
            </a:r>
            <a:r>
              <a:rPr lang="en-US" sz="2199" dirty="0" err="1">
                <a:solidFill>
                  <a:srgbClr val="000000"/>
                </a:solidFill>
                <a:latin typeface="Telegraf"/>
              </a:rPr>
              <a:t>dengan</a:t>
            </a:r>
            <a:r>
              <a:rPr lang="en-US" sz="2199" dirty="0">
                <a:solidFill>
                  <a:srgbClr val="000000"/>
                </a:solidFill>
                <a:latin typeface="Telegraf"/>
              </a:rPr>
              <a:t> </a:t>
            </a:r>
            <a:r>
              <a:rPr lang="en-US" sz="2199" dirty="0" err="1">
                <a:solidFill>
                  <a:srgbClr val="000000"/>
                </a:solidFill>
                <a:latin typeface="Telegraf"/>
              </a:rPr>
              <a:t>estimasi</a:t>
            </a:r>
            <a:r>
              <a:rPr lang="en-US" sz="2199" dirty="0">
                <a:solidFill>
                  <a:srgbClr val="000000"/>
                </a:solidFill>
                <a:latin typeface="Telegraf"/>
              </a:rPr>
              <a:t> </a:t>
            </a:r>
            <a:r>
              <a:rPr lang="en-US" sz="2199" dirty="0" err="1">
                <a:solidFill>
                  <a:srgbClr val="000000"/>
                </a:solidFill>
                <a:latin typeface="Telegraf"/>
              </a:rPr>
              <a:t>kerugian</a:t>
            </a:r>
            <a:r>
              <a:rPr lang="en-US" sz="2199" dirty="0">
                <a:solidFill>
                  <a:srgbClr val="000000"/>
                </a:solidFill>
                <a:latin typeface="Telegraf"/>
              </a:rPr>
              <a:t> </a:t>
            </a:r>
            <a:r>
              <a:rPr lang="en-US" sz="2199" dirty="0" err="1">
                <a:solidFill>
                  <a:srgbClr val="000000"/>
                </a:solidFill>
                <a:latin typeface="Telegraf"/>
              </a:rPr>
              <a:t>diatas</a:t>
            </a:r>
            <a:r>
              <a:rPr lang="en-US" sz="2199" dirty="0">
                <a:solidFill>
                  <a:srgbClr val="000000"/>
                </a:solidFill>
                <a:latin typeface="Telegraf"/>
              </a:rPr>
              <a:t> 1 </a:t>
            </a:r>
            <a:r>
              <a:rPr lang="en-US" sz="2199" dirty="0" err="1">
                <a:solidFill>
                  <a:srgbClr val="000000"/>
                </a:solidFill>
                <a:latin typeface="Telegraf"/>
              </a:rPr>
              <a:t>Milyar</a:t>
            </a:r>
            <a:r>
              <a:rPr lang="en-US" sz="2199" dirty="0">
                <a:solidFill>
                  <a:srgbClr val="000000"/>
                </a:solidFill>
                <a:latin typeface="Telegraf"/>
              </a:rPr>
              <a:t> rupiah per </a:t>
            </a:r>
            <a:r>
              <a:rPr lang="en-US" sz="2199" dirty="0" err="1">
                <a:solidFill>
                  <a:srgbClr val="000000"/>
                </a:solidFill>
                <a:latin typeface="Telegraf"/>
              </a:rPr>
              <a:t>kejadian</a:t>
            </a:r>
            <a:r>
              <a:rPr lang="en-US" sz="2199" dirty="0">
                <a:solidFill>
                  <a:srgbClr val="000000"/>
                </a:solidFill>
                <a:latin typeface="Telegraf"/>
              </a:rPr>
              <a:t> Fraud</a:t>
            </a:r>
          </a:p>
          <a:p>
            <a:pPr>
              <a:lnSpc>
                <a:spcPts val="2815"/>
              </a:lnSpc>
            </a:pPr>
            <a:r>
              <a:rPr lang="en-US" sz="2199" dirty="0">
                <a:solidFill>
                  <a:srgbClr val="000000"/>
                </a:solidFill>
                <a:latin typeface="Telegraf"/>
              </a:rPr>
              <a:t>         -</a:t>
            </a:r>
            <a:r>
              <a:rPr lang="id-ID" sz="2199" dirty="0">
                <a:solidFill>
                  <a:srgbClr val="000000"/>
                </a:solidFill>
                <a:latin typeface="Telegraf"/>
              </a:rPr>
              <a:t> </a:t>
            </a:r>
            <a:r>
              <a:rPr lang="en-US" sz="2199" dirty="0" err="1">
                <a:solidFill>
                  <a:srgbClr val="000000"/>
                </a:solidFill>
                <a:latin typeface="Telegraf"/>
              </a:rPr>
              <a:t>Tindakan</a:t>
            </a:r>
            <a:r>
              <a:rPr lang="en-US" sz="2199" dirty="0">
                <a:solidFill>
                  <a:srgbClr val="000000"/>
                </a:solidFill>
                <a:latin typeface="Telegraf"/>
              </a:rPr>
              <a:t> Fraud yang </a:t>
            </a:r>
            <a:r>
              <a:rPr lang="en-US" sz="2199" dirty="0" err="1">
                <a:solidFill>
                  <a:srgbClr val="000000"/>
                </a:solidFill>
                <a:latin typeface="Telegraf"/>
              </a:rPr>
              <a:t>dapat</a:t>
            </a:r>
            <a:r>
              <a:rPr lang="en-US" sz="2199" dirty="0">
                <a:solidFill>
                  <a:srgbClr val="000000"/>
                </a:solidFill>
                <a:latin typeface="Telegraf"/>
              </a:rPr>
              <a:t> </a:t>
            </a:r>
            <a:r>
              <a:rPr lang="en-US" sz="2199" dirty="0" err="1">
                <a:solidFill>
                  <a:srgbClr val="000000"/>
                </a:solidFill>
                <a:latin typeface="Telegraf"/>
              </a:rPr>
              <a:t>menyebabkan</a:t>
            </a:r>
            <a:r>
              <a:rPr lang="en-US" sz="2199" dirty="0">
                <a:solidFill>
                  <a:srgbClr val="000000"/>
                </a:solidFill>
                <a:latin typeface="Telegraf"/>
              </a:rPr>
              <a:t> salah </a:t>
            </a:r>
            <a:r>
              <a:rPr lang="en-US" sz="2199" dirty="0" err="1">
                <a:solidFill>
                  <a:srgbClr val="000000"/>
                </a:solidFill>
                <a:latin typeface="Telegraf"/>
              </a:rPr>
              <a:t>satu</a:t>
            </a:r>
            <a:r>
              <a:rPr lang="en-US" sz="2199" dirty="0">
                <a:solidFill>
                  <a:srgbClr val="000000"/>
                </a:solidFill>
                <a:latin typeface="Telegraf"/>
              </a:rPr>
              <a:t> parameter </a:t>
            </a:r>
            <a:r>
              <a:rPr lang="en-US" sz="2199" dirty="0" err="1">
                <a:solidFill>
                  <a:srgbClr val="000000"/>
                </a:solidFill>
                <a:latin typeface="Telegraf"/>
              </a:rPr>
              <a:t>tingkat</a:t>
            </a:r>
            <a:r>
              <a:rPr lang="en-US" sz="2199" dirty="0">
                <a:solidFill>
                  <a:srgbClr val="000000"/>
                </a:solidFill>
                <a:latin typeface="Telegraf"/>
              </a:rPr>
              <a:t> </a:t>
            </a:r>
            <a:r>
              <a:rPr lang="en-US" sz="2199" dirty="0" err="1">
                <a:solidFill>
                  <a:srgbClr val="000000"/>
                </a:solidFill>
                <a:latin typeface="Telegraf"/>
              </a:rPr>
              <a:t>risiko</a:t>
            </a:r>
            <a:r>
              <a:rPr lang="en-US" sz="2199" dirty="0">
                <a:solidFill>
                  <a:srgbClr val="000000"/>
                </a:solidFill>
                <a:latin typeface="Telegraf"/>
              </a:rPr>
              <a:t> Perusahaan </a:t>
            </a:r>
            <a:r>
              <a:rPr lang="en-US" sz="2199" dirty="0" err="1">
                <a:solidFill>
                  <a:srgbClr val="000000"/>
                </a:solidFill>
                <a:latin typeface="Telegraf"/>
              </a:rPr>
              <a:t>mengalami</a:t>
            </a:r>
            <a:r>
              <a:rPr lang="en-US" sz="2199" dirty="0">
                <a:solidFill>
                  <a:srgbClr val="000000"/>
                </a:solidFill>
                <a:latin typeface="Telegraf"/>
              </a:rPr>
              <a:t> </a:t>
            </a:r>
            <a:r>
              <a:rPr lang="en-US" sz="2199" dirty="0" err="1">
                <a:solidFill>
                  <a:srgbClr val="000000"/>
                </a:solidFill>
                <a:latin typeface="Telegraf"/>
              </a:rPr>
              <a:t>pemburukan</a:t>
            </a:r>
            <a:r>
              <a:rPr lang="en-US" sz="2199" dirty="0">
                <a:solidFill>
                  <a:srgbClr val="000000"/>
                </a:solidFill>
                <a:latin typeface="Telegraf"/>
              </a:rPr>
              <a:t> </a:t>
            </a:r>
          </a:p>
          <a:p>
            <a:pPr>
              <a:lnSpc>
                <a:spcPts val="2815"/>
              </a:lnSpc>
            </a:pPr>
            <a:r>
              <a:rPr lang="en-US" sz="2199" dirty="0">
                <a:solidFill>
                  <a:srgbClr val="000000"/>
                </a:solidFill>
                <a:latin typeface="Telegraf"/>
              </a:rPr>
              <a:t>         -</a:t>
            </a:r>
            <a:r>
              <a:rPr lang="id-ID" sz="2199" dirty="0">
                <a:solidFill>
                  <a:srgbClr val="000000"/>
                </a:solidFill>
                <a:latin typeface="Telegraf"/>
              </a:rPr>
              <a:t> </a:t>
            </a:r>
            <a:r>
              <a:rPr lang="en-US" sz="2199" dirty="0" err="1">
                <a:solidFill>
                  <a:srgbClr val="000000"/>
                </a:solidFill>
                <a:latin typeface="Telegraf"/>
              </a:rPr>
              <a:t>Tindakan</a:t>
            </a:r>
            <a:r>
              <a:rPr lang="en-US" sz="2199" dirty="0">
                <a:solidFill>
                  <a:srgbClr val="000000"/>
                </a:solidFill>
                <a:latin typeface="Telegraf"/>
              </a:rPr>
              <a:t> </a:t>
            </a:r>
            <a:r>
              <a:rPr lang="en-US" sz="2199" dirty="0" err="1">
                <a:solidFill>
                  <a:srgbClr val="000000"/>
                </a:solidFill>
                <a:latin typeface="Telegraf"/>
              </a:rPr>
              <a:t>lainnya</a:t>
            </a:r>
            <a:r>
              <a:rPr lang="en-US" sz="2199" dirty="0">
                <a:solidFill>
                  <a:srgbClr val="000000"/>
                </a:solidFill>
                <a:latin typeface="Telegraf"/>
              </a:rPr>
              <a:t> yang </a:t>
            </a:r>
            <a:r>
              <a:rPr lang="en-US" sz="2199" dirty="0" err="1">
                <a:solidFill>
                  <a:srgbClr val="000000"/>
                </a:solidFill>
                <a:latin typeface="Telegraf"/>
              </a:rPr>
              <a:t>dinilai</a:t>
            </a:r>
            <a:r>
              <a:rPr lang="en-US" sz="2199" dirty="0">
                <a:solidFill>
                  <a:srgbClr val="000000"/>
                </a:solidFill>
                <a:latin typeface="Telegraf"/>
              </a:rPr>
              <a:t> oleh </a:t>
            </a:r>
            <a:r>
              <a:rPr lang="en-US" sz="2199" dirty="0" err="1">
                <a:solidFill>
                  <a:srgbClr val="000000"/>
                </a:solidFill>
                <a:latin typeface="Telegraf"/>
              </a:rPr>
              <a:t>Komite</a:t>
            </a:r>
            <a:r>
              <a:rPr lang="en-US" sz="2199" dirty="0">
                <a:solidFill>
                  <a:srgbClr val="000000"/>
                </a:solidFill>
                <a:latin typeface="Telegraf"/>
              </a:rPr>
              <a:t> Anti Fraud dan Dewan </a:t>
            </a:r>
            <a:r>
              <a:rPr lang="en-US" sz="2199" dirty="0" err="1">
                <a:solidFill>
                  <a:srgbClr val="000000"/>
                </a:solidFill>
                <a:latin typeface="Telegraf"/>
              </a:rPr>
              <a:t>Komisaris</a:t>
            </a:r>
            <a:r>
              <a:rPr lang="en-US" sz="2199" dirty="0">
                <a:solidFill>
                  <a:srgbClr val="000000"/>
                </a:solidFill>
                <a:latin typeface="Telegraf"/>
              </a:rPr>
              <a:t> </a:t>
            </a:r>
            <a:r>
              <a:rPr lang="en-US" sz="2199" dirty="0" err="1">
                <a:solidFill>
                  <a:srgbClr val="000000"/>
                </a:solidFill>
                <a:latin typeface="Telegraf"/>
              </a:rPr>
              <a:t>memiliki</a:t>
            </a:r>
            <a:r>
              <a:rPr lang="en-US" sz="2199" dirty="0">
                <a:solidFill>
                  <a:srgbClr val="000000"/>
                </a:solidFill>
                <a:latin typeface="Telegraf"/>
              </a:rPr>
              <a:t> </a:t>
            </a:r>
            <a:r>
              <a:rPr lang="en-US" sz="2199" dirty="0" err="1">
                <a:solidFill>
                  <a:srgbClr val="000000"/>
                </a:solidFill>
                <a:latin typeface="Telegraf"/>
              </a:rPr>
              <a:t>dampak</a:t>
            </a:r>
            <a:r>
              <a:rPr lang="en-US" sz="2199" dirty="0">
                <a:solidFill>
                  <a:srgbClr val="000000"/>
                </a:solidFill>
                <a:latin typeface="Telegraf"/>
              </a:rPr>
              <a:t> </a:t>
            </a:r>
            <a:r>
              <a:rPr lang="en-US" sz="2199" dirty="0" err="1">
                <a:solidFill>
                  <a:srgbClr val="000000"/>
                </a:solidFill>
                <a:latin typeface="Telegraf"/>
              </a:rPr>
              <a:t>negatif</a:t>
            </a:r>
            <a:r>
              <a:rPr lang="en-US" sz="2199" dirty="0">
                <a:solidFill>
                  <a:srgbClr val="000000"/>
                </a:solidFill>
                <a:latin typeface="Telegraf"/>
              </a:rPr>
              <a:t> yang </a:t>
            </a:r>
            <a:r>
              <a:rPr lang="en-US" sz="2199" dirty="0" err="1">
                <a:solidFill>
                  <a:srgbClr val="000000"/>
                </a:solidFill>
                <a:latin typeface="Telegraf"/>
              </a:rPr>
              <a:t>signifikan</a:t>
            </a:r>
            <a:r>
              <a:rPr lang="en-US" sz="2199" dirty="0">
                <a:solidFill>
                  <a:srgbClr val="000000"/>
                </a:solidFill>
                <a:latin typeface="Telegraf"/>
              </a:rPr>
              <a:t> </a:t>
            </a:r>
            <a:r>
              <a:rPr lang="en-US" sz="2199" dirty="0" err="1">
                <a:solidFill>
                  <a:srgbClr val="000000"/>
                </a:solidFill>
                <a:latin typeface="Telegraf"/>
              </a:rPr>
              <a:t>bagi</a:t>
            </a:r>
            <a:r>
              <a:rPr lang="en-US" sz="2199" dirty="0">
                <a:solidFill>
                  <a:srgbClr val="000000"/>
                </a:solidFill>
                <a:latin typeface="Telegraf"/>
              </a:rPr>
              <a:t> Perusahaan</a:t>
            </a:r>
          </a:p>
          <a:p>
            <a:pPr>
              <a:lnSpc>
                <a:spcPts val="2815"/>
              </a:lnSpc>
            </a:pPr>
            <a:endParaRPr lang="en-US" sz="2199" dirty="0">
              <a:solidFill>
                <a:srgbClr val="000000"/>
              </a:solidFill>
              <a:latin typeface="Telegraf"/>
            </a:endParaRPr>
          </a:p>
          <a:p>
            <a:pPr marL="474979" lvl="1" indent="-237490">
              <a:lnSpc>
                <a:spcPts val="2815"/>
              </a:lnSpc>
              <a:buFont typeface="Arial"/>
              <a:buChar char="•"/>
            </a:pPr>
            <a:r>
              <a:rPr lang="en-US" sz="2199" dirty="0" err="1">
                <a:solidFill>
                  <a:srgbClr val="000000"/>
                </a:solidFill>
                <a:latin typeface="Telegraf"/>
              </a:rPr>
              <a:t>Laporan</a:t>
            </a:r>
            <a:r>
              <a:rPr lang="en-US" sz="2199" dirty="0">
                <a:solidFill>
                  <a:srgbClr val="000000"/>
                </a:solidFill>
                <a:latin typeface="Telegraf"/>
              </a:rPr>
              <a:t> </a:t>
            </a:r>
            <a:r>
              <a:rPr lang="en-US" sz="2199" dirty="0" err="1">
                <a:solidFill>
                  <a:srgbClr val="000000"/>
                </a:solidFill>
                <a:latin typeface="Telegraf"/>
              </a:rPr>
              <a:t>setiap</a:t>
            </a:r>
            <a:r>
              <a:rPr lang="en-US" sz="2199" dirty="0">
                <a:solidFill>
                  <a:srgbClr val="000000"/>
                </a:solidFill>
                <a:latin typeface="Telegraf"/>
              </a:rPr>
              <a:t> Fraud yang </a:t>
            </a:r>
            <a:r>
              <a:rPr lang="en-US" sz="2199" dirty="0" err="1">
                <a:solidFill>
                  <a:srgbClr val="000000"/>
                </a:solidFill>
                <a:latin typeface="Telegraf"/>
              </a:rPr>
              <a:t>diperkirakan</a:t>
            </a:r>
            <a:r>
              <a:rPr lang="en-US" sz="2199" dirty="0">
                <a:solidFill>
                  <a:srgbClr val="000000"/>
                </a:solidFill>
                <a:latin typeface="Telegraf"/>
              </a:rPr>
              <a:t> </a:t>
            </a:r>
            <a:r>
              <a:rPr lang="en-US" sz="2199" dirty="0" err="1">
                <a:solidFill>
                  <a:srgbClr val="000000"/>
                </a:solidFill>
                <a:latin typeface="Telegraf"/>
              </a:rPr>
              <a:t>berdampak</a:t>
            </a:r>
            <a:r>
              <a:rPr lang="en-US" sz="2199" dirty="0">
                <a:solidFill>
                  <a:srgbClr val="000000"/>
                </a:solidFill>
                <a:latin typeface="Telegraf"/>
              </a:rPr>
              <a:t> </a:t>
            </a:r>
            <a:r>
              <a:rPr lang="en-US" sz="2199" dirty="0" err="1">
                <a:solidFill>
                  <a:srgbClr val="000000"/>
                </a:solidFill>
                <a:latin typeface="Telegraf"/>
              </a:rPr>
              <a:t>signifikan</a:t>
            </a:r>
            <a:r>
              <a:rPr lang="en-US" sz="2199" dirty="0">
                <a:solidFill>
                  <a:srgbClr val="000000"/>
                </a:solidFill>
                <a:latin typeface="Telegraf"/>
              </a:rPr>
              <a:t> paling </a:t>
            </a:r>
            <a:r>
              <a:rPr lang="en-US" sz="2199" dirty="0" err="1">
                <a:solidFill>
                  <a:srgbClr val="000000"/>
                </a:solidFill>
                <a:latin typeface="Telegraf"/>
              </a:rPr>
              <a:t>sedikit</a:t>
            </a:r>
            <a:r>
              <a:rPr lang="en-US" sz="2199" dirty="0">
                <a:solidFill>
                  <a:srgbClr val="000000"/>
                </a:solidFill>
                <a:latin typeface="Telegraf"/>
              </a:rPr>
              <a:t> </a:t>
            </a:r>
            <a:r>
              <a:rPr lang="en-US" sz="2199" dirty="0" err="1">
                <a:solidFill>
                  <a:srgbClr val="000000"/>
                </a:solidFill>
                <a:latin typeface="Telegraf"/>
              </a:rPr>
              <a:t>memuat</a:t>
            </a:r>
            <a:r>
              <a:rPr lang="en-US" sz="2199" dirty="0">
                <a:solidFill>
                  <a:srgbClr val="000000"/>
                </a:solidFill>
                <a:latin typeface="Telegraf"/>
              </a:rPr>
              <a:t> :</a:t>
            </a:r>
          </a:p>
          <a:p>
            <a:pPr>
              <a:lnSpc>
                <a:spcPts val="2815"/>
              </a:lnSpc>
            </a:pPr>
            <a:endParaRPr lang="en-US" sz="2199" dirty="0">
              <a:solidFill>
                <a:srgbClr val="000000"/>
              </a:solidFill>
              <a:latin typeface="Telegraf"/>
            </a:endParaRPr>
          </a:p>
          <a:p>
            <a:pPr>
              <a:lnSpc>
                <a:spcPts val="2815"/>
              </a:lnSpc>
            </a:pPr>
            <a:r>
              <a:rPr lang="en-US" sz="2199" dirty="0">
                <a:solidFill>
                  <a:srgbClr val="000000"/>
                </a:solidFill>
                <a:latin typeface="Telegraf"/>
              </a:rPr>
              <a:t>         -</a:t>
            </a:r>
            <a:r>
              <a:rPr lang="id-ID" sz="2199" dirty="0">
                <a:solidFill>
                  <a:srgbClr val="000000"/>
                </a:solidFill>
                <a:latin typeface="Telegraf"/>
              </a:rPr>
              <a:t> N</a:t>
            </a:r>
            <a:r>
              <a:rPr lang="en-US" sz="2199" dirty="0" err="1">
                <a:solidFill>
                  <a:srgbClr val="000000"/>
                </a:solidFill>
                <a:latin typeface="Telegraf"/>
              </a:rPr>
              <a:t>ama</a:t>
            </a:r>
            <a:r>
              <a:rPr lang="en-US" sz="2199" dirty="0">
                <a:solidFill>
                  <a:srgbClr val="000000"/>
                </a:solidFill>
                <a:latin typeface="Telegraf"/>
              </a:rPr>
              <a:t> </a:t>
            </a:r>
            <a:r>
              <a:rPr lang="en-US" sz="2199" dirty="0" err="1">
                <a:solidFill>
                  <a:srgbClr val="000000"/>
                </a:solidFill>
                <a:latin typeface="Telegraf"/>
              </a:rPr>
              <a:t>pelaku</a:t>
            </a:r>
            <a:endParaRPr lang="en-US" sz="2199" dirty="0">
              <a:solidFill>
                <a:srgbClr val="000000"/>
              </a:solidFill>
              <a:latin typeface="Telegraf"/>
            </a:endParaRPr>
          </a:p>
          <a:p>
            <a:pPr>
              <a:lnSpc>
                <a:spcPts val="2815"/>
              </a:lnSpc>
            </a:pPr>
            <a:r>
              <a:rPr lang="en-US" sz="2199" dirty="0">
                <a:solidFill>
                  <a:srgbClr val="000000"/>
                </a:solidFill>
                <a:latin typeface="Telegraf"/>
              </a:rPr>
              <a:t>         -</a:t>
            </a:r>
            <a:r>
              <a:rPr lang="id-ID" sz="2199" dirty="0">
                <a:solidFill>
                  <a:srgbClr val="000000"/>
                </a:solidFill>
                <a:latin typeface="Telegraf"/>
              </a:rPr>
              <a:t> B</a:t>
            </a:r>
            <a:r>
              <a:rPr lang="en-US" sz="2199" dirty="0" err="1">
                <a:solidFill>
                  <a:srgbClr val="000000"/>
                </a:solidFill>
                <a:latin typeface="Telegraf"/>
              </a:rPr>
              <a:t>entuk</a:t>
            </a:r>
            <a:r>
              <a:rPr lang="en-US" sz="2199" dirty="0">
                <a:solidFill>
                  <a:srgbClr val="000000"/>
                </a:solidFill>
                <a:latin typeface="Telegraf"/>
              </a:rPr>
              <a:t> </a:t>
            </a:r>
            <a:r>
              <a:rPr lang="en-US" sz="2199" dirty="0" err="1">
                <a:solidFill>
                  <a:srgbClr val="000000"/>
                </a:solidFill>
                <a:latin typeface="Telegraf"/>
              </a:rPr>
              <a:t>atau</a:t>
            </a:r>
            <a:r>
              <a:rPr lang="en-US" sz="2199" dirty="0">
                <a:solidFill>
                  <a:srgbClr val="000000"/>
                </a:solidFill>
                <a:latin typeface="Telegraf"/>
              </a:rPr>
              <a:t> </a:t>
            </a:r>
            <a:r>
              <a:rPr lang="en-US" sz="2199" dirty="0" err="1">
                <a:solidFill>
                  <a:srgbClr val="000000"/>
                </a:solidFill>
                <a:latin typeface="Telegraf"/>
              </a:rPr>
              <a:t>jenis</a:t>
            </a:r>
            <a:r>
              <a:rPr lang="en-US" sz="2199" dirty="0">
                <a:solidFill>
                  <a:srgbClr val="000000"/>
                </a:solidFill>
                <a:latin typeface="Telegraf"/>
              </a:rPr>
              <a:t> </a:t>
            </a:r>
            <a:r>
              <a:rPr lang="en-US" sz="2199" dirty="0" err="1">
                <a:solidFill>
                  <a:srgbClr val="000000"/>
                </a:solidFill>
                <a:latin typeface="Telegraf"/>
              </a:rPr>
              <a:t>penyimpangan</a:t>
            </a:r>
            <a:endParaRPr lang="en-US" sz="2199" dirty="0">
              <a:solidFill>
                <a:srgbClr val="000000"/>
              </a:solidFill>
              <a:latin typeface="Telegraf"/>
            </a:endParaRPr>
          </a:p>
          <a:p>
            <a:pPr>
              <a:lnSpc>
                <a:spcPts val="2815"/>
              </a:lnSpc>
            </a:pPr>
            <a:r>
              <a:rPr lang="en-US" sz="2199" dirty="0">
                <a:solidFill>
                  <a:srgbClr val="000000"/>
                </a:solidFill>
                <a:latin typeface="Telegraf"/>
              </a:rPr>
              <a:t>         -</a:t>
            </a:r>
            <a:r>
              <a:rPr lang="id-ID" sz="2199" dirty="0">
                <a:solidFill>
                  <a:srgbClr val="000000"/>
                </a:solidFill>
                <a:latin typeface="Telegraf"/>
              </a:rPr>
              <a:t> T</a:t>
            </a:r>
            <a:r>
              <a:rPr lang="en-US" sz="2199" dirty="0" err="1">
                <a:solidFill>
                  <a:srgbClr val="000000"/>
                </a:solidFill>
                <a:latin typeface="Telegraf"/>
              </a:rPr>
              <a:t>empat</a:t>
            </a:r>
            <a:r>
              <a:rPr lang="en-US" sz="2199" dirty="0">
                <a:solidFill>
                  <a:srgbClr val="000000"/>
                </a:solidFill>
                <a:latin typeface="Telegraf"/>
              </a:rPr>
              <a:t> </a:t>
            </a:r>
            <a:r>
              <a:rPr lang="en-US" sz="2199" dirty="0" err="1">
                <a:solidFill>
                  <a:srgbClr val="000000"/>
                </a:solidFill>
                <a:latin typeface="Telegraf"/>
              </a:rPr>
              <a:t>kejadian</a:t>
            </a:r>
            <a:endParaRPr lang="en-US" sz="2199" dirty="0">
              <a:solidFill>
                <a:srgbClr val="000000"/>
              </a:solidFill>
              <a:latin typeface="Telegraf"/>
            </a:endParaRPr>
          </a:p>
          <a:p>
            <a:pPr>
              <a:lnSpc>
                <a:spcPts val="2815"/>
              </a:lnSpc>
            </a:pPr>
            <a:r>
              <a:rPr lang="en-US" sz="2199" dirty="0">
                <a:solidFill>
                  <a:srgbClr val="000000"/>
                </a:solidFill>
                <a:latin typeface="Telegraf"/>
              </a:rPr>
              <a:t>         -</a:t>
            </a:r>
            <a:r>
              <a:rPr lang="id-ID" sz="2199" dirty="0">
                <a:solidFill>
                  <a:srgbClr val="000000"/>
                </a:solidFill>
                <a:latin typeface="Telegraf"/>
              </a:rPr>
              <a:t> I</a:t>
            </a:r>
            <a:r>
              <a:rPr lang="en-US" sz="2199" dirty="0" err="1">
                <a:solidFill>
                  <a:srgbClr val="000000"/>
                </a:solidFill>
                <a:latin typeface="Telegraf"/>
              </a:rPr>
              <a:t>nformasi</a:t>
            </a:r>
            <a:r>
              <a:rPr lang="en-US" sz="2199" dirty="0">
                <a:solidFill>
                  <a:srgbClr val="000000"/>
                </a:solidFill>
                <a:latin typeface="Telegraf"/>
              </a:rPr>
              <a:t> </a:t>
            </a:r>
            <a:r>
              <a:rPr lang="en-US" sz="2199" dirty="0" err="1">
                <a:solidFill>
                  <a:srgbClr val="000000"/>
                </a:solidFill>
                <a:latin typeface="Telegraf"/>
              </a:rPr>
              <a:t>singkat</a:t>
            </a:r>
            <a:r>
              <a:rPr lang="en-US" sz="2199" dirty="0">
                <a:solidFill>
                  <a:srgbClr val="000000"/>
                </a:solidFill>
                <a:latin typeface="Telegraf"/>
              </a:rPr>
              <a:t> </a:t>
            </a:r>
            <a:r>
              <a:rPr lang="en-US" sz="2199" dirty="0" err="1">
                <a:solidFill>
                  <a:srgbClr val="000000"/>
                </a:solidFill>
                <a:latin typeface="Telegraf"/>
              </a:rPr>
              <a:t>mengenai</a:t>
            </a:r>
            <a:r>
              <a:rPr lang="en-US" sz="2199" dirty="0">
                <a:solidFill>
                  <a:srgbClr val="000000"/>
                </a:solidFill>
                <a:latin typeface="Telegraf"/>
              </a:rPr>
              <a:t> modus</a:t>
            </a:r>
          </a:p>
          <a:p>
            <a:pPr>
              <a:lnSpc>
                <a:spcPts val="2815"/>
              </a:lnSpc>
            </a:pPr>
            <a:r>
              <a:rPr lang="en-US" sz="2199" dirty="0">
                <a:solidFill>
                  <a:srgbClr val="000000"/>
                </a:solidFill>
                <a:latin typeface="Telegraf"/>
              </a:rPr>
              <a:t>         -</a:t>
            </a:r>
            <a:r>
              <a:rPr lang="id-ID" sz="2199" dirty="0">
                <a:solidFill>
                  <a:srgbClr val="000000"/>
                </a:solidFill>
                <a:latin typeface="Telegraf"/>
              </a:rPr>
              <a:t> I</a:t>
            </a:r>
            <a:r>
              <a:rPr lang="en-US" sz="2199" dirty="0" err="1">
                <a:solidFill>
                  <a:srgbClr val="000000"/>
                </a:solidFill>
                <a:latin typeface="Telegraf"/>
              </a:rPr>
              <a:t>ndikasi</a:t>
            </a:r>
            <a:r>
              <a:rPr lang="en-US" sz="2199" dirty="0">
                <a:solidFill>
                  <a:srgbClr val="000000"/>
                </a:solidFill>
                <a:latin typeface="Telegraf"/>
              </a:rPr>
              <a:t> </a:t>
            </a:r>
            <a:r>
              <a:rPr lang="en-US" sz="2199" dirty="0" err="1">
                <a:solidFill>
                  <a:srgbClr val="000000"/>
                </a:solidFill>
                <a:latin typeface="Telegraf"/>
              </a:rPr>
              <a:t>kerugian</a:t>
            </a:r>
            <a:endParaRPr lang="en-US" sz="2199" dirty="0">
              <a:solidFill>
                <a:srgbClr val="000000"/>
              </a:solidFill>
              <a:latin typeface="Telegraf"/>
            </a:endParaRPr>
          </a:p>
          <a:p>
            <a:pPr>
              <a:lnSpc>
                <a:spcPts val="2815"/>
              </a:lnSpc>
            </a:pPr>
            <a:endParaRPr lang="en-US" sz="2199" dirty="0">
              <a:solidFill>
                <a:srgbClr val="000000"/>
              </a:solidFill>
              <a:latin typeface="Telegraf"/>
            </a:endParaRPr>
          </a:p>
          <a:p>
            <a:pPr>
              <a:lnSpc>
                <a:spcPts val="2815"/>
              </a:lnSpc>
            </a:pPr>
            <a:endParaRPr lang="en-US" sz="2199" dirty="0">
              <a:solidFill>
                <a:srgbClr val="000000"/>
              </a:solidFill>
              <a:latin typeface="Telegraf"/>
            </a:endParaRPr>
          </a:p>
          <a:p>
            <a:pPr>
              <a:lnSpc>
                <a:spcPts val="2815"/>
              </a:lnSpc>
            </a:pPr>
            <a:endParaRPr lang="en-US" sz="2199" dirty="0">
              <a:solidFill>
                <a:srgbClr val="000000"/>
              </a:solidFill>
              <a:latin typeface="Telegraf"/>
            </a:endParaRPr>
          </a:p>
        </p:txBody>
      </p:sp>
      <p:pic>
        <p:nvPicPr>
          <p:cNvPr id="6" name="Picture 6"/>
          <p:cNvPicPr>
            <a:picLocks noChangeAspect="1"/>
          </p:cNvPicPr>
          <p:nvPr/>
        </p:nvPicPr>
        <p:blipFill>
          <a:blip r:embed="rId2">
            <a:alphaModFix amt="69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1324045" y="8285295"/>
            <a:ext cx="7315200" cy="4003409"/>
          </a:xfrm>
          <a:prstGeom prst="rect">
            <a:avLst/>
          </a:prstGeom>
        </p:spPr>
      </p:pic>
      <p:sp>
        <p:nvSpPr>
          <p:cNvPr id="7" name="TextBox 7"/>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grpSp>
        <p:nvGrpSpPr>
          <p:cNvPr id="2" name="Group 2"/>
          <p:cNvGrpSpPr/>
          <p:nvPr/>
        </p:nvGrpSpPr>
        <p:grpSpPr>
          <a:xfrm>
            <a:off x="-9007627" y="-5760803"/>
            <a:ext cx="21065096" cy="18431959"/>
            <a:chOff x="0" y="0"/>
            <a:chExt cx="812800" cy="711200"/>
          </a:xfrm>
        </p:grpSpPr>
        <p:sp>
          <p:nvSpPr>
            <p:cNvPr id="3" name="Freeform 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0097B2"/>
            </a:solidFill>
          </p:spPr>
        </p:sp>
        <p:sp>
          <p:nvSpPr>
            <p:cNvPr id="4" name="TextBox 4"/>
            <p:cNvSpPr txBox="1"/>
            <p:nvPr/>
          </p:nvSpPr>
          <p:spPr>
            <a:xfrm>
              <a:off x="127000" y="301625"/>
              <a:ext cx="558800" cy="358775"/>
            </a:xfrm>
            <a:prstGeom prst="rect">
              <a:avLst/>
            </a:prstGeom>
          </p:spPr>
          <p:txBody>
            <a:bodyPr lIns="50800" tIns="50800" rIns="50800" bIns="50800" rtlCol="0" anchor="ctr"/>
            <a:lstStyle/>
            <a:p>
              <a:pPr algn="ctr">
                <a:lnSpc>
                  <a:spcPts val="1680"/>
                </a:lnSpc>
              </a:pPr>
              <a:endParaRPr/>
            </a:p>
          </p:txBody>
        </p:sp>
      </p:grpSp>
      <p:sp>
        <p:nvSpPr>
          <p:cNvPr id="5" name="TextBox 5"/>
          <p:cNvSpPr txBox="1"/>
          <p:nvPr/>
        </p:nvSpPr>
        <p:spPr>
          <a:xfrm>
            <a:off x="681597" y="497211"/>
            <a:ext cx="16180313" cy="13376547"/>
          </a:xfrm>
          <a:prstGeom prst="rect">
            <a:avLst/>
          </a:prstGeom>
        </p:spPr>
        <p:txBody>
          <a:bodyPr lIns="0" tIns="0" rIns="0" bIns="0" rtlCol="0" anchor="t">
            <a:spAutoFit/>
          </a:bodyPr>
          <a:lstStyle/>
          <a:p>
            <a:pPr>
              <a:lnSpc>
                <a:spcPts val="2879"/>
              </a:lnSpc>
            </a:pPr>
            <a:endParaRPr dirty="0"/>
          </a:p>
          <a:p>
            <a:pPr>
              <a:lnSpc>
                <a:spcPts val="2879"/>
              </a:lnSpc>
            </a:pPr>
            <a:endParaRPr dirty="0"/>
          </a:p>
          <a:p>
            <a:pPr marL="518160" lvl="1" indent="-259080">
              <a:lnSpc>
                <a:spcPts val="2879"/>
              </a:lnSpc>
              <a:buFont typeface="Arial"/>
              <a:buChar char="•"/>
            </a:pPr>
            <a:r>
              <a:rPr lang="en-US" sz="2400" dirty="0" err="1">
                <a:solidFill>
                  <a:srgbClr val="FFFFFF"/>
                </a:solidFill>
                <a:latin typeface="Telegraf"/>
              </a:rPr>
              <a:t>Laporan</a:t>
            </a:r>
            <a:r>
              <a:rPr lang="en-US" sz="2400" dirty="0">
                <a:solidFill>
                  <a:srgbClr val="FFFFFF"/>
                </a:solidFill>
                <a:latin typeface="Telegraf"/>
              </a:rPr>
              <a:t> </a:t>
            </a:r>
            <a:r>
              <a:rPr lang="en-US" sz="2400" dirty="0" err="1">
                <a:solidFill>
                  <a:srgbClr val="FFFFFF"/>
                </a:solidFill>
                <a:latin typeface="Telegraf"/>
              </a:rPr>
              <a:t>setiap</a:t>
            </a:r>
            <a:r>
              <a:rPr lang="en-US" sz="2400" dirty="0">
                <a:solidFill>
                  <a:srgbClr val="FFFFFF"/>
                </a:solidFill>
                <a:latin typeface="Telegraf"/>
              </a:rPr>
              <a:t> Fraud yang </a:t>
            </a:r>
            <a:r>
              <a:rPr lang="en-US" sz="2400" dirty="0" err="1">
                <a:solidFill>
                  <a:srgbClr val="FFFFFF"/>
                </a:solidFill>
                <a:latin typeface="Telegraf"/>
              </a:rPr>
              <a:t>signifikan</a:t>
            </a:r>
            <a:r>
              <a:rPr lang="en-US" sz="2400" dirty="0">
                <a:solidFill>
                  <a:srgbClr val="FFFFFF"/>
                </a:solidFill>
                <a:latin typeface="Telegraf"/>
              </a:rPr>
              <a:t> </a:t>
            </a:r>
            <a:r>
              <a:rPr lang="en-US" sz="2400" dirty="0" err="1">
                <a:solidFill>
                  <a:srgbClr val="FFFFFF"/>
                </a:solidFill>
                <a:latin typeface="Telegraf"/>
              </a:rPr>
              <a:t>disampaikan</a:t>
            </a:r>
            <a:r>
              <a:rPr lang="en-US" sz="2400" dirty="0">
                <a:solidFill>
                  <a:srgbClr val="FFFFFF"/>
                </a:solidFill>
                <a:latin typeface="Telegraf"/>
              </a:rPr>
              <a:t> paling </a:t>
            </a:r>
            <a:r>
              <a:rPr lang="en-US" sz="2400" dirty="0" err="1">
                <a:solidFill>
                  <a:srgbClr val="FFFFFF"/>
                </a:solidFill>
                <a:latin typeface="Telegraf"/>
              </a:rPr>
              <a:t>lambat</a:t>
            </a:r>
            <a:r>
              <a:rPr lang="en-US" sz="2400" dirty="0">
                <a:solidFill>
                  <a:srgbClr val="FFFFFF"/>
                </a:solidFill>
                <a:latin typeface="Telegraf"/>
              </a:rPr>
              <a:t> 3 (</a:t>
            </a:r>
            <a:r>
              <a:rPr lang="en-US" sz="2400" dirty="0" err="1">
                <a:solidFill>
                  <a:srgbClr val="FFFFFF"/>
                </a:solidFill>
                <a:latin typeface="Telegraf"/>
              </a:rPr>
              <a:t>tiga</a:t>
            </a:r>
            <a:r>
              <a:rPr lang="en-US" sz="2400" dirty="0">
                <a:solidFill>
                  <a:srgbClr val="FFFFFF"/>
                </a:solidFill>
                <a:latin typeface="Telegraf"/>
              </a:rPr>
              <a:t>) </a:t>
            </a:r>
            <a:r>
              <a:rPr lang="en-US" sz="2400" dirty="0" err="1">
                <a:solidFill>
                  <a:srgbClr val="FFFFFF"/>
                </a:solidFill>
                <a:latin typeface="Telegraf"/>
              </a:rPr>
              <a:t>hari</a:t>
            </a:r>
            <a:r>
              <a:rPr lang="en-US" sz="2400" dirty="0">
                <a:solidFill>
                  <a:srgbClr val="FFFFFF"/>
                </a:solidFill>
                <a:latin typeface="Telegraf"/>
              </a:rPr>
              <a:t> </a:t>
            </a:r>
            <a:r>
              <a:rPr lang="en-US" sz="2400" dirty="0" err="1">
                <a:solidFill>
                  <a:srgbClr val="FFFFFF"/>
                </a:solidFill>
                <a:latin typeface="Telegraf"/>
              </a:rPr>
              <a:t>kerja</a:t>
            </a:r>
            <a:r>
              <a:rPr lang="en-US" sz="2400" dirty="0">
                <a:solidFill>
                  <a:srgbClr val="FFFFFF"/>
                </a:solidFill>
                <a:latin typeface="Telegraf"/>
              </a:rPr>
              <a:t> </a:t>
            </a:r>
            <a:r>
              <a:rPr lang="en-US" sz="2400" dirty="0" err="1">
                <a:solidFill>
                  <a:srgbClr val="FFFFFF"/>
                </a:solidFill>
                <a:latin typeface="Telegraf"/>
              </a:rPr>
              <a:t>sejak</a:t>
            </a:r>
            <a:r>
              <a:rPr lang="en-US" sz="2400" dirty="0">
                <a:solidFill>
                  <a:srgbClr val="FFFFFF"/>
                </a:solidFill>
                <a:latin typeface="Telegraf"/>
              </a:rPr>
              <a:t> </a:t>
            </a:r>
            <a:r>
              <a:rPr lang="en-US" sz="2400" dirty="0" err="1">
                <a:solidFill>
                  <a:srgbClr val="FFFFFF"/>
                </a:solidFill>
                <a:latin typeface="Telegraf"/>
              </a:rPr>
              <a:t>diketahuinya</a:t>
            </a:r>
            <a:r>
              <a:rPr lang="en-US" sz="2400" dirty="0">
                <a:solidFill>
                  <a:srgbClr val="FFFFFF"/>
                </a:solidFill>
                <a:latin typeface="Telegraf"/>
              </a:rPr>
              <a:t> Fraud</a:t>
            </a:r>
          </a:p>
          <a:p>
            <a:pPr marL="518160" lvl="1" indent="-259080">
              <a:lnSpc>
                <a:spcPts val="2879"/>
              </a:lnSpc>
              <a:buFont typeface="Arial"/>
              <a:buChar char="•"/>
            </a:pPr>
            <a:r>
              <a:rPr lang="en-US" sz="2400" dirty="0" err="1">
                <a:solidFill>
                  <a:srgbClr val="FFFFFF"/>
                </a:solidFill>
                <a:latin typeface="Telegraf"/>
              </a:rPr>
              <a:t>Sistem</a:t>
            </a:r>
            <a:r>
              <a:rPr lang="en-US" sz="2400" dirty="0">
                <a:solidFill>
                  <a:srgbClr val="FFFFFF"/>
                </a:solidFill>
                <a:latin typeface="Telegraf"/>
              </a:rPr>
              <a:t> </a:t>
            </a:r>
            <a:r>
              <a:rPr lang="en-US" sz="2400" dirty="0" err="1">
                <a:solidFill>
                  <a:srgbClr val="FFFFFF"/>
                </a:solidFill>
                <a:latin typeface="Telegraf"/>
              </a:rPr>
              <a:t>pelaporan</a:t>
            </a:r>
            <a:r>
              <a:rPr lang="en-US" sz="2400" dirty="0">
                <a:solidFill>
                  <a:srgbClr val="FFFFFF"/>
                </a:solidFill>
                <a:latin typeface="Telegraf"/>
              </a:rPr>
              <a:t> fraud</a:t>
            </a:r>
          </a:p>
          <a:p>
            <a:pPr>
              <a:lnSpc>
                <a:spcPts val="2879"/>
              </a:lnSpc>
            </a:pPr>
            <a:endParaRPr lang="en-US" sz="2400" dirty="0">
              <a:solidFill>
                <a:srgbClr val="FFFFFF"/>
              </a:solidFill>
              <a:latin typeface="Telegraf"/>
            </a:endParaRPr>
          </a:p>
          <a:p>
            <a:pPr>
              <a:lnSpc>
                <a:spcPts val="2879"/>
              </a:lnSpc>
            </a:pPr>
            <a:r>
              <a:rPr lang="en-US" sz="2400" dirty="0">
                <a:solidFill>
                  <a:srgbClr val="FFFFFF"/>
                </a:solidFill>
                <a:latin typeface="Telegraf"/>
              </a:rPr>
              <a:t>        -</a:t>
            </a:r>
            <a:r>
              <a:rPr lang="id-ID" sz="2400" dirty="0">
                <a:solidFill>
                  <a:srgbClr val="FFFFFF"/>
                </a:solidFill>
                <a:latin typeface="Telegraf"/>
              </a:rPr>
              <a:t> P</a:t>
            </a:r>
            <a:r>
              <a:rPr lang="en-US" sz="2400" dirty="0" err="1">
                <a:solidFill>
                  <a:srgbClr val="FFFFFF"/>
                </a:solidFill>
                <a:latin typeface="Telegraf"/>
              </a:rPr>
              <a:t>elaporan</a:t>
            </a:r>
            <a:r>
              <a:rPr lang="en-US" sz="2400" dirty="0">
                <a:solidFill>
                  <a:srgbClr val="FFFFFF"/>
                </a:solidFill>
                <a:latin typeface="Telegraf"/>
              </a:rPr>
              <a:t> </a:t>
            </a:r>
            <a:r>
              <a:rPr lang="en-US" sz="2400" dirty="0" err="1">
                <a:solidFill>
                  <a:srgbClr val="FFFFFF"/>
                </a:solidFill>
                <a:latin typeface="Telegraf"/>
              </a:rPr>
              <a:t>kejadian</a:t>
            </a:r>
            <a:r>
              <a:rPr lang="en-US" sz="2400" dirty="0">
                <a:solidFill>
                  <a:srgbClr val="FFFFFF"/>
                </a:solidFill>
                <a:latin typeface="Telegraf"/>
              </a:rPr>
              <a:t> Fraud </a:t>
            </a:r>
            <a:r>
              <a:rPr lang="en-US" sz="2400" dirty="0" err="1">
                <a:solidFill>
                  <a:srgbClr val="FFFFFF"/>
                </a:solidFill>
                <a:latin typeface="Telegraf"/>
              </a:rPr>
              <a:t>secara</a:t>
            </a:r>
            <a:r>
              <a:rPr lang="en-US" sz="2400" dirty="0">
                <a:solidFill>
                  <a:srgbClr val="FFFFFF"/>
                </a:solidFill>
                <a:latin typeface="Telegraf"/>
              </a:rPr>
              <a:t> </a:t>
            </a:r>
            <a:r>
              <a:rPr lang="en-US" sz="2400" dirty="0" err="1">
                <a:solidFill>
                  <a:srgbClr val="FFFFFF"/>
                </a:solidFill>
                <a:latin typeface="Telegraf"/>
              </a:rPr>
              <a:t>berkala</a:t>
            </a:r>
            <a:r>
              <a:rPr lang="en-US" sz="2400" dirty="0">
                <a:solidFill>
                  <a:srgbClr val="FFFFFF"/>
                </a:solidFill>
                <a:latin typeface="Telegraf"/>
              </a:rPr>
              <a:t> </a:t>
            </a:r>
            <a:r>
              <a:rPr lang="en-US" sz="2400" dirty="0" err="1">
                <a:solidFill>
                  <a:srgbClr val="FFFFFF"/>
                </a:solidFill>
                <a:latin typeface="Telegraf"/>
              </a:rPr>
              <a:t>dilakukan</a:t>
            </a:r>
            <a:r>
              <a:rPr lang="en-US" sz="2400" dirty="0">
                <a:solidFill>
                  <a:srgbClr val="FFFFFF"/>
                </a:solidFill>
                <a:latin typeface="Telegraf"/>
              </a:rPr>
              <a:t> </a:t>
            </a:r>
            <a:r>
              <a:rPr lang="en-US" sz="2400" dirty="0" err="1">
                <a:solidFill>
                  <a:srgbClr val="FFFFFF"/>
                </a:solidFill>
                <a:latin typeface="Telegraf"/>
              </a:rPr>
              <a:t>setiap</a:t>
            </a:r>
            <a:r>
              <a:rPr lang="en-US" sz="2400" dirty="0">
                <a:solidFill>
                  <a:srgbClr val="FFFFFF"/>
                </a:solidFill>
                <a:latin typeface="Telegraf"/>
              </a:rPr>
              <a:t> </a:t>
            </a:r>
            <a:r>
              <a:rPr lang="en-US" sz="2400" dirty="0" err="1">
                <a:solidFill>
                  <a:srgbClr val="FFFFFF"/>
                </a:solidFill>
                <a:latin typeface="Telegraf"/>
              </a:rPr>
              <a:t>triwulan</a:t>
            </a:r>
            <a:r>
              <a:rPr lang="en-US" sz="2400" dirty="0">
                <a:solidFill>
                  <a:srgbClr val="FFFFFF"/>
                </a:solidFill>
                <a:latin typeface="Telegraf"/>
              </a:rPr>
              <a:t> </a:t>
            </a:r>
            <a:r>
              <a:rPr lang="en-US" sz="2400" dirty="0" err="1">
                <a:solidFill>
                  <a:srgbClr val="FFFFFF"/>
                </a:solidFill>
                <a:latin typeface="Telegraf"/>
              </a:rPr>
              <a:t>kepada</a:t>
            </a:r>
            <a:r>
              <a:rPr lang="en-US" sz="2400" dirty="0">
                <a:solidFill>
                  <a:srgbClr val="FFFFFF"/>
                </a:solidFill>
                <a:latin typeface="Telegraf"/>
              </a:rPr>
              <a:t> </a:t>
            </a:r>
            <a:r>
              <a:rPr lang="en-US" sz="2400" dirty="0" err="1">
                <a:solidFill>
                  <a:srgbClr val="FFFFFF"/>
                </a:solidFill>
                <a:latin typeface="Telegraf"/>
              </a:rPr>
              <a:t>Direksi</a:t>
            </a:r>
            <a:r>
              <a:rPr lang="en-US" sz="2400" dirty="0">
                <a:solidFill>
                  <a:srgbClr val="FFFFFF"/>
                </a:solidFill>
                <a:latin typeface="Telegraf"/>
              </a:rPr>
              <a:t> dan </a:t>
            </a:r>
            <a:r>
              <a:rPr lang="en-US" sz="2400" dirty="0" err="1">
                <a:solidFill>
                  <a:srgbClr val="FFFFFF"/>
                </a:solidFill>
                <a:latin typeface="Telegraf"/>
              </a:rPr>
              <a:t>Komisaris</a:t>
            </a:r>
            <a:r>
              <a:rPr lang="en-US" sz="2400" dirty="0">
                <a:solidFill>
                  <a:srgbClr val="FFFFFF"/>
                </a:solidFill>
                <a:latin typeface="Telegraf"/>
              </a:rPr>
              <a:t> Perusahaan</a:t>
            </a:r>
          </a:p>
          <a:p>
            <a:pPr>
              <a:lnSpc>
                <a:spcPts val="2879"/>
              </a:lnSpc>
            </a:pPr>
            <a:r>
              <a:rPr lang="en-US" sz="2400" dirty="0">
                <a:solidFill>
                  <a:srgbClr val="FFFFFF"/>
                </a:solidFill>
                <a:latin typeface="Telegraf"/>
              </a:rPr>
              <a:t>        -</a:t>
            </a:r>
            <a:r>
              <a:rPr lang="id-ID" sz="2400" dirty="0">
                <a:solidFill>
                  <a:srgbClr val="FFFFFF"/>
                </a:solidFill>
                <a:latin typeface="Telegraf"/>
              </a:rPr>
              <a:t> P</a:t>
            </a:r>
            <a:r>
              <a:rPr lang="en-US" sz="2400" dirty="0" err="1">
                <a:solidFill>
                  <a:srgbClr val="FFFFFF"/>
                </a:solidFill>
                <a:latin typeface="Telegraf"/>
              </a:rPr>
              <a:t>elaporan</a:t>
            </a:r>
            <a:r>
              <a:rPr lang="en-US" sz="2400" dirty="0">
                <a:solidFill>
                  <a:srgbClr val="FFFFFF"/>
                </a:solidFill>
                <a:latin typeface="Telegraf"/>
              </a:rPr>
              <a:t> </a:t>
            </a:r>
            <a:r>
              <a:rPr lang="en-US" sz="2400" dirty="0" err="1">
                <a:solidFill>
                  <a:srgbClr val="FFFFFF"/>
                </a:solidFill>
                <a:latin typeface="Telegraf"/>
              </a:rPr>
              <a:t>kejadian</a:t>
            </a:r>
            <a:r>
              <a:rPr lang="en-US" sz="2400" dirty="0">
                <a:solidFill>
                  <a:srgbClr val="FFFFFF"/>
                </a:solidFill>
                <a:latin typeface="Telegraf"/>
              </a:rPr>
              <a:t> Fraud </a:t>
            </a:r>
            <a:r>
              <a:rPr lang="en-US" sz="2400" dirty="0" err="1">
                <a:solidFill>
                  <a:srgbClr val="FFFFFF"/>
                </a:solidFill>
                <a:latin typeface="Telegraf"/>
              </a:rPr>
              <a:t>merupakan</a:t>
            </a:r>
            <a:r>
              <a:rPr lang="en-US" sz="2400" dirty="0">
                <a:solidFill>
                  <a:srgbClr val="FFFFFF"/>
                </a:solidFill>
                <a:latin typeface="Telegraf"/>
              </a:rPr>
              <a:t> </a:t>
            </a:r>
            <a:r>
              <a:rPr lang="en-US" sz="2400" dirty="0" err="1">
                <a:solidFill>
                  <a:srgbClr val="FFFFFF"/>
                </a:solidFill>
                <a:latin typeface="Telegraf"/>
              </a:rPr>
              <a:t>tanggung</a:t>
            </a:r>
            <a:r>
              <a:rPr lang="en-US" sz="2400" dirty="0">
                <a:solidFill>
                  <a:srgbClr val="FFFFFF"/>
                </a:solidFill>
                <a:latin typeface="Telegraf"/>
              </a:rPr>
              <a:t> </a:t>
            </a:r>
            <a:r>
              <a:rPr lang="en-US" sz="2400" dirty="0" err="1">
                <a:solidFill>
                  <a:srgbClr val="FFFFFF"/>
                </a:solidFill>
                <a:latin typeface="Telegraf"/>
              </a:rPr>
              <a:t>jawab</a:t>
            </a:r>
            <a:r>
              <a:rPr lang="en-US" sz="2400" dirty="0">
                <a:solidFill>
                  <a:srgbClr val="FFFFFF"/>
                </a:solidFill>
                <a:latin typeface="Telegraf"/>
              </a:rPr>
              <a:t> </a:t>
            </a:r>
            <a:r>
              <a:rPr lang="en-US" sz="2400" dirty="0" err="1">
                <a:solidFill>
                  <a:srgbClr val="FFFFFF"/>
                </a:solidFill>
                <a:latin typeface="Telegraf"/>
              </a:rPr>
              <a:t>dari</a:t>
            </a:r>
            <a:r>
              <a:rPr lang="en-US" sz="2400" dirty="0">
                <a:solidFill>
                  <a:srgbClr val="FFFFFF"/>
                </a:solidFill>
                <a:latin typeface="Telegraf"/>
              </a:rPr>
              <a:t> </a:t>
            </a:r>
            <a:r>
              <a:rPr lang="en-US" sz="2400" dirty="0" err="1">
                <a:solidFill>
                  <a:srgbClr val="FFFFFF"/>
                </a:solidFill>
                <a:latin typeface="Telegraf"/>
              </a:rPr>
              <a:t>Komite</a:t>
            </a:r>
            <a:r>
              <a:rPr lang="en-US" sz="2400" dirty="0">
                <a:solidFill>
                  <a:srgbClr val="FFFFFF"/>
                </a:solidFill>
                <a:latin typeface="Telegraf"/>
              </a:rPr>
              <a:t> Anti Fraud </a:t>
            </a:r>
            <a:r>
              <a:rPr lang="en-US" sz="2400" dirty="0" err="1">
                <a:solidFill>
                  <a:srgbClr val="FFFFFF"/>
                </a:solidFill>
                <a:latin typeface="Telegraf"/>
              </a:rPr>
              <a:t>dengan</a:t>
            </a:r>
            <a:r>
              <a:rPr lang="en-US" sz="2400" dirty="0">
                <a:solidFill>
                  <a:srgbClr val="FFFFFF"/>
                </a:solidFill>
                <a:latin typeface="Telegraf"/>
              </a:rPr>
              <a:t> </a:t>
            </a:r>
            <a:r>
              <a:rPr lang="en-US" sz="2400" dirty="0" err="1">
                <a:solidFill>
                  <a:srgbClr val="FFFFFF"/>
                </a:solidFill>
                <a:latin typeface="Telegraf"/>
              </a:rPr>
              <a:t>fungsi</a:t>
            </a:r>
            <a:r>
              <a:rPr lang="en-US" sz="2400" dirty="0">
                <a:solidFill>
                  <a:srgbClr val="FFFFFF"/>
                </a:solidFill>
                <a:latin typeface="Telegraf"/>
              </a:rPr>
              <a:t> </a:t>
            </a:r>
            <a:r>
              <a:rPr lang="en-US" sz="2400" dirty="0" err="1">
                <a:solidFill>
                  <a:srgbClr val="FFFFFF"/>
                </a:solidFill>
                <a:latin typeface="Telegraf"/>
              </a:rPr>
              <a:t>dibawahnya</a:t>
            </a:r>
            <a:endParaRPr lang="en-US" sz="2400" dirty="0">
              <a:solidFill>
                <a:srgbClr val="FFFFFF"/>
              </a:solidFill>
              <a:latin typeface="Telegraf"/>
            </a:endParaRPr>
          </a:p>
          <a:p>
            <a:pPr>
              <a:lnSpc>
                <a:spcPts val="2879"/>
              </a:lnSpc>
            </a:pPr>
            <a:r>
              <a:rPr lang="en-US" sz="2400" dirty="0">
                <a:solidFill>
                  <a:srgbClr val="FFFFFF"/>
                </a:solidFill>
                <a:latin typeface="Telegraf"/>
              </a:rPr>
              <a:t>        -</a:t>
            </a:r>
            <a:r>
              <a:rPr lang="id-ID" sz="2400" dirty="0">
                <a:solidFill>
                  <a:srgbClr val="FFFFFF"/>
                </a:solidFill>
                <a:latin typeface="Telegraf"/>
              </a:rPr>
              <a:t> T</a:t>
            </a:r>
            <a:r>
              <a:rPr lang="en-US" sz="2400" dirty="0" err="1">
                <a:solidFill>
                  <a:srgbClr val="FFFFFF"/>
                </a:solidFill>
                <a:latin typeface="Telegraf"/>
              </a:rPr>
              <a:t>indak</a:t>
            </a:r>
            <a:r>
              <a:rPr lang="en-US" sz="2400" dirty="0">
                <a:solidFill>
                  <a:srgbClr val="FFFFFF"/>
                </a:solidFill>
                <a:latin typeface="Telegraf"/>
              </a:rPr>
              <a:t> </a:t>
            </a:r>
            <a:r>
              <a:rPr lang="en-US" sz="2400" dirty="0" err="1">
                <a:solidFill>
                  <a:srgbClr val="FFFFFF"/>
                </a:solidFill>
                <a:latin typeface="Telegraf"/>
              </a:rPr>
              <a:t>lanjut</a:t>
            </a:r>
            <a:r>
              <a:rPr lang="en-US" sz="2400" dirty="0">
                <a:solidFill>
                  <a:srgbClr val="FFFFFF"/>
                </a:solidFill>
                <a:latin typeface="Telegraf"/>
              </a:rPr>
              <a:t> </a:t>
            </a:r>
            <a:r>
              <a:rPr lang="en-US" sz="2400" dirty="0" err="1">
                <a:solidFill>
                  <a:srgbClr val="FFFFFF"/>
                </a:solidFill>
                <a:latin typeface="Telegraf"/>
              </a:rPr>
              <a:t>atas</a:t>
            </a:r>
            <a:r>
              <a:rPr lang="en-US" sz="2400" dirty="0">
                <a:solidFill>
                  <a:srgbClr val="FFFFFF"/>
                </a:solidFill>
                <a:latin typeface="Telegraf"/>
              </a:rPr>
              <a:t> </a:t>
            </a:r>
            <a:r>
              <a:rPr lang="en-US" sz="2400" dirty="0" err="1">
                <a:solidFill>
                  <a:srgbClr val="FFFFFF"/>
                </a:solidFill>
                <a:latin typeface="Telegraf"/>
              </a:rPr>
              <a:t>setiap</a:t>
            </a:r>
            <a:r>
              <a:rPr lang="en-US" sz="2400" dirty="0">
                <a:solidFill>
                  <a:srgbClr val="FFFFFF"/>
                </a:solidFill>
                <a:latin typeface="Telegraf"/>
              </a:rPr>
              <a:t> </a:t>
            </a:r>
            <a:r>
              <a:rPr lang="en-US" sz="2400" dirty="0" err="1">
                <a:solidFill>
                  <a:srgbClr val="FFFFFF"/>
                </a:solidFill>
                <a:latin typeface="Telegraf"/>
              </a:rPr>
              <a:t>pelaporan</a:t>
            </a:r>
            <a:r>
              <a:rPr lang="en-US" sz="2400" dirty="0">
                <a:solidFill>
                  <a:srgbClr val="FFFFFF"/>
                </a:solidFill>
                <a:latin typeface="Telegraf"/>
              </a:rPr>
              <a:t> </a:t>
            </a:r>
            <a:r>
              <a:rPr lang="en-US" sz="2400" dirty="0" err="1">
                <a:solidFill>
                  <a:srgbClr val="FFFFFF"/>
                </a:solidFill>
                <a:latin typeface="Telegraf"/>
              </a:rPr>
              <a:t>kejadia</a:t>
            </a:r>
            <a:r>
              <a:rPr lang="en-US" sz="2400" dirty="0">
                <a:solidFill>
                  <a:srgbClr val="FFFFFF"/>
                </a:solidFill>
                <a:latin typeface="Telegraf"/>
              </a:rPr>
              <a:t> Fraud </a:t>
            </a:r>
            <a:r>
              <a:rPr lang="en-US" sz="2400" dirty="0" err="1">
                <a:solidFill>
                  <a:srgbClr val="FFFFFF"/>
                </a:solidFill>
                <a:latin typeface="Telegraf"/>
              </a:rPr>
              <a:t>diawasi</a:t>
            </a:r>
            <a:r>
              <a:rPr lang="en-US" sz="2400" dirty="0">
                <a:solidFill>
                  <a:srgbClr val="FFFFFF"/>
                </a:solidFill>
                <a:latin typeface="Telegraf"/>
              </a:rPr>
              <a:t> dan </a:t>
            </a:r>
            <a:r>
              <a:rPr lang="en-US" sz="2400" dirty="0" err="1">
                <a:solidFill>
                  <a:srgbClr val="FFFFFF"/>
                </a:solidFill>
                <a:latin typeface="Telegraf"/>
              </a:rPr>
              <a:t>dipantau</a:t>
            </a:r>
            <a:r>
              <a:rPr lang="en-US" sz="2400" dirty="0">
                <a:solidFill>
                  <a:srgbClr val="FFFFFF"/>
                </a:solidFill>
                <a:latin typeface="Telegraf"/>
              </a:rPr>
              <a:t> oleh </a:t>
            </a:r>
            <a:r>
              <a:rPr lang="en-US" sz="2400" dirty="0" err="1">
                <a:solidFill>
                  <a:srgbClr val="FFFFFF"/>
                </a:solidFill>
                <a:latin typeface="Telegraf"/>
              </a:rPr>
              <a:t>Komite</a:t>
            </a:r>
            <a:r>
              <a:rPr lang="en-US" sz="2400" dirty="0">
                <a:solidFill>
                  <a:srgbClr val="FFFFFF"/>
                </a:solidFill>
                <a:latin typeface="Telegraf"/>
              </a:rPr>
              <a:t> Anti Fraud </a:t>
            </a:r>
          </a:p>
          <a:p>
            <a:pPr>
              <a:lnSpc>
                <a:spcPts val="2879"/>
              </a:lnSpc>
            </a:pPr>
            <a:r>
              <a:rPr lang="en-US" sz="2400" dirty="0">
                <a:solidFill>
                  <a:srgbClr val="FFFFFF"/>
                </a:solidFill>
                <a:latin typeface="Telegraf"/>
              </a:rPr>
              <a:t>          </a:t>
            </a:r>
            <a:r>
              <a:rPr lang="en-US" sz="2400" dirty="0" err="1">
                <a:solidFill>
                  <a:srgbClr val="FFFFFF"/>
                </a:solidFill>
                <a:latin typeface="Telegraf"/>
              </a:rPr>
              <a:t>sampai</a:t>
            </a:r>
            <a:r>
              <a:rPr lang="en-US" sz="2400" dirty="0">
                <a:solidFill>
                  <a:srgbClr val="FFFFFF"/>
                </a:solidFill>
                <a:latin typeface="Telegraf"/>
              </a:rPr>
              <a:t> pada </a:t>
            </a:r>
            <a:r>
              <a:rPr lang="en-US" sz="2400" dirty="0" err="1">
                <a:solidFill>
                  <a:srgbClr val="FFFFFF"/>
                </a:solidFill>
                <a:latin typeface="Telegraf"/>
              </a:rPr>
              <a:t>penyelesaian</a:t>
            </a:r>
            <a:r>
              <a:rPr lang="en-US" sz="2400" dirty="0">
                <a:solidFill>
                  <a:srgbClr val="FFFFFF"/>
                </a:solidFill>
                <a:latin typeface="Telegraf"/>
              </a:rPr>
              <a:t>  </a:t>
            </a:r>
            <a:r>
              <a:rPr lang="en-US" sz="2400" dirty="0" err="1">
                <a:solidFill>
                  <a:srgbClr val="FFFFFF"/>
                </a:solidFill>
                <a:latin typeface="Telegraf"/>
              </a:rPr>
              <a:t>laporan</a:t>
            </a:r>
            <a:r>
              <a:rPr lang="en-US" sz="2400" dirty="0">
                <a:solidFill>
                  <a:srgbClr val="FFFFFF"/>
                </a:solidFill>
                <a:latin typeface="Telegraf"/>
              </a:rPr>
              <a:t>/</a:t>
            </a:r>
            <a:r>
              <a:rPr lang="en-US" sz="2400" dirty="0" err="1">
                <a:solidFill>
                  <a:srgbClr val="FFFFFF"/>
                </a:solidFill>
                <a:latin typeface="Telegraf"/>
              </a:rPr>
              <a:t>pelaksanaan</a:t>
            </a:r>
            <a:r>
              <a:rPr lang="en-US" sz="2400" dirty="0">
                <a:solidFill>
                  <a:srgbClr val="FFFFFF"/>
                </a:solidFill>
                <a:latin typeface="Telegraf"/>
              </a:rPr>
              <a:t> </a:t>
            </a:r>
            <a:r>
              <a:rPr lang="en-US" sz="2400" dirty="0" err="1">
                <a:solidFill>
                  <a:srgbClr val="FFFFFF"/>
                </a:solidFill>
                <a:latin typeface="Telegraf"/>
              </a:rPr>
              <a:t>sanksi</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r>
              <a:rPr lang="en-US" sz="2400" b="1" dirty="0">
                <a:solidFill>
                  <a:srgbClr val="FFFFFF"/>
                </a:solidFill>
                <a:latin typeface="Telegraf"/>
              </a:rPr>
              <a:t>C. </a:t>
            </a:r>
            <a:r>
              <a:rPr lang="en-US" sz="2400" b="1" dirty="0" err="1">
                <a:solidFill>
                  <a:srgbClr val="FFFFFF"/>
                </a:solidFill>
                <a:latin typeface="Telegraf"/>
              </a:rPr>
              <a:t>Sanksi</a:t>
            </a:r>
            <a:endParaRPr lang="en-US" sz="2400" b="1" dirty="0">
              <a:solidFill>
                <a:srgbClr val="FFFFFF"/>
              </a:solidFill>
              <a:latin typeface="Telegraf"/>
            </a:endParaRPr>
          </a:p>
          <a:p>
            <a:pPr>
              <a:lnSpc>
                <a:spcPts val="2879"/>
              </a:lnSpc>
            </a:pPr>
            <a:r>
              <a:rPr lang="en-US" sz="2400" b="1" dirty="0">
                <a:solidFill>
                  <a:srgbClr val="FFFFFF"/>
                </a:solidFill>
                <a:latin typeface="Telegraf"/>
              </a:rPr>
              <a:t> </a:t>
            </a:r>
          </a:p>
          <a:p>
            <a:pPr>
              <a:lnSpc>
                <a:spcPts val="2879"/>
              </a:lnSpc>
            </a:pPr>
            <a:r>
              <a:rPr lang="en-US" sz="2400" dirty="0" err="1">
                <a:solidFill>
                  <a:srgbClr val="FFFFFF"/>
                </a:solidFill>
                <a:latin typeface="Telegraf"/>
              </a:rPr>
              <a:t>Penerapan</a:t>
            </a:r>
            <a:r>
              <a:rPr lang="en-US" sz="2400" dirty="0">
                <a:solidFill>
                  <a:srgbClr val="FFFFFF"/>
                </a:solidFill>
                <a:latin typeface="Telegraf"/>
              </a:rPr>
              <a:t> </a:t>
            </a:r>
            <a:r>
              <a:rPr lang="en-US" sz="2400" dirty="0" err="1">
                <a:solidFill>
                  <a:srgbClr val="FFFFFF"/>
                </a:solidFill>
                <a:latin typeface="Telegraf"/>
              </a:rPr>
              <a:t>kebijakan</a:t>
            </a:r>
            <a:r>
              <a:rPr lang="en-US" sz="2400" dirty="0">
                <a:solidFill>
                  <a:srgbClr val="FFFFFF"/>
                </a:solidFill>
                <a:latin typeface="Telegraf"/>
              </a:rPr>
              <a:t> </a:t>
            </a:r>
            <a:r>
              <a:rPr lang="en-US" sz="2400" dirty="0" err="1">
                <a:solidFill>
                  <a:srgbClr val="FFFFFF"/>
                </a:solidFill>
                <a:latin typeface="Telegraf"/>
              </a:rPr>
              <a:t>sanksi</a:t>
            </a:r>
            <a:r>
              <a:rPr lang="en-US" sz="2400" dirty="0">
                <a:solidFill>
                  <a:srgbClr val="FFFFFF"/>
                </a:solidFill>
                <a:latin typeface="Telegraf"/>
              </a:rPr>
              <a:t> </a:t>
            </a:r>
            <a:r>
              <a:rPr lang="en-US" sz="2400" dirty="0" err="1">
                <a:solidFill>
                  <a:srgbClr val="FFFFFF"/>
                </a:solidFill>
                <a:latin typeface="Telegraf"/>
              </a:rPr>
              <a:t>untuk</a:t>
            </a:r>
            <a:r>
              <a:rPr lang="en-US" sz="2400" dirty="0">
                <a:solidFill>
                  <a:srgbClr val="FFFFFF"/>
                </a:solidFill>
                <a:latin typeface="Telegraf"/>
              </a:rPr>
              <a:t> </a:t>
            </a:r>
            <a:r>
              <a:rPr lang="en-US" sz="2400" dirty="0" err="1">
                <a:solidFill>
                  <a:srgbClr val="FFFFFF"/>
                </a:solidFill>
                <a:latin typeface="Telegraf"/>
              </a:rPr>
              <a:t>memberikan</a:t>
            </a:r>
            <a:r>
              <a:rPr lang="en-US" sz="2400" dirty="0">
                <a:solidFill>
                  <a:srgbClr val="FFFFFF"/>
                </a:solidFill>
                <a:latin typeface="Telegraf"/>
              </a:rPr>
              <a:t> </a:t>
            </a:r>
            <a:r>
              <a:rPr lang="en-US" sz="2400" dirty="0" err="1">
                <a:solidFill>
                  <a:srgbClr val="FFFFFF"/>
                </a:solidFill>
                <a:latin typeface="Telegraf"/>
              </a:rPr>
              <a:t>efek</a:t>
            </a:r>
            <a:r>
              <a:rPr lang="en-US" sz="2400" dirty="0">
                <a:solidFill>
                  <a:srgbClr val="FFFFFF"/>
                </a:solidFill>
                <a:latin typeface="Telegraf"/>
              </a:rPr>
              <a:t> </a:t>
            </a:r>
            <a:r>
              <a:rPr lang="en-US" sz="2400" dirty="0" err="1">
                <a:solidFill>
                  <a:srgbClr val="FFFFFF"/>
                </a:solidFill>
                <a:latin typeface="Telegraf"/>
              </a:rPr>
              <a:t>jera</a:t>
            </a:r>
            <a:r>
              <a:rPr lang="en-US" sz="2400" dirty="0">
                <a:solidFill>
                  <a:srgbClr val="FFFFFF"/>
                </a:solidFill>
                <a:latin typeface="Telegraf"/>
              </a:rPr>
              <a:t> </a:t>
            </a:r>
            <a:r>
              <a:rPr lang="en-US" sz="2400" dirty="0" err="1">
                <a:solidFill>
                  <a:srgbClr val="FFFFFF"/>
                </a:solidFill>
                <a:latin typeface="Telegraf"/>
              </a:rPr>
              <a:t>bagi</a:t>
            </a:r>
            <a:r>
              <a:rPr lang="en-US" sz="2400" dirty="0">
                <a:solidFill>
                  <a:srgbClr val="FFFFFF"/>
                </a:solidFill>
                <a:latin typeface="Telegraf"/>
              </a:rPr>
              <a:t> </a:t>
            </a:r>
            <a:r>
              <a:rPr lang="en-US" sz="2400" dirty="0" err="1">
                <a:solidFill>
                  <a:srgbClr val="FFFFFF"/>
                </a:solidFill>
                <a:latin typeface="Telegraf"/>
              </a:rPr>
              <a:t>pelaku</a:t>
            </a:r>
            <a:r>
              <a:rPr lang="en-US" sz="2400" dirty="0">
                <a:solidFill>
                  <a:srgbClr val="FFFFFF"/>
                </a:solidFill>
                <a:latin typeface="Telegraf"/>
              </a:rPr>
              <a:t> Fraud Perusahaan </a:t>
            </a:r>
            <a:r>
              <a:rPr lang="en-US" sz="2400" dirty="0" err="1">
                <a:solidFill>
                  <a:srgbClr val="FFFFFF"/>
                </a:solidFill>
                <a:latin typeface="Telegraf"/>
              </a:rPr>
              <a:t>harus</a:t>
            </a:r>
            <a:r>
              <a:rPr lang="en-US" sz="2400" dirty="0">
                <a:solidFill>
                  <a:srgbClr val="FFFFFF"/>
                </a:solidFill>
                <a:latin typeface="Telegraf"/>
              </a:rPr>
              <a:t> </a:t>
            </a:r>
            <a:r>
              <a:rPr lang="en-US" sz="2400" dirty="0" err="1">
                <a:solidFill>
                  <a:srgbClr val="FFFFFF"/>
                </a:solidFill>
                <a:latin typeface="Telegraf"/>
              </a:rPr>
              <a:t>diterapkan</a:t>
            </a:r>
            <a:r>
              <a:rPr lang="en-US" sz="2400" dirty="0">
                <a:solidFill>
                  <a:srgbClr val="FFFFFF"/>
                </a:solidFill>
                <a:latin typeface="Telegraf"/>
              </a:rPr>
              <a:t> </a:t>
            </a:r>
            <a:r>
              <a:rPr lang="en-US" sz="2400" dirty="0" err="1">
                <a:solidFill>
                  <a:srgbClr val="FFFFFF"/>
                </a:solidFill>
                <a:latin typeface="Telegraf"/>
              </a:rPr>
              <a:t>secara</a:t>
            </a:r>
            <a:r>
              <a:rPr lang="en-US" sz="2400" dirty="0">
                <a:solidFill>
                  <a:srgbClr val="FFFFFF"/>
                </a:solidFill>
                <a:latin typeface="Telegraf"/>
              </a:rPr>
              <a:t> </a:t>
            </a:r>
            <a:r>
              <a:rPr lang="en-US" sz="2400" dirty="0" err="1">
                <a:solidFill>
                  <a:srgbClr val="FFFFFF"/>
                </a:solidFill>
                <a:latin typeface="Telegraf"/>
              </a:rPr>
              <a:t>transparan</a:t>
            </a:r>
            <a:r>
              <a:rPr lang="en-US" sz="2400" dirty="0">
                <a:solidFill>
                  <a:srgbClr val="FFFFFF"/>
                </a:solidFill>
                <a:latin typeface="Telegraf"/>
              </a:rPr>
              <a:t> dan </a:t>
            </a:r>
            <a:r>
              <a:rPr lang="en-US" sz="2400" dirty="0" err="1">
                <a:solidFill>
                  <a:srgbClr val="FFFFFF"/>
                </a:solidFill>
                <a:latin typeface="Telegraf"/>
              </a:rPr>
              <a:t>konsisten</a:t>
            </a:r>
            <a:r>
              <a:rPr lang="en-US" sz="2400" dirty="0">
                <a:solidFill>
                  <a:srgbClr val="FFFFFF"/>
                </a:solidFill>
                <a:latin typeface="Telegraf"/>
              </a:rPr>
              <a:t>, </a:t>
            </a:r>
            <a:r>
              <a:rPr lang="en-US" sz="2400" dirty="0" err="1">
                <a:solidFill>
                  <a:srgbClr val="FFFFFF"/>
                </a:solidFill>
                <a:latin typeface="Telegraf"/>
              </a:rPr>
              <a:t>meliputi</a:t>
            </a:r>
            <a:r>
              <a:rPr lang="en-US" sz="2400" dirty="0">
                <a:solidFill>
                  <a:srgbClr val="FFFFFF"/>
                </a:solidFill>
                <a:latin typeface="Telegraf"/>
              </a:rPr>
              <a:t> :</a:t>
            </a: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a:solidFill>
                  <a:srgbClr val="FFFFFF"/>
                </a:solidFill>
                <a:latin typeface="Telegraf"/>
              </a:rPr>
              <a:t>Unit </a:t>
            </a:r>
            <a:r>
              <a:rPr lang="en-US" sz="2400" dirty="0" err="1">
                <a:solidFill>
                  <a:srgbClr val="FFFFFF"/>
                </a:solidFill>
                <a:latin typeface="Telegraf"/>
              </a:rPr>
              <a:t>kerja</a:t>
            </a:r>
            <a:r>
              <a:rPr lang="en-US" sz="2400" dirty="0">
                <a:solidFill>
                  <a:srgbClr val="FFFFFF"/>
                </a:solidFill>
                <a:latin typeface="Telegraf"/>
              </a:rPr>
              <a:t> yang </a:t>
            </a:r>
            <a:r>
              <a:rPr lang="en-US" sz="2400" dirty="0" err="1">
                <a:solidFill>
                  <a:srgbClr val="FFFFFF"/>
                </a:solidFill>
                <a:latin typeface="Telegraf"/>
              </a:rPr>
              <a:t>melakukan</a:t>
            </a:r>
            <a:r>
              <a:rPr lang="en-US" sz="2400" dirty="0">
                <a:solidFill>
                  <a:srgbClr val="FFFFFF"/>
                </a:solidFill>
                <a:latin typeface="Telegraf"/>
              </a:rPr>
              <a:t> </a:t>
            </a:r>
            <a:r>
              <a:rPr lang="en-US" sz="2400" dirty="0" err="1">
                <a:solidFill>
                  <a:srgbClr val="FFFFFF"/>
                </a:solidFill>
                <a:latin typeface="Telegraf"/>
              </a:rPr>
              <a:t>pemeriksaan</a:t>
            </a:r>
            <a:r>
              <a:rPr lang="en-US" sz="2400" dirty="0">
                <a:solidFill>
                  <a:srgbClr val="FFFFFF"/>
                </a:solidFill>
                <a:latin typeface="Telegraf"/>
              </a:rPr>
              <a:t> </a:t>
            </a:r>
            <a:r>
              <a:rPr lang="en-US" sz="2400" dirty="0" err="1">
                <a:solidFill>
                  <a:srgbClr val="FFFFFF"/>
                </a:solidFill>
                <a:latin typeface="Telegraf"/>
              </a:rPr>
              <a:t>seperti</a:t>
            </a:r>
            <a:r>
              <a:rPr lang="en-US" sz="2400" dirty="0">
                <a:solidFill>
                  <a:srgbClr val="FFFFFF"/>
                </a:solidFill>
                <a:latin typeface="Telegraf"/>
              </a:rPr>
              <a:t> Internal Audit </a:t>
            </a:r>
            <a:r>
              <a:rPr lang="en-US" sz="2400" dirty="0" err="1">
                <a:solidFill>
                  <a:srgbClr val="FFFFFF"/>
                </a:solidFill>
                <a:latin typeface="Telegraf"/>
              </a:rPr>
              <a:t>Departement</a:t>
            </a:r>
            <a:r>
              <a:rPr lang="en-US" sz="2400" dirty="0">
                <a:solidFill>
                  <a:srgbClr val="FFFFFF"/>
                </a:solidFill>
                <a:latin typeface="Telegraf"/>
              </a:rPr>
              <a:t> dan unit lain yang </a:t>
            </a:r>
            <a:r>
              <a:rPr lang="en-US" sz="2400" dirty="0" err="1">
                <a:solidFill>
                  <a:srgbClr val="FFFFFF"/>
                </a:solidFill>
                <a:latin typeface="Telegraf"/>
              </a:rPr>
              <a:t>berwenang</a:t>
            </a:r>
            <a:r>
              <a:rPr lang="en-US" sz="2400" dirty="0">
                <a:solidFill>
                  <a:srgbClr val="FFFFFF"/>
                </a:solidFill>
                <a:latin typeface="Telegraf"/>
              </a:rPr>
              <a:t> </a:t>
            </a:r>
            <a:r>
              <a:rPr lang="en-US" sz="2400" dirty="0" err="1">
                <a:solidFill>
                  <a:srgbClr val="FFFFFF"/>
                </a:solidFill>
                <a:latin typeface="Telegraf"/>
              </a:rPr>
              <a:t>akan</a:t>
            </a:r>
            <a:r>
              <a:rPr lang="en-US" sz="2400" dirty="0">
                <a:solidFill>
                  <a:srgbClr val="FFFFFF"/>
                </a:solidFill>
                <a:latin typeface="Telegraf"/>
              </a:rPr>
              <a:t> </a:t>
            </a:r>
            <a:r>
              <a:rPr lang="en-US" sz="2400" dirty="0" err="1">
                <a:solidFill>
                  <a:srgbClr val="FFFFFF"/>
                </a:solidFill>
                <a:latin typeface="Telegraf"/>
              </a:rPr>
              <a:t>menerbitkan</a:t>
            </a:r>
            <a:r>
              <a:rPr lang="en-US" sz="2400" dirty="0">
                <a:solidFill>
                  <a:srgbClr val="FFFFFF"/>
                </a:solidFill>
                <a:latin typeface="Telegraf"/>
              </a:rPr>
              <a:t> </a:t>
            </a:r>
            <a:r>
              <a:rPr lang="en-US" sz="2400" dirty="0" err="1">
                <a:solidFill>
                  <a:srgbClr val="FFFFFF"/>
                </a:solidFill>
                <a:latin typeface="Telegraf"/>
              </a:rPr>
              <a:t>hasil</a:t>
            </a:r>
            <a:r>
              <a:rPr lang="en-US" sz="2400" dirty="0">
                <a:solidFill>
                  <a:srgbClr val="FFFFFF"/>
                </a:solidFill>
                <a:latin typeface="Telegraf"/>
              </a:rPr>
              <a:t> </a:t>
            </a:r>
            <a:r>
              <a:rPr lang="en-US" sz="2400" dirty="0" err="1">
                <a:solidFill>
                  <a:srgbClr val="FFFFFF"/>
                </a:solidFill>
                <a:latin typeface="Telegraf"/>
              </a:rPr>
              <a:t>laporan</a:t>
            </a:r>
            <a:r>
              <a:rPr lang="en-US" sz="2400" dirty="0">
                <a:solidFill>
                  <a:srgbClr val="FFFFFF"/>
                </a:solidFill>
                <a:latin typeface="Telegraf"/>
              </a:rPr>
              <a:t> </a:t>
            </a:r>
            <a:r>
              <a:rPr lang="en-US" sz="2400" dirty="0" err="1">
                <a:solidFill>
                  <a:srgbClr val="FFFFFF"/>
                </a:solidFill>
                <a:latin typeface="Telegraf"/>
              </a:rPr>
              <a:t>investigasinya</a:t>
            </a:r>
            <a:r>
              <a:rPr lang="en-US" sz="2400" dirty="0">
                <a:solidFill>
                  <a:srgbClr val="FFFFFF"/>
                </a:solidFill>
                <a:latin typeface="Telegraf"/>
              </a:rPr>
              <a:t> </a:t>
            </a:r>
            <a:r>
              <a:rPr lang="en-US" sz="2400" dirty="0" err="1">
                <a:solidFill>
                  <a:srgbClr val="FFFFFF"/>
                </a:solidFill>
                <a:latin typeface="Telegraf"/>
              </a:rPr>
              <a:t>sesuai</a:t>
            </a:r>
            <a:r>
              <a:rPr lang="en-US" sz="2400" dirty="0">
                <a:solidFill>
                  <a:srgbClr val="FFFFFF"/>
                </a:solidFill>
                <a:latin typeface="Telegraf"/>
              </a:rPr>
              <a:t> </a:t>
            </a:r>
            <a:r>
              <a:rPr lang="en-US" sz="2400" dirty="0" err="1">
                <a:solidFill>
                  <a:srgbClr val="FFFFFF"/>
                </a:solidFill>
                <a:latin typeface="Telegraf"/>
              </a:rPr>
              <a:t>dengan</a:t>
            </a:r>
            <a:r>
              <a:rPr lang="en-US" sz="2400" dirty="0">
                <a:solidFill>
                  <a:srgbClr val="FFFFFF"/>
                </a:solidFill>
                <a:latin typeface="Telegraf"/>
              </a:rPr>
              <a:t> </a:t>
            </a:r>
            <a:r>
              <a:rPr lang="en-US" sz="2400" dirty="0" err="1">
                <a:solidFill>
                  <a:srgbClr val="FFFFFF"/>
                </a:solidFill>
                <a:latin typeface="Telegraf"/>
              </a:rPr>
              <a:t>sistem</a:t>
            </a:r>
            <a:r>
              <a:rPr lang="en-US" sz="2400" dirty="0">
                <a:solidFill>
                  <a:srgbClr val="FFFFFF"/>
                </a:solidFill>
                <a:latin typeface="Telegraf"/>
              </a:rPr>
              <a:t> dan </a:t>
            </a:r>
            <a:r>
              <a:rPr lang="en-US" sz="2400" dirty="0" err="1">
                <a:solidFill>
                  <a:srgbClr val="FFFFFF"/>
                </a:solidFill>
                <a:latin typeface="Telegraf"/>
              </a:rPr>
              <a:t>prosedur</a:t>
            </a:r>
            <a:r>
              <a:rPr lang="en-US" sz="2400" dirty="0">
                <a:solidFill>
                  <a:srgbClr val="FFFFFF"/>
                </a:solidFill>
                <a:latin typeface="Telegraf"/>
              </a:rPr>
              <a:t> </a:t>
            </a:r>
            <a:r>
              <a:rPr lang="en-US" sz="2400" dirty="0" err="1">
                <a:solidFill>
                  <a:srgbClr val="FFFFFF"/>
                </a:solidFill>
                <a:latin typeface="Telegraf"/>
              </a:rPr>
              <a:t>kerjanya</a:t>
            </a:r>
            <a:r>
              <a:rPr lang="en-US" sz="2400" dirty="0">
                <a:solidFill>
                  <a:srgbClr val="FFFFFF"/>
                </a:solidFill>
                <a:latin typeface="Telegraf"/>
              </a:rPr>
              <a:t> masing-masing</a:t>
            </a:r>
          </a:p>
          <a:p>
            <a:pPr>
              <a:lnSpc>
                <a:spcPts val="2879"/>
              </a:lnSpc>
            </a:pPr>
            <a:endParaRPr lang="en-US" sz="2400" dirty="0">
              <a:solidFill>
                <a:srgbClr val="FFFFFF"/>
              </a:solidFill>
              <a:latin typeface="Telegraf"/>
            </a:endParaRPr>
          </a:p>
          <a:p>
            <a:pPr marL="518160" lvl="1" indent="-259080">
              <a:lnSpc>
                <a:spcPts val="2879"/>
              </a:lnSpc>
              <a:buFont typeface="Arial"/>
              <a:buChar char="•"/>
            </a:pPr>
            <a:r>
              <a:rPr lang="en-US" sz="2400" dirty="0" err="1">
                <a:solidFill>
                  <a:srgbClr val="FFFFFF"/>
                </a:solidFill>
                <a:latin typeface="Telegraf"/>
              </a:rPr>
              <a:t>Bila</a:t>
            </a:r>
            <a:r>
              <a:rPr lang="en-US" sz="2400" dirty="0">
                <a:solidFill>
                  <a:srgbClr val="FFFFFF"/>
                </a:solidFill>
                <a:latin typeface="Telegraf"/>
              </a:rPr>
              <a:t> </a:t>
            </a:r>
            <a:r>
              <a:rPr lang="en-US" sz="2400" dirty="0" err="1">
                <a:solidFill>
                  <a:srgbClr val="FFFFFF"/>
                </a:solidFill>
                <a:latin typeface="Telegraf"/>
              </a:rPr>
              <a:t>pelaku</a:t>
            </a:r>
            <a:r>
              <a:rPr lang="en-US" sz="2400" dirty="0">
                <a:solidFill>
                  <a:srgbClr val="FFFFFF"/>
                </a:solidFill>
                <a:latin typeface="Telegraf"/>
              </a:rPr>
              <a:t> </a:t>
            </a:r>
            <a:r>
              <a:rPr lang="en-US" sz="2400" dirty="0" err="1">
                <a:solidFill>
                  <a:srgbClr val="FFFFFF"/>
                </a:solidFill>
                <a:latin typeface="Telegraf"/>
              </a:rPr>
              <a:t>terbukti</a:t>
            </a:r>
            <a:r>
              <a:rPr lang="en-US" sz="2400" dirty="0">
                <a:solidFill>
                  <a:srgbClr val="FFFFFF"/>
                </a:solidFill>
                <a:latin typeface="Telegraf"/>
              </a:rPr>
              <a:t> </a:t>
            </a:r>
            <a:r>
              <a:rPr lang="en-US" sz="2400" dirty="0" err="1">
                <a:solidFill>
                  <a:srgbClr val="FFFFFF"/>
                </a:solidFill>
                <a:latin typeface="Telegraf"/>
              </a:rPr>
              <a:t>melakukan</a:t>
            </a:r>
            <a:r>
              <a:rPr lang="en-US" sz="2400" dirty="0">
                <a:solidFill>
                  <a:srgbClr val="FFFFFF"/>
                </a:solidFill>
                <a:latin typeface="Telegraf"/>
              </a:rPr>
              <a:t> Fraud, </a:t>
            </a:r>
            <a:r>
              <a:rPr lang="en-US" sz="2400" dirty="0" err="1">
                <a:solidFill>
                  <a:srgbClr val="FFFFFF"/>
                </a:solidFill>
                <a:latin typeface="Telegraf"/>
              </a:rPr>
              <a:t>maka</a:t>
            </a:r>
            <a:r>
              <a:rPr lang="en-US" sz="2400" dirty="0">
                <a:solidFill>
                  <a:srgbClr val="FFFFFF"/>
                </a:solidFill>
                <a:latin typeface="Telegraf"/>
              </a:rPr>
              <a:t> </a:t>
            </a:r>
            <a:r>
              <a:rPr lang="en-US" sz="2400" dirty="0" err="1">
                <a:solidFill>
                  <a:srgbClr val="FFFFFF"/>
                </a:solidFill>
                <a:latin typeface="Telegraf"/>
              </a:rPr>
              <a:t>Komite</a:t>
            </a:r>
            <a:r>
              <a:rPr lang="en-US" sz="2400" dirty="0">
                <a:solidFill>
                  <a:srgbClr val="FFFFFF"/>
                </a:solidFill>
                <a:latin typeface="Telegraf"/>
              </a:rPr>
              <a:t> Anti Fraud </a:t>
            </a:r>
            <a:r>
              <a:rPr lang="en-US" sz="2400" dirty="0" err="1">
                <a:solidFill>
                  <a:srgbClr val="FFFFFF"/>
                </a:solidFill>
                <a:latin typeface="Telegraf"/>
              </a:rPr>
              <a:t>merekomendasikan</a:t>
            </a:r>
            <a:r>
              <a:rPr lang="en-US" sz="2400" dirty="0">
                <a:solidFill>
                  <a:srgbClr val="FFFFFF"/>
                </a:solidFill>
                <a:latin typeface="Telegraf"/>
              </a:rPr>
              <a:t> </a:t>
            </a:r>
            <a:r>
              <a:rPr lang="en-US" sz="2400" dirty="0" err="1">
                <a:solidFill>
                  <a:srgbClr val="FFFFFF"/>
                </a:solidFill>
                <a:latin typeface="Telegraf"/>
              </a:rPr>
              <a:t>sanksi</a:t>
            </a:r>
            <a:r>
              <a:rPr lang="en-US" sz="2400" dirty="0">
                <a:solidFill>
                  <a:srgbClr val="FFFFFF"/>
                </a:solidFill>
                <a:latin typeface="Telegraf"/>
              </a:rPr>
              <a:t> </a:t>
            </a:r>
            <a:r>
              <a:rPr lang="en-US" sz="2400" dirty="0" err="1">
                <a:solidFill>
                  <a:srgbClr val="FFFFFF"/>
                </a:solidFill>
                <a:latin typeface="Telegraf"/>
              </a:rPr>
              <a:t>kepada</a:t>
            </a:r>
            <a:r>
              <a:rPr lang="en-US" sz="2400" dirty="0">
                <a:solidFill>
                  <a:srgbClr val="FFFFFF"/>
                </a:solidFill>
                <a:latin typeface="Telegraf"/>
              </a:rPr>
              <a:t> </a:t>
            </a:r>
            <a:r>
              <a:rPr lang="en-US" sz="2400" dirty="0" err="1">
                <a:solidFill>
                  <a:srgbClr val="FFFFFF"/>
                </a:solidFill>
                <a:latin typeface="Telegraf"/>
              </a:rPr>
              <a:t>pihak</a:t>
            </a:r>
            <a:r>
              <a:rPr lang="en-US" sz="2400" dirty="0">
                <a:solidFill>
                  <a:srgbClr val="FFFFFF"/>
                </a:solidFill>
                <a:latin typeface="Telegraf"/>
              </a:rPr>
              <a:t> yang </a:t>
            </a:r>
            <a:r>
              <a:rPr lang="en-US" sz="2400" dirty="0" err="1">
                <a:solidFill>
                  <a:srgbClr val="FFFFFF"/>
                </a:solidFill>
                <a:latin typeface="Telegraf"/>
              </a:rPr>
              <a:t>terlibat</a:t>
            </a:r>
            <a:r>
              <a:rPr lang="en-US" sz="2400" dirty="0">
                <a:solidFill>
                  <a:srgbClr val="FFFFFF"/>
                </a:solidFill>
                <a:latin typeface="Telegraf"/>
              </a:rPr>
              <a:t> </a:t>
            </a:r>
            <a:r>
              <a:rPr lang="en-US" sz="2400" dirty="0" err="1">
                <a:solidFill>
                  <a:srgbClr val="FFFFFF"/>
                </a:solidFill>
                <a:latin typeface="Telegraf"/>
              </a:rPr>
              <a:t>sesuai</a:t>
            </a:r>
            <a:r>
              <a:rPr lang="en-US" sz="2400" dirty="0">
                <a:solidFill>
                  <a:srgbClr val="FFFFFF"/>
                </a:solidFill>
                <a:latin typeface="Telegraf"/>
              </a:rPr>
              <a:t> </a:t>
            </a:r>
            <a:r>
              <a:rPr lang="en-US" sz="2400" dirty="0" err="1">
                <a:solidFill>
                  <a:srgbClr val="FFFFFF"/>
                </a:solidFill>
                <a:latin typeface="Telegraf"/>
              </a:rPr>
              <a:t>dengan</a:t>
            </a:r>
            <a:r>
              <a:rPr lang="en-US" sz="2400" dirty="0">
                <a:solidFill>
                  <a:srgbClr val="FFFFFF"/>
                </a:solidFill>
                <a:latin typeface="Telegraf"/>
              </a:rPr>
              <a:t> </a:t>
            </a:r>
            <a:r>
              <a:rPr lang="en-US" sz="2400" dirty="0" err="1">
                <a:solidFill>
                  <a:srgbClr val="FFFFFF"/>
                </a:solidFill>
                <a:latin typeface="Telegraf"/>
              </a:rPr>
              <a:t>Peraturan</a:t>
            </a:r>
            <a:r>
              <a:rPr lang="en-US" sz="2400" dirty="0">
                <a:solidFill>
                  <a:srgbClr val="FFFFFF"/>
                </a:solidFill>
                <a:latin typeface="Telegraf"/>
              </a:rPr>
              <a:t> Perusahaan dan </a:t>
            </a:r>
            <a:r>
              <a:rPr lang="en-US" sz="2400" dirty="0" err="1">
                <a:solidFill>
                  <a:srgbClr val="FFFFFF"/>
                </a:solidFill>
                <a:latin typeface="Telegraf"/>
              </a:rPr>
              <a:t>ketentuan</a:t>
            </a:r>
            <a:r>
              <a:rPr lang="en-US" sz="2400" dirty="0">
                <a:solidFill>
                  <a:srgbClr val="FFFFFF"/>
                </a:solidFill>
                <a:latin typeface="Telegraf"/>
              </a:rPr>
              <a:t> </a:t>
            </a:r>
            <a:r>
              <a:rPr lang="en-US" sz="2400" dirty="0" err="1">
                <a:solidFill>
                  <a:srgbClr val="FFFFFF"/>
                </a:solidFill>
                <a:latin typeface="Telegraf"/>
              </a:rPr>
              <a:t>dibawahnya</a:t>
            </a:r>
            <a:r>
              <a:rPr lang="en-US" sz="2400" dirty="0">
                <a:solidFill>
                  <a:srgbClr val="FFFFFF"/>
                </a:solidFill>
                <a:latin typeface="Telegraf"/>
              </a:rPr>
              <a:t> yang </a:t>
            </a:r>
            <a:r>
              <a:rPr lang="en-US" sz="2400" dirty="0" err="1">
                <a:solidFill>
                  <a:srgbClr val="FFFFFF"/>
                </a:solidFill>
                <a:latin typeface="Telegraf"/>
              </a:rPr>
              <a:t>telah</a:t>
            </a:r>
            <a:r>
              <a:rPr lang="en-US" sz="2400" dirty="0">
                <a:solidFill>
                  <a:srgbClr val="FFFFFF"/>
                </a:solidFill>
                <a:latin typeface="Telegraf"/>
              </a:rPr>
              <a:t> </a:t>
            </a:r>
            <a:r>
              <a:rPr lang="en-US" sz="2400" dirty="0" err="1">
                <a:solidFill>
                  <a:srgbClr val="FFFFFF"/>
                </a:solidFill>
                <a:latin typeface="Telegraf"/>
              </a:rPr>
              <a:t>ditetapkan</a:t>
            </a: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pPr>
            <a:endParaRPr lang="en-US" sz="2400" dirty="0">
              <a:solidFill>
                <a:srgbClr val="FFFFFF"/>
              </a:solidFill>
              <a:latin typeface="Telegraf"/>
            </a:endParaRPr>
          </a:p>
          <a:p>
            <a:pPr>
              <a:lnSpc>
                <a:spcPts val="2879"/>
              </a:lnSpc>
              <a:spcBef>
                <a:spcPct val="0"/>
              </a:spcBef>
            </a:pPr>
            <a:endParaRPr lang="en-US" sz="2400" dirty="0">
              <a:solidFill>
                <a:srgbClr val="FFFFFF"/>
              </a:solidFill>
              <a:latin typeface="Telegraf"/>
            </a:endParaRPr>
          </a:p>
          <a:p>
            <a:pPr>
              <a:lnSpc>
                <a:spcPts val="2879"/>
              </a:lnSpc>
              <a:spcBef>
                <a:spcPct val="0"/>
              </a:spcBef>
            </a:pPr>
            <a:endParaRPr lang="en-US" sz="2400" dirty="0">
              <a:solidFill>
                <a:srgbClr val="FFFFFF"/>
              </a:solidFill>
              <a:latin typeface="Telegraf"/>
            </a:endParaRPr>
          </a:p>
        </p:txBody>
      </p:sp>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76261" y="-28575"/>
            <a:ext cx="16230600" cy="10041210"/>
          </a:xfrm>
          <a:prstGeom prst="rect">
            <a:avLst/>
          </a:prstGeom>
        </p:spPr>
        <p:txBody>
          <a:bodyPr lIns="0" tIns="0" rIns="0" bIns="0" rtlCol="0" anchor="t">
            <a:spAutoFit/>
          </a:bodyPr>
          <a:lstStyle/>
          <a:p>
            <a:pPr>
              <a:lnSpc>
                <a:spcPts val="2879"/>
              </a:lnSpc>
            </a:pPr>
            <a:endParaRPr dirty="0"/>
          </a:p>
          <a:p>
            <a:pPr>
              <a:lnSpc>
                <a:spcPts val="2879"/>
              </a:lnSpc>
            </a:pPr>
            <a:endParaRPr dirty="0"/>
          </a:p>
          <a:p>
            <a:pPr>
              <a:lnSpc>
                <a:spcPts val="2879"/>
              </a:lnSpc>
            </a:pPr>
            <a:endParaRPr dirty="0"/>
          </a:p>
          <a:p>
            <a:pPr marL="518160" lvl="1" indent="-259080">
              <a:lnSpc>
                <a:spcPts val="2879"/>
              </a:lnSpc>
              <a:buFont typeface="Arial"/>
              <a:buChar char="•"/>
            </a:pPr>
            <a:r>
              <a:rPr lang="en-US" sz="2400" dirty="0" err="1">
                <a:solidFill>
                  <a:srgbClr val="000000"/>
                </a:solidFill>
                <a:latin typeface="Telegraf"/>
              </a:rPr>
              <a:t>Adapun</a:t>
            </a:r>
            <a:r>
              <a:rPr lang="en-US" sz="2400" dirty="0">
                <a:solidFill>
                  <a:srgbClr val="000000"/>
                </a:solidFill>
                <a:latin typeface="Telegraf"/>
              </a:rPr>
              <a:t> </a:t>
            </a:r>
            <a:r>
              <a:rPr lang="en-US" sz="2400" dirty="0" err="1">
                <a:solidFill>
                  <a:srgbClr val="000000"/>
                </a:solidFill>
                <a:latin typeface="Telegraf"/>
              </a:rPr>
              <a:t>jenis-jenis</a:t>
            </a:r>
            <a:r>
              <a:rPr lang="en-US" sz="2400" dirty="0">
                <a:solidFill>
                  <a:srgbClr val="000000"/>
                </a:solidFill>
                <a:latin typeface="Telegraf"/>
              </a:rPr>
              <a:t> </a:t>
            </a:r>
            <a:r>
              <a:rPr lang="en-US" sz="2400" dirty="0" err="1">
                <a:solidFill>
                  <a:srgbClr val="000000"/>
                </a:solidFill>
                <a:latin typeface="Telegraf"/>
              </a:rPr>
              <a:t>pelanggaran</a:t>
            </a:r>
            <a:r>
              <a:rPr lang="en-US" sz="2400" dirty="0">
                <a:solidFill>
                  <a:srgbClr val="000000"/>
                </a:solidFill>
                <a:latin typeface="Telegraf"/>
              </a:rPr>
              <a:t> Fraud </a:t>
            </a:r>
            <a:r>
              <a:rPr lang="en-US" sz="2400" dirty="0" err="1">
                <a:solidFill>
                  <a:srgbClr val="000000"/>
                </a:solidFill>
                <a:latin typeface="Telegraf"/>
              </a:rPr>
              <a:t>telah</a:t>
            </a:r>
            <a:r>
              <a:rPr lang="en-US" sz="2400" dirty="0">
                <a:solidFill>
                  <a:srgbClr val="000000"/>
                </a:solidFill>
                <a:latin typeface="Telegraf"/>
              </a:rPr>
              <a:t> </a:t>
            </a:r>
            <a:r>
              <a:rPr lang="en-US" sz="2400" dirty="0" err="1">
                <a:solidFill>
                  <a:srgbClr val="000000"/>
                </a:solidFill>
                <a:latin typeface="Telegraf"/>
              </a:rPr>
              <a:t>diatur</a:t>
            </a:r>
            <a:r>
              <a:rPr lang="en-US" sz="2400" dirty="0">
                <a:solidFill>
                  <a:srgbClr val="000000"/>
                </a:solidFill>
                <a:latin typeface="Telegraf"/>
              </a:rPr>
              <a:t> </a:t>
            </a:r>
            <a:r>
              <a:rPr lang="en-US" sz="2400" dirty="0" err="1">
                <a:solidFill>
                  <a:srgbClr val="000000"/>
                </a:solidFill>
                <a:latin typeface="Telegraf"/>
              </a:rPr>
              <a:t>pengenaan</a:t>
            </a:r>
            <a:r>
              <a:rPr lang="en-US" sz="2400" dirty="0">
                <a:solidFill>
                  <a:srgbClr val="000000"/>
                </a:solidFill>
                <a:latin typeface="Telegraf"/>
              </a:rPr>
              <a:t> </a:t>
            </a:r>
            <a:r>
              <a:rPr lang="en-US" sz="2400" dirty="0" err="1">
                <a:solidFill>
                  <a:srgbClr val="000000"/>
                </a:solidFill>
                <a:latin typeface="Telegraf"/>
              </a:rPr>
              <a:t>sanksinya</a:t>
            </a:r>
            <a:r>
              <a:rPr lang="en-US" sz="2400" dirty="0">
                <a:solidFill>
                  <a:srgbClr val="000000"/>
                </a:solidFill>
                <a:latin typeface="Telegraf"/>
              </a:rPr>
              <a:t> </a:t>
            </a: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Peraturan</a:t>
            </a:r>
            <a:r>
              <a:rPr lang="en-US" sz="2400" dirty="0">
                <a:solidFill>
                  <a:srgbClr val="000000"/>
                </a:solidFill>
                <a:latin typeface="Telegraf"/>
              </a:rPr>
              <a:t> Perusahaan </a:t>
            </a:r>
            <a:r>
              <a:rPr lang="en-US" sz="2400" dirty="0" err="1">
                <a:solidFill>
                  <a:srgbClr val="000000"/>
                </a:solidFill>
                <a:latin typeface="Telegraf"/>
              </a:rPr>
              <a:t>antara</a:t>
            </a:r>
            <a:r>
              <a:rPr lang="en-US" sz="2400" dirty="0">
                <a:solidFill>
                  <a:srgbClr val="000000"/>
                </a:solidFill>
                <a:latin typeface="Telegraf"/>
              </a:rPr>
              <a:t> lain </a:t>
            </a: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terbatas</a:t>
            </a:r>
            <a:r>
              <a:rPr lang="en-US" sz="2400" dirty="0">
                <a:solidFill>
                  <a:srgbClr val="000000"/>
                </a:solidFill>
                <a:latin typeface="Telegraf"/>
              </a:rPr>
              <a:t> </a:t>
            </a:r>
            <a:r>
              <a:rPr lang="en-US" sz="2400" dirty="0" err="1">
                <a:solidFill>
                  <a:srgbClr val="000000"/>
                </a:solidFill>
                <a:latin typeface="Telegraf"/>
              </a:rPr>
              <a:t>pada</a:t>
            </a:r>
            <a:r>
              <a:rPr lang="en-US" sz="2400" dirty="0">
                <a:solidFill>
                  <a:srgbClr val="000000"/>
                </a:solidFill>
                <a:latin typeface="Telegraf"/>
              </a:rPr>
              <a:t> :</a:t>
            </a:r>
          </a:p>
          <a:p>
            <a:pPr>
              <a:lnSpc>
                <a:spcPts val="2879"/>
              </a:lnSpc>
            </a:pPr>
            <a:endParaRPr lang="en-US" sz="2400" dirty="0">
              <a:solidFill>
                <a:srgbClr val="000000"/>
              </a:solidFill>
              <a:latin typeface="Telegraf"/>
            </a:endParaRPr>
          </a:p>
          <a:p>
            <a:pPr>
              <a:lnSpc>
                <a:spcPts val="2879"/>
              </a:lnSpc>
            </a:pPr>
            <a:r>
              <a:rPr lang="en-US" sz="2400" dirty="0">
                <a:solidFill>
                  <a:srgbClr val="000000"/>
                </a:solidFill>
                <a:latin typeface="Telegraf"/>
              </a:rPr>
              <a:t>        -</a:t>
            </a:r>
            <a:r>
              <a:rPr lang="id-ID" sz="2400" dirty="0">
                <a:solidFill>
                  <a:srgbClr val="000000"/>
                </a:solidFill>
                <a:latin typeface="Telegraf"/>
              </a:rPr>
              <a:t> </a:t>
            </a:r>
            <a:r>
              <a:rPr lang="en-US" sz="2400" dirty="0" err="1">
                <a:solidFill>
                  <a:srgbClr val="000000"/>
                </a:solidFill>
                <a:latin typeface="Telegraf"/>
              </a:rPr>
              <a:t>Surat</a:t>
            </a:r>
            <a:r>
              <a:rPr lang="en-US" sz="2400" dirty="0">
                <a:solidFill>
                  <a:srgbClr val="000000"/>
                </a:solidFill>
                <a:latin typeface="Telegraf"/>
              </a:rPr>
              <a:t> </a:t>
            </a:r>
            <a:r>
              <a:rPr lang="en-US" sz="2400" dirty="0" err="1">
                <a:solidFill>
                  <a:srgbClr val="000000"/>
                </a:solidFill>
                <a:latin typeface="Telegraf"/>
              </a:rPr>
              <a:t>Peringatan</a:t>
            </a:r>
            <a:r>
              <a:rPr lang="en-US" sz="2400" dirty="0">
                <a:solidFill>
                  <a:srgbClr val="000000"/>
                </a:solidFill>
                <a:latin typeface="Telegraf"/>
              </a:rPr>
              <a:t> </a:t>
            </a:r>
            <a:r>
              <a:rPr lang="en-US" sz="2400" dirty="0" err="1">
                <a:solidFill>
                  <a:srgbClr val="000000"/>
                </a:solidFill>
                <a:latin typeface="Telegraf"/>
              </a:rPr>
              <a:t>sesuai</a:t>
            </a:r>
            <a:r>
              <a:rPr lang="en-US" sz="2400" dirty="0">
                <a:solidFill>
                  <a:srgbClr val="000000"/>
                </a:solidFill>
                <a:latin typeface="Telegraf"/>
              </a:rPr>
              <a:t> </a:t>
            </a:r>
            <a:r>
              <a:rPr lang="en-US" sz="2400" dirty="0" err="1">
                <a:solidFill>
                  <a:srgbClr val="000000"/>
                </a:solidFill>
                <a:latin typeface="Telegraf"/>
              </a:rPr>
              <a:t>dengan</a:t>
            </a:r>
            <a:r>
              <a:rPr lang="en-US" sz="2400" dirty="0">
                <a:solidFill>
                  <a:srgbClr val="000000"/>
                </a:solidFill>
                <a:latin typeface="Telegraf"/>
              </a:rPr>
              <a:t> </a:t>
            </a:r>
            <a:r>
              <a:rPr lang="en-US" sz="2400" dirty="0" err="1">
                <a:solidFill>
                  <a:srgbClr val="000000"/>
                </a:solidFill>
                <a:latin typeface="Telegraf"/>
              </a:rPr>
              <a:t>tingkat</a:t>
            </a:r>
            <a:r>
              <a:rPr lang="en-US" sz="2400" dirty="0">
                <a:solidFill>
                  <a:srgbClr val="000000"/>
                </a:solidFill>
                <a:latin typeface="Telegraf"/>
              </a:rPr>
              <a:t> Fraud</a:t>
            </a:r>
          </a:p>
          <a:p>
            <a:pPr>
              <a:lnSpc>
                <a:spcPts val="2879"/>
              </a:lnSpc>
            </a:pPr>
            <a:r>
              <a:rPr lang="en-US" sz="2400" dirty="0">
                <a:solidFill>
                  <a:srgbClr val="000000"/>
                </a:solidFill>
                <a:latin typeface="Telegraf"/>
              </a:rPr>
              <a:t>        -</a:t>
            </a:r>
            <a:r>
              <a:rPr lang="id-ID" sz="2400" dirty="0">
                <a:solidFill>
                  <a:srgbClr val="000000"/>
                </a:solidFill>
                <a:latin typeface="Telegraf"/>
              </a:rPr>
              <a:t> </a:t>
            </a:r>
            <a:r>
              <a:rPr lang="en-US" sz="2400" dirty="0" err="1">
                <a:solidFill>
                  <a:srgbClr val="000000"/>
                </a:solidFill>
                <a:latin typeface="Telegraf"/>
              </a:rPr>
              <a:t>Pemutusan</a:t>
            </a:r>
            <a:r>
              <a:rPr lang="en-US" sz="2400" dirty="0">
                <a:solidFill>
                  <a:srgbClr val="000000"/>
                </a:solidFill>
                <a:latin typeface="Telegraf"/>
              </a:rPr>
              <a:t> </a:t>
            </a:r>
            <a:r>
              <a:rPr lang="en-US" sz="2400" dirty="0" err="1">
                <a:solidFill>
                  <a:srgbClr val="000000"/>
                </a:solidFill>
                <a:latin typeface="Telegraf"/>
              </a:rPr>
              <a:t>Hubungan</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(PHK)</a:t>
            </a:r>
          </a:p>
          <a:p>
            <a:pPr>
              <a:lnSpc>
                <a:spcPts val="2879"/>
              </a:lnSpc>
            </a:pPr>
            <a:r>
              <a:rPr lang="en-US" sz="2400" dirty="0">
                <a:solidFill>
                  <a:srgbClr val="000000"/>
                </a:solidFill>
                <a:latin typeface="Telegraf"/>
              </a:rPr>
              <a:t>        -</a:t>
            </a:r>
            <a:r>
              <a:rPr lang="id-ID" sz="2400" dirty="0">
                <a:solidFill>
                  <a:srgbClr val="000000"/>
                </a:solidFill>
                <a:latin typeface="Telegraf"/>
              </a:rPr>
              <a:t> </a:t>
            </a:r>
            <a:r>
              <a:rPr lang="en-US" sz="2400" dirty="0" err="1">
                <a:solidFill>
                  <a:srgbClr val="000000"/>
                </a:solidFill>
                <a:latin typeface="Telegraf"/>
              </a:rPr>
              <a:t>Sanksi</a:t>
            </a:r>
            <a:r>
              <a:rPr lang="en-US" sz="2400" dirty="0">
                <a:solidFill>
                  <a:srgbClr val="000000"/>
                </a:solidFill>
                <a:latin typeface="Telegraf"/>
              </a:rPr>
              <a:t> </a:t>
            </a:r>
            <a:r>
              <a:rPr lang="en-US" sz="2400" dirty="0" err="1">
                <a:solidFill>
                  <a:srgbClr val="000000"/>
                </a:solidFill>
                <a:latin typeface="Telegraf"/>
              </a:rPr>
              <a:t>pidana</a:t>
            </a:r>
            <a:r>
              <a:rPr lang="en-US" sz="2400" dirty="0">
                <a:solidFill>
                  <a:srgbClr val="000000"/>
                </a:solidFill>
                <a:latin typeface="Telegraf"/>
              </a:rPr>
              <a:t>, </a:t>
            </a: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hal</a:t>
            </a:r>
            <a:r>
              <a:rPr lang="en-US" sz="2400" dirty="0">
                <a:solidFill>
                  <a:srgbClr val="000000"/>
                </a:solidFill>
                <a:latin typeface="Telegraf"/>
              </a:rPr>
              <a:t> </a:t>
            </a:r>
            <a:r>
              <a:rPr lang="en-US" sz="2400" dirty="0" err="1">
                <a:solidFill>
                  <a:srgbClr val="000000"/>
                </a:solidFill>
                <a:latin typeface="Telegraf"/>
              </a:rPr>
              <a:t>ditempuh</a:t>
            </a:r>
            <a:r>
              <a:rPr lang="en-US" sz="2400" dirty="0">
                <a:solidFill>
                  <a:srgbClr val="000000"/>
                </a:solidFill>
                <a:latin typeface="Telegraf"/>
              </a:rPr>
              <a:t> </a:t>
            </a:r>
            <a:r>
              <a:rPr lang="en-US" sz="2400" dirty="0" err="1">
                <a:solidFill>
                  <a:srgbClr val="000000"/>
                </a:solidFill>
                <a:latin typeface="Telegraf"/>
              </a:rPr>
              <a:t>penyelesaian</a:t>
            </a:r>
            <a:r>
              <a:rPr lang="en-US" sz="2400" dirty="0">
                <a:solidFill>
                  <a:srgbClr val="000000"/>
                </a:solidFill>
                <a:latin typeface="Telegraf"/>
              </a:rPr>
              <a:t> </a:t>
            </a:r>
            <a:r>
              <a:rPr lang="en-US" sz="2400" dirty="0" err="1">
                <a:solidFill>
                  <a:srgbClr val="000000"/>
                </a:solidFill>
                <a:latin typeface="Telegraf"/>
              </a:rPr>
              <a:t>melalui</a:t>
            </a:r>
            <a:r>
              <a:rPr lang="en-US" sz="2400" dirty="0">
                <a:solidFill>
                  <a:srgbClr val="000000"/>
                </a:solidFill>
                <a:latin typeface="Telegraf"/>
              </a:rPr>
              <a:t> </a:t>
            </a:r>
            <a:r>
              <a:rPr lang="en-US" sz="2400" dirty="0" err="1">
                <a:solidFill>
                  <a:srgbClr val="000000"/>
                </a:solidFill>
                <a:latin typeface="Telegraf"/>
              </a:rPr>
              <a:t>jalur</a:t>
            </a:r>
            <a:r>
              <a:rPr lang="en-US" sz="2400" dirty="0">
                <a:solidFill>
                  <a:srgbClr val="000000"/>
                </a:solidFill>
                <a:latin typeface="Telegraf"/>
              </a:rPr>
              <a:t> </a:t>
            </a:r>
            <a:r>
              <a:rPr lang="en-US" sz="2400" dirty="0" err="1">
                <a:solidFill>
                  <a:srgbClr val="000000"/>
                </a:solidFill>
                <a:latin typeface="Telegraf"/>
              </a:rPr>
              <a:t>hukum</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marL="518160" lvl="1" indent="-259080">
              <a:lnSpc>
                <a:spcPts val="2879"/>
              </a:lnSpc>
              <a:buFont typeface="Arial"/>
              <a:buChar char="•"/>
            </a:pPr>
            <a:r>
              <a:rPr lang="en-US" sz="2400" dirty="0" err="1">
                <a:solidFill>
                  <a:srgbClr val="000000"/>
                </a:solidFill>
                <a:latin typeface="Telegraf"/>
              </a:rPr>
              <a:t>Apabila</a:t>
            </a:r>
            <a:r>
              <a:rPr lang="en-US" sz="2400" dirty="0">
                <a:solidFill>
                  <a:srgbClr val="000000"/>
                </a:solidFill>
                <a:latin typeface="Telegraf"/>
              </a:rPr>
              <a:t> Fraud </a:t>
            </a:r>
            <a:r>
              <a:rPr lang="en-US" sz="2400" dirty="0" err="1">
                <a:solidFill>
                  <a:srgbClr val="000000"/>
                </a:solidFill>
                <a:latin typeface="Telegraf"/>
              </a:rPr>
              <a:t>disebabkan</a:t>
            </a:r>
            <a:r>
              <a:rPr lang="en-US" sz="2400" dirty="0">
                <a:solidFill>
                  <a:srgbClr val="000000"/>
                </a:solidFill>
                <a:latin typeface="Telegraf"/>
              </a:rPr>
              <a:t> </a:t>
            </a:r>
            <a:r>
              <a:rPr lang="en-US" sz="2400" dirty="0" err="1">
                <a:solidFill>
                  <a:srgbClr val="000000"/>
                </a:solidFill>
                <a:latin typeface="Telegraf"/>
              </a:rPr>
              <a:t>oleh</a:t>
            </a:r>
            <a:r>
              <a:rPr lang="en-US" sz="2400" dirty="0">
                <a:solidFill>
                  <a:srgbClr val="000000"/>
                </a:solidFill>
                <a:latin typeface="Telegraf"/>
              </a:rPr>
              <a:t> </a:t>
            </a:r>
            <a:r>
              <a:rPr lang="en-US" sz="2400" dirty="0" err="1">
                <a:solidFill>
                  <a:srgbClr val="000000"/>
                </a:solidFill>
                <a:latin typeface="Telegraf"/>
              </a:rPr>
              <a:t>kelemahan</a:t>
            </a:r>
            <a:r>
              <a:rPr lang="en-US" sz="2400" dirty="0">
                <a:solidFill>
                  <a:srgbClr val="000000"/>
                </a:solidFill>
                <a:latin typeface="Telegraf"/>
              </a:rPr>
              <a:t> </a:t>
            </a:r>
            <a:r>
              <a:rPr lang="en-US" sz="2400" dirty="0" err="1">
                <a:solidFill>
                  <a:srgbClr val="000000"/>
                </a:solidFill>
                <a:latin typeface="Telegraf"/>
              </a:rPr>
              <a:t>sistem</a:t>
            </a:r>
            <a:r>
              <a:rPr lang="en-US" sz="2400" dirty="0">
                <a:solidFill>
                  <a:srgbClr val="000000"/>
                </a:solidFill>
                <a:latin typeface="Telegraf"/>
              </a:rPr>
              <a:t> </a:t>
            </a:r>
            <a:r>
              <a:rPr lang="en-US" sz="2400" dirty="0" err="1">
                <a:solidFill>
                  <a:srgbClr val="000000"/>
                </a:solidFill>
                <a:latin typeface="Telegraf"/>
              </a:rPr>
              <a:t>dan</a:t>
            </a:r>
            <a:r>
              <a:rPr lang="en-US" sz="2400" dirty="0">
                <a:solidFill>
                  <a:srgbClr val="000000"/>
                </a:solidFill>
                <a:latin typeface="Telegraf"/>
              </a:rPr>
              <a:t> </a:t>
            </a:r>
            <a:r>
              <a:rPr lang="en-US" sz="2400" dirty="0" err="1">
                <a:solidFill>
                  <a:srgbClr val="000000"/>
                </a:solidFill>
                <a:latin typeface="Telegraf"/>
              </a:rPr>
              <a:t>prosedur</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a:t>
            </a:r>
            <a:r>
              <a:rPr lang="en-US" sz="2400" dirty="0" err="1">
                <a:solidFill>
                  <a:srgbClr val="000000"/>
                </a:solidFill>
                <a:latin typeface="Telegraf"/>
              </a:rPr>
              <a:t>maka</a:t>
            </a:r>
            <a:r>
              <a:rPr lang="en-US" sz="2400" dirty="0">
                <a:solidFill>
                  <a:srgbClr val="000000"/>
                </a:solidFill>
                <a:latin typeface="Telegraf"/>
              </a:rPr>
              <a:t> </a:t>
            </a: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laporan</a:t>
            </a:r>
            <a:r>
              <a:rPr lang="en-US" sz="2400" dirty="0">
                <a:solidFill>
                  <a:srgbClr val="000000"/>
                </a:solidFill>
                <a:latin typeface="Telegraf"/>
              </a:rPr>
              <a:t> </a:t>
            </a:r>
            <a:r>
              <a:rPr lang="en-US" sz="2400" dirty="0" err="1">
                <a:solidFill>
                  <a:srgbClr val="000000"/>
                </a:solidFill>
                <a:latin typeface="Telegraf"/>
              </a:rPr>
              <a:t>hasil</a:t>
            </a:r>
            <a:r>
              <a:rPr lang="en-US" sz="2400" dirty="0">
                <a:solidFill>
                  <a:srgbClr val="000000"/>
                </a:solidFill>
                <a:latin typeface="Telegraf"/>
              </a:rPr>
              <a:t> </a:t>
            </a:r>
            <a:r>
              <a:rPr lang="en-US" sz="2400" dirty="0" err="1">
                <a:solidFill>
                  <a:srgbClr val="000000"/>
                </a:solidFill>
                <a:latin typeface="Telegraf"/>
              </a:rPr>
              <a:t>pemeriksaan</a:t>
            </a:r>
            <a:r>
              <a:rPr lang="en-US" sz="2400" dirty="0">
                <a:solidFill>
                  <a:srgbClr val="000000"/>
                </a:solidFill>
                <a:latin typeface="Telegraf"/>
              </a:rPr>
              <a:t> </a:t>
            </a:r>
            <a:r>
              <a:rPr lang="en-US" sz="2400" dirty="0" err="1">
                <a:solidFill>
                  <a:srgbClr val="000000"/>
                </a:solidFill>
                <a:latin typeface="Telegraf"/>
              </a:rPr>
              <a:t>harus</a:t>
            </a:r>
            <a:r>
              <a:rPr lang="en-US" sz="2400" dirty="0">
                <a:solidFill>
                  <a:srgbClr val="000000"/>
                </a:solidFill>
                <a:latin typeface="Telegraf"/>
              </a:rPr>
              <a:t> </a:t>
            </a:r>
            <a:r>
              <a:rPr lang="en-US" sz="2400" dirty="0" err="1">
                <a:solidFill>
                  <a:srgbClr val="000000"/>
                </a:solidFill>
                <a:latin typeface="Telegraf"/>
              </a:rPr>
              <a:t>memberikan</a:t>
            </a:r>
            <a:r>
              <a:rPr lang="en-US" sz="2400" dirty="0">
                <a:solidFill>
                  <a:srgbClr val="000000"/>
                </a:solidFill>
                <a:latin typeface="Telegraf"/>
              </a:rPr>
              <a:t> </a:t>
            </a:r>
            <a:r>
              <a:rPr lang="en-US" sz="2400" dirty="0" err="1">
                <a:solidFill>
                  <a:srgbClr val="000000"/>
                </a:solidFill>
                <a:latin typeface="Telegraf"/>
              </a:rPr>
              <a:t>rekomendasi</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perbaikan</a:t>
            </a:r>
            <a:r>
              <a:rPr lang="en-US" sz="2400" dirty="0">
                <a:solidFill>
                  <a:srgbClr val="000000"/>
                </a:solidFill>
                <a:latin typeface="Telegraf"/>
              </a:rPr>
              <a:t> </a:t>
            </a:r>
            <a:r>
              <a:rPr lang="en-US" sz="2400" dirty="0" err="1">
                <a:solidFill>
                  <a:srgbClr val="000000"/>
                </a:solidFill>
                <a:latin typeface="Telegraf"/>
              </a:rPr>
              <a:t>sistem</a:t>
            </a:r>
            <a:r>
              <a:rPr lang="en-US" sz="2400" dirty="0">
                <a:solidFill>
                  <a:srgbClr val="000000"/>
                </a:solidFill>
                <a:latin typeface="Telegraf"/>
              </a:rPr>
              <a:t> </a:t>
            </a:r>
            <a:r>
              <a:rPr lang="en-US" sz="2400" dirty="0" err="1">
                <a:solidFill>
                  <a:srgbClr val="000000"/>
                </a:solidFill>
                <a:latin typeface="Telegraf"/>
              </a:rPr>
              <a:t>dan</a:t>
            </a:r>
            <a:r>
              <a:rPr lang="en-US" sz="2400" dirty="0">
                <a:solidFill>
                  <a:srgbClr val="000000"/>
                </a:solidFill>
                <a:latin typeface="Telegraf"/>
              </a:rPr>
              <a:t> </a:t>
            </a:r>
            <a:r>
              <a:rPr lang="en-US" sz="2400" dirty="0" err="1">
                <a:solidFill>
                  <a:srgbClr val="000000"/>
                </a:solidFill>
                <a:latin typeface="Telegraf"/>
              </a:rPr>
              <a:t>prosedur</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a:t>
            </a:r>
            <a:r>
              <a:rPr lang="en-US" sz="2400" dirty="0" err="1">
                <a:solidFill>
                  <a:srgbClr val="000000"/>
                </a:solidFill>
                <a:latin typeface="Telegraf"/>
              </a:rPr>
              <a:t>terkait</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marL="518160" lvl="1" indent="-259080">
              <a:lnSpc>
                <a:spcPts val="2879"/>
              </a:lnSpc>
              <a:buFont typeface="Arial"/>
              <a:buChar char="•"/>
            </a:pPr>
            <a:r>
              <a:rPr lang="en-US" sz="2400" dirty="0" err="1">
                <a:solidFill>
                  <a:srgbClr val="000000"/>
                </a:solidFill>
                <a:latin typeface="Telegraf"/>
              </a:rPr>
              <a:t>Setiap</a:t>
            </a:r>
            <a:r>
              <a:rPr lang="en-US" sz="2400" dirty="0">
                <a:solidFill>
                  <a:srgbClr val="000000"/>
                </a:solidFill>
                <a:latin typeface="Telegraf"/>
              </a:rPr>
              <a:t> </a:t>
            </a:r>
            <a:r>
              <a:rPr lang="en-US" sz="2400" dirty="0" err="1">
                <a:solidFill>
                  <a:srgbClr val="000000"/>
                </a:solidFill>
                <a:latin typeface="Telegraf"/>
              </a:rPr>
              <a:t>rekomendasi</a:t>
            </a:r>
            <a:r>
              <a:rPr lang="en-US" sz="2400" dirty="0">
                <a:solidFill>
                  <a:srgbClr val="000000"/>
                </a:solidFill>
                <a:latin typeface="Telegraf"/>
              </a:rPr>
              <a:t> yang </a:t>
            </a:r>
            <a:r>
              <a:rPr lang="en-US" sz="2400" dirty="0" err="1">
                <a:solidFill>
                  <a:srgbClr val="000000"/>
                </a:solidFill>
                <a:latin typeface="Telegraf"/>
              </a:rPr>
              <a:t>diberikan</a:t>
            </a:r>
            <a:r>
              <a:rPr lang="en-US" sz="2400" dirty="0">
                <a:solidFill>
                  <a:srgbClr val="000000"/>
                </a:solidFill>
                <a:latin typeface="Telegraf"/>
              </a:rPr>
              <a:t> </a:t>
            </a:r>
            <a:r>
              <a:rPr lang="en-US" sz="2400" dirty="0" err="1">
                <a:solidFill>
                  <a:srgbClr val="000000"/>
                </a:solidFill>
                <a:latin typeface="Telegraf"/>
              </a:rPr>
              <a:t>oleh</a:t>
            </a:r>
            <a:r>
              <a:rPr lang="en-US" sz="2400" dirty="0">
                <a:solidFill>
                  <a:srgbClr val="000000"/>
                </a:solidFill>
                <a:latin typeface="Telegraf"/>
              </a:rPr>
              <a:t> </a:t>
            </a:r>
            <a:r>
              <a:rPr lang="en-US" sz="2400" dirty="0" err="1">
                <a:solidFill>
                  <a:srgbClr val="000000"/>
                </a:solidFill>
                <a:latin typeface="Telegraf"/>
              </a:rPr>
              <a:t>Komite</a:t>
            </a:r>
            <a:r>
              <a:rPr lang="en-US" sz="2400" dirty="0">
                <a:solidFill>
                  <a:srgbClr val="000000"/>
                </a:solidFill>
                <a:latin typeface="Telegraf"/>
              </a:rPr>
              <a:t> Anti Fraud, </a:t>
            </a:r>
            <a:r>
              <a:rPr lang="en-US" sz="2400" dirty="0" err="1">
                <a:solidFill>
                  <a:srgbClr val="000000"/>
                </a:solidFill>
                <a:latin typeface="Telegraf"/>
              </a:rPr>
              <a:t>baik</a:t>
            </a:r>
            <a:r>
              <a:rPr lang="en-US" sz="2400" dirty="0">
                <a:solidFill>
                  <a:srgbClr val="000000"/>
                </a:solidFill>
                <a:latin typeface="Telegraf"/>
              </a:rPr>
              <a:t> </a:t>
            </a:r>
            <a:r>
              <a:rPr lang="en-US" sz="2400" dirty="0" err="1">
                <a:solidFill>
                  <a:srgbClr val="000000"/>
                </a:solidFill>
                <a:latin typeface="Telegraf"/>
              </a:rPr>
              <a:t>berupa</a:t>
            </a:r>
            <a:r>
              <a:rPr lang="en-US" sz="2400" dirty="0">
                <a:solidFill>
                  <a:srgbClr val="000000"/>
                </a:solidFill>
                <a:latin typeface="Telegraf"/>
              </a:rPr>
              <a:t> </a:t>
            </a:r>
            <a:r>
              <a:rPr lang="en-US" sz="2400" dirty="0" err="1">
                <a:solidFill>
                  <a:srgbClr val="000000"/>
                </a:solidFill>
                <a:latin typeface="Telegraf"/>
              </a:rPr>
              <a:t>pemberian</a:t>
            </a:r>
            <a:r>
              <a:rPr lang="en-US" sz="2400" dirty="0">
                <a:solidFill>
                  <a:srgbClr val="000000"/>
                </a:solidFill>
                <a:latin typeface="Telegraf"/>
              </a:rPr>
              <a:t> </a:t>
            </a:r>
            <a:r>
              <a:rPr lang="en-US" sz="2400" dirty="0" err="1">
                <a:solidFill>
                  <a:srgbClr val="000000"/>
                </a:solidFill>
                <a:latin typeface="Telegraf"/>
              </a:rPr>
              <a:t>sanksi</a:t>
            </a:r>
            <a:r>
              <a:rPr lang="en-US" sz="2400" dirty="0">
                <a:solidFill>
                  <a:srgbClr val="000000"/>
                </a:solidFill>
                <a:latin typeface="Telegraf"/>
              </a:rPr>
              <a:t> </a:t>
            </a:r>
            <a:r>
              <a:rPr lang="en-US" sz="2400" dirty="0" err="1">
                <a:solidFill>
                  <a:srgbClr val="000000"/>
                </a:solidFill>
                <a:latin typeface="Telegraf"/>
              </a:rPr>
              <a:t>maupun</a:t>
            </a:r>
            <a:r>
              <a:rPr lang="en-US" sz="2400" dirty="0">
                <a:solidFill>
                  <a:srgbClr val="000000"/>
                </a:solidFill>
                <a:latin typeface="Telegraf"/>
              </a:rPr>
              <a:t> </a:t>
            </a:r>
            <a:r>
              <a:rPr lang="en-US" sz="2400" dirty="0" err="1">
                <a:solidFill>
                  <a:srgbClr val="000000"/>
                </a:solidFill>
                <a:latin typeface="Telegraf"/>
              </a:rPr>
              <a:t>perbaikan</a:t>
            </a:r>
            <a:r>
              <a:rPr lang="en-US" sz="2400" dirty="0">
                <a:solidFill>
                  <a:srgbClr val="000000"/>
                </a:solidFill>
                <a:latin typeface="Telegraf"/>
              </a:rPr>
              <a:t> </a:t>
            </a:r>
            <a:r>
              <a:rPr lang="en-US" sz="2400" dirty="0" err="1">
                <a:solidFill>
                  <a:srgbClr val="000000"/>
                </a:solidFill>
                <a:latin typeface="Telegraf"/>
              </a:rPr>
              <a:t>sistem</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a:t>
            </a:r>
            <a:r>
              <a:rPr lang="en-US" sz="2400" dirty="0" err="1">
                <a:solidFill>
                  <a:srgbClr val="000000"/>
                </a:solidFill>
                <a:latin typeface="Telegraf"/>
              </a:rPr>
              <a:t>maka</a:t>
            </a:r>
            <a:r>
              <a:rPr lang="en-US" sz="2400" dirty="0">
                <a:solidFill>
                  <a:srgbClr val="000000"/>
                </a:solidFill>
                <a:latin typeface="Telegraf"/>
              </a:rPr>
              <a:t> </a:t>
            </a:r>
            <a:r>
              <a:rPr lang="en-US" sz="2400" dirty="0" err="1">
                <a:solidFill>
                  <a:srgbClr val="000000"/>
                </a:solidFill>
                <a:latin typeface="Telegraf"/>
              </a:rPr>
              <a:t>rekomendasi</a:t>
            </a:r>
            <a:r>
              <a:rPr lang="en-US" sz="2400" dirty="0">
                <a:solidFill>
                  <a:srgbClr val="000000"/>
                </a:solidFill>
                <a:latin typeface="Telegraf"/>
              </a:rPr>
              <a:t> </a:t>
            </a:r>
            <a:r>
              <a:rPr lang="en-US" sz="2400" dirty="0" err="1">
                <a:solidFill>
                  <a:srgbClr val="000000"/>
                </a:solidFill>
                <a:latin typeface="Telegraf"/>
              </a:rPr>
              <a:t>tersebut</a:t>
            </a:r>
            <a:r>
              <a:rPr lang="en-US" sz="2400" dirty="0">
                <a:solidFill>
                  <a:srgbClr val="000000"/>
                </a:solidFill>
                <a:latin typeface="Telegraf"/>
              </a:rPr>
              <a:t> </a:t>
            </a:r>
            <a:r>
              <a:rPr lang="en-US" sz="2400" dirty="0" err="1">
                <a:solidFill>
                  <a:srgbClr val="000000"/>
                </a:solidFill>
                <a:latin typeface="Telegraf"/>
              </a:rPr>
              <a:t>harus</a:t>
            </a:r>
            <a:r>
              <a:rPr lang="en-US" sz="2400" dirty="0">
                <a:solidFill>
                  <a:srgbClr val="000000"/>
                </a:solidFill>
                <a:latin typeface="Telegraf"/>
              </a:rPr>
              <a:t> </a:t>
            </a:r>
            <a:r>
              <a:rPr lang="en-US" sz="2400" dirty="0" err="1">
                <a:solidFill>
                  <a:srgbClr val="000000"/>
                </a:solidFill>
                <a:latin typeface="Telegraf"/>
              </a:rPr>
              <a:t>dikomunikasikan</a:t>
            </a:r>
            <a:r>
              <a:rPr lang="en-US" sz="2400" dirty="0">
                <a:solidFill>
                  <a:srgbClr val="000000"/>
                </a:solidFill>
                <a:latin typeface="Telegraf"/>
              </a:rPr>
              <a:t> </a:t>
            </a:r>
            <a:r>
              <a:rPr lang="en-US" sz="2400" dirty="0" err="1">
                <a:solidFill>
                  <a:srgbClr val="000000"/>
                </a:solidFill>
                <a:latin typeface="Telegraf"/>
              </a:rPr>
              <a:t>kepada</a:t>
            </a:r>
            <a:r>
              <a:rPr lang="en-US" sz="2400" dirty="0">
                <a:solidFill>
                  <a:srgbClr val="000000"/>
                </a:solidFill>
                <a:latin typeface="Telegraf"/>
              </a:rPr>
              <a:t> unit </a:t>
            </a:r>
            <a:r>
              <a:rPr lang="en-US" sz="2400" dirty="0" err="1">
                <a:solidFill>
                  <a:srgbClr val="000000"/>
                </a:solidFill>
                <a:latin typeface="Telegraf"/>
              </a:rPr>
              <a:t>kerja</a:t>
            </a:r>
            <a:r>
              <a:rPr lang="en-US" sz="2400" dirty="0">
                <a:solidFill>
                  <a:srgbClr val="000000"/>
                </a:solidFill>
                <a:latin typeface="Telegraf"/>
              </a:rPr>
              <a:t> </a:t>
            </a:r>
            <a:r>
              <a:rPr lang="en-US" sz="2400" dirty="0" err="1">
                <a:solidFill>
                  <a:srgbClr val="000000"/>
                </a:solidFill>
                <a:latin typeface="Telegraf"/>
              </a:rPr>
              <a:t>terkait</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dapat</a:t>
            </a:r>
            <a:r>
              <a:rPr lang="en-US" sz="2400" dirty="0">
                <a:solidFill>
                  <a:srgbClr val="000000"/>
                </a:solidFill>
                <a:latin typeface="Telegraf"/>
              </a:rPr>
              <a:t> </a:t>
            </a:r>
            <a:r>
              <a:rPr lang="en-US" sz="2400" dirty="0" err="1">
                <a:solidFill>
                  <a:srgbClr val="000000"/>
                </a:solidFill>
                <a:latin typeface="Telegraf"/>
              </a:rPr>
              <a:t>ditindaklanjuti</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p:txBody>
      </p:sp>
      <p:grpSp>
        <p:nvGrpSpPr>
          <p:cNvPr id="3" name="Group 3"/>
          <p:cNvGrpSpPr/>
          <p:nvPr/>
        </p:nvGrpSpPr>
        <p:grpSpPr>
          <a:xfrm>
            <a:off x="10873809" y="-1669565"/>
            <a:ext cx="16514498" cy="14450186"/>
            <a:chOff x="0" y="0"/>
            <a:chExt cx="812800" cy="711200"/>
          </a:xfrm>
        </p:grpSpPr>
        <p:sp>
          <p:nvSpPr>
            <p:cNvPr id="4" name="Freeform 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0097B2">
                <a:alpha val="20784"/>
              </a:srgbClr>
            </a:solidFill>
          </p:spPr>
        </p:sp>
        <p:sp>
          <p:nvSpPr>
            <p:cNvPr id="5" name="TextBox 5"/>
            <p:cNvSpPr txBox="1"/>
            <p:nvPr/>
          </p:nvSpPr>
          <p:spPr>
            <a:xfrm>
              <a:off x="127000" y="301625"/>
              <a:ext cx="558800" cy="358775"/>
            </a:xfrm>
            <a:prstGeom prst="rect">
              <a:avLst/>
            </a:prstGeom>
          </p:spPr>
          <p:txBody>
            <a:bodyPr lIns="50800" tIns="50800" rIns="50800" bIns="50800" rtlCol="0" anchor="ctr"/>
            <a:lstStyle/>
            <a:p>
              <a:pPr algn="ctr">
                <a:lnSpc>
                  <a:spcPts val="1680"/>
                </a:lnSpc>
              </a:pPr>
              <a:endParaRPr/>
            </a:p>
          </p:txBody>
        </p:sp>
      </p:grpSp>
      <p:sp>
        <p:nvSpPr>
          <p:cNvPr id="6" name="TextBox 6"/>
          <p:cNvSpPr txBox="1"/>
          <p:nvPr/>
        </p:nvSpPr>
        <p:spPr>
          <a:xfrm>
            <a:off x="1028700" y="5915025"/>
            <a:ext cx="16230600" cy="8913787"/>
          </a:xfrm>
          <a:prstGeom prst="rect">
            <a:avLst/>
          </a:prstGeom>
        </p:spPr>
        <p:txBody>
          <a:bodyPr lIns="0" tIns="0" rIns="0" bIns="0" rtlCol="0" anchor="t">
            <a:spAutoFit/>
          </a:bodyPr>
          <a:lstStyle/>
          <a:p>
            <a:pPr>
              <a:lnSpc>
                <a:spcPts val="2879"/>
              </a:lnSpc>
            </a:pPr>
            <a:endParaRPr dirty="0"/>
          </a:p>
          <a:p>
            <a:pPr>
              <a:lnSpc>
                <a:spcPts val="2879"/>
              </a:lnSpc>
            </a:pPr>
            <a:r>
              <a:rPr lang="en-US" sz="2400" dirty="0">
                <a:solidFill>
                  <a:srgbClr val="000000"/>
                </a:solidFill>
                <a:latin typeface="Telegraf Bold"/>
              </a:rPr>
              <a:t>4. </a:t>
            </a:r>
            <a:r>
              <a:rPr lang="en-US" sz="2400" dirty="0" err="1">
                <a:solidFill>
                  <a:srgbClr val="000000"/>
                </a:solidFill>
                <a:latin typeface="Telegraf Bold"/>
              </a:rPr>
              <a:t>Pemantauan</a:t>
            </a:r>
            <a:r>
              <a:rPr lang="en-US" sz="2400" dirty="0">
                <a:solidFill>
                  <a:srgbClr val="000000"/>
                </a:solidFill>
                <a:latin typeface="Telegraf Bold"/>
              </a:rPr>
              <a:t>, </a:t>
            </a:r>
            <a:r>
              <a:rPr lang="en-US" sz="2400" dirty="0" err="1">
                <a:solidFill>
                  <a:srgbClr val="000000"/>
                </a:solidFill>
                <a:latin typeface="Telegraf Bold"/>
              </a:rPr>
              <a:t>Evaluasi</a:t>
            </a:r>
            <a:r>
              <a:rPr lang="en-US" sz="2400" dirty="0">
                <a:solidFill>
                  <a:srgbClr val="000000"/>
                </a:solidFill>
                <a:latin typeface="Telegraf Bold"/>
              </a:rPr>
              <a:t>,  &amp; </a:t>
            </a:r>
            <a:r>
              <a:rPr lang="en-US" sz="2400" dirty="0" err="1">
                <a:solidFill>
                  <a:srgbClr val="000000"/>
                </a:solidFill>
                <a:latin typeface="Telegraf Bold"/>
              </a:rPr>
              <a:t>tindak</a:t>
            </a:r>
            <a:r>
              <a:rPr lang="en-US" sz="2400" dirty="0">
                <a:solidFill>
                  <a:srgbClr val="000000"/>
                </a:solidFill>
                <a:latin typeface="Telegraf Bold"/>
              </a:rPr>
              <a:t> </a:t>
            </a:r>
            <a:r>
              <a:rPr lang="en-US" sz="2400" dirty="0" err="1">
                <a:solidFill>
                  <a:srgbClr val="000000"/>
                </a:solidFill>
                <a:latin typeface="Telegraf Bold"/>
              </a:rPr>
              <a:t>lanjut</a:t>
            </a:r>
            <a:r>
              <a:rPr lang="en-US" sz="2400" dirty="0">
                <a:solidFill>
                  <a:srgbClr val="000000"/>
                </a:solidFill>
                <a:latin typeface="Telegraf Bold"/>
              </a:rPr>
              <a:t> </a:t>
            </a:r>
          </a:p>
          <a:p>
            <a:pPr>
              <a:lnSpc>
                <a:spcPts val="2879"/>
              </a:lnSpc>
            </a:pPr>
            <a:endParaRPr lang="en-US" sz="2400" dirty="0">
              <a:solidFill>
                <a:srgbClr val="000000"/>
              </a:solidFill>
              <a:latin typeface="Telegraf Bold"/>
            </a:endParaRPr>
          </a:p>
          <a:p>
            <a:pPr>
              <a:lnSpc>
                <a:spcPts val="2879"/>
              </a:lnSpc>
            </a:pP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pemantauan</a:t>
            </a:r>
            <a:r>
              <a:rPr lang="en-US" sz="2400" dirty="0">
                <a:solidFill>
                  <a:srgbClr val="000000"/>
                </a:solidFill>
                <a:latin typeface="Telegraf"/>
              </a:rPr>
              <a:t> </a:t>
            </a:r>
            <a:r>
              <a:rPr lang="en-US" sz="2400" dirty="0" err="1">
                <a:solidFill>
                  <a:srgbClr val="000000"/>
                </a:solidFill>
                <a:latin typeface="Telegraf"/>
              </a:rPr>
              <a:t>terhadap</a:t>
            </a:r>
            <a:r>
              <a:rPr lang="en-US" sz="2400" dirty="0">
                <a:solidFill>
                  <a:srgbClr val="000000"/>
                </a:solidFill>
                <a:latin typeface="Telegraf"/>
              </a:rPr>
              <a:t> </a:t>
            </a:r>
            <a:r>
              <a:rPr lang="en-US" sz="2400" dirty="0" err="1">
                <a:solidFill>
                  <a:srgbClr val="000000"/>
                </a:solidFill>
                <a:latin typeface="Telegraf"/>
              </a:rPr>
              <a:t>tindak</a:t>
            </a:r>
            <a:r>
              <a:rPr lang="en-US" sz="2400" dirty="0">
                <a:solidFill>
                  <a:srgbClr val="000000"/>
                </a:solidFill>
                <a:latin typeface="Telegraf"/>
              </a:rPr>
              <a:t> </a:t>
            </a:r>
            <a:r>
              <a:rPr lang="en-US" sz="2400" dirty="0" err="1">
                <a:solidFill>
                  <a:srgbClr val="000000"/>
                </a:solidFill>
                <a:latin typeface="Telegraf"/>
              </a:rPr>
              <a:t>lanjut</a:t>
            </a:r>
            <a:r>
              <a:rPr lang="en-US" sz="2400" dirty="0">
                <a:solidFill>
                  <a:srgbClr val="000000"/>
                </a:solidFill>
                <a:latin typeface="Telegraf"/>
              </a:rPr>
              <a:t> </a:t>
            </a:r>
            <a:r>
              <a:rPr lang="en-US" sz="2400" dirty="0" err="1">
                <a:solidFill>
                  <a:srgbClr val="000000"/>
                </a:solidFill>
                <a:latin typeface="Telegraf"/>
              </a:rPr>
              <a:t>kejadian</a:t>
            </a:r>
            <a:r>
              <a:rPr lang="en-US" sz="2400" dirty="0">
                <a:solidFill>
                  <a:srgbClr val="000000"/>
                </a:solidFill>
                <a:latin typeface="Telegraf"/>
              </a:rPr>
              <a:t> Fraud </a:t>
            </a:r>
            <a:r>
              <a:rPr lang="en-US" sz="2400" dirty="0" err="1">
                <a:solidFill>
                  <a:srgbClr val="000000"/>
                </a:solidFill>
                <a:latin typeface="Telegraf"/>
              </a:rPr>
              <a:t>dengan</a:t>
            </a:r>
            <a:r>
              <a:rPr lang="en-US" sz="2400" dirty="0">
                <a:solidFill>
                  <a:srgbClr val="000000"/>
                </a:solidFill>
                <a:latin typeface="Telegraf"/>
              </a:rPr>
              <a:t> </a:t>
            </a:r>
            <a:r>
              <a:rPr lang="en-US" sz="2400" dirty="0" err="1">
                <a:solidFill>
                  <a:srgbClr val="000000"/>
                </a:solidFill>
                <a:latin typeface="Telegraf"/>
              </a:rPr>
              <a:t>memperhatikan</a:t>
            </a:r>
            <a:r>
              <a:rPr lang="en-US" sz="2400" dirty="0">
                <a:solidFill>
                  <a:srgbClr val="000000"/>
                </a:solidFill>
                <a:latin typeface="Telegraf"/>
              </a:rPr>
              <a:t> </a:t>
            </a:r>
            <a:r>
              <a:rPr lang="en-US" sz="2400" dirty="0" err="1">
                <a:solidFill>
                  <a:srgbClr val="000000"/>
                </a:solidFill>
                <a:latin typeface="Telegraf"/>
              </a:rPr>
              <a:t>ketentuan</a:t>
            </a:r>
            <a:r>
              <a:rPr lang="en-US" sz="2400" dirty="0">
                <a:solidFill>
                  <a:srgbClr val="000000"/>
                </a:solidFill>
                <a:latin typeface="Telegraf"/>
              </a:rPr>
              <a:t> internal Perusahaan </a:t>
            </a:r>
            <a:r>
              <a:rPr lang="en-US" sz="2400" dirty="0" err="1">
                <a:solidFill>
                  <a:srgbClr val="000000"/>
                </a:solidFill>
                <a:latin typeface="Telegraf"/>
              </a:rPr>
              <a:t>Pembiayaan</a:t>
            </a:r>
            <a:r>
              <a:rPr lang="en-US" sz="2400" dirty="0">
                <a:solidFill>
                  <a:srgbClr val="000000"/>
                </a:solidFill>
                <a:latin typeface="Telegraf"/>
              </a:rPr>
              <a:t> dan </a:t>
            </a:r>
            <a:r>
              <a:rPr lang="en-US" sz="2400" dirty="0" err="1">
                <a:solidFill>
                  <a:srgbClr val="000000"/>
                </a:solidFill>
                <a:latin typeface="Telegraf"/>
              </a:rPr>
              <a:t>ketentuan</a:t>
            </a:r>
            <a:r>
              <a:rPr lang="en-US" sz="2400" dirty="0">
                <a:solidFill>
                  <a:srgbClr val="000000"/>
                </a:solidFill>
                <a:latin typeface="Telegraf"/>
              </a:rPr>
              <a:t> </a:t>
            </a:r>
            <a:r>
              <a:rPr lang="en-US" sz="2400" dirty="0" err="1">
                <a:solidFill>
                  <a:srgbClr val="000000"/>
                </a:solidFill>
                <a:latin typeface="Telegraf"/>
              </a:rPr>
              <a:t>peraturan</a:t>
            </a:r>
            <a:r>
              <a:rPr lang="en-US" sz="2400" dirty="0">
                <a:solidFill>
                  <a:srgbClr val="000000"/>
                </a:solidFill>
                <a:latin typeface="Telegraf"/>
              </a:rPr>
              <a:t> </a:t>
            </a:r>
            <a:r>
              <a:rPr lang="en-US" sz="2400" dirty="0" err="1">
                <a:solidFill>
                  <a:srgbClr val="000000"/>
                </a:solidFill>
                <a:latin typeface="Telegraf"/>
              </a:rPr>
              <a:t>perundang-undangan</a:t>
            </a:r>
            <a:r>
              <a:rPr lang="en-US" sz="2400" dirty="0">
                <a:solidFill>
                  <a:srgbClr val="000000"/>
                </a:solidFill>
                <a:latin typeface="Telegraf"/>
              </a:rPr>
              <a:t> </a:t>
            </a:r>
          </a:p>
          <a:p>
            <a:pPr>
              <a:lnSpc>
                <a:spcPts val="2879"/>
              </a:lnSpc>
            </a:pPr>
            <a:endParaRPr lang="en-US" sz="2400" dirty="0">
              <a:solidFill>
                <a:srgbClr val="000000"/>
              </a:solidFill>
              <a:latin typeface="Telegraf"/>
            </a:endParaRPr>
          </a:p>
          <a:p>
            <a:pPr lvl="1">
              <a:lnSpc>
                <a:spcPts val="2879"/>
              </a:lnSpc>
            </a:pPr>
            <a:r>
              <a:rPr lang="en-US" sz="2400" dirty="0">
                <a:solidFill>
                  <a:srgbClr val="000000"/>
                </a:solidFill>
                <a:latin typeface="Telegraf"/>
              </a:rPr>
              <a:t>a. </a:t>
            </a:r>
            <a:r>
              <a:rPr lang="en-US" sz="2400" dirty="0" err="1">
                <a:solidFill>
                  <a:srgbClr val="000000"/>
                </a:solidFill>
                <a:latin typeface="Telegraf"/>
              </a:rPr>
              <a:t>Pemantauan</a:t>
            </a:r>
            <a:r>
              <a:rPr lang="en-US" sz="2400" dirty="0">
                <a:solidFill>
                  <a:srgbClr val="000000"/>
                </a:solidFill>
                <a:latin typeface="Telegraf"/>
              </a:rPr>
              <a:t> </a:t>
            </a:r>
            <a:r>
              <a:rPr lang="en-US" sz="2400" dirty="0" err="1">
                <a:solidFill>
                  <a:srgbClr val="000000"/>
                </a:solidFill>
                <a:latin typeface="Telegraf"/>
              </a:rPr>
              <a:t>tindak</a:t>
            </a:r>
            <a:r>
              <a:rPr lang="en-US" sz="2400" dirty="0">
                <a:solidFill>
                  <a:srgbClr val="000000"/>
                </a:solidFill>
                <a:latin typeface="Telegraf"/>
              </a:rPr>
              <a:t> </a:t>
            </a:r>
            <a:r>
              <a:rPr lang="en-US" sz="2400" dirty="0" err="1">
                <a:solidFill>
                  <a:srgbClr val="000000"/>
                </a:solidFill>
                <a:latin typeface="Telegraf"/>
              </a:rPr>
              <a:t>lanjut</a:t>
            </a:r>
            <a:r>
              <a:rPr lang="en-US" sz="2400" dirty="0">
                <a:solidFill>
                  <a:srgbClr val="000000"/>
                </a:solidFill>
                <a:latin typeface="Telegraf"/>
              </a:rPr>
              <a:t> </a:t>
            </a:r>
            <a:r>
              <a:rPr lang="en-US" sz="2400" dirty="0" err="1">
                <a:solidFill>
                  <a:srgbClr val="000000"/>
                </a:solidFill>
                <a:latin typeface="Telegraf"/>
              </a:rPr>
              <a:t>atas</a:t>
            </a:r>
            <a:r>
              <a:rPr lang="en-US" sz="2400" dirty="0">
                <a:solidFill>
                  <a:srgbClr val="000000"/>
                </a:solidFill>
                <a:latin typeface="Telegraf"/>
              </a:rPr>
              <a:t> </a:t>
            </a:r>
            <a:r>
              <a:rPr lang="en-US" sz="2400" dirty="0" err="1">
                <a:solidFill>
                  <a:srgbClr val="000000"/>
                </a:solidFill>
                <a:latin typeface="Telegraf"/>
              </a:rPr>
              <a:t>hasil</a:t>
            </a:r>
            <a:r>
              <a:rPr lang="en-US" sz="2400" dirty="0">
                <a:solidFill>
                  <a:srgbClr val="000000"/>
                </a:solidFill>
                <a:latin typeface="Telegraf"/>
              </a:rPr>
              <a:t> </a:t>
            </a:r>
            <a:r>
              <a:rPr lang="en-US" sz="2400" dirty="0" err="1">
                <a:solidFill>
                  <a:srgbClr val="000000"/>
                </a:solidFill>
                <a:latin typeface="Telegraf"/>
              </a:rPr>
              <a:t>pemeriksaan</a:t>
            </a:r>
            <a:r>
              <a:rPr lang="en-US" sz="2400" dirty="0">
                <a:solidFill>
                  <a:srgbClr val="000000"/>
                </a:solidFill>
                <a:latin typeface="Telegraf"/>
              </a:rPr>
              <a:t> Fraud </a:t>
            </a:r>
            <a:r>
              <a:rPr lang="en-US" sz="2400" dirty="0" err="1">
                <a:solidFill>
                  <a:srgbClr val="000000"/>
                </a:solidFill>
                <a:latin typeface="Telegraf"/>
              </a:rPr>
              <a:t>dilaksanakan</a:t>
            </a:r>
            <a:r>
              <a:rPr lang="en-US" sz="2400" dirty="0">
                <a:solidFill>
                  <a:srgbClr val="000000"/>
                </a:solidFill>
                <a:latin typeface="Telegraf"/>
              </a:rPr>
              <a:t> oleh </a:t>
            </a:r>
            <a:r>
              <a:rPr lang="en-US" sz="2400" dirty="0" err="1">
                <a:solidFill>
                  <a:srgbClr val="000000"/>
                </a:solidFill>
                <a:latin typeface="Telegraf"/>
              </a:rPr>
              <a:t>Komite</a:t>
            </a:r>
            <a:r>
              <a:rPr lang="en-US" sz="2400" dirty="0">
                <a:solidFill>
                  <a:srgbClr val="000000"/>
                </a:solidFill>
                <a:latin typeface="Telegraf"/>
              </a:rPr>
              <a:t> Anti Fraud</a:t>
            </a:r>
          </a:p>
          <a:p>
            <a:pPr lvl="1">
              <a:lnSpc>
                <a:spcPts val="2879"/>
              </a:lnSpc>
            </a:pPr>
            <a:r>
              <a:rPr lang="en-US" sz="2400" dirty="0">
                <a:solidFill>
                  <a:srgbClr val="000000"/>
                </a:solidFill>
                <a:latin typeface="Telegraf"/>
              </a:rPr>
              <a:t>b. </a:t>
            </a:r>
            <a:r>
              <a:rPr lang="en-US" sz="2400" dirty="0" err="1">
                <a:solidFill>
                  <a:srgbClr val="000000"/>
                </a:solidFill>
                <a:latin typeface="Telegraf"/>
              </a:rPr>
              <a:t>Mekanisme</a:t>
            </a:r>
            <a:r>
              <a:rPr lang="en-US" sz="2400" dirty="0">
                <a:solidFill>
                  <a:srgbClr val="000000"/>
                </a:solidFill>
                <a:latin typeface="Telegraf"/>
              </a:rPr>
              <a:t> </a:t>
            </a:r>
            <a:r>
              <a:rPr lang="en-US" sz="2400" dirty="0" err="1">
                <a:solidFill>
                  <a:srgbClr val="000000"/>
                </a:solidFill>
                <a:latin typeface="Telegraf"/>
              </a:rPr>
              <a:t>pemantauan</a:t>
            </a:r>
            <a:r>
              <a:rPr lang="en-US" sz="2400" dirty="0">
                <a:solidFill>
                  <a:srgbClr val="000000"/>
                </a:solidFill>
                <a:latin typeface="Telegraf"/>
              </a:rPr>
              <a:t> </a:t>
            </a:r>
            <a:r>
              <a:rPr lang="en-US" sz="2400" dirty="0" err="1">
                <a:solidFill>
                  <a:srgbClr val="000000"/>
                </a:solidFill>
                <a:latin typeface="Telegraf"/>
              </a:rPr>
              <a:t>tindak</a:t>
            </a:r>
            <a:r>
              <a:rPr lang="en-US" sz="2400" dirty="0">
                <a:solidFill>
                  <a:srgbClr val="000000"/>
                </a:solidFill>
                <a:latin typeface="Telegraf"/>
              </a:rPr>
              <a:t> </a:t>
            </a:r>
            <a:r>
              <a:rPr lang="en-US" sz="2400" dirty="0" err="1">
                <a:solidFill>
                  <a:srgbClr val="000000"/>
                </a:solidFill>
                <a:latin typeface="Telegraf"/>
              </a:rPr>
              <a:t>lanjut</a:t>
            </a:r>
            <a:r>
              <a:rPr lang="en-US" sz="2400" dirty="0">
                <a:solidFill>
                  <a:srgbClr val="000000"/>
                </a:solidFill>
                <a:latin typeface="Telegraf"/>
              </a:rPr>
              <a:t> </a:t>
            </a:r>
            <a:r>
              <a:rPr lang="en-US" sz="2400" dirty="0" err="1">
                <a:solidFill>
                  <a:srgbClr val="000000"/>
                </a:solidFill>
                <a:latin typeface="Telegraf"/>
              </a:rPr>
              <a:t>disesuaikan</a:t>
            </a:r>
            <a:r>
              <a:rPr lang="en-US" sz="2400" dirty="0">
                <a:solidFill>
                  <a:srgbClr val="000000"/>
                </a:solidFill>
                <a:latin typeface="Telegraf"/>
              </a:rPr>
              <a:t> </a:t>
            </a:r>
            <a:r>
              <a:rPr lang="en-US" sz="2400" dirty="0" err="1">
                <a:solidFill>
                  <a:srgbClr val="000000"/>
                </a:solidFill>
                <a:latin typeface="Telegraf"/>
              </a:rPr>
              <a:t>dengan</a:t>
            </a:r>
            <a:r>
              <a:rPr lang="en-US" sz="2400" dirty="0">
                <a:solidFill>
                  <a:srgbClr val="000000"/>
                </a:solidFill>
                <a:latin typeface="Telegraf"/>
              </a:rPr>
              <a:t> </a:t>
            </a:r>
            <a:r>
              <a:rPr lang="en-US" sz="2400" dirty="0" err="1">
                <a:solidFill>
                  <a:srgbClr val="000000"/>
                </a:solidFill>
                <a:latin typeface="Telegraf"/>
              </a:rPr>
              <a:t>sistem</a:t>
            </a:r>
            <a:r>
              <a:rPr lang="en-US" sz="2400" dirty="0">
                <a:solidFill>
                  <a:srgbClr val="000000"/>
                </a:solidFill>
                <a:latin typeface="Telegraf"/>
              </a:rPr>
              <a:t> dan </a:t>
            </a:r>
            <a:r>
              <a:rPr lang="en-US" sz="2400" dirty="0" err="1">
                <a:solidFill>
                  <a:srgbClr val="000000"/>
                </a:solidFill>
                <a:latin typeface="Telegraf"/>
              </a:rPr>
              <a:t>prosedur</a:t>
            </a:r>
            <a:r>
              <a:rPr lang="en-US" sz="2400" dirty="0">
                <a:solidFill>
                  <a:srgbClr val="000000"/>
                </a:solidFill>
                <a:latin typeface="Telegraf"/>
              </a:rPr>
              <a:t> </a:t>
            </a:r>
            <a:r>
              <a:rPr lang="en-US" sz="2400" dirty="0" err="1">
                <a:solidFill>
                  <a:srgbClr val="000000"/>
                </a:solidFill>
                <a:latin typeface="Telegraf"/>
              </a:rPr>
              <a:t>kerja</a:t>
            </a:r>
            <a:r>
              <a:rPr lang="en-US" sz="2400" dirty="0">
                <a:solidFill>
                  <a:srgbClr val="000000"/>
                </a:solidFill>
                <a:latin typeface="Telegraf"/>
              </a:rPr>
              <a:t> yang </a:t>
            </a:r>
            <a:r>
              <a:rPr lang="en-US" sz="2400" dirty="0" err="1">
                <a:solidFill>
                  <a:srgbClr val="000000"/>
                </a:solidFill>
                <a:latin typeface="Telegraf"/>
              </a:rPr>
              <a:t>berlaku</a:t>
            </a:r>
            <a:endParaRPr lang="en-US" sz="2400" dirty="0">
              <a:solidFill>
                <a:srgbClr val="000000"/>
              </a:solidFill>
              <a:latin typeface="Telegraf"/>
            </a:endParaRPr>
          </a:p>
          <a:p>
            <a:pPr lvl="1">
              <a:lnSpc>
                <a:spcPts val="2879"/>
              </a:lnSpc>
            </a:pPr>
            <a:r>
              <a:rPr lang="en-US" sz="2400" dirty="0">
                <a:solidFill>
                  <a:srgbClr val="000000"/>
                </a:solidFill>
                <a:latin typeface="Telegraf"/>
              </a:rPr>
              <a:t>c. </a:t>
            </a:r>
            <a:r>
              <a:rPr lang="en-US" sz="2400" dirty="0" err="1">
                <a:solidFill>
                  <a:srgbClr val="000000"/>
                </a:solidFill>
                <a:latin typeface="Telegraf"/>
              </a:rPr>
              <a:t>Setiap</a:t>
            </a:r>
            <a:r>
              <a:rPr lang="en-US" sz="2400" dirty="0">
                <a:solidFill>
                  <a:srgbClr val="000000"/>
                </a:solidFill>
                <a:latin typeface="Telegraf"/>
              </a:rPr>
              <a:t> </a:t>
            </a:r>
            <a:r>
              <a:rPr lang="en-US" sz="2400" dirty="0" err="1">
                <a:solidFill>
                  <a:srgbClr val="000000"/>
                </a:solidFill>
                <a:latin typeface="Telegraf"/>
              </a:rPr>
              <a:t>triwulan</a:t>
            </a:r>
            <a:r>
              <a:rPr lang="en-US" sz="2400" dirty="0">
                <a:solidFill>
                  <a:srgbClr val="000000"/>
                </a:solidFill>
                <a:latin typeface="Telegraf"/>
              </a:rPr>
              <a:t> </a:t>
            </a:r>
            <a:r>
              <a:rPr lang="en-US" sz="2400" dirty="0" err="1">
                <a:solidFill>
                  <a:srgbClr val="000000"/>
                </a:solidFill>
                <a:latin typeface="Telegraf"/>
              </a:rPr>
              <a:t>Komite</a:t>
            </a:r>
            <a:r>
              <a:rPr lang="en-US" sz="2400" dirty="0">
                <a:solidFill>
                  <a:srgbClr val="000000"/>
                </a:solidFill>
                <a:latin typeface="Telegraf"/>
              </a:rPr>
              <a:t> Anti Fraud </a:t>
            </a:r>
            <a:r>
              <a:rPr lang="en-US" sz="2400" dirty="0" err="1">
                <a:solidFill>
                  <a:srgbClr val="000000"/>
                </a:solidFill>
                <a:latin typeface="Telegraf"/>
              </a:rPr>
              <a:t>wajib</a:t>
            </a:r>
            <a:r>
              <a:rPr lang="en-US" sz="2400" dirty="0">
                <a:solidFill>
                  <a:srgbClr val="000000"/>
                </a:solidFill>
                <a:latin typeface="Telegraf"/>
              </a:rPr>
              <a:t> </a:t>
            </a:r>
            <a:r>
              <a:rPr lang="en-US" sz="2400" dirty="0" err="1">
                <a:solidFill>
                  <a:srgbClr val="000000"/>
                </a:solidFill>
                <a:latin typeface="Telegraf"/>
              </a:rPr>
              <a:t>menyampaikan</a:t>
            </a:r>
            <a:r>
              <a:rPr lang="en-US" sz="2400" dirty="0">
                <a:solidFill>
                  <a:srgbClr val="000000"/>
                </a:solidFill>
                <a:latin typeface="Telegraf"/>
              </a:rPr>
              <a:t> </a:t>
            </a:r>
            <a:r>
              <a:rPr lang="en-US" sz="2400" dirty="0" err="1">
                <a:solidFill>
                  <a:srgbClr val="000000"/>
                </a:solidFill>
                <a:latin typeface="Telegraf"/>
              </a:rPr>
              <a:t>hasil</a:t>
            </a:r>
            <a:r>
              <a:rPr lang="en-US" sz="2400" dirty="0">
                <a:solidFill>
                  <a:srgbClr val="000000"/>
                </a:solidFill>
                <a:latin typeface="Telegraf"/>
              </a:rPr>
              <a:t> </a:t>
            </a:r>
            <a:r>
              <a:rPr lang="en-US" sz="2400" dirty="0" err="1">
                <a:solidFill>
                  <a:srgbClr val="000000"/>
                </a:solidFill>
                <a:latin typeface="Telegraf"/>
              </a:rPr>
              <a:t>pemantauan</a:t>
            </a:r>
            <a:r>
              <a:rPr lang="en-US" sz="2400" dirty="0">
                <a:solidFill>
                  <a:srgbClr val="000000"/>
                </a:solidFill>
                <a:latin typeface="Telegraf"/>
              </a:rPr>
              <a:t> </a:t>
            </a:r>
            <a:r>
              <a:rPr lang="en-US" sz="2400" dirty="0" err="1">
                <a:solidFill>
                  <a:srgbClr val="000000"/>
                </a:solidFill>
                <a:latin typeface="Telegraf"/>
              </a:rPr>
              <a:t>tindak</a:t>
            </a:r>
            <a:r>
              <a:rPr lang="en-US" sz="2400" dirty="0">
                <a:solidFill>
                  <a:srgbClr val="000000"/>
                </a:solidFill>
                <a:latin typeface="Telegraf"/>
              </a:rPr>
              <a:t> </a:t>
            </a:r>
            <a:r>
              <a:rPr lang="en-US" sz="2400" dirty="0" err="1">
                <a:solidFill>
                  <a:srgbClr val="000000"/>
                </a:solidFill>
                <a:latin typeface="Telegraf"/>
              </a:rPr>
              <a:t>lanjut</a:t>
            </a:r>
            <a:r>
              <a:rPr lang="en-US" sz="2400" dirty="0">
                <a:solidFill>
                  <a:srgbClr val="000000"/>
                </a:solidFill>
                <a:latin typeface="Telegraf"/>
              </a:rPr>
              <a:t> </a:t>
            </a:r>
            <a:r>
              <a:rPr lang="en-US" sz="2400" dirty="0" err="1">
                <a:solidFill>
                  <a:srgbClr val="000000"/>
                </a:solidFill>
                <a:latin typeface="Telegraf"/>
              </a:rPr>
              <a:t>kepada</a:t>
            </a:r>
            <a:r>
              <a:rPr lang="en-US" sz="2400" dirty="0">
                <a:solidFill>
                  <a:srgbClr val="000000"/>
                </a:solidFill>
                <a:latin typeface="Telegraf"/>
              </a:rPr>
              <a:t> </a:t>
            </a:r>
            <a:r>
              <a:rPr lang="en-US" sz="2400" dirty="0" err="1">
                <a:solidFill>
                  <a:srgbClr val="000000"/>
                </a:solidFill>
                <a:latin typeface="Telegraf"/>
              </a:rPr>
              <a:t>Direksi</a:t>
            </a:r>
            <a:r>
              <a:rPr lang="en-US" sz="2400" dirty="0">
                <a:solidFill>
                  <a:srgbClr val="000000"/>
                </a:solidFill>
                <a:latin typeface="Telegraf"/>
              </a:rPr>
              <a:t> dan </a:t>
            </a:r>
            <a:r>
              <a:rPr lang="en-US" sz="2400" dirty="0" err="1">
                <a:solidFill>
                  <a:srgbClr val="000000"/>
                </a:solidFill>
                <a:latin typeface="Telegraf"/>
              </a:rPr>
              <a:t>Komisaris</a:t>
            </a: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a:p>
            <a:pPr>
              <a:lnSpc>
                <a:spcPts val="2879"/>
              </a:lnSpc>
              <a:spcBef>
                <a:spcPct val="0"/>
              </a:spcBef>
            </a:pPr>
            <a:endParaRPr lang="en-US" sz="2400" dirty="0">
              <a:solidFill>
                <a:srgbClr val="000000"/>
              </a:solidFill>
              <a:latin typeface="Telegraf"/>
            </a:endParaRPr>
          </a:p>
        </p:txBody>
      </p:sp>
      <p:sp>
        <p:nvSpPr>
          <p:cNvPr id="7" name="TextBox 7"/>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000000"/>
                </a:solidFill>
                <a:latin typeface="Open Sauce SemiBold"/>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4236637" y="4086225"/>
            <a:ext cx="13564875"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ANTI FRAUD STATEMENT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9626" y="6148591"/>
            <a:ext cx="19210622" cy="5231829"/>
            <a:chOff x="0" y="0"/>
            <a:chExt cx="5059588" cy="1377930"/>
          </a:xfrm>
        </p:grpSpPr>
        <p:sp>
          <p:nvSpPr>
            <p:cNvPr id="3" name="Freeform 3"/>
            <p:cNvSpPr/>
            <p:nvPr/>
          </p:nvSpPr>
          <p:spPr>
            <a:xfrm>
              <a:off x="0" y="0"/>
              <a:ext cx="5059588" cy="1377930"/>
            </a:xfrm>
            <a:custGeom>
              <a:avLst/>
              <a:gdLst/>
              <a:ahLst/>
              <a:cxnLst/>
              <a:rect l="l" t="t" r="r" b="b"/>
              <a:pathLst>
                <a:path w="5059588" h="1377930">
                  <a:moveTo>
                    <a:pt x="0" y="0"/>
                  </a:moveTo>
                  <a:lnTo>
                    <a:pt x="5059588" y="0"/>
                  </a:lnTo>
                  <a:lnTo>
                    <a:pt x="5059588" y="1377930"/>
                  </a:lnTo>
                  <a:lnTo>
                    <a:pt x="0" y="1377930"/>
                  </a:lnTo>
                  <a:close/>
                </a:path>
              </a:pathLst>
            </a:custGeom>
            <a:solidFill>
              <a:srgbClr val="0097B2">
                <a:alpha val="72941"/>
              </a:srgbClr>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1680"/>
                </a:lnSpc>
              </a:pPr>
              <a:endParaRPr/>
            </a:p>
          </p:txBody>
        </p:sp>
      </p:grpSp>
      <p:sp>
        <p:nvSpPr>
          <p:cNvPr id="5" name="TextBox 5"/>
          <p:cNvSpPr txBox="1"/>
          <p:nvPr/>
        </p:nvSpPr>
        <p:spPr>
          <a:xfrm>
            <a:off x="1689442" y="1597294"/>
            <a:ext cx="14909117" cy="9285684"/>
          </a:xfrm>
          <a:prstGeom prst="rect">
            <a:avLst/>
          </a:prstGeom>
        </p:spPr>
        <p:txBody>
          <a:bodyPr lIns="0" tIns="0" rIns="0" bIns="0" rtlCol="0" anchor="t">
            <a:spAutoFit/>
          </a:bodyPr>
          <a:lstStyle/>
          <a:p>
            <a:pPr algn="just">
              <a:lnSpc>
                <a:spcPts val="2879"/>
              </a:lnSpc>
              <a:spcBef>
                <a:spcPct val="0"/>
              </a:spcBef>
            </a:pP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rangka</a:t>
            </a:r>
            <a:r>
              <a:rPr lang="en-US" sz="2400" dirty="0">
                <a:solidFill>
                  <a:srgbClr val="000000"/>
                </a:solidFill>
                <a:latin typeface="Telegraf"/>
              </a:rPr>
              <a:t> </a:t>
            </a:r>
            <a:r>
              <a:rPr lang="en-US" sz="2400" dirty="0" err="1">
                <a:solidFill>
                  <a:srgbClr val="000000"/>
                </a:solidFill>
                <a:latin typeface="Telegraf"/>
              </a:rPr>
              <a:t>mengembangkan</a:t>
            </a:r>
            <a:r>
              <a:rPr lang="en-US" sz="2400" dirty="0">
                <a:solidFill>
                  <a:srgbClr val="000000"/>
                </a:solidFill>
                <a:latin typeface="Telegraf"/>
              </a:rPr>
              <a:t> </a:t>
            </a:r>
            <a:r>
              <a:rPr lang="en-US" sz="2400" dirty="0" err="1">
                <a:solidFill>
                  <a:srgbClr val="000000"/>
                </a:solidFill>
                <a:latin typeface="Telegraf"/>
              </a:rPr>
              <a:t>budaya</a:t>
            </a:r>
            <a:r>
              <a:rPr lang="en-US" sz="2400" dirty="0">
                <a:solidFill>
                  <a:srgbClr val="000000"/>
                </a:solidFill>
                <a:latin typeface="Telegraf"/>
              </a:rPr>
              <a:t> dan </a:t>
            </a:r>
            <a:r>
              <a:rPr lang="en-US" sz="2400" dirty="0" err="1">
                <a:solidFill>
                  <a:srgbClr val="000000"/>
                </a:solidFill>
                <a:latin typeface="Telegraf"/>
              </a:rPr>
              <a:t>kepedulian</a:t>
            </a:r>
            <a:r>
              <a:rPr lang="en-US" sz="2400" dirty="0">
                <a:solidFill>
                  <a:srgbClr val="000000"/>
                </a:solidFill>
                <a:latin typeface="Telegraf"/>
              </a:rPr>
              <a:t> Anti Fraud </a:t>
            </a:r>
            <a:r>
              <a:rPr lang="en-US" sz="2400" dirty="0" err="1">
                <a:solidFill>
                  <a:srgbClr val="000000"/>
                </a:solidFill>
                <a:latin typeface="Telegraf"/>
              </a:rPr>
              <a:t>diseluruh</a:t>
            </a:r>
            <a:r>
              <a:rPr lang="en-US" sz="2400" dirty="0">
                <a:solidFill>
                  <a:srgbClr val="000000"/>
                </a:solidFill>
                <a:latin typeface="Telegraf"/>
              </a:rPr>
              <a:t> </a:t>
            </a:r>
            <a:r>
              <a:rPr lang="en-US" sz="2400" dirty="0" err="1">
                <a:solidFill>
                  <a:srgbClr val="000000"/>
                </a:solidFill>
                <a:latin typeface="Telegraf"/>
              </a:rPr>
              <a:t>jenjang</a:t>
            </a:r>
            <a:r>
              <a:rPr lang="en-US" sz="2400" dirty="0">
                <a:solidFill>
                  <a:srgbClr val="000000"/>
                </a:solidFill>
                <a:latin typeface="Telegraf"/>
              </a:rPr>
              <a:t> </a:t>
            </a:r>
            <a:r>
              <a:rPr lang="en-US" sz="2400" dirty="0" err="1">
                <a:solidFill>
                  <a:srgbClr val="000000"/>
                </a:solidFill>
                <a:latin typeface="Telegraf"/>
              </a:rPr>
              <a:t>organisasi</a:t>
            </a:r>
            <a:r>
              <a:rPr lang="en-US" sz="2400" dirty="0">
                <a:solidFill>
                  <a:srgbClr val="000000"/>
                </a:solidFill>
                <a:latin typeface="Telegraf"/>
              </a:rPr>
              <a:t> dan </a:t>
            </a:r>
            <a:r>
              <a:rPr lang="en-US" sz="2400" dirty="0" err="1">
                <a:solidFill>
                  <a:srgbClr val="000000"/>
                </a:solidFill>
                <a:latin typeface="Telegraf"/>
              </a:rPr>
              <a:t>sebagai</a:t>
            </a:r>
            <a:r>
              <a:rPr lang="en-US" sz="2400" dirty="0">
                <a:solidFill>
                  <a:srgbClr val="000000"/>
                </a:solidFill>
                <a:latin typeface="Telegraf"/>
              </a:rPr>
              <a:t> </a:t>
            </a:r>
            <a:r>
              <a:rPr lang="en-US" sz="2400" dirty="0" err="1">
                <a:solidFill>
                  <a:srgbClr val="000000"/>
                </a:solidFill>
                <a:latin typeface="Telegraf"/>
              </a:rPr>
              <a:t>bentuk</a:t>
            </a:r>
            <a:r>
              <a:rPr lang="en-US" sz="2400" dirty="0">
                <a:solidFill>
                  <a:srgbClr val="000000"/>
                </a:solidFill>
                <a:latin typeface="Telegraf"/>
              </a:rPr>
              <a:t> </a:t>
            </a:r>
            <a:r>
              <a:rPr lang="en-US" sz="2400" dirty="0" err="1">
                <a:solidFill>
                  <a:srgbClr val="000000"/>
                </a:solidFill>
                <a:latin typeface="Telegraf"/>
              </a:rPr>
              <a:t>pernyataan</a:t>
            </a:r>
            <a:r>
              <a:rPr lang="en-US" sz="2400" dirty="0">
                <a:solidFill>
                  <a:srgbClr val="000000"/>
                </a:solidFill>
                <a:latin typeface="Telegraf"/>
              </a:rPr>
              <a:t> anti </a:t>
            </a:r>
            <a:r>
              <a:rPr lang="en-US" sz="2400" dirty="0" err="1">
                <a:solidFill>
                  <a:srgbClr val="000000"/>
                </a:solidFill>
                <a:latin typeface="Telegraf"/>
              </a:rPr>
              <a:t>terhadap</a:t>
            </a:r>
            <a:r>
              <a:rPr lang="en-US" sz="2400" dirty="0">
                <a:solidFill>
                  <a:srgbClr val="000000"/>
                </a:solidFill>
                <a:latin typeface="Telegraf"/>
              </a:rPr>
              <a:t> Fraud, </a:t>
            </a:r>
            <a:r>
              <a:rPr lang="en-US" sz="2400" dirty="0" err="1">
                <a:solidFill>
                  <a:srgbClr val="000000"/>
                </a:solidFill>
                <a:latin typeface="Telegraf"/>
              </a:rPr>
              <a:t>maka</a:t>
            </a:r>
            <a:r>
              <a:rPr lang="en-US" sz="2400" dirty="0">
                <a:solidFill>
                  <a:srgbClr val="000000"/>
                </a:solidFill>
                <a:latin typeface="Telegraf"/>
              </a:rPr>
              <a:t> </a:t>
            </a:r>
            <a:r>
              <a:rPr lang="en-US" sz="2400" dirty="0" err="1">
                <a:solidFill>
                  <a:srgbClr val="000000"/>
                </a:solidFill>
                <a:latin typeface="Telegraf"/>
              </a:rPr>
              <a:t>Direksi</a:t>
            </a:r>
            <a:r>
              <a:rPr lang="en-US" sz="2400" dirty="0">
                <a:solidFill>
                  <a:srgbClr val="000000"/>
                </a:solidFill>
                <a:latin typeface="Telegraf"/>
              </a:rPr>
              <a:t> </a:t>
            </a:r>
            <a:r>
              <a:rPr lang="en-US" sz="2400" dirty="0" err="1">
                <a:solidFill>
                  <a:srgbClr val="000000"/>
                </a:solidFill>
                <a:latin typeface="Telegraf"/>
              </a:rPr>
              <a:t>selaku</a:t>
            </a:r>
            <a:r>
              <a:rPr lang="en-US" sz="2400" dirty="0">
                <a:solidFill>
                  <a:srgbClr val="000000"/>
                </a:solidFill>
                <a:latin typeface="Telegraf"/>
              </a:rPr>
              <a:t> </a:t>
            </a:r>
            <a:r>
              <a:rPr lang="en-US" sz="2400" dirty="0" err="1">
                <a:solidFill>
                  <a:srgbClr val="000000"/>
                </a:solidFill>
                <a:latin typeface="Telegraf"/>
              </a:rPr>
              <a:t>perwakilan</a:t>
            </a:r>
            <a:r>
              <a:rPr lang="en-US" sz="2400" dirty="0">
                <a:solidFill>
                  <a:srgbClr val="000000"/>
                </a:solidFill>
                <a:latin typeface="Telegraf"/>
              </a:rPr>
              <a:t> Perusahaan </a:t>
            </a:r>
            <a:r>
              <a:rPr lang="en-US" sz="2400" dirty="0" err="1">
                <a:solidFill>
                  <a:srgbClr val="000000"/>
                </a:solidFill>
                <a:latin typeface="Telegraf"/>
              </a:rPr>
              <a:t>membuat</a:t>
            </a:r>
            <a:r>
              <a:rPr lang="en-US" sz="2400" dirty="0">
                <a:solidFill>
                  <a:srgbClr val="000000"/>
                </a:solidFill>
                <a:latin typeface="Telegraf"/>
              </a:rPr>
              <a:t> </a:t>
            </a:r>
            <a:r>
              <a:rPr lang="en-US" sz="2400" dirty="0" err="1">
                <a:solidFill>
                  <a:srgbClr val="000000"/>
                </a:solidFill>
                <a:latin typeface="Telegraf"/>
              </a:rPr>
              <a:t>komitmen</a:t>
            </a:r>
            <a:r>
              <a:rPr lang="en-US" sz="2400" dirty="0">
                <a:solidFill>
                  <a:srgbClr val="000000"/>
                </a:solidFill>
                <a:latin typeface="Telegraf"/>
              </a:rPr>
              <a:t> </a:t>
            </a: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penyelenggaran</a:t>
            </a:r>
            <a:r>
              <a:rPr lang="en-US" sz="2400" dirty="0">
                <a:solidFill>
                  <a:srgbClr val="000000"/>
                </a:solidFill>
                <a:latin typeface="Telegraf"/>
              </a:rPr>
              <a:t> </a:t>
            </a:r>
            <a:r>
              <a:rPr lang="en-US" sz="2400" dirty="0" err="1">
                <a:solidFill>
                  <a:srgbClr val="000000"/>
                </a:solidFill>
                <a:latin typeface="Telegraf"/>
              </a:rPr>
              <a:t>usaha</a:t>
            </a:r>
            <a:r>
              <a:rPr lang="en-US" sz="2400" dirty="0">
                <a:solidFill>
                  <a:srgbClr val="000000"/>
                </a:solidFill>
                <a:latin typeface="Telegraf"/>
              </a:rPr>
              <a:t> yang </a:t>
            </a:r>
            <a:r>
              <a:rPr lang="en-US" sz="2400" dirty="0" err="1">
                <a:solidFill>
                  <a:srgbClr val="000000"/>
                </a:solidFill>
                <a:latin typeface="Telegraf"/>
              </a:rPr>
              <a:t>disosialisasikan</a:t>
            </a:r>
            <a:r>
              <a:rPr lang="en-US" sz="2400" dirty="0">
                <a:solidFill>
                  <a:srgbClr val="000000"/>
                </a:solidFill>
                <a:latin typeface="Telegraf"/>
              </a:rPr>
              <a:t> </a:t>
            </a:r>
            <a:r>
              <a:rPr lang="en-US" sz="2400" dirty="0" err="1">
                <a:solidFill>
                  <a:srgbClr val="000000"/>
                </a:solidFill>
                <a:latin typeface="Telegraf"/>
              </a:rPr>
              <a:t>kepada</a:t>
            </a:r>
            <a:r>
              <a:rPr lang="en-US" sz="2400" dirty="0">
                <a:solidFill>
                  <a:srgbClr val="000000"/>
                </a:solidFill>
                <a:latin typeface="Telegraf"/>
              </a:rPr>
              <a:t> </a:t>
            </a:r>
            <a:r>
              <a:rPr lang="en-US" sz="2400" dirty="0" err="1">
                <a:solidFill>
                  <a:srgbClr val="000000"/>
                </a:solidFill>
                <a:latin typeface="Telegraf"/>
              </a:rPr>
              <a:t>karyawan</a:t>
            </a:r>
            <a:r>
              <a:rPr lang="en-US" sz="2400" dirty="0">
                <a:solidFill>
                  <a:srgbClr val="000000"/>
                </a:solidFill>
                <a:latin typeface="Telegraf"/>
              </a:rPr>
              <a:t> </a:t>
            </a:r>
            <a:r>
              <a:rPr lang="en-US" sz="2400" dirty="0" err="1">
                <a:solidFill>
                  <a:srgbClr val="000000"/>
                </a:solidFill>
                <a:latin typeface="Telegraf"/>
              </a:rPr>
              <a:t>melalui</a:t>
            </a:r>
            <a:r>
              <a:rPr lang="en-US" sz="2400" dirty="0">
                <a:solidFill>
                  <a:srgbClr val="000000"/>
                </a:solidFill>
                <a:latin typeface="Telegraf"/>
              </a:rPr>
              <a:t> media-media </a:t>
            </a:r>
            <a:r>
              <a:rPr lang="en-US" sz="2400" dirty="0" err="1">
                <a:solidFill>
                  <a:srgbClr val="000000"/>
                </a:solidFill>
                <a:latin typeface="Telegraf"/>
              </a:rPr>
              <a:t>seperti</a:t>
            </a:r>
            <a:r>
              <a:rPr lang="en-US" sz="2400" dirty="0">
                <a:solidFill>
                  <a:srgbClr val="000000"/>
                </a:solidFill>
                <a:latin typeface="Telegraf"/>
              </a:rPr>
              <a:t> Newsletter, E-Mail, Meeting, Poster </a:t>
            </a:r>
            <a:r>
              <a:rPr lang="en-US" sz="2400" dirty="0" err="1">
                <a:solidFill>
                  <a:srgbClr val="000000"/>
                </a:solidFill>
                <a:latin typeface="Telegraf"/>
              </a:rPr>
              <a:t>maupun</a:t>
            </a:r>
            <a:r>
              <a:rPr lang="en-US" sz="2400" dirty="0">
                <a:solidFill>
                  <a:srgbClr val="000000"/>
                </a:solidFill>
                <a:latin typeface="Telegraf"/>
              </a:rPr>
              <a:t> </a:t>
            </a:r>
            <a:r>
              <a:rPr lang="en-US" sz="2400" dirty="0" err="1">
                <a:solidFill>
                  <a:srgbClr val="000000"/>
                </a:solidFill>
                <a:latin typeface="Telegraf"/>
              </a:rPr>
              <a:t>aktivitas</a:t>
            </a:r>
            <a:r>
              <a:rPr lang="en-US" sz="2400" dirty="0">
                <a:solidFill>
                  <a:srgbClr val="000000"/>
                </a:solidFill>
                <a:latin typeface="Telegraf"/>
              </a:rPr>
              <a:t> </a:t>
            </a:r>
            <a:r>
              <a:rPr lang="en-US" sz="2400" dirty="0" err="1">
                <a:solidFill>
                  <a:srgbClr val="000000"/>
                </a:solidFill>
                <a:latin typeface="Telegraf"/>
              </a:rPr>
              <a:t>atau</a:t>
            </a:r>
            <a:r>
              <a:rPr lang="en-US" sz="2400" dirty="0">
                <a:solidFill>
                  <a:srgbClr val="000000"/>
                </a:solidFill>
                <a:latin typeface="Telegraf"/>
              </a:rPr>
              <a:t> </a:t>
            </a:r>
            <a:r>
              <a:rPr lang="en-US" sz="2400" dirty="0" err="1">
                <a:solidFill>
                  <a:srgbClr val="000000"/>
                </a:solidFill>
                <a:latin typeface="Telegraf"/>
              </a:rPr>
              <a:t>kegiatan</a:t>
            </a:r>
            <a:r>
              <a:rPr lang="en-US" sz="2400" dirty="0">
                <a:solidFill>
                  <a:srgbClr val="000000"/>
                </a:solidFill>
                <a:latin typeface="Telegraf"/>
              </a:rPr>
              <a:t> Perusahaan yang </a:t>
            </a:r>
            <a:r>
              <a:rPr lang="en-US" sz="2400" dirty="0" err="1">
                <a:solidFill>
                  <a:srgbClr val="000000"/>
                </a:solidFill>
                <a:latin typeface="Telegraf"/>
              </a:rPr>
              <a:t>memuat</a:t>
            </a:r>
            <a:r>
              <a:rPr lang="en-US" sz="2400" dirty="0">
                <a:solidFill>
                  <a:srgbClr val="000000"/>
                </a:solidFill>
                <a:latin typeface="Telegraf"/>
              </a:rPr>
              <a:t>, </a:t>
            </a:r>
            <a:r>
              <a:rPr lang="en-US" sz="2400" dirty="0" err="1">
                <a:solidFill>
                  <a:srgbClr val="000000"/>
                </a:solidFill>
                <a:latin typeface="Telegraf"/>
              </a:rPr>
              <a:t>namun</a:t>
            </a:r>
            <a:r>
              <a:rPr lang="en-US" sz="2400" dirty="0">
                <a:solidFill>
                  <a:srgbClr val="000000"/>
                </a:solidFill>
                <a:latin typeface="Telegraf"/>
              </a:rPr>
              <a:t> </a:t>
            </a: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terbatas</a:t>
            </a:r>
            <a:r>
              <a:rPr lang="en-US" sz="2400" dirty="0">
                <a:solidFill>
                  <a:srgbClr val="000000"/>
                </a:solidFill>
                <a:latin typeface="Telegraf"/>
              </a:rPr>
              <a:t> pada </a:t>
            </a:r>
            <a:r>
              <a:rPr lang="en-US" sz="2400" dirty="0" err="1">
                <a:solidFill>
                  <a:srgbClr val="000000"/>
                </a:solidFill>
                <a:latin typeface="Telegraf"/>
              </a:rPr>
              <a:t>pernyataan</a:t>
            </a:r>
            <a:r>
              <a:rPr lang="en-US" sz="2400" dirty="0">
                <a:solidFill>
                  <a:srgbClr val="000000"/>
                </a:solidFill>
                <a:latin typeface="Telegraf"/>
              </a:rPr>
              <a:t> </a:t>
            </a:r>
            <a:r>
              <a:rPr lang="en-US" sz="2400" dirty="0" err="1">
                <a:solidFill>
                  <a:srgbClr val="000000"/>
                </a:solidFill>
                <a:latin typeface="Telegraf"/>
              </a:rPr>
              <a:t>sebagai</a:t>
            </a:r>
            <a:r>
              <a:rPr lang="en-US" sz="2400" dirty="0">
                <a:solidFill>
                  <a:srgbClr val="000000"/>
                </a:solidFill>
                <a:latin typeface="Telegraf"/>
              </a:rPr>
              <a:t> </a:t>
            </a:r>
            <a:r>
              <a:rPr lang="en-US" sz="2400" dirty="0" err="1">
                <a:solidFill>
                  <a:srgbClr val="000000"/>
                </a:solidFill>
                <a:latin typeface="Telegraf"/>
              </a:rPr>
              <a:t>berikut</a:t>
            </a:r>
            <a:r>
              <a:rPr lang="en-US" sz="2400" dirty="0">
                <a:solidFill>
                  <a:srgbClr val="000000"/>
                </a:solidFill>
                <a:latin typeface="Telegraf"/>
              </a:rPr>
              <a:t> :</a:t>
            </a:r>
          </a:p>
          <a:p>
            <a:pPr algn="just">
              <a:lnSpc>
                <a:spcPts val="2879"/>
              </a:lnSpc>
              <a:spcBef>
                <a:spcPct val="0"/>
              </a:spcBef>
            </a:pPr>
            <a:endParaRPr lang="en-US" sz="2400" dirty="0">
              <a:solidFill>
                <a:srgbClr val="000000"/>
              </a:solidFill>
              <a:latin typeface="Telegraf"/>
            </a:endParaRPr>
          </a:p>
          <a:p>
            <a:pPr marL="457200" indent="-457200" algn="just">
              <a:lnSpc>
                <a:spcPts val="2879"/>
              </a:lnSpc>
              <a:spcBef>
                <a:spcPct val="0"/>
              </a:spcBef>
              <a:buFont typeface="+mj-lt"/>
              <a:buAutoNum type="alphaLcPeriod"/>
            </a:pPr>
            <a:r>
              <a:rPr lang="en-US" sz="2400" dirty="0" err="1">
                <a:solidFill>
                  <a:srgbClr val="000000"/>
                </a:solidFill>
                <a:latin typeface="Telegraf"/>
              </a:rPr>
              <a:t>Seluruh</a:t>
            </a:r>
            <a:r>
              <a:rPr lang="en-US" sz="2400" dirty="0">
                <a:solidFill>
                  <a:srgbClr val="000000"/>
                </a:solidFill>
                <a:latin typeface="Telegraf"/>
              </a:rPr>
              <a:t> </a:t>
            </a:r>
            <a:r>
              <a:rPr lang="en-US" sz="2400" dirty="0" err="1">
                <a:solidFill>
                  <a:srgbClr val="000000"/>
                </a:solidFill>
                <a:latin typeface="Telegraf"/>
              </a:rPr>
              <a:t>pengurus</a:t>
            </a:r>
            <a:r>
              <a:rPr lang="en-US" sz="2400" dirty="0">
                <a:solidFill>
                  <a:srgbClr val="000000"/>
                </a:solidFill>
                <a:latin typeface="Telegraf"/>
              </a:rPr>
              <a:t> dan </a:t>
            </a:r>
            <a:r>
              <a:rPr lang="en-US" sz="2400" dirty="0" err="1">
                <a:solidFill>
                  <a:srgbClr val="000000"/>
                </a:solidFill>
                <a:latin typeface="Telegraf"/>
              </a:rPr>
              <a:t>karyawan</a:t>
            </a:r>
            <a:r>
              <a:rPr lang="en-US" sz="2400" dirty="0">
                <a:solidFill>
                  <a:srgbClr val="000000"/>
                </a:solidFill>
                <a:latin typeface="Telegraf"/>
              </a:rPr>
              <a:t> Perusahaan </a:t>
            </a:r>
            <a:r>
              <a:rPr lang="en-US" sz="2400" dirty="0" err="1">
                <a:solidFill>
                  <a:srgbClr val="000000"/>
                </a:solidFill>
                <a:latin typeface="Telegraf"/>
              </a:rPr>
              <a:t>menyadari</a:t>
            </a:r>
            <a:r>
              <a:rPr lang="en-US" sz="2400" dirty="0">
                <a:solidFill>
                  <a:srgbClr val="000000"/>
                </a:solidFill>
                <a:latin typeface="Telegraf"/>
              </a:rPr>
              <a:t>, </a:t>
            </a:r>
            <a:r>
              <a:rPr lang="en-US" sz="2400" dirty="0" err="1">
                <a:solidFill>
                  <a:srgbClr val="000000"/>
                </a:solidFill>
                <a:latin typeface="Telegraf"/>
              </a:rPr>
              <a:t>bahwa</a:t>
            </a:r>
            <a:r>
              <a:rPr lang="en-US" sz="2400" dirty="0">
                <a:solidFill>
                  <a:srgbClr val="000000"/>
                </a:solidFill>
                <a:latin typeface="Telegraf"/>
              </a:rPr>
              <a:t> </a:t>
            </a:r>
            <a:r>
              <a:rPr lang="en-US" sz="2400" dirty="0" err="1">
                <a:solidFill>
                  <a:srgbClr val="000000"/>
                </a:solidFill>
                <a:latin typeface="Telegraf"/>
              </a:rPr>
              <a:t>sesungguhnya</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Fraud </a:t>
            </a:r>
            <a:r>
              <a:rPr lang="en-US" sz="2400" dirty="0" err="1">
                <a:solidFill>
                  <a:srgbClr val="000000"/>
                </a:solidFill>
                <a:latin typeface="Telegraf"/>
              </a:rPr>
              <a:t>adalah</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yang </a:t>
            </a:r>
            <a:r>
              <a:rPr lang="en-US" sz="2400" dirty="0" err="1">
                <a:solidFill>
                  <a:srgbClr val="000000"/>
                </a:solidFill>
                <a:latin typeface="Telegraf"/>
              </a:rPr>
              <a:t>menyalahi</a:t>
            </a:r>
            <a:r>
              <a:rPr lang="en-US" sz="2400" dirty="0">
                <a:solidFill>
                  <a:srgbClr val="000000"/>
                </a:solidFill>
                <a:latin typeface="Telegraf"/>
              </a:rPr>
              <a:t> </a:t>
            </a:r>
            <a:r>
              <a:rPr lang="en-US" sz="2400" dirty="0" err="1">
                <a:solidFill>
                  <a:srgbClr val="000000"/>
                </a:solidFill>
                <a:latin typeface="Telegraf"/>
              </a:rPr>
              <a:t>norma-norma</a:t>
            </a:r>
            <a:r>
              <a:rPr lang="en-US" sz="2400" dirty="0">
                <a:solidFill>
                  <a:srgbClr val="000000"/>
                </a:solidFill>
                <a:latin typeface="Telegraf"/>
              </a:rPr>
              <a:t> agama </a:t>
            </a:r>
            <a:r>
              <a:rPr lang="en-US" sz="2400" dirty="0" err="1">
                <a:solidFill>
                  <a:srgbClr val="000000"/>
                </a:solidFill>
                <a:latin typeface="Telegraf"/>
              </a:rPr>
              <a:t>serta</a:t>
            </a:r>
            <a:r>
              <a:rPr lang="en-US" sz="2400" dirty="0">
                <a:solidFill>
                  <a:srgbClr val="000000"/>
                </a:solidFill>
                <a:latin typeface="Telegraf"/>
              </a:rPr>
              <a:t> </a:t>
            </a:r>
            <a:r>
              <a:rPr lang="en-US" sz="2400" dirty="0" err="1">
                <a:solidFill>
                  <a:srgbClr val="000000"/>
                </a:solidFill>
                <a:latin typeface="Telegraf"/>
              </a:rPr>
              <a:t>melanggar</a:t>
            </a:r>
            <a:r>
              <a:rPr lang="en-US" sz="2400" dirty="0">
                <a:solidFill>
                  <a:srgbClr val="000000"/>
                </a:solidFill>
                <a:latin typeface="Telegraf"/>
              </a:rPr>
              <a:t> </a:t>
            </a:r>
            <a:r>
              <a:rPr lang="en-US" sz="2400" dirty="0" err="1">
                <a:solidFill>
                  <a:srgbClr val="000000"/>
                </a:solidFill>
                <a:latin typeface="Telegraf"/>
              </a:rPr>
              <a:t>aturan</a:t>
            </a:r>
            <a:r>
              <a:rPr lang="en-US" sz="2400" dirty="0">
                <a:solidFill>
                  <a:srgbClr val="000000"/>
                </a:solidFill>
                <a:latin typeface="Telegraf"/>
              </a:rPr>
              <a:t> </a:t>
            </a:r>
            <a:r>
              <a:rPr lang="en-US" sz="2400" dirty="0" err="1">
                <a:solidFill>
                  <a:srgbClr val="000000"/>
                </a:solidFill>
                <a:latin typeface="Telegraf"/>
              </a:rPr>
              <a:t>perundang-undangan</a:t>
            </a:r>
            <a:r>
              <a:rPr lang="en-US" sz="2400" dirty="0">
                <a:solidFill>
                  <a:srgbClr val="000000"/>
                </a:solidFill>
                <a:latin typeface="Telegraf"/>
              </a:rPr>
              <a:t>, </a:t>
            </a:r>
            <a:r>
              <a:rPr lang="en-US" sz="2400" dirty="0" err="1">
                <a:solidFill>
                  <a:srgbClr val="000000"/>
                </a:solidFill>
                <a:latin typeface="Telegraf"/>
              </a:rPr>
              <a:t>termasuk</a:t>
            </a:r>
            <a:r>
              <a:rPr lang="en-US" sz="2400" dirty="0">
                <a:solidFill>
                  <a:srgbClr val="000000"/>
                </a:solidFill>
                <a:latin typeface="Telegraf"/>
              </a:rPr>
              <a:t> </a:t>
            </a:r>
            <a:r>
              <a:rPr lang="en-US" sz="2400" dirty="0" err="1">
                <a:solidFill>
                  <a:srgbClr val="000000"/>
                </a:solidFill>
                <a:latin typeface="Telegraf"/>
              </a:rPr>
              <a:t>Peraturan</a:t>
            </a:r>
            <a:r>
              <a:rPr lang="en-US" sz="2400" dirty="0">
                <a:solidFill>
                  <a:srgbClr val="000000"/>
                </a:solidFill>
                <a:latin typeface="Telegraf"/>
              </a:rPr>
              <a:t> Perusahaan</a:t>
            </a:r>
          </a:p>
          <a:p>
            <a:pPr marL="457200" indent="-457200" algn="just">
              <a:lnSpc>
                <a:spcPts val="2879"/>
              </a:lnSpc>
              <a:spcBef>
                <a:spcPct val="0"/>
              </a:spcBef>
              <a:buFont typeface="+mj-lt"/>
              <a:buAutoNum type="alphaLcPeriod"/>
            </a:pPr>
            <a:endParaRPr lang="en-US" sz="2400" dirty="0">
              <a:solidFill>
                <a:srgbClr val="000000"/>
              </a:solidFill>
              <a:latin typeface="Telegraf"/>
            </a:endParaRPr>
          </a:p>
          <a:p>
            <a:pPr marL="457200" indent="-457200" algn="just">
              <a:lnSpc>
                <a:spcPts val="2879"/>
              </a:lnSpc>
              <a:buFont typeface="+mj-lt"/>
              <a:buAutoNum type="alphaLcPeriod"/>
            </a:pPr>
            <a:r>
              <a:rPr lang="en-US" sz="2400" dirty="0" err="1">
                <a:solidFill>
                  <a:srgbClr val="000000"/>
                </a:solidFill>
                <a:latin typeface="Telegraf"/>
              </a:rPr>
              <a:t>Seluruh</a:t>
            </a:r>
            <a:r>
              <a:rPr lang="en-US" sz="2400" dirty="0">
                <a:solidFill>
                  <a:srgbClr val="000000"/>
                </a:solidFill>
                <a:latin typeface="Telegraf"/>
              </a:rPr>
              <a:t> </a:t>
            </a:r>
            <a:r>
              <a:rPr lang="en-US" sz="2400" dirty="0" err="1">
                <a:solidFill>
                  <a:srgbClr val="000000"/>
                </a:solidFill>
                <a:latin typeface="Telegraf"/>
              </a:rPr>
              <a:t>pengurus</a:t>
            </a:r>
            <a:r>
              <a:rPr lang="en-US" sz="2400" dirty="0">
                <a:solidFill>
                  <a:srgbClr val="000000"/>
                </a:solidFill>
                <a:latin typeface="Telegraf"/>
              </a:rPr>
              <a:t> dan </a:t>
            </a:r>
            <a:r>
              <a:rPr lang="en-US" sz="2400" dirty="0" err="1">
                <a:solidFill>
                  <a:srgbClr val="000000"/>
                </a:solidFill>
                <a:latin typeface="Telegraf"/>
              </a:rPr>
              <a:t>karyawan</a:t>
            </a:r>
            <a:r>
              <a:rPr lang="en-US" sz="2400" dirty="0">
                <a:solidFill>
                  <a:srgbClr val="000000"/>
                </a:solidFill>
                <a:latin typeface="Telegraf"/>
              </a:rPr>
              <a:t> Perusahaan </a:t>
            </a:r>
            <a:r>
              <a:rPr lang="en-US" sz="2400" dirty="0" err="1">
                <a:solidFill>
                  <a:srgbClr val="000000"/>
                </a:solidFill>
                <a:latin typeface="Telegraf"/>
              </a:rPr>
              <a:t>menyadari</a:t>
            </a:r>
            <a:r>
              <a:rPr lang="en-US" sz="2400" dirty="0">
                <a:solidFill>
                  <a:srgbClr val="000000"/>
                </a:solidFill>
                <a:latin typeface="Telegraf"/>
              </a:rPr>
              <a:t>, </a:t>
            </a:r>
            <a:r>
              <a:rPr lang="en-US" sz="2400" dirty="0" err="1">
                <a:solidFill>
                  <a:srgbClr val="000000"/>
                </a:solidFill>
                <a:latin typeface="Telegraf"/>
              </a:rPr>
              <a:t>bahwa</a:t>
            </a:r>
            <a:r>
              <a:rPr lang="en-US" sz="2400" dirty="0">
                <a:solidFill>
                  <a:srgbClr val="000000"/>
                </a:solidFill>
                <a:latin typeface="Telegraf"/>
              </a:rPr>
              <a:t> </a:t>
            </a: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fraud </a:t>
            </a:r>
            <a:r>
              <a:rPr lang="en-US" sz="2400" dirty="0" err="1">
                <a:solidFill>
                  <a:srgbClr val="000000"/>
                </a:solidFill>
                <a:latin typeface="Telegraf"/>
              </a:rPr>
              <a:t>berarti</a:t>
            </a:r>
            <a:r>
              <a:rPr lang="en-US" sz="2400" dirty="0">
                <a:solidFill>
                  <a:srgbClr val="000000"/>
                </a:solidFill>
                <a:latin typeface="Telegraf"/>
              </a:rPr>
              <a:t> </a:t>
            </a:r>
            <a:r>
              <a:rPr lang="en-US" sz="2400" dirty="0" err="1">
                <a:solidFill>
                  <a:srgbClr val="000000"/>
                </a:solidFill>
                <a:latin typeface="Telegraf"/>
              </a:rPr>
              <a:t>mengkhianati</a:t>
            </a:r>
            <a:r>
              <a:rPr lang="en-US" sz="2400" dirty="0">
                <a:solidFill>
                  <a:srgbClr val="000000"/>
                </a:solidFill>
                <a:latin typeface="Telegraf"/>
              </a:rPr>
              <a:t> </a:t>
            </a:r>
            <a:r>
              <a:rPr lang="en-US" sz="2400" dirty="0" err="1">
                <a:solidFill>
                  <a:srgbClr val="000000"/>
                </a:solidFill>
                <a:latin typeface="Telegraf"/>
              </a:rPr>
              <a:t>kepercayaan</a:t>
            </a:r>
            <a:r>
              <a:rPr lang="en-US" sz="2400" dirty="0">
                <a:solidFill>
                  <a:srgbClr val="000000"/>
                </a:solidFill>
                <a:latin typeface="Telegraf"/>
              </a:rPr>
              <a:t> </a:t>
            </a:r>
            <a:r>
              <a:rPr lang="en-US" sz="2400" dirty="0" err="1">
                <a:solidFill>
                  <a:srgbClr val="000000"/>
                </a:solidFill>
                <a:latin typeface="Telegraf"/>
              </a:rPr>
              <a:t>atau</a:t>
            </a:r>
            <a:r>
              <a:rPr lang="en-US" sz="2400" dirty="0">
                <a:solidFill>
                  <a:srgbClr val="000000"/>
                </a:solidFill>
                <a:latin typeface="Telegraf"/>
              </a:rPr>
              <a:t> </a:t>
            </a:r>
            <a:r>
              <a:rPr lang="en-US" sz="2400" dirty="0" err="1">
                <a:solidFill>
                  <a:srgbClr val="000000"/>
                </a:solidFill>
                <a:latin typeface="Telegraf"/>
              </a:rPr>
              <a:t>amanah</a:t>
            </a:r>
            <a:r>
              <a:rPr lang="en-US" sz="2400" dirty="0">
                <a:solidFill>
                  <a:srgbClr val="000000"/>
                </a:solidFill>
                <a:latin typeface="Telegraf"/>
              </a:rPr>
              <a:t> yang </a:t>
            </a:r>
            <a:r>
              <a:rPr lang="en-US" sz="2400" dirty="0" err="1">
                <a:solidFill>
                  <a:srgbClr val="000000"/>
                </a:solidFill>
                <a:latin typeface="Telegraf"/>
              </a:rPr>
              <a:t>diberikan</a:t>
            </a:r>
            <a:r>
              <a:rPr lang="en-US" sz="2400" dirty="0">
                <a:solidFill>
                  <a:srgbClr val="000000"/>
                </a:solidFill>
                <a:latin typeface="Telegraf"/>
              </a:rPr>
              <a:t> Perusahaan</a:t>
            </a:r>
          </a:p>
          <a:p>
            <a:pPr marL="457200" indent="-457200" algn="just">
              <a:lnSpc>
                <a:spcPts val="2879"/>
              </a:lnSpc>
              <a:spcBef>
                <a:spcPct val="0"/>
              </a:spcBef>
              <a:buFont typeface="+mj-lt"/>
              <a:buAutoNum type="alphaLcPeriod"/>
            </a:pPr>
            <a:endParaRPr lang="en-US" sz="2400" dirty="0">
              <a:solidFill>
                <a:srgbClr val="000000"/>
              </a:solidFill>
              <a:latin typeface="Telegraf"/>
            </a:endParaRPr>
          </a:p>
          <a:p>
            <a:pPr marL="457200" indent="-457200" algn="just">
              <a:lnSpc>
                <a:spcPts val="2879"/>
              </a:lnSpc>
              <a:spcBef>
                <a:spcPct val="0"/>
              </a:spcBef>
              <a:buFont typeface="+mj-lt"/>
              <a:buAutoNum type="alphaLcPeriod"/>
            </a:pPr>
            <a:r>
              <a:rPr lang="en-US" sz="2400" dirty="0" err="1">
                <a:solidFill>
                  <a:srgbClr val="000000"/>
                </a:solidFill>
                <a:latin typeface="Telegraf"/>
              </a:rPr>
              <a:t>Seluruh</a:t>
            </a:r>
            <a:r>
              <a:rPr lang="en-US" sz="2400" dirty="0">
                <a:solidFill>
                  <a:srgbClr val="000000"/>
                </a:solidFill>
                <a:latin typeface="Telegraf"/>
              </a:rPr>
              <a:t> </a:t>
            </a:r>
            <a:r>
              <a:rPr lang="en-US" sz="2400" dirty="0" err="1">
                <a:solidFill>
                  <a:srgbClr val="000000"/>
                </a:solidFill>
                <a:latin typeface="Telegraf"/>
              </a:rPr>
              <a:t>pengurus</a:t>
            </a:r>
            <a:r>
              <a:rPr lang="en-US" sz="2400" dirty="0">
                <a:solidFill>
                  <a:srgbClr val="000000"/>
                </a:solidFill>
                <a:latin typeface="Telegraf"/>
              </a:rPr>
              <a:t> dan </a:t>
            </a:r>
            <a:r>
              <a:rPr lang="en-US" sz="2400" dirty="0" err="1">
                <a:solidFill>
                  <a:srgbClr val="000000"/>
                </a:solidFill>
                <a:latin typeface="Telegraf"/>
              </a:rPr>
              <a:t>karyawan</a:t>
            </a:r>
            <a:r>
              <a:rPr lang="en-US" sz="2400" dirty="0">
                <a:solidFill>
                  <a:srgbClr val="000000"/>
                </a:solidFill>
                <a:latin typeface="Telegraf"/>
              </a:rPr>
              <a:t> Perusahaan </a:t>
            </a:r>
            <a:r>
              <a:rPr lang="en-US" sz="2400" dirty="0" err="1">
                <a:solidFill>
                  <a:srgbClr val="000000"/>
                </a:solidFill>
                <a:latin typeface="Telegraf"/>
              </a:rPr>
              <a:t>menyadari</a:t>
            </a:r>
            <a:r>
              <a:rPr lang="en-US" sz="2400" dirty="0">
                <a:solidFill>
                  <a:srgbClr val="000000"/>
                </a:solidFill>
                <a:latin typeface="Telegraf"/>
              </a:rPr>
              <a:t>, </a:t>
            </a:r>
            <a:r>
              <a:rPr lang="en-US" sz="2400" dirty="0" err="1">
                <a:solidFill>
                  <a:srgbClr val="000000"/>
                </a:solidFill>
                <a:latin typeface="Telegraf"/>
              </a:rPr>
              <a:t>bahwa</a:t>
            </a:r>
            <a:r>
              <a:rPr lang="en-US" sz="2400" dirty="0">
                <a:solidFill>
                  <a:srgbClr val="000000"/>
                </a:solidFill>
                <a:latin typeface="Telegraf"/>
              </a:rPr>
              <a:t> </a:t>
            </a:r>
            <a:r>
              <a:rPr lang="en-US" sz="2400" dirty="0" err="1">
                <a:solidFill>
                  <a:srgbClr val="000000"/>
                </a:solidFill>
                <a:latin typeface="Telegraf"/>
              </a:rPr>
              <a:t>akibat</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Fraud </a:t>
            </a: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hanya</a:t>
            </a:r>
            <a:r>
              <a:rPr lang="en-US" sz="2400" dirty="0">
                <a:solidFill>
                  <a:srgbClr val="000000"/>
                </a:solidFill>
                <a:latin typeface="Telegraf"/>
              </a:rPr>
              <a:t> </a:t>
            </a:r>
            <a:r>
              <a:rPr lang="en-US" sz="2400" dirty="0" err="1">
                <a:solidFill>
                  <a:srgbClr val="000000"/>
                </a:solidFill>
                <a:latin typeface="Telegraf"/>
              </a:rPr>
              <a:t>merugikan</a:t>
            </a:r>
            <a:r>
              <a:rPr lang="en-US" sz="2400" dirty="0">
                <a:solidFill>
                  <a:srgbClr val="000000"/>
                </a:solidFill>
                <a:latin typeface="Telegraf"/>
              </a:rPr>
              <a:t> Perusahaan, </a:t>
            </a:r>
            <a:r>
              <a:rPr lang="en-US" sz="2400" dirty="0" err="1">
                <a:solidFill>
                  <a:srgbClr val="000000"/>
                </a:solidFill>
                <a:latin typeface="Telegraf"/>
              </a:rPr>
              <a:t>namun</a:t>
            </a:r>
            <a:r>
              <a:rPr lang="en-US" sz="2400" dirty="0">
                <a:solidFill>
                  <a:srgbClr val="000000"/>
                </a:solidFill>
                <a:latin typeface="Telegraf"/>
              </a:rPr>
              <a:t> </a:t>
            </a:r>
            <a:r>
              <a:rPr lang="en-US" sz="2400" dirty="0" err="1">
                <a:solidFill>
                  <a:srgbClr val="000000"/>
                </a:solidFill>
                <a:latin typeface="Telegraf"/>
              </a:rPr>
              <a:t>diri</a:t>
            </a:r>
            <a:r>
              <a:rPr lang="en-US" sz="2400" dirty="0">
                <a:solidFill>
                  <a:srgbClr val="000000"/>
                </a:solidFill>
                <a:latin typeface="Telegraf"/>
              </a:rPr>
              <a:t> </a:t>
            </a:r>
            <a:r>
              <a:rPr lang="en-US" sz="2400" dirty="0" err="1">
                <a:solidFill>
                  <a:srgbClr val="000000"/>
                </a:solidFill>
                <a:latin typeface="Telegraf"/>
              </a:rPr>
              <a:t>sendiri</a:t>
            </a:r>
            <a:r>
              <a:rPr lang="en-US" sz="2400" dirty="0">
                <a:solidFill>
                  <a:srgbClr val="000000"/>
                </a:solidFill>
                <a:latin typeface="Telegraf"/>
              </a:rPr>
              <a:t> dan </a:t>
            </a:r>
            <a:r>
              <a:rPr lang="en-US" sz="2400" dirty="0" err="1">
                <a:solidFill>
                  <a:srgbClr val="000000"/>
                </a:solidFill>
                <a:latin typeface="Telegraf"/>
              </a:rPr>
              <a:t>keluarga</a:t>
            </a:r>
            <a:endParaRPr lang="en-US" sz="2400" dirty="0">
              <a:solidFill>
                <a:srgbClr val="000000"/>
              </a:solidFill>
              <a:latin typeface="Telegraf"/>
            </a:endParaRPr>
          </a:p>
          <a:p>
            <a:pPr marL="457200" indent="-457200" algn="just">
              <a:lnSpc>
                <a:spcPts val="2879"/>
              </a:lnSpc>
              <a:spcBef>
                <a:spcPct val="0"/>
              </a:spcBef>
              <a:buFont typeface="+mj-lt"/>
              <a:buAutoNum type="alphaLcPeriod"/>
            </a:pPr>
            <a:endParaRPr lang="en-US" sz="2400" dirty="0">
              <a:solidFill>
                <a:srgbClr val="000000"/>
              </a:solidFill>
              <a:latin typeface="Telegraf"/>
            </a:endParaRPr>
          </a:p>
          <a:p>
            <a:pPr marL="457200" indent="-457200" algn="just">
              <a:lnSpc>
                <a:spcPts val="2879"/>
              </a:lnSpc>
              <a:spcBef>
                <a:spcPct val="0"/>
              </a:spcBef>
              <a:buFont typeface="+mj-lt"/>
              <a:buAutoNum type="alphaLcPeriod"/>
            </a:pPr>
            <a:r>
              <a:rPr lang="en-US" sz="2400" dirty="0" err="1">
                <a:solidFill>
                  <a:srgbClr val="000000"/>
                </a:solidFill>
                <a:latin typeface="Telegraf"/>
              </a:rPr>
              <a:t>Seluruh</a:t>
            </a:r>
            <a:r>
              <a:rPr lang="en-US" sz="2400" dirty="0">
                <a:solidFill>
                  <a:srgbClr val="000000"/>
                </a:solidFill>
                <a:latin typeface="Telegraf"/>
              </a:rPr>
              <a:t> </a:t>
            </a:r>
            <a:r>
              <a:rPr lang="en-US" sz="2400" dirty="0" err="1">
                <a:solidFill>
                  <a:srgbClr val="000000"/>
                </a:solidFill>
                <a:latin typeface="Telegraf"/>
              </a:rPr>
              <a:t>Pengurus</a:t>
            </a:r>
            <a:r>
              <a:rPr lang="en-US" sz="2400" dirty="0">
                <a:solidFill>
                  <a:srgbClr val="000000"/>
                </a:solidFill>
                <a:latin typeface="Telegraf"/>
              </a:rPr>
              <a:t> dan </a:t>
            </a:r>
            <a:r>
              <a:rPr lang="en-US" sz="2400" dirty="0" err="1">
                <a:solidFill>
                  <a:srgbClr val="000000"/>
                </a:solidFill>
                <a:latin typeface="Telegraf"/>
              </a:rPr>
              <a:t>karyawan</a:t>
            </a:r>
            <a:r>
              <a:rPr lang="en-US" sz="2400" dirty="0">
                <a:solidFill>
                  <a:srgbClr val="000000"/>
                </a:solidFill>
                <a:latin typeface="Telegraf"/>
              </a:rPr>
              <a:t> Perusahaan </a:t>
            </a:r>
            <a:r>
              <a:rPr lang="en-US" sz="2400" dirty="0" err="1">
                <a:solidFill>
                  <a:srgbClr val="000000"/>
                </a:solidFill>
                <a:latin typeface="Telegraf"/>
              </a:rPr>
              <a:t>berkomitmen</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tidak</a:t>
            </a:r>
            <a:r>
              <a:rPr lang="en-US" sz="2400" dirty="0">
                <a:solidFill>
                  <a:srgbClr val="000000"/>
                </a:solidFill>
                <a:latin typeface="Telegraf"/>
              </a:rPr>
              <a:t> </a:t>
            </a:r>
            <a:r>
              <a:rPr lang="en-US" sz="2400" dirty="0" err="1">
                <a:solidFill>
                  <a:srgbClr val="000000"/>
                </a:solidFill>
                <a:latin typeface="Telegraf"/>
              </a:rPr>
              <a:t>akan</a:t>
            </a:r>
            <a:r>
              <a:rPr lang="en-US" sz="2400" dirty="0">
                <a:solidFill>
                  <a:srgbClr val="000000"/>
                </a:solidFill>
                <a:latin typeface="Telegraf"/>
              </a:rPr>
              <a:t> </a:t>
            </a: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atau</a:t>
            </a:r>
            <a:r>
              <a:rPr lang="en-US" sz="2400" dirty="0">
                <a:solidFill>
                  <a:srgbClr val="000000"/>
                </a:solidFill>
                <a:latin typeface="Telegraf"/>
              </a:rPr>
              <a:t> </a:t>
            </a:r>
            <a:r>
              <a:rPr lang="en-US" sz="2400" dirty="0" err="1">
                <a:solidFill>
                  <a:srgbClr val="000000"/>
                </a:solidFill>
                <a:latin typeface="Telegraf"/>
              </a:rPr>
              <a:t>terlibat</a:t>
            </a:r>
            <a:r>
              <a:rPr lang="en-US" sz="2400" dirty="0">
                <a:solidFill>
                  <a:srgbClr val="000000"/>
                </a:solidFill>
                <a:latin typeface="Telegraf"/>
              </a:rPr>
              <a:t> </a:t>
            </a:r>
            <a:r>
              <a:rPr lang="en-US" sz="2400" dirty="0" err="1">
                <a:solidFill>
                  <a:srgbClr val="000000"/>
                </a:solidFill>
                <a:latin typeface="Telegraf"/>
              </a:rPr>
              <a:t>dalam</a:t>
            </a:r>
            <a:r>
              <a:rPr lang="en-US" sz="2400" dirty="0">
                <a:solidFill>
                  <a:srgbClr val="000000"/>
                </a:solidFill>
                <a:latin typeface="Telegraf"/>
              </a:rPr>
              <a:t> </a:t>
            </a:r>
            <a:r>
              <a:rPr lang="en-US" sz="2400" dirty="0" err="1">
                <a:solidFill>
                  <a:srgbClr val="000000"/>
                </a:solidFill>
                <a:latin typeface="Telegraf"/>
              </a:rPr>
              <a:t>segala</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Fraud, </a:t>
            </a:r>
            <a:r>
              <a:rPr lang="en-US" sz="2400" dirty="0" err="1">
                <a:solidFill>
                  <a:srgbClr val="000000"/>
                </a:solidFill>
                <a:latin typeface="Telegraf"/>
              </a:rPr>
              <a:t>serta</a:t>
            </a:r>
            <a:r>
              <a:rPr lang="en-US" sz="2400" dirty="0">
                <a:solidFill>
                  <a:srgbClr val="000000"/>
                </a:solidFill>
                <a:latin typeface="Telegraf"/>
              </a:rPr>
              <a:t> </a:t>
            </a:r>
            <a:r>
              <a:rPr lang="en-US" sz="2400" dirty="0" err="1">
                <a:solidFill>
                  <a:srgbClr val="000000"/>
                </a:solidFill>
                <a:latin typeface="Telegraf"/>
              </a:rPr>
              <a:t>menghindari</a:t>
            </a:r>
            <a:r>
              <a:rPr lang="en-US" sz="2400" dirty="0">
                <a:solidFill>
                  <a:srgbClr val="000000"/>
                </a:solidFill>
                <a:latin typeface="Telegraf"/>
              </a:rPr>
              <a:t> </a:t>
            </a:r>
            <a:r>
              <a:rPr lang="en-US" sz="2400" dirty="0" err="1">
                <a:solidFill>
                  <a:srgbClr val="000000"/>
                </a:solidFill>
                <a:latin typeface="Telegraf"/>
              </a:rPr>
              <a:t>diri</a:t>
            </a:r>
            <a:r>
              <a:rPr lang="en-US" sz="2400" dirty="0">
                <a:solidFill>
                  <a:srgbClr val="000000"/>
                </a:solidFill>
                <a:latin typeface="Telegraf"/>
              </a:rPr>
              <a:t> </a:t>
            </a:r>
            <a:r>
              <a:rPr lang="en-US" sz="2400" dirty="0" err="1">
                <a:solidFill>
                  <a:srgbClr val="000000"/>
                </a:solidFill>
                <a:latin typeface="Telegraf"/>
              </a:rPr>
              <a:t>dari</a:t>
            </a:r>
            <a:r>
              <a:rPr lang="en-US" sz="2400" dirty="0">
                <a:solidFill>
                  <a:srgbClr val="000000"/>
                </a:solidFill>
                <a:latin typeface="Telegraf"/>
              </a:rPr>
              <a:t> </a:t>
            </a:r>
            <a:r>
              <a:rPr lang="en-US" sz="2400" dirty="0" err="1">
                <a:solidFill>
                  <a:srgbClr val="000000"/>
                </a:solidFill>
                <a:latin typeface="Telegraf"/>
              </a:rPr>
              <a:t>perbuatan</a:t>
            </a:r>
            <a:r>
              <a:rPr lang="en-US" sz="2400" dirty="0">
                <a:solidFill>
                  <a:srgbClr val="000000"/>
                </a:solidFill>
                <a:latin typeface="Telegraf"/>
              </a:rPr>
              <a:t> yang </a:t>
            </a:r>
            <a:r>
              <a:rPr lang="en-US" sz="2400" dirty="0" err="1">
                <a:solidFill>
                  <a:srgbClr val="000000"/>
                </a:solidFill>
                <a:latin typeface="Telegraf"/>
              </a:rPr>
              <a:t>dapat</a:t>
            </a:r>
            <a:r>
              <a:rPr lang="en-US" sz="2400" dirty="0">
                <a:solidFill>
                  <a:srgbClr val="000000"/>
                </a:solidFill>
                <a:latin typeface="Telegraf"/>
              </a:rPr>
              <a:t> </a:t>
            </a:r>
            <a:r>
              <a:rPr lang="en-US" sz="2400" dirty="0" err="1">
                <a:solidFill>
                  <a:srgbClr val="000000"/>
                </a:solidFill>
                <a:latin typeface="Telegraf"/>
              </a:rPr>
              <a:t>mempermudah</a:t>
            </a:r>
            <a:r>
              <a:rPr lang="en-US" sz="2400" dirty="0">
                <a:solidFill>
                  <a:srgbClr val="000000"/>
                </a:solidFill>
                <a:latin typeface="Telegraf"/>
              </a:rPr>
              <a:t> </a:t>
            </a:r>
            <a:r>
              <a:rPr lang="en-US" sz="2400" dirty="0" err="1">
                <a:solidFill>
                  <a:srgbClr val="000000"/>
                </a:solidFill>
                <a:latin typeface="Telegraf"/>
              </a:rPr>
              <a:t>atau</a:t>
            </a:r>
            <a:r>
              <a:rPr lang="en-US" sz="2400" dirty="0">
                <a:solidFill>
                  <a:srgbClr val="000000"/>
                </a:solidFill>
                <a:latin typeface="Telegraf"/>
              </a:rPr>
              <a:t> </a:t>
            </a:r>
            <a:r>
              <a:rPr lang="en-US" sz="2400" dirty="0" err="1">
                <a:solidFill>
                  <a:srgbClr val="000000"/>
                </a:solidFill>
                <a:latin typeface="Telegraf"/>
              </a:rPr>
              <a:t>memberikan</a:t>
            </a:r>
            <a:r>
              <a:rPr lang="en-US" sz="2400" dirty="0">
                <a:solidFill>
                  <a:srgbClr val="000000"/>
                </a:solidFill>
                <a:latin typeface="Telegraf"/>
              </a:rPr>
              <a:t> </a:t>
            </a:r>
            <a:r>
              <a:rPr lang="en-US" sz="2400" dirty="0" err="1">
                <a:solidFill>
                  <a:srgbClr val="000000"/>
                </a:solidFill>
                <a:latin typeface="Telegraf"/>
              </a:rPr>
              <a:t>kesempatan</a:t>
            </a:r>
            <a:r>
              <a:rPr lang="en-US" sz="2400" dirty="0">
                <a:solidFill>
                  <a:srgbClr val="000000"/>
                </a:solidFill>
                <a:latin typeface="Telegraf"/>
              </a:rPr>
              <a:t> </a:t>
            </a:r>
            <a:r>
              <a:rPr lang="en-US" sz="2400" dirty="0" err="1">
                <a:solidFill>
                  <a:srgbClr val="000000"/>
                </a:solidFill>
                <a:latin typeface="Telegraf"/>
              </a:rPr>
              <a:t>kepada</a:t>
            </a:r>
            <a:r>
              <a:rPr lang="en-US" sz="2400" dirty="0">
                <a:solidFill>
                  <a:srgbClr val="000000"/>
                </a:solidFill>
                <a:latin typeface="Telegraf"/>
              </a:rPr>
              <a:t> orang lain </a:t>
            </a:r>
            <a:r>
              <a:rPr lang="en-US" sz="2400" dirty="0" err="1">
                <a:solidFill>
                  <a:srgbClr val="000000"/>
                </a:solidFill>
                <a:latin typeface="Telegraf"/>
              </a:rPr>
              <a:t>atau</a:t>
            </a:r>
            <a:r>
              <a:rPr lang="en-US" sz="2400" dirty="0">
                <a:solidFill>
                  <a:srgbClr val="000000"/>
                </a:solidFill>
                <a:latin typeface="Telegraf"/>
              </a:rPr>
              <a:t> </a:t>
            </a:r>
            <a:r>
              <a:rPr lang="en-US" sz="2400" dirty="0" err="1">
                <a:solidFill>
                  <a:srgbClr val="000000"/>
                </a:solidFill>
                <a:latin typeface="Telegraf"/>
              </a:rPr>
              <a:t>pihak</a:t>
            </a:r>
            <a:r>
              <a:rPr lang="en-US" sz="2400" dirty="0">
                <a:solidFill>
                  <a:srgbClr val="000000"/>
                </a:solidFill>
                <a:latin typeface="Telegraf"/>
              </a:rPr>
              <a:t> </a:t>
            </a:r>
            <a:r>
              <a:rPr lang="en-US" sz="2400" dirty="0" err="1">
                <a:solidFill>
                  <a:srgbClr val="000000"/>
                </a:solidFill>
                <a:latin typeface="Telegraf"/>
              </a:rPr>
              <a:t>ketiga</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melakukan</a:t>
            </a:r>
            <a:r>
              <a:rPr lang="en-US" sz="2400" dirty="0">
                <a:solidFill>
                  <a:srgbClr val="000000"/>
                </a:solidFill>
                <a:latin typeface="Telegraf"/>
              </a:rPr>
              <a:t> </a:t>
            </a:r>
            <a:r>
              <a:rPr lang="en-US" sz="2400" dirty="0" err="1">
                <a:solidFill>
                  <a:srgbClr val="000000"/>
                </a:solidFill>
                <a:latin typeface="Telegraf"/>
              </a:rPr>
              <a:t>tindakan</a:t>
            </a:r>
            <a:r>
              <a:rPr lang="en-US" sz="2400" dirty="0">
                <a:solidFill>
                  <a:srgbClr val="000000"/>
                </a:solidFill>
                <a:latin typeface="Telegraf"/>
              </a:rPr>
              <a:t> fraud</a:t>
            </a:r>
          </a:p>
          <a:p>
            <a:pPr marL="457200" indent="-457200" algn="just">
              <a:lnSpc>
                <a:spcPts val="2879"/>
              </a:lnSpc>
              <a:spcBef>
                <a:spcPct val="0"/>
              </a:spcBef>
              <a:buFont typeface="+mj-lt"/>
              <a:buAutoNum type="alphaLcPeriod"/>
            </a:pPr>
            <a:endParaRPr lang="en-US" sz="2400" dirty="0">
              <a:solidFill>
                <a:srgbClr val="000000"/>
              </a:solidFill>
              <a:latin typeface="Telegraf"/>
            </a:endParaRPr>
          </a:p>
          <a:p>
            <a:pPr marL="457200" indent="-457200" algn="just">
              <a:lnSpc>
                <a:spcPts val="2879"/>
              </a:lnSpc>
              <a:spcBef>
                <a:spcPct val="0"/>
              </a:spcBef>
              <a:buFont typeface="+mj-lt"/>
              <a:buAutoNum type="alphaLcPeriod"/>
            </a:pPr>
            <a:r>
              <a:rPr lang="en-US" sz="2400" dirty="0" err="1">
                <a:solidFill>
                  <a:srgbClr val="000000"/>
                </a:solidFill>
                <a:latin typeface="Telegraf"/>
              </a:rPr>
              <a:t>Seluruh</a:t>
            </a:r>
            <a:r>
              <a:rPr lang="en-US" sz="2400" dirty="0">
                <a:solidFill>
                  <a:srgbClr val="000000"/>
                </a:solidFill>
                <a:latin typeface="Telegraf"/>
              </a:rPr>
              <a:t> </a:t>
            </a:r>
            <a:r>
              <a:rPr lang="en-US" sz="2400" dirty="0" err="1">
                <a:solidFill>
                  <a:srgbClr val="000000"/>
                </a:solidFill>
                <a:latin typeface="Telegraf"/>
              </a:rPr>
              <a:t>pengurus</a:t>
            </a:r>
            <a:r>
              <a:rPr lang="en-US" sz="2400" dirty="0">
                <a:solidFill>
                  <a:srgbClr val="000000"/>
                </a:solidFill>
                <a:latin typeface="Telegraf"/>
              </a:rPr>
              <a:t> dan </a:t>
            </a:r>
            <a:r>
              <a:rPr lang="en-US" sz="2400" dirty="0" err="1">
                <a:solidFill>
                  <a:srgbClr val="000000"/>
                </a:solidFill>
                <a:latin typeface="Telegraf"/>
              </a:rPr>
              <a:t>karyawa</a:t>
            </a:r>
            <a:r>
              <a:rPr lang="en-US" sz="2400" dirty="0">
                <a:solidFill>
                  <a:srgbClr val="000000"/>
                </a:solidFill>
                <a:latin typeface="Telegraf"/>
              </a:rPr>
              <a:t> Perusahaan </a:t>
            </a:r>
            <a:r>
              <a:rPr lang="en-US" sz="2400" dirty="0" err="1">
                <a:solidFill>
                  <a:srgbClr val="000000"/>
                </a:solidFill>
                <a:latin typeface="Telegraf"/>
              </a:rPr>
              <a:t>berkomitmen</a:t>
            </a:r>
            <a:r>
              <a:rPr lang="en-US" sz="2400" dirty="0">
                <a:solidFill>
                  <a:srgbClr val="000000"/>
                </a:solidFill>
                <a:latin typeface="Telegraf"/>
              </a:rPr>
              <a:t> </a:t>
            </a:r>
            <a:r>
              <a:rPr lang="en-US" sz="2400" dirty="0" err="1">
                <a:solidFill>
                  <a:srgbClr val="000000"/>
                </a:solidFill>
                <a:latin typeface="Telegraf"/>
              </a:rPr>
              <a:t>untuk</a:t>
            </a:r>
            <a:r>
              <a:rPr lang="en-US" sz="2400" dirty="0">
                <a:solidFill>
                  <a:srgbClr val="000000"/>
                </a:solidFill>
                <a:latin typeface="Telegraf"/>
              </a:rPr>
              <a:t> </a:t>
            </a:r>
            <a:r>
              <a:rPr lang="en-US" sz="2400" dirty="0" err="1">
                <a:solidFill>
                  <a:srgbClr val="000000"/>
                </a:solidFill>
                <a:latin typeface="Telegraf"/>
              </a:rPr>
              <a:t>melaksanakan</a:t>
            </a:r>
            <a:r>
              <a:rPr lang="en-US" sz="2400" dirty="0">
                <a:solidFill>
                  <a:srgbClr val="000000"/>
                </a:solidFill>
                <a:latin typeface="Telegraf"/>
              </a:rPr>
              <a:t> dan </a:t>
            </a:r>
            <a:r>
              <a:rPr lang="en-US" sz="2400" dirty="0" err="1">
                <a:solidFill>
                  <a:srgbClr val="000000"/>
                </a:solidFill>
                <a:latin typeface="Telegraf"/>
              </a:rPr>
              <a:t>mendukung</a:t>
            </a:r>
            <a:r>
              <a:rPr lang="en-US" sz="2400" dirty="0">
                <a:solidFill>
                  <a:srgbClr val="000000"/>
                </a:solidFill>
                <a:latin typeface="Telegraf"/>
              </a:rPr>
              <a:t> </a:t>
            </a:r>
            <a:r>
              <a:rPr lang="en-US" sz="2400" dirty="0" err="1">
                <a:solidFill>
                  <a:srgbClr val="000000"/>
                </a:solidFill>
                <a:latin typeface="Telegraf"/>
              </a:rPr>
              <a:t>kebijakan</a:t>
            </a:r>
            <a:r>
              <a:rPr lang="en-US" sz="2400" dirty="0">
                <a:solidFill>
                  <a:srgbClr val="000000"/>
                </a:solidFill>
                <a:latin typeface="Telegraf"/>
              </a:rPr>
              <a:t> </a:t>
            </a:r>
            <a:r>
              <a:rPr lang="en-US" sz="2400" dirty="0" err="1">
                <a:solidFill>
                  <a:srgbClr val="000000"/>
                </a:solidFill>
                <a:latin typeface="Telegraf"/>
              </a:rPr>
              <a:t>penerapan</a:t>
            </a:r>
            <a:r>
              <a:rPr lang="en-US" sz="2400" dirty="0">
                <a:solidFill>
                  <a:srgbClr val="000000"/>
                </a:solidFill>
                <a:latin typeface="Telegraf"/>
              </a:rPr>
              <a:t> Strategi Anti Fraud yang </a:t>
            </a:r>
            <a:r>
              <a:rPr lang="en-US" sz="2400" dirty="0" err="1">
                <a:solidFill>
                  <a:srgbClr val="000000"/>
                </a:solidFill>
                <a:latin typeface="Telegraf"/>
              </a:rPr>
              <a:t>ditetapkan</a:t>
            </a:r>
            <a:r>
              <a:rPr lang="en-US" sz="2400" dirty="0">
                <a:solidFill>
                  <a:srgbClr val="000000"/>
                </a:solidFill>
                <a:latin typeface="Telegraf"/>
              </a:rPr>
              <a:t> </a:t>
            </a:r>
            <a:r>
              <a:rPr lang="en-US" sz="2400" dirty="0" err="1">
                <a:solidFill>
                  <a:srgbClr val="000000"/>
                </a:solidFill>
                <a:latin typeface="Telegraf"/>
              </a:rPr>
              <a:t>secara</a:t>
            </a:r>
            <a:r>
              <a:rPr lang="en-US" sz="2400" dirty="0">
                <a:solidFill>
                  <a:srgbClr val="000000"/>
                </a:solidFill>
                <a:latin typeface="Telegraf"/>
              </a:rPr>
              <a:t> </a:t>
            </a:r>
            <a:r>
              <a:rPr lang="en-US" sz="2400" dirty="0" err="1">
                <a:solidFill>
                  <a:srgbClr val="000000"/>
                </a:solidFill>
                <a:latin typeface="Telegraf"/>
              </a:rPr>
              <a:t>menyeluruh</a:t>
            </a:r>
            <a:r>
              <a:rPr lang="en-US" sz="2400" dirty="0">
                <a:solidFill>
                  <a:srgbClr val="000000"/>
                </a:solidFill>
                <a:latin typeface="Telegraf"/>
              </a:rPr>
              <a:t> dan </a:t>
            </a:r>
            <a:r>
              <a:rPr lang="en-US" sz="2400" dirty="0" err="1">
                <a:solidFill>
                  <a:srgbClr val="000000"/>
                </a:solidFill>
                <a:latin typeface="Telegraf"/>
              </a:rPr>
              <a:t>konsisten</a:t>
            </a:r>
            <a:endParaRPr lang="en-US" sz="2400" dirty="0">
              <a:solidFill>
                <a:srgbClr val="000000"/>
              </a:solidFill>
              <a:latin typeface="Telegraf"/>
            </a:endParaRPr>
          </a:p>
          <a:p>
            <a:pPr algn="just">
              <a:lnSpc>
                <a:spcPts val="2879"/>
              </a:lnSpc>
              <a:spcBef>
                <a:spcPct val="0"/>
              </a:spcBef>
            </a:pPr>
            <a:endParaRPr lang="en-US" sz="2400" dirty="0">
              <a:solidFill>
                <a:srgbClr val="000000"/>
              </a:solidFill>
              <a:latin typeface="Telegraf"/>
            </a:endParaRPr>
          </a:p>
          <a:p>
            <a:pPr algn="just">
              <a:lnSpc>
                <a:spcPts val="2879"/>
              </a:lnSpc>
              <a:spcBef>
                <a:spcPct val="0"/>
              </a:spcBef>
            </a:pPr>
            <a:endParaRPr lang="en-US" sz="2400" dirty="0">
              <a:solidFill>
                <a:srgbClr val="000000"/>
              </a:solidFill>
              <a:latin typeface="Telegraf"/>
            </a:endParaRPr>
          </a:p>
          <a:p>
            <a:pPr algn="just">
              <a:lnSpc>
                <a:spcPts val="2879"/>
              </a:lnSpc>
              <a:spcBef>
                <a:spcPct val="0"/>
              </a:spcBef>
            </a:pPr>
            <a:endParaRPr lang="en-US" sz="2400" dirty="0">
              <a:solidFill>
                <a:srgbClr val="000000"/>
              </a:solidFill>
              <a:latin typeface="Telegraf"/>
            </a:endParaRPr>
          </a:p>
        </p:txBody>
      </p:sp>
      <p:sp>
        <p:nvSpPr>
          <p:cNvPr id="6" name="TextBox 6"/>
          <p:cNvSpPr txBox="1"/>
          <p:nvPr/>
        </p:nvSpPr>
        <p:spPr>
          <a:xfrm>
            <a:off x="1689442" y="709612"/>
            <a:ext cx="9910764" cy="638175"/>
          </a:xfrm>
          <a:prstGeom prst="rect">
            <a:avLst/>
          </a:prstGeom>
        </p:spPr>
        <p:txBody>
          <a:bodyPr lIns="0" tIns="0" rIns="0" bIns="0" rtlCol="0" anchor="t">
            <a:spAutoFit/>
          </a:bodyPr>
          <a:lstStyle/>
          <a:p>
            <a:pPr>
              <a:lnSpc>
                <a:spcPts val="5040"/>
              </a:lnSpc>
            </a:pPr>
            <a:r>
              <a:rPr lang="en-US" sz="4200">
                <a:solidFill>
                  <a:srgbClr val="000000"/>
                </a:solidFill>
                <a:latin typeface="DM Sans Bold"/>
              </a:rPr>
              <a:t>Anti Fraud Statement </a:t>
            </a:r>
          </a:p>
        </p:txBody>
      </p:sp>
      <p:sp>
        <p:nvSpPr>
          <p:cNvPr id="7" name="TextBox 7"/>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36</a:t>
            </a:r>
          </a:p>
        </p:txBody>
      </p:sp>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5132731" y="4086225"/>
            <a:ext cx="13564875" cy="1057275"/>
          </a:xfrm>
          <a:prstGeom prst="rect">
            <a:avLst/>
          </a:prstGeom>
        </p:spPr>
        <p:txBody>
          <a:bodyPr lIns="0" tIns="0" rIns="0" bIns="0" rtlCol="0" anchor="t">
            <a:spAutoFit/>
          </a:bodyPr>
          <a:lstStyle/>
          <a:p>
            <a:pPr>
              <a:lnSpc>
                <a:spcPts val="8399"/>
              </a:lnSpc>
            </a:pPr>
            <a:r>
              <a:rPr lang="en-US" sz="6999">
                <a:solidFill>
                  <a:srgbClr val="FFFFFF"/>
                </a:solidFill>
                <a:latin typeface="DM Sans Bold"/>
              </a:rPr>
              <a:t>FRAUD PROFILING</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E3C7B"/>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5634713" y="331840"/>
            <a:ext cx="2823353" cy="5425686"/>
          </a:xfrm>
          <a:prstGeom prst="rect">
            <a:avLst/>
          </a:prstGeom>
        </p:spPr>
      </p:pic>
      <p:pic>
        <p:nvPicPr>
          <p:cNvPr id="3" name="Picture 3"/>
          <p:cNvPicPr>
            <a:picLocks noChangeAspect="1"/>
          </p:cNvPicPr>
          <p:nvPr/>
        </p:nvPicPr>
        <p:blipFill>
          <a:blip r:embed="rId3"/>
          <a:srcRect/>
          <a:stretch>
            <a:fillRect/>
          </a:stretch>
        </p:blipFill>
        <p:spPr>
          <a:xfrm rot="5400000">
            <a:off x="921105" y="5629866"/>
            <a:ext cx="3603755" cy="6925399"/>
          </a:xfrm>
          <a:prstGeom prst="rect">
            <a:avLst/>
          </a:prstGeom>
        </p:spPr>
      </p:pic>
      <p:sp>
        <p:nvSpPr>
          <p:cNvPr id="4" name="TextBox 4"/>
          <p:cNvSpPr txBox="1"/>
          <p:nvPr/>
        </p:nvSpPr>
        <p:spPr>
          <a:xfrm>
            <a:off x="1772170" y="1638300"/>
            <a:ext cx="13862544" cy="2200275"/>
          </a:xfrm>
          <a:prstGeom prst="rect">
            <a:avLst/>
          </a:prstGeom>
        </p:spPr>
        <p:txBody>
          <a:bodyPr lIns="0" tIns="0" rIns="0" bIns="0" rtlCol="0" anchor="t">
            <a:spAutoFit/>
          </a:bodyPr>
          <a:lstStyle/>
          <a:p>
            <a:pPr algn="just">
              <a:lnSpc>
                <a:spcPts val="2879"/>
              </a:lnSpc>
              <a:spcBef>
                <a:spcPct val="0"/>
              </a:spcBef>
            </a:pPr>
            <a:endParaRPr/>
          </a:p>
          <a:p>
            <a:pPr algn="just">
              <a:lnSpc>
                <a:spcPts val="2879"/>
              </a:lnSpc>
              <a:spcBef>
                <a:spcPct val="0"/>
              </a:spcBef>
            </a:pPr>
            <a:r>
              <a:rPr lang="en-US" sz="2400">
                <a:solidFill>
                  <a:srgbClr val="FFFFFF"/>
                </a:solidFill>
                <a:latin typeface="Telegraf"/>
              </a:rPr>
              <a:t>Pemeliharaan dan Penyimpanan data kejadian Fraud (Fraud Profiling) guna mendukung pelaksanaan evaluasi menjadi tanggung jawab Komite Anti Fraud. Pemeliharaan dan Penyimpanan dilakukan oleh Internal Audit Departemen. Selain data tersebut, pelaporan yang dilakukan Perusahaan kepada Otoritas Jasa Keuangan juga memerlukan pemeliharaan dan penyimpanan.</a:t>
            </a:r>
          </a:p>
        </p:txBody>
      </p:sp>
      <p:sp>
        <p:nvSpPr>
          <p:cNvPr id="5" name="TextBox 5"/>
          <p:cNvSpPr txBox="1"/>
          <p:nvPr/>
        </p:nvSpPr>
        <p:spPr>
          <a:xfrm>
            <a:off x="1772170" y="1028700"/>
            <a:ext cx="9910764" cy="638175"/>
          </a:xfrm>
          <a:prstGeom prst="rect">
            <a:avLst/>
          </a:prstGeom>
        </p:spPr>
        <p:txBody>
          <a:bodyPr lIns="0" tIns="0" rIns="0" bIns="0" rtlCol="0" anchor="t">
            <a:spAutoFit/>
          </a:bodyPr>
          <a:lstStyle/>
          <a:p>
            <a:pPr>
              <a:lnSpc>
                <a:spcPts val="5040"/>
              </a:lnSpc>
            </a:pPr>
            <a:r>
              <a:rPr lang="en-US" sz="4200">
                <a:solidFill>
                  <a:srgbClr val="FFFFFF"/>
                </a:solidFill>
                <a:latin typeface="DM Sans Bold"/>
              </a:rPr>
              <a:t>Fraud Profiling </a:t>
            </a:r>
          </a:p>
        </p:txBody>
      </p:sp>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38</a:t>
            </a:r>
          </a:p>
        </p:txBody>
      </p:sp>
    </p:spTree>
  </p:cSld>
  <p:clrMapOvr>
    <a:masterClrMapping/>
  </p:clrMapOvr>
  <p:transition spd="slow">
    <p:cover/>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97B2"/>
        </a:solidFill>
        <a:effectLst/>
      </p:bgPr>
    </p:bg>
    <p:spTree>
      <p:nvGrpSpPr>
        <p:cNvPr id="1" name=""/>
        <p:cNvGrpSpPr/>
        <p:nvPr/>
      </p:nvGrpSpPr>
      <p:grpSpPr>
        <a:xfrm>
          <a:off x="0" y="0"/>
          <a:ext cx="0" cy="0"/>
          <a:chOff x="0" y="0"/>
          <a:chExt cx="0" cy="0"/>
        </a:xfrm>
      </p:grpSpPr>
      <p:grpSp>
        <p:nvGrpSpPr>
          <p:cNvPr id="2" name="Group 2"/>
          <p:cNvGrpSpPr/>
          <p:nvPr/>
        </p:nvGrpSpPr>
        <p:grpSpPr>
          <a:xfrm>
            <a:off x="-1311653" y="0"/>
            <a:ext cx="2110578" cy="10287000"/>
            <a:chOff x="0" y="0"/>
            <a:chExt cx="555872" cy="2709333"/>
          </a:xfrm>
        </p:grpSpPr>
        <p:sp>
          <p:nvSpPr>
            <p:cNvPr id="3" name="Freeform 3"/>
            <p:cNvSpPr/>
            <p:nvPr/>
          </p:nvSpPr>
          <p:spPr>
            <a:xfrm>
              <a:off x="0" y="0"/>
              <a:ext cx="555872" cy="2709333"/>
            </a:xfrm>
            <a:custGeom>
              <a:avLst/>
              <a:gdLst/>
              <a:ahLst/>
              <a:cxnLst/>
              <a:rect l="l" t="t" r="r" b="b"/>
              <a:pathLst>
                <a:path w="555872" h="2709333">
                  <a:moveTo>
                    <a:pt x="0" y="0"/>
                  </a:moveTo>
                  <a:lnTo>
                    <a:pt x="555872" y="0"/>
                  </a:lnTo>
                  <a:lnTo>
                    <a:pt x="555872" y="2709333"/>
                  </a:lnTo>
                  <a:lnTo>
                    <a:pt x="0" y="2709333"/>
                  </a:lnTo>
                  <a:close/>
                </a:path>
              </a:pathLst>
            </a:custGeom>
            <a:solidFill>
              <a:srgbClr val="0E3C7B"/>
            </a:solidFill>
          </p:spPr>
        </p:sp>
        <p:sp>
          <p:nvSpPr>
            <p:cNvPr id="4" name="TextBox 4"/>
            <p:cNvSpPr txBox="1"/>
            <p:nvPr/>
          </p:nvSpPr>
          <p:spPr>
            <a:xfrm>
              <a:off x="0" y="-28575"/>
              <a:ext cx="812800" cy="841375"/>
            </a:xfrm>
            <a:prstGeom prst="rect">
              <a:avLst/>
            </a:prstGeom>
          </p:spPr>
          <p:txBody>
            <a:bodyPr lIns="50800" tIns="50800" rIns="50800" bIns="50800" rtlCol="0" anchor="ctr"/>
            <a:lstStyle/>
            <a:p>
              <a:pPr algn="ctr">
                <a:lnSpc>
                  <a:spcPts val="2879"/>
                </a:lnSpc>
              </a:pPr>
              <a:endParaRPr/>
            </a:p>
          </p:txBody>
        </p:sp>
      </p:grpSp>
      <p:pic>
        <p:nvPicPr>
          <p:cNvPr id="5" name="Picture 5"/>
          <p:cNvPicPr>
            <a:picLocks noChangeAspect="1"/>
          </p:cNvPicPr>
          <p:nvPr/>
        </p:nvPicPr>
        <p:blipFill>
          <a:blip r:embed="rId2">
            <a:alphaModFix amt="85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1553612" y="-331112"/>
            <a:ext cx="4705073" cy="4114800"/>
          </a:xfrm>
          <a:prstGeom prst="rect">
            <a:avLst/>
          </a:prstGeom>
        </p:spPr>
      </p:pic>
      <p:sp>
        <p:nvSpPr>
          <p:cNvPr id="6" name="TextBox 6"/>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7" name="TextBox 7"/>
          <p:cNvSpPr txBox="1"/>
          <p:nvPr/>
        </p:nvSpPr>
        <p:spPr>
          <a:xfrm>
            <a:off x="4739074" y="4086225"/>
            <a:ext cx="13564875" cy="1057275"/>
          </a:xfrm>
          <a:prstGeom prst="rect">
            <a:avLst/>
          </a:prstGeom>
        </p:spPr>
        <p:txBody>
          <a:bodyPr lIns="0" tIns="0" rIns="0" bIns="0" rtlCol="0" anchor="t">
            <a:spAutoFit/>
          </a:bodyPr>
          <a:lstStyle/>
          <a:p>
            <a:pPr>
              <a:lnSpc>
                <a:spcPts val="8399"/>
              </a:lnSpc>
            </a:pPr>
            <a:r>
              <a:rPr lang="en-US" sz="6999" dirty="0">
                <a:solidFill>
                  <a:srgbClr val="FFFFFF"/>
                </a:solidFill>
                <a:latin typeface="DM Sans Bold"/>
              </a:rPr>
              <a:t>KOMITE ANTI FRAUD</a:t>
            </a:r>
          </a:p>
        </p:txBody>
      </p:sp>
      <p:sp>
        <p:nvSpPr>
          <p:cNvPr id="8" name="TextBox 8"/>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FFFFFF"/>
                </a:solidFill>
                <a:latin typeface="Open Sauce SemiBold Bold"/>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627538" y="2098297"/>
            <a:ext cx="7581453" cy="6630325"/>
          </a:xfrm>
          <a:prstGeom prst="rect">
            <a:avLst/>
          </a:prstGeom>
        </p:spPr>
      </p:pic>
      <p:sp>
        <p:nvSpPr>
          <p:cNvPr id="3" name="TextBox 3"/>
          <p:cNvSpPr txBox="1"/>
          <p:nvPr/>
        </p:nvSpPr>
        <p:spPr>
          <a:xfrm>
            <a:off x="1638389" y="1547762"/>
            <a:ext cx="15011222" cy="6310510"/>
          </a:xfrm>
          <a:prstGeom prst="rect">
            <a:avLst/>
          </a:prstGeom>
        </p:spPr>
        <p:txBody>
          <a:bodyPr lIns="0" tIns="0" rIns="0" bIns="0" rtlCol="0" anchor="t">
            <a:spAutoFit/>
          </a:bodyPr>
          <a:lstStyle/>
          <a:p>
            <a:pPr algn="just">
              <a:lnSpc>
                <a:spcPts val="2879"/>
              </a:lnSpc>
              <a:spcBef>
                <a:spcPct val="0"/>
              </a:spcBef>
            </a:pPr>
            <a:endParaRPr dirty="0"/>
          </a:p>
          <a:p>
            <a:pPr algn="just">
              <a:lnSpc>
                <a:spcPts val="2879"/>
              </a:lnSpc>
              <a:spcBef>
                <a:spcPct val="0"/>
              </a:spcBef>
            </a:pPr>
            <a:r>
              <a:rPr lang="en-US" sz="2400" dirty="0" err="1">
                <a:solidFill>
                  <a:srgbClr val="1A1A1A"/>
                </a:solidFill>
                <a:latin typeface="Telegraf"/>
              </a:rPr>
              <a:t>Pemeliharaan</a:t>
            </a:r>
            <a:r>
              <a:rPr lang="en-US" sz="2400" dirty="0">
                <a:solidFill>
                  <a:srgbClr val="1A1A1A"/>
                </a:solidFill>
                <a:latin typeface="Telegraf"/>
              </a:rPr>
              <a:t> </a:t>
            </a:r>
            <a:r>
              <a:rPr lang="en-US" sz="2400" dirty="0" err="1">
                <a:solidFill>
                  <a:srgbClr val="1A1A1A"/>
                </a:solidFill>
                <a:latin typeface="Telegraf"/>
              </a:rPr>
              <a:t>dan</a:t>
            </a:r>
            <a:r>
              <a:rPr lang="en-US" sz="2400" dirty="0">
                <a:solidFill>
                  <a:srgbClr val="1A1A1A"/>
                </a:solidFill>
                <a:latin typeface="Telegraf"/>
              </a:rPr>
              <a:t> </a:t>
            </a:r>
            <a:r>
              <a:rPr lang="en-US" sz="2400" dirty="0" err="1">
                <a:solidFill>
                  <a:srgbClr val="1A1A1A"/>
                </a:solidFill>
                <a:latin typeface="Telegraf"/>
              </a:rPr>
              <a:t>Penyimpanan</a:t>
            </a:r>
            <a:r>
              <a:rPr lang="en-US" sz="2400" dirty="0">
                <a:solidFill>
                  <a:srgbClr val="1A1A1A"/>
                </a:solidFill>
                <a:latin typeface="Telegraf"/>
              </a:rPr>
              <a:t> data </a:t>
            </a:r>
            <a:r>
              <a:rPr lang="en-US" sz="2400" dirty="0" err="1">
                <a:solidFill>
                  <a:srgbClr val="1A1A1A"/>
                </a:solidFill>
                <a:latin typeface="Telegraf"/>
              </a:rPr>
              <a:t>kejadian</a:t>
            </a:r>
            <a:r>
              <a:rPr lang="en-US" sz="2400" dirty="0">
                <a:solidFill>
                  <a:srgbClr val="1A1A1A"/>
                </a:solidFill>
                <a:latin typeface="Telegraf"/>
              </a:rPr>
              <a:t> Fraud (Fraud Profiling) </a:t>
            </a:r>
            <a:r>
              <a:rPr lang="en-US" sz="2400" dirty="0" err="1">
                <a:solidFill>
                  <a:srgbClr val="1A1A1A"/>
                </a:solidFill>
                <a:latin typeface="Telegraf"/>
              </a:rPr>
              <a:t>guna</a:t>
            </a:r>
            <a:r>
              <a:rPr lang="en-US" sz="2400" dirty="0">
                <a:solidFill>
                  <a:srgbClr val="1A1A1A"/>
                </a:solidFill>
                <a:latin typeface="Telegraf"/>
              </a:rPr>
              <a:t> </a:t>
            </a:r>
            <a:r>
              <a:rPr lang="en-US" sz="2400" dirty="0" err="1">
                <a:solidFill>
                  <a:srgbClr val="1A1A1A"/>
                </a:solidFill>
                <a:latin typeface="Telegraf"/>
              </a:rPr>
              <a:t>mendukung</a:t>
            </a:r>
            <a:r>
              <a:rPr lang="en-US" sz="2400" dirty="0">
                <a:solidFill>
                  <a:srgbClr val="1A1A1A"/>
                </a:solidFill>
                <a:latin typeface="Telegraf"/>
              </a:rPr>
              <a:t> </a:t>
            </a:r>
            <a:r>
              <a:rPr lang="en-US" sz="2400" dirty="0" err="1">
                <a:solidFill>
                  <a:srgbClr val="1A1A1A"/>
                </a:solidFill>
                <a:latin typeface="Telegraf"/>
              </a:rPr>
              <a:t>pelaksanaan</a:t>
            </a:r>
            <a:r>
              <a:rPr lang="en-US" sz="2400" dirty="0">
                <a:solidFill>
                  <a:srgbClr val="1A1A1A"/>
                </a:solidFill>
                <a:latin typeface="Telegraf"/>
              </a:rPr>
              <a:t> </a:t>
            </a:r>
            <a:r>
              <a:rPr lang="en-US" sz="2400" dirty="0" err="1">
                <a:solidFill>
                  <a:srgbClr val="1A1A1A"/>
                </a:solidFill>
                <a:latin typeface="Telegraf"/>
              </a:rPr>
              <a:t>evaluasi</a:t>
            </a:r>
            <a:r>
              <a:rPr lang="en-US" sz="2400" dirty="0">
                <a:solidFill>
                  <a:srgbClr val="1A1A1A"/>
                </a:solidFill>
                <a:latin typeface="Telegraf"/>
              </a:rPr>
              <a:t> </a:t>
            </a:r>
            <a:r>
              <a:rPr lang="en-US" sz="2400" dirty="0" err="1">
                <a:solidFill>
                  <a:srgbClr val="1A1A1A"/>
                </a:solidFill>
                <a:latin typeface="Telegraf"/>
              </a:rPr>
              <a:t>menjadi</a:t>
            </a:r>
            <a:r>
              <a:rPr lang="en-US" sz="2400" dirty="0">
                <a:solidFill>
                  <a:srgbClr val="1A1A1A"/>
                </a:solidFill>
                <a:latin typeface="Telegraf"/>
              </a:rPr>
              <a:t> </a:t>
            </a:r>
            <a:r>
              <a:rPr lang="en-US" sz="2400" dirty="0" err="1">
                <a:solidFill>
                  <a:srgbClr val="1A1A1A"/>
                </a:solidFill>
                <a:latin typeface="Telegraf"/>
              </a:rPr>
              <a:t>tanggung</a:t>
            </a:r>
            <a:r>
              <a:rPr lang="en-US" sz="2400" dirty="0">
                <a:solidFill>
                  <a:srgbClr val="1A1A1A"/>
                </a:solidFill>
                <a:latin typeface="Telegraf"/>
              </a:rPr>
              <a:t> </a:t>
            </a:r>
            <a:r>
              <a:rPr lang="en-US" sz="2400" dirty="0" err="1">
                <a:solidFill>
                  <a:srgbClr val="1A1A1A"/>
                </a:solidFill>
                <a:latin typeface="Telegraf"/>
              </a:rPr>
              <a:t>jawab</a:t>
            </a:r>
            <a:r>
              <a:rPr lang="en-US" sz="2400" dirty="0">
                <a:solidFill>
                  <a:srgbClr val="1A1A1A"/>
                </a:solidFill>
                <a:latin typeface="Telegraf"/>
              </a:rPr>
              <a:t> </a:t>
            </a:r>
            <a:r>
              <a:rPr lang="en-US" sz="2400" dirty="0" err="1">
                <a:solidFill>
                  <a:srgbClr val="1A1A1A"/>
                </a:solidFill>
                <a:latin typeface="Telegraf"/>
              </a:rPr>
              <a:t>Komite</a:t>
            </a:r>
            <a:r>
              <a:rPr lang="en-US" sz="2400" dirty="0">
                <a:solidFill>
                  <a:srgbClr val="1A1A1A"/>
                </a:solidFill>
                <a:latin typeface="Telegraf"/>
              </a:rPr>
              <a:t> Anti Fraud. </a:t>
            </a:r>
            <a:r>
              <a:rPr lang="en-US" sz="2400" dirty="0" err="1">
                <a:solidFill>
                  <a:srgbClr val="1A1A1A"/>
                </a:solidFill>
                <a:latin typeface="Telegraf"/>
              </a:rPr>
              <a:t>Pemeliharaan</a:t>
            </a:r>
            <a:r>
              <a:rPr lang="en-US" sz="2400" dirty="0">
                <a:solidFill>
                  <a:srgbClr val="1A1A1A"/>
                </a:solidFill>
                <a:latin typeface="Telegraf"/>
              </a:rPr>
              <a:t> </a:t>
            </a:r>
            <a:r>
              <a:rPr lang="en-US" sz="2400" dirty="0" err="1">
                <a:solidFill>
                  <a:srgbClr val="1A1A1A"/>
                </a:solidFill>
                <a:latin typeface="Telegraf"/>
              </a:rPr>
              <a:t>dan</a:t>
            </a:r>
            <a:r>
              <a:rPr lang="en-US" sz="2400" dirty="0">
                <a:solidFill>
                  <a:srgbClr val="1A1A1A"/>
                </a:solidFill>
                <a:latin typeface="Telegraf"/>
              </a:rPr>
              <a:t> </a:t>
            </a:r>
            <a:r>
              <a:rPr lang="en-US" sz="2400" dirty="0" err="1">
                <a:solidFill>
                  <a:srgbClr val="1A1A1A"/>
                </a:solidFill>
                <a:latin typeface="Telegraf"/>
              </a:rPr>
              <a:t>Penyimpanan</a:t>
            </a:r>
            <a:r>
              <a:rPr lang="en-US" sz="2400" dirty="0">
                <a:solidFill>
                  <a:srgbClr val="1A1A1A"/>
                </a:solidFill>
                <a:latin typeface="Telegraf"/>
              </a:rPr>
              <a:t> </a:t>
            </a:r>
            <a:r>
              <a:rPr lang="en-US" sz="2400" dirty="0" err="1">
                <a:solidFill>
                  <a:srgbClr val="1A1A1A"/>
                </a:solidFill>
                <a:latin typeface="Telegraf"/>
              </a:rPr>
              <a:t>dilakukan</a:t>
            </a:r>
            <a:r>
              <a:rPr lang="en-US" sz="2400" dirty="0">
                <a:solidFill>
                  <a:srgbClr val="1A1A1A"/>
                </a:solidFill>
                <a:latin typeface="Telegraf"/>
              </a:rPr>
              <a:t> </a:t>
            </a:r>
            <a:r>
              <a:rPr lang="en-US" sz="2400" dirty="0" err="1">
                <a:solidFill>
                  <a:srgbClr val="1A1A1A"/>
                </a:solidFill>
                <a:latin typeface="Telegraf"/>
              </a:rPr>
              <a:t>oleh</a:t>
            </a:r>
            <a:r>
              <a:rPr lang="en-US" sz="2400" dirty="0">
                <a:solidFill>
                  <a:srgbClr val="1A1A1A"/>
                </a:solidFill>
                <a:latin typeface="Telegraf"/>
              </a:rPr>
              <a:t> Internal Audit </a:t>
            </a:r>
            <a:r>
              <a:rPr lang="en-US" sz="2400" dirty="0" err="1">
                <a:solidFill>
                  <a:srgbClr val="1A1A1A"/>
                </a:solidFill>
                <a:latin typeface="Telegraf"/>
              </a:rPr>
              <a:t>Departemen</a:t>
            </a:r>
            <a:r>
              <a:rPr lang="en-US" sz="2400" dirty="0">
                <a:solidFill>
                  <a:srgbClr val="1A1A1A"/>
                </a:solidFill>
                <a:latin typeface="Telegraf"/>
              </a:rPr>
              <a:t>. </a:t>
            </a:r>
            <a:r>
              <a:rPr lang="en-US" sz="2400" dirty="0" err="1">
                <a:solidFill>
                  <a:srgbClr val="1A1A1A"/>
                </a:solidFill>
                <a:latin typeface="Telegraf"/>
              </a:rPr>
              <a:t>Selain</a:t>
            </a:r>
            <a:r>
              <a:rPr lang="en-US" sz="2400" dirty="0">
                <a:solidFill>
                  <a:srgbClr val="1A1A1A"/>
                </a:solidFill>
                <a:latin typeface="Telegraf"/>
              </a:rPr>
              <a:t> data </a:t>
            </a:r>
            <a:r>
              <a:rPr lang="en-US" sz="2400" dirty="0" err="1">
                <a:solidFill>
                  <a:srgbClr val="1A1A1A"/>
                </a:solidFill>
                <a:latin typeface="Telegraf"/>
              </a:rPr>
              <a:t>tersebut</a:t>
            </a:r>
            <a:r>
              <a:rPr lang="en-US" sz="2400" dirty="0">
                <a:solidFill>
                  <a:srgbClr val="1A1A1A"/>
                </a:solidFill>
                <a:latin typeface="Telegraf"/>
              </a:rPr>
              <a:t>, </a:t>
            </a:r>
            <a:r>
              <a:rPr lang="en-US" sz="2400" dirty="0" err="1">
                <a:solidFill>
                  <a:srgbClr val="1A1A1A"/>
                </a:solidFill>
                <a:latin typeface="Telegraf"/>
              </a:rPr>
              <a:t>pelaporan</a:t>
            </a:r>
            <a:r>
              <a:rPr lang="en-US" sz="2400" dirty="0">
                <a:solidFill>
                  <a:srgbClr val="1A1A1A"/>
                </a:solidFill>
                <a:latin typeface="Telegraf"/>
              </a:rPr>
              <a:t> yang </a:t>
            </a:r>
            <a:r>
              <a:rPr lang="en-US" sz="2400" dirty="0" err="1">
                <a:solidFill>
                  <a:srgbClr val="1A1A1A"/>
                </a:solidFill>
                <a:latin typeface="Telegraf"/>
              </a:rPr>
              <a:t>dilakukan</a:t>
            </a:r>
            <a:r>
              <a:rPr lang="en-US" sz="2400" dirty="0">
                <a:solidFill>
                  <a:srgbClr val="1A1A1A"/>
                </a:solidFill>
                <a:latin typeface="Telegraf"/>
              </a:rPr>
              <a:t> Perusahaan </a:t>
            </a:r>
            <a:r>
              <a:rPr lang="en-US" sz="2400" dirty="0" err="1">
                <a:solidFill>
                  <a:srgbClr val="1A1A1A"/>
                </a:solidFill>
                <a:latin typeface="Telegraf"/>
              </a:rPr>
              <a:t>kepada</a:t>
            </a:r>
            <a:r>
              <a:rPr lang="en-US" sz="2400" dirty="0">
                <a:solidFill>
                  <a:srgbClr val="1A1A1A"/>
                </a:solidFill>
                <a:latin typeface="Telegraf"/>
              </a:rPr>
              <a:t> </a:t>
            </a:r>
            <a:r>
              <a:rPr lang="en-US" sz="2400" dirty="0" err="1">
                <a:solidFill>
                  <a:srgbClr val="1A1A1A"/>
                </a:solidFill>
                <a:latin typeface="Telegraf"/>
              </a:rPr>
              <a:t>Otoritas</a:t>
            </a:r>
            <a:r>
              <a:rPr lang="en-US" sz="2400" dirty="0">
                <a:solidFill>
                  <a:srgbClr val="1A1A1A"/>
                </a:solidFill>
                <a:latin typeface="Telegraf"/>
              </a:rPr>
              <a:t> </a:t>
            </a:r>
            <a:r>
              <a:rPr lang="en-US" sz="2400" dirty="0" err="1">
                <a:solidFill>
                  <a:srgbClr val="1A1A1A"/>
                </a:solidFill>
                <a:latin typeface="Telegraf"/>
              </a:rPr>
              <a:t>Jasa</a:t>
            </a:r>
            <a:r>
              <a:rPr lang="en-US" sz="2400" dirty="0">
                <a:solidFill>
                  <a:srgbClr val="1A1A1A"/>
                </a:solidFill>
                <a:latin typeface="Telegraf"/>
              </a:rPr>
              <a:t> </a:t>
            </a:r>
            <a:r>
              <a:rPr lang="en-US" sz="2400" dirty="0" err="1">
                <a:solidFill>
                  <a:srgbClr val="1A1A1A"/>
                </a:solidFill>
                <a:latin typeface="Telegraf"/>
              </a:rPr>
              <a:t>Keuangan</a:t>
            </a:r>
            <a:r>
              <a:rPr lang="en-US" sz="2400" dirty="0">
                <a:solidFill>
                  <a:srgbClr val="1A1A1A"/>
                </a:solidFill>
                <a:latin typeface="Telegraf"/>
              </a:rPr>
              <a:t> </a:t>
            </a:r>
            <a:r>
              <a:rPr lang="en-US" sz="2400" dirty="0" err="1">
                <a:solidFill>
                  <a:srgbClr val="1A1A1A"/>
                </a:solidFill>
                <a:latin typeface="Telegraf"/>
              </a:rPr>
              <a:t>juga</a:t>
            </a:r>
            <a:r>
              <a:rPr lang="en-US" sz="2400" dirty="0">
                <a:solidFill>
                  <a:srgbClr val="1A1A1A"/>
                </a:solidFill>
                <a:latin typeface="Telegraf"/>
              </a:rPr>
              <a:t> </a:t>
            </a:r>
            <a:r>
              <a:rPr lang="en-US" sz="2400" dirty="0" err="1">
                <a:solidFill>
                  <a:srgbClr val="1A1A1A"/>
                </a:solidFill>
                <a:latin typeface="Telegraf"/>
              </a:rPr>
              <a:t>memerlukan</a:t>
            </a:r>
            <a:r>
              <a:rPr lang="en-US" sz="2400" dirty="0">
                <a:solidFill>
                  <a:srgbClr val="1A1A1A"/>
                </a:solidFill>
                <a:latin typeface="Telegraf"/>
              </a:rPr>
              <a:t> </a:t>
            </a:r>
            <a:r>
              <a:rPr lang="en-US" sz="2400" dirty="0" err="1">
                <a:solidFill>
                  <a:srgbClr val="1A1A1A"/>
                </a:solidFill>
                <a:latin typeface="Telegraf"/>
              </a:rPr>
              <a:t>pemeliharaan</a:t>
            </a:r>
            <a:r>
              <a:rPr lang="en-US" sz="2400" dirty="0">
                <a:solidFill>
                  <a:srgbClr val="1A1A1A"/>
                </a:solidFill>
                <a:latin typeface="Telegraf"/>
              </a:rPr>
              <a:t> </a:t>
            </a:r>
            <a:r>
              <a:rPr lang="en-US" sz="2400" dirty="0" err="1">
                <a:solidFill>
                  <a:srgbClr val="1A1A1A"/>
                </a:solidFill>
                <a:latin typeface="Telegraf"/>
              </a:rPr>
              <a:t>dan</a:t>
            </a:r>
            <a:r>
              <a:rPr lang="en-US" sz="2400" dirty="0">
                <a:solidFill>
                  <a:srgbClr val="1A1A1A"/>
                </a:solidFill>
                <a:latin typeface="Telegraf"/>
              </a:rPr>
              <a:t> </a:t>
            </a:r>
            <a:r>
              <a:rPr lang="en-US" sz="2400" dirty="0" err="1">
                <a:solidFill>
                  <a:srgbClr val="1A1A1A"/>
                </a:solidFill>
                <a:latin typeface="Telegraf"/>
              </a:rPr>
              <a:t>penyimpanan</a:t>
            </a:r>
            <a:r>
              <a:rPr lang="en-US" sz="2400" dirty="0">
                <a:solidFill>
                  <a:srgbClr val="1A1A1A"/>
                </a:solidFill>
                <a:latin typeface="Telegraf"/>
              </a:rPr>
              <a:t>.</a:t>
            </a:r>
          </a:p>
          <a:p>
            <a:pPr algn="just">
              <a:lnSpc>
                <a:spcPts val="2879"/>
              </a:lnSpc>
              <a:spcBef>
                <a:spcPct val="0"/>
              </a:spcBef>
            </a:pPr>
            <a:endParaRPr lang="en-US" sz="2400" dirty="0">
              <a:solidFill>
                <a:srgbClr val="1A1A1A"/>
              </a:solidFill>
              <a:latin typeface="Telegraf"/>
            </a:endParaRPr>
          </a:p>
          <a:p>
            <a:pPr marL="518160" lvl="1" indent="-259080" algn="just">
              <a:lnSpc>
                <a:spcPts val="2879"/>
              </a:lnSpc>
              <a:spcBef>
                <a:spcPct val="0"/>
              </a:spcBef>
              <a:buFont typeface="Arial"/>
              <a:buChar char="•"/>
            </a:pPr>
            <a:r>
              <a:rPr lang="en-US" sz="2400" dirty="0" err="1">
                <a:solidFill>
                  <a:srgbClr val="1A1A1A"/>
                </a:solidFill>
                <a:latin typeface="Telegraf"/>
              </a:rPr>
              <a:t>Tanggung</a:t>
            </a:r>
            <a:r>
              <a:rPr lang="en-US" sz="2400" dirty="0">
                <a:solidFill>
                  <a:srgbClr val="1A1A1A"/>
                </a:solidFill>
                <a:latin typeface="Telegraf"/>
              </a:rPr>
              <a:t> </a:t>
            </a:r>
            <a:r>
              <a:rPr lang="en-US" sz="2400" dirty="0" err="1">
                <a:solidFill>
                  <a:srgbClr val="1A1A1A"/>
                </a:solidFill>
                <a:latin typeface="Telegraf"/>
              </a:rPr>
              <a:t>jawab</a:t>
            </a:r>
            <a:r>
              <a:rPr lang="en-US" sz="2400" dirty="0">
                <a:solidFill>
                  <a:srgbClr val="1A1A1A"/>
                </a:solidFill>
                <a:latin typeface="Telegraf"/>
              </a:rPr>
              <a:t> </a:t>
            </a:r>
          </a:p>
          <a:p>
            <a:pPr marL="518160" lvl="1" indent="-259080" algn="just">
              <a:lnSpc>
                <a:spcPts val="2879"/>
              </a:lnSpc>
              <a:spcBef>
                <a:spcPct val="0"/>
              </a:spcBef>
              <a:buFont typeface="Arial"/>
              <a:buChar char="•"/>
            </a:pPr>
            <a:r>
              <a:rPr lang="en-US" sz="2400" dirty="0" err="1">
                <a:solidFill>
                  <a:srgbClr val="1A1A1A"/>
                </a:solidFill>
                <a:latin typeface="Telegraf"/>
              </a:rPr>
              <a:t>Lingkup</a:t>
            </a:r>
            <a:r>
              <a:rPr lang="en-US" sz="2400" dirty="0">
                <a:solidFill>
                  <a:srgbClr val="1A1A1A"/>
                </a:solidFill>
                <a:latin typeface="Telegraf"/>
              </a:rPr>
              <a:t> </a:t>
            </a:r>
            <a:r>
              <a:rPr lang="en-US" sz="2400" dirty="0" err="1">
                <a:solidFill>
                  <a:srgbClr val="1A1A1A"/>
                </a:solidFill>
                <a:latin typeface="Telegraf"/>
              </a:rPr>
              <a:t>tugas</a:t>
            </a:r>
            <a:r>
              <a:rPr lang="en-US" sz="2400" dirty="0">
                <a:solidFill>
                  <a:srgbClr val="1A1A1A"/>
                </a:solidFill>
                <a:latin typeface="Telegraf"/>
              </a:rPr>
              <a:t> </a:t>
            </a:r>
          </a:p>
          <a:p>
            <a:pPr marL="518160" lvl="1" indent="-259080" algn="just">
              <a:lnSpc>
                <a:spcPts val="2879"/>
              </a:lnSpc>
              <a:spcBef>
                <a:spcPct val="0"/>
              </a:spcBef>
              <a:buFont typeface="Arial"/>
              <a:buChar char="•"/>
            </a:pPr>
            <a:r>
              <a:rPr lang="en-US" sz="2400" dirty="0" err="1">
                <a:solidFill>
                  <a:srgbClr val="1A1A1A"/>
                </a:solidFill>
                <a:latin typeface="Telegraf"/>
              </a:rPr>
              <a:t>Wewenang</a:t>
            </a:r>
            <a:r>
              <a:rPr lang="en-US" sz="2400" dirty="0">
                <a:solidFill>
                  <a:srgbClr val="1A1A1A"/>
                </a:solidFill>
                <a:latin typeface="Telegraf"/>
              </a:rPr>
              <a:t> </a:t>
            </a:r>
          </a:p>
          <a:p>
            <a:pPr marL="518160" lvl="1" indent="-259080" algn="just">
              <a:lnSpc>
                <a:spcPts val="2879"/>
              </a:lnSpc>
              <a:spcBef>
                <a:spcPct val="0"/>
              </a:spcBef>
              <a:buFont typeface="Arial"/>
              <a:buChar char="•"/>
            </a:pPr>
            <a:r>
              <a:rPr lang="en-US" sz="2400" dirty="0">
                <a:solidFill>
                  <a:srgbClr val="1A1A1A"/>
                </a:solidFill>
                <a:latin typeface="Telegraf"/>
              </a:rPr>
              <a:t> </a:t>
            </a:r>
            <a:r>
              <a:rPr lang="en-US" sz="2400" dirty="0" err="1">
                <a:solidFill>
                  <a:srgbClr val="1A1A1A"/>
                </a:solidFill>
                <a:latin typeface="Telegraf"/>
              </a:rPr>
              <a:t>Komposisi</a:t>
            </a:r>
            <a:r>
              <a:rPr lang="en-US" sz="2400" dirty="0">
                <a:solidFill>
                  <a:srgbClr val="1A1A1A"/>
                </a:solidFill>
                <a:latin typeface="Telegraf"/>
              </a:rPr>
              <a:t> &amp; </a:t>
            </a:r>
            <a:r>
              <a:rPr lang="en-US" sz="2400" dirty="0" err="1">
                <a:solidFill>
                  <a:srgbClr val="1A1A1A"/>
                </a:solidFill>
                <a:latin typeface="Telegraf"/>
              </a:rPr>
              <a:t>Struktur</a:t>
            </a:r>
            <a:r>
              <a:rPr lang="en-US" sz="2400" dirty="0">
                <a:solidFill>
                  <a:srgbClr val="1A1A1A"/>
                </a:solidFill>
                <a:latin typeface="Telegraf"/>
              </a:rPr>
              <a:t> </a:t>
            </a:r>
          </a:p>
          <a:p>
            <a:pPr marL="518160" lvl="1" indent="-259080" algn="just">
              <a:lnSpc>
                <a:spcPts val="2879"/>
              </a:lnSpc>
              <a:spcBef>
                <a:spcPct val="0"/>
              </a:spcBef>
              <a:buFont typeface="Arial"/>
              <a:buChar char="•"/>
            </a:pPr>
            <a:r>
              <a:rPr lang="en-US" sz="2400" dirty="0" err="1">
                <a:solidFill>
                  <a:srgbClr val="1A1A1A"/>
                </a:solidFill>
                <a:latin typeface="Telegraf"/>
              </a:rPr>
              <a:t>Prosedur</a:t>
            </a:r>
            <a:r>
              <a:rPr lang="en-US" sz="2400" dirty="0">
                <a:solidFill>
                  <a:srgbClr val="1A1A1A"/>
                </a:solidFill>
                <a:latin typeface="Telegraf"/>
              </a:rPr>
              <a:t> </a:t>
            </a:r>
            <a:r>
              <a:rPr lang="en-US" sz="2400" dirty="0" err="1">
                <a:solidFill>
                  <a:srgbClr val="1A1A1A"/>
                </a:solidFill>
                <a:latin typeface="Telegraf"/>
              </a:rPr>
              <a:t>kerja</a:t>
            </a:r>
            <a:endParaRPr lang="en-US" sz="2400" dirty="0">
              <a:solidFill>
                <a:srgbClr val="1A1A1A"/>
              </a:solidFill>
              <a:latin typeface="Telegraf"/>
            </a:endParaRPr>
          </a:p>
          <a:p>
            <a:pPr marL="518160" lvl="1" indent="-259080" algn="just">
              <a:lnSpc>
                <a:spcPts val="2879"/>
              </a:lnSpc>
              <a:spcBef>
                <a:spcPct val="0"/>
              </a:spcBef>
              <a:buFont typeface="Arial"/>
              <a:buChar char="•"/>
            </a:pPr>
            <a:r>
              <a:rPr lang="en-US" sz="2400" dirty="0" err="1">
                <a:solidFill>
                  <a:srgbClr val="1A1A1A"/>
                </a:solidFill>
                <a:latin typeface="Telegraf"/>
              </a:rPr>
              <a:t>Rapat</a:t>
            </a:r>
            <a:r>
              <a:rPr lang="en-US" sz="2400" dirty="0">
                <a:solidFill>
                  <a:srgbClr val="1A1A1A"/>
                </a:solidFill>
                <a:latin typeface="Telegraf"/>
              </a:rPr>
              <a:t> </a:t>
            </a:r>
            <a:r>
              <a:rPr lang="en-US" sz="2400" dirty="0" err="1">
                <a:solidFill>
                  <a:srgbClr val="1A1A1A"/>
                </a:solidFill>
                <a:latin typeface="Telegraf"/>
              </a:rPr>
              <a:t>kmonite</a:t>
            </a:r>
            <a:endParaRPr lang="en-US" sz="2400" dirty="0">
              <a:solidFill>
                <a:srgbClr val="1A1A1A"/>
              </a:solidFill>
              <a:latin typeface="Telegraf"/>
            </a:endParaRPr>
          </a:p>
          <a:p>
            <a:pPr algn="just">
              <a:lnSpc>
                <a:spcPts val="2879"/>
              </a:lnSpc>
              <a:spcBef>
                <a:spcPct val="0"/>
              </a:spcBef>
            </a:pPr>
            <a:endParaRPr lang="en-US" sz="2400" dirty="0">
              <a:solidFill>
                <a:srgbClr val="1A1A1A"/>
              </a:solidFill>
              <a:latin typeface="Telegraf"/>
            </a:endParaRPr>
          </a:p>
          <a:p>
            <a:pPr algn="just">
              <a:lnSpc>
                <a:spcPts val="2879"/>
              </a:lnSpc>
              <a:spcBef>
                <a:spcPct val="0"/>
              </a:spcBef>
            </a:pPr>
            <a:endParaRPr lang="en-US" sz="2400" dirty="0">
              <a:solidFill>
                <a:srgbClr val="1A1A1A"/>
              </a:solidFill>
              <a:latin typeface="Telegraf"/>
            </a:endParaRPr>
          </a:p>
          <a:p>
            <a:pPr algn="just">
              <a:lnSpc>
                <a:spcPts val="2879"/>
              </a:lnSpc>
              <a:spcBef>
                <a:spcPct val="0"/>
              </a:spcBef>
            </a:pPr>
            <a:endParaRPr lang="en-US" sz="2400" dirty="0">
              <a:solidFill>
                <a:srgbClr val="1A1A1A"/>
              </a:solidFill>
              <a:latin typeface="Telegraf"/>
            </a:endParaRPr>
          </a:p>
          <a:p>
            <a:pPr algn="just">
              <a:lnSpc>
                <a:spcPts val="2879"/>
              </a:lnSpc>
              <a:spcBef>
                <a:spcPct val="0"/>
              </a:spcBef>
            </a:pPr>
            <a:endParaRPr lang="en-US" sz="2400" dirty="0">
              <a:solidFill>
                <a:srgbClr val="1A1A1A"/>
              </a:solidFill>
              <a:latin typeface="Telegraf"/>
            </a:endParaRPr>
          </a:p>
          <a:p>
            <a:pPr algn="just">
              <a:lnSpc>
                <a:spcPts val="2879"/>
              </a:lnSpc>
            </a:pPr>
            <a:endParaRPr lang="en-US" sz="2400" dirty="0">
              <a:solidFill>
                <a:srgbClr val="1A1A1A"/>
              </a:solidFill>
              <a:latin typeface="Telegraf"/>
            </a:endParaRPr>
          </a:p>
        </p:txBody>
      </p:sp>
      <p:sp>
        <p:nvSpPr>
          <p:cNvPr id="4" name="TextBox 4"/>
          <p:cNvSpPr txBox="1"/>
          <p:nvPr/>
        </p:nvSpPr>
        <p:spPr>
          <a:xfrm>
            <a:off x="1638389" y="709612"/>
            <a:ext cx="9910764" cy="638175"/>
          </a:xfrm>
          <a:prstGeom prst="rect">
            <a:avLst/>
          </a:prstGeom>
        </p:spPr>
        <p:txBody>
          <a:bodyPr lIns="0" tIns="0" rIns="0" bIns="0" rtlCol="0" anchor="t">
            <a:spAutoFit/>
          </a:bodyPr>
          <a:lstStyle/>
          <a:p>
            <a:pPr>
              <a:lnSpc>
                <a:spcPts val="5040"/>
              </a:lnSpc>
            </a:pPr>
            <a:r>
              <a:rPr lang="en-US" sz="4200">
                <a:solidFill>
                  <a:srgbClr val="000000"/>
                </a:solidFill>
                <a:latin typeface="DM Sans Bold"/>
              </a:rPr>
              <a:t>Komite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a:solidFill>
                  <a:srgbClr val="191919"/>
                </a:solidFill>
                <a:latin typeface="Open Sauce SemiBold Bold"/>
              </a:rPr>
              <a:t>40</a:t>
            </a:r>
          </a:p>
        </p:txBody>
      </p:sp>
    </p:spTree>
  </p:cSld>
  <p:clrMapOvr>
    <a:masterClrMapping/>
  </p:clrMapOvr>
  <p:transition spd="slow">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819014" y="2108913"/>
            <a:ext cx="7581453" cy="6630325"/>
          </a:xfrm>
          <a:prstGeom prst="rect">
            <a:avLst/>
          </a:prstGeom>
        </p:spPr>
      </p:pic>
      <p:sp>
        <p:nvSpPr>
          <p:cNvPr id="4" name="TextBox 4"/>
          <p:cNvSpPr txBox="1"/>
          <p:nvPr/>
        </p:nvSpPr>
        <p:spPr>
          <a:xfrm>
            <a:off x="1295400" y="114300"/>
            <a:ext cx="9910764" cy="638175"/>
          </a:xfrm>
          <a:prstGeom prst="rect">
            <a:avLst/>
          </a:prstGeom>
        </p:spPr>
        <p:txBody>
          <a:bodyPr lIns="0" tIns="0" rIns="0" bIns="0" rtlCol="0" anchor="t">
            <a:spAutoFit/>
          </a:bodyPr>
          <a:lstStyle/>
          <a:p>
            <a:pPr>
              <a:lnSpc>
                <a:spcPts val="5040"/>
              </a:lnSpc>
            </a:pPr>
            <a:r>
              <a:rPr lang="en-US" sz="4200" dirty="0" err="1">
                <a:solidFill>
                  <a:srgbClr val="000000"/>
                </a:solidFill>
                <a:latin typeface="DM Sans Bold"/>
              </a:rPr>
              <a:t>Komite</a:t>
            </a:r>
            <a:r>
              <a:rPr lang="en-US" sz="4200" dirty="0">
                <a:solidFill>
                  <a:srgbClr val="000000"/>
                </a:solidFill>
                <a:latin typeface="DM Sans Bold"/>
              </a:rPr>
              <a:t>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dirty="0">
                <a:solidFill>
                  <a:srgbClr val="191919"/>
                </a:solidFill>
                <a:latin typeface="Open Sauce SemiBold Bold"/>
              </a:rPr>
              <a:t>41</a:t>
            </a:r>
          </a:p>
        </p:txBody>
      </p:sp>
      <p:sp>
        <p:nvSpPr>
          <p:cNvPr id="8" name="TextBox 7">
            <a:extLst>
              <a:ext uri="{FF2B5EF4-FFF2-40B4-BE49-F238E27FC236}">
                <a16:creationId xmlns:a16="http://schemas.microsoft.com/office/drawing/2014/main" id="{832EC7A7-45F5-4CE6-A378-C70586AA5BED}"/>
              </a:ext>
            </a:extLst>
          </p:cNvPr>
          <p:cNvSpPr txBox="1"/>
          <p:nvPr/>
        </p:nvSpPr>
        <p:spPr>
          <a:xfrm>
            <a:off x="1297172" y="803201"/>
            <a:ext cx="14798365" cy="9325630"/>
          </a:xfrm>
          <a:prstGeom prst="rect">
            <a:avLst/>
          </a:prstGeom>
          <a:noFill/>
        </p:spPr>
        <p:txBody>
          <a:bodyPr wrap="square">
            <a:spAutoFit/>
          </a:bodyPr>
          <a:lstStyle/>
          <a:p>
            <a:r>
              <a:rPr lang="en-ID" sz="2800" b="1" dirty="0" err="1">
                <a:latin typeface="Telegraf" panose="020B0604020202020204" charset="0"/>
              </a:rPr>
              <a:t>Tanggung</a:t>
            </a:r>
            <a:r>
              <a:rPr lang="en-ID" sz="2800" b="1" dirty="0">
                <a:latin typeface="Telegraf" panose="020B0604020202020204" charset="0"/>
              </a:rPr>
              <a:t> </a:t>
            </a:r>
            <a:r>
              <a:rPr lang="en-ID" sz="2800" b="1" dirty="0" err="1">
                <a:latin typeface="Telegraf" panose="020B0604020202020204" charset="0"/>
              </a:rPr>
              <a:t>jawab</a:t>
            </a:r>
            <a:r>
              <a:rPr lang="en-ID" sz="2800" b="1" dirty="0">
                <a:latin typeface="Telegraf" panose="020B0604020202020204" charset="0"/>
              </a:rPr>
              <a:t> </a:t>
            </a:r>
          </a:p>
          <a:p>
            <a:endParaRPr lang="en-ID" sz="2400" b="1" dirty="0">
              <a:latin typeface="Telegraf" panose="020B0604020202020204" charset="0"/>
            </a:endParaRPr>
          </a:p>
          <a:p>
            <a:pPr marL="457200" indent="-457200">
              <a:buFont typeface="+mj-lt"/>
              <a:buAutoNum type="alphaLcPeriod"/>
            </a:pPr>
            <a:r>
              <a:rPr lang="en-ID" sz="2400" dirty="0" err="1">
                <a:latin typeface="Telegraf" panose="020B0604020202020204" charset="0"/>
              </a:rPr>
              <a:t>Memastikan</a:t>
            </a:r>
            <a:r>
              <a:rPr lang="en-ID" sz="2400" dirty="0">
                <a:latin typeface="Telegraf" panose="020B0604020202020204" charset="0"/>
              </a:rPr>
              <a:t> </a:t>
            </a:r>
            <a:r>
              <a:rPr lang="en-ID" sz="2400" dirty="0" err="1">
                <a:latin typeface="Telegraf" panose="020B0604020202020204" charset="0"/>
              </a:rPr>
              <a:t>pelaksanaan</a:t>
            </a:r>
            <a:r>
              <a:rPr lang="en-ID" sz="2400" dirty="0">
                <a:latin typeface="Telegraf" panose="020B0604020202020204" charset="0"/>
              </a:rPr>
              <a:t> </a:t>
            </a:r>
            <a:r>
              <a:rPr lang="en-ID" sz="2400" dirty="0" err="1">
                <a:latin typeface="Telegraf" panose="020B0604020202020204" charset="0"/>
              </a:rPr>
              <a:t>Pedoman</a:t>
            </a:r>
            <a:r>
              <a:rPr lang="en-ID" sz="2400" dirty="0">
                <a:latin typeface="Telegraf" panose="020B0604020202020204" charset="0"/>
              </a:rPr>
              <a:t> Anti Fraud </a:t>
            </a:r>
            <a:r>
              <a:rPr lang="en-ID" sz="2400" dirty="0" err="1">
                <a:latin typeface="Telegraf" panose="020B0604020202020204" charset="0"/>
              </a:rPr>
              <a:t>termasuk</a:t>
            </a:r>
            <a:r>
              <a:rPr lang="en-ID" sz="2400" dirty="0">
                <a:latin typeface="Telegraf" panose="020B0604020202020204" charset="0"/>
              </a:rPr>
              <a:t> </a:t>
            </a:r>
            <a:r>
              <a:rPr lang="en-ID" sz="2400" dirty="0" err="1">
                <a:latin typeface="Telegraf" panose="020B0604020202020204" charset="0"/>
              </a:rPr>
              <a:t>ketersediaan</a:t>
            </a:r>
            <a:r>
              <a:rPr lang="en-ID" sz="2400" dirty="0">
                <a:latin typeface="Telegraf" panose="020B0604020202020204" charset="0"/>
              </a:rPr>
              <a:t> </a:t>
            </a:r>
            <a:r>
              <a:rPr lang="en-ID" sz="2400" dirty="0" err="1">
                <a:latin typeface="Telegraf" panose="020B0604020202020204" charset="0"/>
              </a:rPr>
              <a:t>sumber</a:t>
            </a:r>
            <a:r>
              <a:rPr lang="en-ID" sz="2400" dirty="0">
                <a:latin typeface="Telegraf" panose="020B0604020202020204" charset="0"/>
              </a:rPr>
              <a:t> </a:t>
            </a:r>
            <a:r>
              <a:rPr lang="en-ID" sz="2400" dirty="0" err="1">
                <a:latin typeface="Telegraf" panose="020B0604020202020204" charset="0"/>
              </a:rPr>
              <a:t>daya</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menjalankan</a:t>
            </a:r>
            <a:r>
              <a:rPr lang="en-ID" sz="2400" dirty="0">
                <a:latin typeface="Telegraf" panose="020B0604020202020204" charset="0"/>
              </a:rPr>
              <a:t> </a:t>
            </a:r>
            <a:r>
              <a:rPr lang="en-ID" sz="2400" dirty="0" err="1">
                <a:latin typeface="Telegraf" panose="020B0604020202020204" charset="0"/>
              </a:rPr>
              <a:t>komponen-komponen</a:t>
            </a:r>
            <a:r>
              <a:rPr lang="en-ID" sz="2400" dirty="0">
                <a:latin typeface="Telegraf" panose="020B0604020202020204" charset="0"/>
              </a:rPr>
              <a:t> Strategi Anti Fraud </a:t>
            </a:r>
            <a:r>
              <a:rPr lang="en-ID" sz="2400" dirty="0" err="1">
                <a:latin typeface="Telegraf" panose="020B0604020202020204" charset="0"/>
              </a:rPr>
              <a:t>yakni</a:t>
            </a:r>
            <a:r>
              <a:rPr lang="en-ID" sz="2400" dirty="0">
                <a:latin typeface="Telegraf" panose="020B0604020202020204" charset="0"/>
              </a:rPr>
              <a:t> :	</a:t>
            </a:r>
          </a:p>
          <a:p>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pencegahan</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deteksi</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investigasi</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pelaporan</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sanksi</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pemantauan</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evaluasi</a:t>
            </a:r>
            <a:r>
              <a:rPr lang="en-ID" sz="2400" dirty="0">
                <a:latin typeface="Telegraf" panose="020B0604020202020204" charset="0"/>
              </a:rPr>
              <a:t>	</a:t>
            </a:r>
          </a:p>
          <a:p>
            <a:r>
              <a:rPr lang="en-ID" sz="2400" dirty="0">
                <a:latin typeface="Telegraf" panose="020B0604020202020204" charset="0"/>
              </a:rPr>
              <a:t>	-	</a:t>
            </a:r>
            <a:r>
              <a:rPr lang="en-ID" sz="2400" dirty="0" err="1">
                <a:latin typeface="Telegraf" panose="020B0604020202020204" charset="0"/>
              </a:rPr>
              <a:t>tindak</a:t>
            </a:r>
            <a:r>
              <a:rPr lang="en-ID" sz="2400" dirty="0">
                <a:latin typeface="Telegraf" panose="020B0604020202020204" charset="0"/>
              </a:rPr>
              <a:t> </a:t>
            </a:r>
            <a:r>
              <a:rPr lang="en-ID" sz="2400" dirty="0" err="1">
                <a:latin typeface="Telegraf" panose="020B0604020202020204" charset="0"/>
              </a:rPr>
              <a:t>lanjut</a:t>
            </a:r>
            <a:r>
              <a:rPr lang="en-ID" sz="2400" dirty="0">
                <a:latin typeface="Telegraf" panose="020B0604020202020204" charset="0"/>
              </a:rPr>
              <a:t>	</a:t>
            </a:r>
          </a:p>
          <a:p>
            <a:endParaRPr lang="en-ID" sz="2400" dirty="0">
              <a:latin typeface="Telegraf" panose="020B0604020202020204" charset="0"/>
            </a:endParaRPr>
          </a:p>
          <a:p>
            <a:pPr marL="457200" indent="-457200">
              <a:buFont typeface="+mj-lt"/>
              <a:buAutoNum type="alphaLcPeriod" startAt="2"/>
            </a:pPr>
            <a:r>
              <a:rPr lang="en-ID" sz="2400" dirty="0" err="1">
                <a:latin typeface="Telegraf" panose="020B0604020202020204" charset="0"/>
              </a:rPr>
              <a:t>Memantau</a:t>
            </a:r>
            <a:r>
              <a:rPr lang="en-ID" sz="2400" dirty="0">
                <a:latin typeface="Telegraf" panose="020B0604020202020204" charset="0"/>
              </a:rPr>
              <a:t> </a:t>
            </a:r>
            <a:r>
              <a:rPr lang="en-ID" sz="2400" dirty="0" err="1">
                <a:latin typeface="Telegraf" panose="020B0604020202020204" charset="0"/>
              </a:rPr>
              <a:t>insiden</a:t>
            </a:r>
            <a:r>
              <a:rPr lang="en-ID" sz="2400" dirty="0">
                <a:latin typeface="Telegraf" panose="020B0604020202020204" charset="0"/>
              </a:rPr>
              <a:t>/</a:t>
            </a:r>
            <a:r>
              <a:rPr lang="en-ID" sz="2400" dirty="0" err="1">
                <a:latin typeface="Telegraf" panose="020B0604020202020204" charset="0"/>
              </a:rPr>
              <a:t>kejadian</a:t>
            </a:r>
            <a:r>
              <a:rPr lang="en-ID" sz="2400" dirty="0">
                <a:latin typeface="Telegraf" panose="020B0604020202020204" charset="0"/>
              </a:rPr>
              <a:t> Fraud </a:t>
            </a:r>
            <a:r>
              <a:rPr lang="en-ID" sz="2400" dirty="0" err="1">
                <a:latin typeface="Telegraf" panose="020B0604020202020204" charset="0"/>
              </a:rPr>
              <a:t>signifikan</a:t>
            </a:r>
            <a:r>
              <a:rPr lang="en-ID" sz="2400" dirty="0">
                <a:latin typeface="Telegraf" panose="020B0604020202020204" charset="0"/>
              </a:rPr>
              <a:t> yang </a:t>
            </a:r>
            <a:r>
              <a:rPr lang="en-ID" sz="2400" dirty="0" err="1">
                <a:latin typeface="Telegraf" panose="020B0604020202020204" charset="0"/>
              </a:rPr>
              <a:t>dilaporkan</a:t>
            </a:r>
            <a:r>
              <a:rPr lang="en-ID" sz="2400" dirty="0">
                <a:latin typeface="Telegraf" panose="020B0604020202020204" charset="0"/>
              </a:rPr>
              <a:t>. </a:t>
            </a:r>
            <a:r>
              <a:rPr lang="en-ID" sz="2400" dirty="0" err="1">
                <a:latin typeface="Telegraf" panose="020B0604020202020204" charset="0"/>
              </a:rPr>
              <a:t>Memastikan</a:t>
            </a:r>
            <a:r>
              <a:rPr lang="en-ID" sz="2400" dirty="0">
                <a:latin typeface="Telegraf" panose="020B0604020202020204" charset="0"/>
              </a:rPr>
              <a:t> </a:t>
            </a:r>
            <a:r>
              <a:rPr lang="en-ID" sz="2400" dirty="0" err="1">
                <a:latin typeface="Telegraf" panose="020B0604020202020204" charset="0"/>
              </a:rPr>
              <a:t>bahwa</a:t>
            </a:r>
            <a:r>
              <a:rPr lang="en-ID" sz="2400" dirty="0">
                <a:latin typeface="Telegraf" panose="020B0604020202020204" charset="0"/>
              </a:rPr>
              <a:t> </a:t>
            </a:r>
            <a:r>
              <a:rPr lang="en-ID" sz="2400" dirty="0" err="1">
                <a:latin typeface="Telegraf" panose="020B0604020202020204" charset="0"/>
              </a:rPr>
              <a:t>akar</a:t>
            </a:r>
            <a:r>
              <a:rPr lang="en-ID" sz="2400" dirty="0">
                <a:latin typeface="Telegraf" panose="020B0604020202020204" charset="0"/>
              </a:rPr>
              <a:t> </a:t>
            </a:r>
            <a:r>
              <a:rPr lang="en-ID" sz="2400" dirty="0" err="1">
                <a:latin typeface="Telegraf" panose="020B0604020202020204" charset="0"/>
              </a:rPr>
              <a:t>penyebab</a:t>
            </a:r>
            <a:r>
              <a:rPr lang="en-ID" sz="2400" dirty="0">
                <a:latin typeface="Telegraf" panose="020B0604020202020204" charset="0"/>
              </a:rPr>
              <a:t> </a:t>
            </a:r>
            <a:r>
              <a:rPr lang="en-ID" sz="2400" dirty="0" err="1">
                <a:latin typeface="Telegraf" panose="020B0604020202020204" charset="0"/>
              </a:rPr>
              <a:t>diidentifikasi</a:t>
            </a:r>
            <a:r>
              <a:rPr lang="en-ID" sz="2400" dirty="0">
                <a:latin typeface="Telegraf" panose="020B0604020202020204" charset="0"/>
              </a:rPr>
              <a:t>, para </a:t>
            </a:r>
            <a:r>
              <a:rPr lang="en-ID" sz="2400" dirty="0" err="1">
                <a:latin typeface="Telegraf" panose="020B0604020202020204" charset="0"/>
              </a:rPr>
              <a:t>pelaku</a:t>
            </a:r>
            <a:r>
              <a:rPr lang="en-ID" sz="2400" dirty="0">
                <a:latin typeface="Telegraf" panose="020B0604020202020204" charset="0"/>
              </a:rPr>
              <a:t> </a:t>
            </a:r>
            <a:r>
              <a:rPr lang="en-ID" sz="2400" dirty="0" err="1">
                <a:latin typeface="Telegraf" panose="020B0604020202020204" charset="0"/>
              </a:rPr>
              <a:t>dikenakan</a:t>
            </a:r>
            <a:r>
              <a:rPr lang="en-ID" sz="2400" dirty="0">
                <a:latin typeface="Telegraf" panose="020B0604020202020204" charset="0"/>
              </a:rPr>
              <a:t> </a:t>
            </a:r>
            <a:r>
              <a:rPr lang="en-ID" sz="2400" dirty="0" err="1">
                <a:latin typeface="Telegraf" panose="020B0604020202020204" charset="0"/>
              </a:rPr>
              <a:t>sanksi</a:t>
            </a:r>
            <a:r>
              <a:rPr lang="en-ID" sz="2400" dirty="0">
                <a:latin typeface="Telegraf" panose="020B0604020202020204" charset="0"/>
              </a:rPr>
              <a:t> dan </a:t>
            </a:r>
            <a:r>
              <a:rPr lang="en-ID" sz="2400" dirty="0" err="1">
                <a:latin typeface="Telegraf" panose="020B0604020202020204" charset="0"/>
              </a:rPr>
              <a:t>langkah</a:t>
            </a:r>
            <a:r>
              <a:rPr lang="en-ID" sz="2400" dirty="0">
                <a:latin typeface="Telegraf" panose="020B0604020202020204" charset="0"/>
              </a:rPr>
              <a:t> </a:t>
            </a:r>
            <a:r>
              <a:rPr lang="en-ID" sz="2400" dirty="0" err="1">
                <a:latin typeface="Telegraf" panose="020B0604020202020204" charset="0"/>
              </a:rPr>
              <a:t>perbaikan</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mencegah</a:t>
            </a:r>
            <a:r>
              <a:rPr lang="en-ID" sz="2400" dirty="0">
                <a:latin typeface="Telegraf" panose="020B0604020202020204" charset="0"/>
              </a:rPr>
              <a:t> </a:t>
            </a:r>
            <a:r>
              <a:rPr lang="en-ID" sz="2400" dirty="0" err="1">
                <a:latin typeface="Telegraf" panose="020B0604020202020204" charset="0"/>
              </a:rPr>
              <a:t>terulangnya</a:t>
            </a:r>
            <a:r>
              <a:rPr lang="en-ID" sz="2400" dirty="0">
                <a:latin typeface="Telegraf" panose="020B0604020202020204" charset="0"/>
              </a:rPr>
              <a:t> </a:t>
            </a:r>
            <a:r>
              <a:rPr lang="en-ID" sz="2400" dirty="0" err="1">
                <a:latin typeface="Telegraf" panose="020B0604020202020204" charset="0"/>
              </a:rPr>
              <a:t>kejadian</a:t>
            </a:r>
            <a:r>
              <a:rPr lang="en-ID" sz="2400" dirty="0">
                <a:latin typeface="Telegraf" panose="020B0604020202020204" charset="0"/>
              </a:rPr>
              <a:t> </a:t>
            </a:r>
            <a:r>
              <a:rPr lang="en-ID" sz="2400" dirty="0" err="1">
                <a:latin typeface="Telegraf" panose="020B0604020202020204" charset="0"/>
              </a:rPr>
              <a:t>dilaksanakan</a:t>
            </a:r>
            <a:r>
              <a:rPr lang="en-ID" sz="2400" dirty="0">
                <a:latin typeface="Telegraf" panose="020B0604020202020204" charset="0"/>
              </a:rPr>
              <a:t>			</a:t>
            </a:r>
          </a:p>
          <a:p>
            <a:pPr marL="457200" indent="-457200">
              <a:buFont typeface="+mj-lt"/>
              <a:buAutoNum type="alphaLcPeriod" startAt="2"/>
            </a:pPr>
            <a:r>
              <a:rPr lang="en-ID" sz="2400" dirty="0" err="1">
                <a:latin typeface="Telegraf" panose="020B0604020202020204" charset="0"/>
              </a:rPr>
              <a:t>Mengawasi</a:t>
            </a:r>
            <a:r>
              <a:rPr lang="en-ID" sz="2400" dirty="0">
                <a:latin typeface="Telegraf" panose="020B0604020202020204" charset="0"/>
              </a:rPr>
              <a:t> </a:t>
            </a:r>
            <a:r>
              <a:rPr lang="en-ID" sz="2400" dirty="0" err="1">
                <a:latin typeface="Telegraf" panose="020B0604020202020204" charset="0"/>
              </a:rPr>
              <a:t>kegiatan</a:t>
            </a:r>
            <a:r>
              <a:rPr lang="en-ID" sz="2400" dirty="0">
                <a:latin typeface="Telegraf" panose="020B0604020202020204" charset="0"/>
              </a:rPr>
              <a:t> </a:t>
            </a:r>
            <a:r>
              <a:rPr lang="en-ID" sz="2400" dirty="0" err="1">
                <a:latin typeface="Telegraf" panose="020B0604020202020204" charset="0"/>
              </a:rPr>
              <a:t>investigasi</a:t>
            </a:r>
            <a:r>
              <a:rPr lang="en-ID" sz="2400" dirty="0">
                <a:latin typeface="Telegraf" panose="020B0604020202020204" charset="0"/>
              </a:rPr>
              <a:t> yang </a:t>
            </a:r>
            <a:r>
              <a:rPr lang="en-ID" sz="2400" dirty="0" err="1">
                <a:latin typeface="Telegraf" panose="020B0604020202020204" charset="0"/>
              </a:rPr>
              <a:t>dilakukan</a:t>
            </a:r>
            <a:r>
              <a:rPr lang="en-ID" sz="2400" dirty="0">
                <a:latin typeface="Telegraf" panose="020B0604020202020204" charset="0"/>
              </a:rPr>
              <a:t> oleh </a:t>
            </a:r>
            <a:r>
              <a:rPr lang="en-ID" sz="2400" dirty="0" err="1">
                <a:latin typeface="Telegraf" panose="020B0604020202020204" charset="0"/>
              </a:rPr>
              <a:t>pihak-pihak</a:t>
            </a:r>
            <a:r>
              <a:rPr lang="en-ID" sz="2400" dirty="0">
                <a:latin typeface="Telegraf" panose="020B0604020202020204" charset="0"/>
              </a:rPr>
              <a:t> internal dan/</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eksternal</a:t>
            </a:r>
            <a:r>
              <a:rPr lang="en-ID" sz="2400" dirty="0">
                <a:latin typeface="Telegraf" panose="020B0604020202020204" charset="0"/>
              </a:rPr>
              <a:t> </a:t>
            </a:r>
            <a:r>
              <a:rPr lang="en-ID" sz="2400" dirty="0" err="1">
                <a:latin typeface="Telegraf" panose="020B0604020202020204" charset="0"/>
              </a:rPr>
              <a:t>melalui</a:t>
            </a:r>
            <a:r>
              <a:rPr lang="en-ID" sz="2400" dirty="0">
                <a:latin typeface="Telegraf" panose="020B0604020202020204" charset="0"/>
              </a:rPr>
              <a:t> </a:t>
            </a:r>
            <a:r>
              <a:rPr lang="en-ID" sz="2400" dirty="0" err="1">
                <a:latin typeface="Telegraf" panose="020B0604020202020204" charset="0"/>
              </a:rPr>
              <a:t>laporan</a:t>
            </a:r>
            <a:r>
              <a:rPr lang="en-ID" sz="2400" dirty="0">
                <a:latin typeface="Telegraf" panose="020B0604020202020204" charset="0"/>
              </a:rPr>
              <a:t> yang </a:t>
            </a:r>
            <a:r>
              <a:rPr lang="en-ID" sz="2400" dirty="0" err="1">
                <a:latin typeface="Telegraf" panose="020B0604020202020204" charset="0"/>
              </a:rPr>
              <a:t>diberikan</a:t>
            </a:r>
            <a:r>
              <a:rPr lang="en-ID" sz="2400" dirty="0">
                <a:latin typeface="Telegraf" panose="020B0604020202020204" charset="0"/>
              </a:rPr>
              <a:t>/</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dipresentasikan</a:t>
            </a:r>
            <a:r>
              <a:rPr lang="en-ID" sz="2400" dirty="0">
                <a:latin typeface="Telegraf" panose="020B0604020202020204" charset="0"/>
              </a:rPr>
              <a:t> oleh </a:t>
            </a:r>
            <a:r>
              <a:rPr lang="en-ID" sz="2400" dirty="0" err="1">
                <a:latin typeface="Telegraf" panose="020B0604020202020204" charset="0"/>
              </a:rPr>
              <a:t>pihak-pihak</a:t>
            </a:r>
            <a:r>
              <a:rPr lang="en-ID" sz="2400" dirty="0">
                <a:latin typeface="Telegraf" panose="020B0604020202020204" charset="0"/>
              </a:rPr>
              <a:t> internal dan/</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eksternal</a:t>
            </a:r>
            <a:r>
              <a:rPr lang="en-ID" sz="2400" dirty="0">
                <a:latin typeface="Telegraf" panose="020B0604020202020204" charset="0"/>
              </a:rPr>
              <a:t> pada </a:t>
            </a:r>
            <a:r>
              <a:rPr lang="en-ID" sz="2400" dirty="0" err="1">
                <a:latin typeface="Telegraf" panose="020B0604020202020204" charset="0"/>
              </a:rPr>
              <a:t>saat</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komit</a:t>
            </a:r>
            <a:r>
              <a:rPr lang="en-ID" sz="2400" dirty="0">
                <a:latin typeface="Telegraf" panose="020B0604020202020204" charset="0"/>
              </a:rPr>
              <a:t>				</a:t>
            </a:r>
          </a:p>
          <a:p>
            <a:pPr marL="457200" indent="-457200">
              <a:buFont typeface="+mj-lt"/>
              <a:buAutoNum type="alphaLcPeriod" startAt="2"/>
            </a:pPr>
            <a:r>
              <a:rPr lang="en-ID" sz="2400" dirty="0" err="1">
                <a:latin typeface="Telegraf" panose="020B0604020202020204" charset="0"/>
              </a:rPr>
              <a:t>Memutuskan</a:t>
            </a:r>
            <a:r>
              <a:rPr lang="en-ID" sz="2400" dirty="0">
                <a:latin typeface="Telegraf" panose="020B0604020202020204" charset="0"/>
              </a:rPr>
              <a:t> </a:t>
            </a:r>
            <a:r>
              <a:rPr lang="en-ID" sz="2400" dirty="0" err="1">
                <a:latin typeface="Telegraf" panose="020B0604020202020204" charset="0"/>
              </a:rPr>
              <a:t>tindakan</a:t>
            </a:r>
            <a:r>
              <a:rPr lang="en-ID" sz="2400" dirty="0">
                <a:latin typeface="Telegraf" panose="020B0604020202020204" charset="0"/>
              </a:rPr>
              <a:t>/proses </a:t>
            </a:r>
            <a:r>
              <a:rPr lang="en-ID" sz="2400" dirty="0" err="1">
                <a:latin typeface="Telegraf" panose="020B0604020202020204" charset="0"/>
              </a:rPr>
              <a:t>hukum</a:t>
            </a:r>
            <a:r>
              <a:rPr lang="en-ID" sz="2400" dirty="0">
                <a:latin typeface="Telegraf" panose="020B0604020202020204" charset="0"/>
              </a:rPr>
              <a:t> </a:t>
            </a:r>
            <a:r>
              <a:rPr lang="en-ID" sz="2400" dirty="0" err="1">
                <a:latin typeface="Telegraf" panose="020B0604020202020204" charset="0"/>
              </a:rPr>
              <a:t>kepada</a:t>
            </a:r>
            <a:r>
              <a:rPr lang="en-ID" sz="2400" dirty="0">
                <a:latin typeface="Telegraf" panose="020B0604020202020204" charset="0"/>
              </a:rPr>
              <a:t> </a:t>
            </a:r>
            <a:r>
              <a:rPr lang="en-ID" sz="2400" dirty="0" err="1">
                <a:latin typeface="Telegraf" panose="020B0604020202020204" charset="0"/>
              </a:rPr>
              <a:t>pelaku</a:t>
            </a:r>
            <a:r>
              <a:rPr lang="en-ID" sz="2400" dirty="0">
                <a:latin typeface="Telegraf" panose="020B0604020202020204" charset="0"/>
              </a:rPr>
              <a:t> Fraud </a:t>
            </a:r>
            <a:r>
              <a:rPr lang="en-ID" sz="2400" dirty="0" err="1">
                <a:latin typeface="Telegraf" panose="020B0604020202020204" charset="0"/>
              </a:rPr>
              <a:t>berdasarkan</a:t>
            </a:r>
            <a:r>
              <a:rPr lang="en-ID" sz="2400" dirty="0">
                <a:latin typeface="Telegraf" panose="020B0604020202020204" charset="0"/>
              </a:rPr>
              <a:t> </a:t>
            </a:r>
            <a:r>
              <a:rPr lang="en-ID" sz="2400" dirty="0" err="1">
                <a:latin typeface="Telegraf" panose="020B0604020202020204" charset="0"/>
              </a:rPr>
              <a:t>hasil</a:t>
            </a:r>
            <a:r>
              <a:rPr lang="en-ID" sz="2400" dirty="0">
                <a:latin typeface="Telegraf" panose="020B0604020202020204" charset="0"/>
              </a:rPr>
              <a:t> </a:t>
            </a:r>
            <a:r>
              <a:rPr lang="en-ID" sz="2400" dirty="0" err="1">
                <a:latin typeface="Telegraf" panose="020B0604020202020204" charset="0"/>
              </a:rPr>
              <a:t>analisa</a:t>
            </a:r>
            <a:r>
              <a:rPr lang="en-ID" sz="2400" dirty="0">
                <a:latin typeface="Telegraf" panose="020B0604020202020204" charset="0"/>
              </a:rPr>
              <a:t> Legal dan/</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pertimbangan</a:t>
            </a:r>
            <a:r>
              <a:rPr lang="en-ID" sz="2400" dirty="0">
                <a:latin typeface="Telegraf" panose="020B0604020202020204" charset="0"/>
              </a:rPr>
              <a:t> lain					</a:t>
            </a:r>
          </a:p>
          <a:p>
            <a:pPr marL="457200" indent="-457200">
              <a:buFont typeface="+mj-lt"/>
              <a:buAutoNum type="alphaLcPeriod" startAt="2"/>
            </a:pPr>
            <a:r>
              <a:rPr lang="en-ID" sz="2400" dirty="0" err="1">
                <a:latin typeface="Telegraf" panose="020B0604020202020204" charset="0"/>
              </a:rPr>
              <a:t>Memastikan</a:t>
            </a:r>
            <a:r>
              <a:rPr lang="en-ID" sz="2400" dirty="0">
                <a:latin typeface="Telegraf" panose="020B0604020202020204" charset="0"/>
              </a:rPr>
              <a:t> Dewan </a:t>
            </a:r>
            <a:r>
              <a:rPr lang="en-ID" sz="2400" dirty="0" err="1">
                <a:latin typeface="Telegraf" panose="020B0604020202020204" charset="0"/>
              </a:rPr>
              <a:t>Direksi</a:t>
            </a:r>
            <a:r>
              <a:rPr lang="en-ID" sz="2400" dirty="0">
                <a:latin typeface="Telegraf" panose="020B0604020202020204" charset="0"/>
              </a:rPr>
              <a:t> dan Dewan </a:t>
            </a:r>
            <a:r>
              <a:rPr lang="en-ID" sz="2400" dirty="0" err="1">
                <a:latin typeface="Telegraf" panose="020B0604020202020204" charset="0"/>
              </a:rPr>
              <a:t>Komisaris</a:t>
            </a:r>
            <a:r>
              <a:rPr lang="en-ID" sz="2400" dirty="0">
                <a:latin typeface="Telegraf" panose="020B0604020202020204" charset="0"/>
              </a:rPr>
              <a:t> </a:t>
            </a:r>
            <a:r>
              <a:rPr lang="en-ID" sz="2400" dirty="0" err="1">
                <a:latin typeface="Telegraf" panose="020B0604020202020204" charset="0"/>
              </a:rPr>
              <a:t>mengetahui</a:t>
            </a:r>
            <a:r>
              <a:rPr lang="en-ID" sz="2400" dirty="0">
                <a:latin typeface="Telegraf" panose="020B0604020202020204" charset="0"/>
              </a:rPr>
              <a:t> dan up to date </a:t>
            </a:r>
            <a:r>
              <a:rPr lang="en-ID" sz="2400" dirty="0" err="1">
                <a:latin typeface="Telegraf" panose="020B0604020202020204" charset="0"/>
              </a:rPr>
              <a:t>mengenai</a:t>
            </a:r>
            <a:r>
              <a:rPr lang="en-ID" sz="2400" dirty="0">
                <a:latin typeface="Telegraf" panose="020B0604020202020204" charset="0"/>
              </a:rPr>
              <a:t> </a:t>
            </a:r>
            <a:r>
              <a:rPr lang="en-ID" sz="2400" dirty="0" err="1">
                <a:latin typeface="Telegraf" panose="020B0604020202020204" charset="0"/>
              </a:rPr>
              <a:t>permasalahan</a:t>
            </a:r>
            <a:r>
              <a:rPr lang="en-ID" sz="2400" dirty="0">
                <a:latin typeface="Telegraf" panose="020B0604020202020204" charset="0"/>
              </a:rPr>
              <a:t>/</a:t>
            </a:r>
            <a:r>
              <a:rPr lang="en-ID" sz="2400" dirty="0" err="1">
                <a:latin typeface="Telegraf" panose="020B0604020202020204" charset="0"/>
              </a:rPr>
              <a:t>insiden</a:t>
            </a:r>
            <a:r>
              <a:rPr lang="en-ID" sz="2400" dirty="0">
                <a:latin typeface="Telegraf" panose="020B0604020202020204" charset="0"/>
              </a:rPr>
              <a:t> Fraud yang </a:t>
            </a:r>
            <a:r>
              <a:rPr lang="en-ID" sz="2400" dirty="0" err="1">
                <a:latin typeface="Telegraf" panose="020B0604020202020204" charset="0"/>
              </a:rPr>
              <a:t>memiliki</a:t>
            </a:r>
            <a:r>
              <a:rPr lang="en-ID" sz="2400" dirty="0">
                <a:latin typeface="Telegraf" panose="020B0604020202020204" charset="0"/>
              </a:rPr>
              <a:t> </a:t>
            </a:r>
            <a:r>
              <a:rPr lang="en-ID" sz="2400" dirty="0" err="1">
                <a:latin typeface="Telegraf" panose="020B0604020202020204" charset="0"/>
              </a:rPr>
              <a:t>dampak</a:t>
            </a:r>
            <a:r>
              <a:rPr lang="en-ID" sz="2400" dirty="0">
                <a:latin typeface="Telegraf" panose="020B0604020202020204" charset="0"/>
              </a:rPr>
              <a:t> </a:t>
            </a:r>
            <a:r>
              <a:rPr lang="en-ID" sz="2400" dirty="0" err="1">
                <a:latin typeface="Telegraf" panose="020B0604020202020204" charset="0"/>
              </a:rPr>
              <a:t>negatif</a:t>
            </a:r>
            <a:r>
              <a:rPr lang="en-ID" sz="2400" dirty="0">
                <a:latin typeface="Telegraf" panose="020B0604020202020204" charset="0"/>
              </a:rPr>
              <a:t> yang </a:t>
            </a:r>
            <a:r>
              <a:rPr lang="en-ID" sz="2400" dirty="0" err="1">
                <a:latin typeface="Telegraf" panose="020B0604020202020204" charset="0"/>
              </a:rPr>
              <a:t>signifikan</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a:t>
            </a:r>
            <a:r>
              <a:rPr lang="en-ID" sz="2400" dirty="0" err="1">
                <a:latin typeface="Telegraf" panose="020B0604020202020204" charset="0"/>
              </a:rPr>
              <a:t>sisi</a:t>
            </a:r>
            <a:r>
              <a:rPr lang="en-ID" sz="2400" dirty="0">
                <a:latin typeface="Telegraf" panose="020B0604020202020204" charset="0"/>
              </a:rPr>
              <a:t> </a:t>
            </a:r>
            <a:r>
              <a:rPr lang="en-ID" sz="2400" dirty="0" err="1">
                <a:latin typeface="Telegraf" panose="020B0604020202020204" charset="0"/>
              </a:rPr>
              <a:t>finansial</a:t>
            </a:r>
            <a:r>
              <a:rPr lang="en-ID" sz="2400" dirty="0">
                <a:latin typeface="Telegraf" panose="020B0604020202020204" charset="0"/>
              </a:rPr>
              <a:t>, </a:t>
            </a:r>
            <a:r>
              <a:rPr lang="en-ID" sz="2400" dirty="0" err="1">
                <a:latin typeface="Telegraf" panose="020B0604020202020204" charset="0"/>
              </a:rPr>
              <a:t>reputasi</a:t>
            </a:r>
            <a:r>
              <a:rPr lang="en-ID" sz="2400" dirty="0">
                <a:latin typeface="Telegraf" panose="020B0604020202020204" charset="0"/>
              </a:rPr>
              <a:t> </a:t>
            </a:r>
            <a:r>
              <a:rPr lang="en-ID" sz="2400" dirty="0" err="1">
                <a:latin typeface="Telegraf" panose="020B0604020202020204" charset="0"/>
              </a:rPr>
              <a:t>ataupun</a:t>
            </a:r>
            <a:r>
              <a:rPr lang="en-ID" sz="2400" dirty="0">
                <a:latin typeface="Telegraf" panose="020B0604020202020204" charset="0"/>
              </a:rPr>
              <a:t> </a:t>
            </a:r>
            <a:r>
              <a:rPr lang="en-ID" sz="2400" dirty="0" err="1">
                <a:latin typeface="Telegraf" panose="020B0604020202020204" charset="0"/>
              </a:rPr>
              <a:t>lainnya</a:t>
            </a:r>
            <a:r>
              <a:rPr lang="en-ID" sz="2400" dirty="0">
                <a:latin typeface="Telegraf" panose="020B0604020202020204" charset="0"/>
              </a:rPr>
              <a:t>		</a:t>
            </a:r>
          </a:p>
        </p:txBody>
      </p:sp>
    </p:spTree>
    <p:extLst>
      <p:ext uri="{BB962C8B-B14F-4D97-AF65-F5344CB8AC3E}">
        <p14:creationId xmlns:p14="http://schemas.microsoft.com/office/powerpoint/2010/main" val="181767044"/>
      </p:ext>
    </p:extLst>
  </p:cSld>
  <p:clrMapOvr>
    <a:masterClrMapping/>
  </p:clrMapOvr>
  <p:transition spd="slow">
    <p:cov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819014" y="2108913"/>
            <a:ext cx="7581453" cy="6630325"/>
          </a:xfrm>
          <a:prstGeom prst="rect">
            <a:avLst/>
          </a:prstGeom>
        </p:spPr>
      </p:pic>
      <p:sp>
        <p:nvSpPr>
          <p:cNvPr id="4" name="TextBox 4"/>
          <p:cNvSpPr txBox="1"/>
          <p:nvPr/>
        </p:nvSpPr>
        <p:spPr>
          <a:xfrm>
            <a:off x="976423" y="136426"/>
            <a:ext cx="9910764" cy="638175"/>
          </a:xfrm>
          <a:prstGeom prst="rect">
            <a:avLst/>
          </a:prstGeom>
        </p:spPr>
        <p:txBody>
          <a:bodyPr lIns="0" tIns="0" rIns="0" bIns="0" rtlCol="0" anchor="t">
            <a:spAutoFit/>
          </a:bodyPr>
          <a:lstStyle/>
          <a:p>
            <a:pPr>
              <a:lnSpc>
                <a:spcPts val="5040"/>
              </a:lnSpc>
            </a:pPr>
            <a:r>
              <a:rPr lang="en-US" sz="4200" dirty="0" err="1">
                <a:solidFill>
                  <a:srgbClr val="000000"/>
                </a:solidFill>
                <a:latin typeface="DM Sans Bold"/>
              </a:rPr>
              <a:t>Komite</a:t>
            </a:r>
            <a:r>
              <a:rPr lang="en-US" sz="4200" dirty="0">
                <a:solidFill>
                  <a:srgbClr val="000000"/>
                </a:solidFill>
                <a:latin typeface="DM Sans Bold"/>
              </a:rPr>
              <a:t>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dirty="0">
                <a:solidFill>
                  <a:srgbClr val="191919"/>
                </a:solidFill>
                <a:latin typeface="Open Sauce SemiBold Bold"/>
              </a:rPr>
              <a:t>42</a:t>
            </a:r>
          </a:p>
        </p:txBody>
      </p:sp>
      <p:sp>
        <p:nvSpPr>
          <p:cNvPr id="8" name="TextBox 7">
            <a:extLst>
              <a:ext uri="{FF2B5EF4-FFF2-40B4-BE49-F238E27FC236}">
                <a16:creationId xmlns:a16="http://schemas.microsoft.com/office/drawing/2014/main" id="{832EC7A7-45F5-4CE6-A378-C70586AA5BED}"/>
              </a:ext>
            </a:extLst>
          </p:cNvPr>
          <p:cNvSpPr txBox="1"/>
          <p:nvPr/>
        </p:nvSpPr>
        <p:spPr>
          <a:xfrm>
            <a:off x="990600" y="875188"/>
            <a:ext cx="17123735" cy="8956298"/>
          </a:xfrm>
          <a:prstGeom prst="rect">
            <a:avLst/>
          </a:prstGeom>
          <a:noFill/>
        </p:spPr>
        <p:txBody>
          <a:bodyPr wrap="square">
            <a:spAutoFit/>
          </a:bodyPr>
          <a:lstStyle/>
          <a:p>
            <a:r>
              <a:rPr lang="en-ID" sz="2800" b="1" dirty="0" err="1">
                <a:latin typeface="Telegraf" panose="020B0604020202020204" charset="0"/>
              </a:rPr>
              <a:t>Lingkup</a:t>
            </a:r>
            <a:r>
              <a:rPr lang="en-ID" sz="2800" b="1" dirty="0">
                <a:latin typeface="Telegraf" panose="020B0604020202020204" charset="0"/>
              </a:rPr>
              <a:t> </a:t>
            </a:r>
            <a:r>
              <a:rPr lang="en-ID" sz="2800" b="1" dirty="0" err="1">
                <a:latin typeface="Telegraf" panose="020B0604020202020204" charset="0"/>
              </a:rPr>
              <a:t>Tugas</a:t>
            </a:r>
            <a:endParaRPr lang="en-ID" sz="2800" b="1" dirty="0">
              <a:latin typeface="Telegraf" panose="020B0604020202020204" charset="0"/>
            </a:endParaRPr>
          </a:p>
          <a:p>
            <a:pPr marL="457200" indent="-457200">
              <a:buFont typeface="+mj-lt"/>
              <a:buAutoNum type="alphaLcPeriod"/>
            </a:pPr>
            <a:endParaRPr lang="en-ID" sz="2400" dirty="0">
              <a:latin typeface="Telegraf" panose="020B0604020202020204" charset="0"/>
            </a:endParaRPr>
          </a:p>
          <a:p>
            <a:pPr marL="457200" indent="-457200">
              <a:buFont typeface="+mj-lt"/>
              <a:buAutoNum type="alphaLcPeriod"/>
            </a:pPr>
            <a:r>
              <a:rPr lang="en-ID" sz="2400" dirty="0" err="1">
                <a:latin typeface="Telegraf" panose="020B0604020202020204" charset="0"/>
              </a:rPr>
              <a:t>Pencegahan</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membuat</a:t>
            </a:r>
            <a:r>
              <a:rPr lang="en-ID" sz="2400" dirty="0">
                <a:latin typeface="Telegraf" panose="020B0604020202020204" charset="0"/>
              </a:rPr>
              <a:t> </a:t>
            </a:r>
            <a:r>
              <a:rPr lang="en-ID" sz="2400" dirty="0" err="1">
                <a:latin typeface="Telegraf" panose="020B0604020202020204" charset="0"/>
              </a:rPr>
              <a:t>rencana</a:t>
            </a:r>
            <a:r>
              <a:rPr lang="en-ID" sz="2400" dirty="0">
                <a:latin typeface="Telegraf" panose="020B0604020202020204" charset="0"/>
              </a:rPr>
              <a:t> </a:t>
            </a:r>
            <a:r>
              <a:rPr lang="en-ID" sz="2400" dirty="0" err="1">
                <a:latin typeface="Telegraf" panose="020B0604020202020204" charset="0"/>
              </a:rPr>
              <a:t>kerja</a:t>
            </a:r>
            <a:r>
              <a:rPr lang="en-ID" sz="2400" dirty="0">
                <a:latin typeface="Telegraf" panose="020B0604020202020204" charset="0"/>
              </a:rPr>
              <a:t> </a:t>
            </a:r>
            <a:r>
              <a:rPr lang="en-ID" sz="2400" dirty="0" err="1">
                <a:latin typeface="Telegraf" panose="020B0604020202020204" charset="0"/>
              </a:rPr>
              <a:t>terkait</a:t>
            </a:r>
            <a:r>
              <a:rPr lang="en-ID" sz="2400" dirty="0">
                <a:latin typeface="Telegraf" panose="020B0604020202020204" charset="0"/>
              </a:rPr>
              <a:t> </a:t>
            </a:r>
            <a:r>
              <a:rPr lang="en-ID" sz="2400" dirty="0" err="1">
                <a:latin typeface="Telegraf" panose="020B0604020202020204" charset="0"/>
              </a:rPr>
              <a:t>pelatihan</a:t>
            </a:r>
            <a:r>
              <a:rPr lang="en-ID" sz="2400" dirty="0">
                <a:latin typeface="Telegraf" panose="020B0604020202020204" charset="0"/>
              </a:rPr>
              <a:t>/</a:t>
            </a:r>
            <a:r>
              <a:rPr lang="en-ID" sz="2400" dirty="0" err="1">
                <a:latin typeface="Telegraf" panose="020B0604020202020204" charset="0"/>
              </a:rPr>
              <a:t>sosialisasi</a:t>
            </a:r>
            <a:r>
              <a:rPr lang="en-ID" sz="2400" dirty="0">
                <a:latin typeface="Telegraf" panose="020B0604020202020204" charset="0"/>
              </a:rPr>
              <a:t> </a:t>
            </a:r>
            <a:r>
              <a:rPr lang="en-ID" sz="2400" dirty="0" err="1">
                <a:latin typeface="Telegraf" panose="020B0604020202020204" charset="0"/>
              </a:rPr>
              <a:t>kepada</a:t>
            </a:r>
            <a:r>
              <a:rPr lang="en-ID" sz="2400" dirty="0">
                <a:latin typeface="Telegraf" panose="020B0604020202020204" charset="0"/>
              </a:rPr>
              <a:t> </a:t>
            </a:r>
            <a:r>
              <a:rPr lang="en-ID" sz="2400" dirty="0" err="1">
                <a:latin typeface="Telegraf" panose="020B0604020202020204" charset="0"/>
              </a:rPr>
              <a:t>karyawan</a:t>
            </a:r>
            <a:r>
              <a:rPr lang="en-ID" sz="2400" dirty="0">
                <a:latin typeface="Telegraf" panose="020B0604020202020204" charset="0"/>
              </a:rPr>
              <a:t> dan </a:t>
            </a:r>
            <a:r>
              <a:rPr lang="en-ID" sz="2400" dirty="0" err="1">
                <a:latin typeface="Telegraf" panose="020B0604020202020204" charset="0"/>
              </a:rPr>
              <a:t>pihak</a:t>
            </a:r>
            <a:r>
              <a:rPr lang="en-ID" sz="2400" dirty="0">
                <a:latin typeface="Telegraf" panose="020B0604020202020204" charset="0"/>
              </a:rPr>
              <a:t> </a:t>
            </a:r>
            <a:r>
              <a:rPr lang="en-ID" sz="2400" dirty="0" err="1">
                <a:latin typeface="Telegraf" panose="020B0604020202020204" charset="0"/>
              </a:rPr>
              <a:t>ketiga</a:t>
            </a:r>
            <a:r>
              <a:rPr lang="en-ID" sz="2400" dirty="0">
                <a:latin typeface="Telegraf" panose="020B0604020202020204" charset="0"/>
              </a:rPr>
              <a:t> </a:t>
            </a:r>
            <a:r>
              <a:rPr lang="en-ID" sz="2400" dirty="0" err="1">
                <a:latin typeface="Telegraf" panose="020B0604020202020204" charset="0"/>
              </a:rPr>
              <a:t>sebagai</a:t>
            </a:r>
            <a:r>
              <a:rPr lang="en-ID" sz="2400" dirty="0">
                <a:latin typeface="Telegraf" panose="020B0604020202020204" charset="0"/>
              </a:rPr>
              <a:t> </a:t>
            </a:r>
            <a:r>
              <a:rPr lang="en-ID" sz="2400" dirty="0" err="1">
                <a:latin typeface="Telegraf" panose="020B0604020202020204" charset="0"/>
              </a:rPr>
              <a:t>penerapan</a:t>
            </a:r>
            <a:r>
              <a:rPr lang="en-ID" sz="2400" dirty="0">
                <a:latin typeface="Telegraf" panose="020B0604020202020204" charset="0"/>
              </a:rPr>
              <a:t> strategi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membangun</a:t>
            </a:r>
            <a:r>
              <a:rPr lang="en-ID" sz="2400" dirty="0">
                <a:latin typeface="Telegraf" panose="020B0604020202020204" charset="0"/>
              </a:rPr>
              <a:t> </a:t>
            </a:r>
            <a:r>
              <a:rPr lang="en-ID" sz="2400" dirty="0" err="1">
                <a:latin typeface="Telegraf" panose="020B0604020202020204" charset="0"/>
              </a:rPr>
              <a:t>kesadaran</a:t>
            </a:r>
            <a:r>
              <a:rPr lang="en-ID" sz="2400" dirty="0">
                <a:latin typeface="Telegraf" panose="020B0604020202020204" charset="0"/>
              </a:rPr>
              <a:t> program anti Fraud				</a:t>
            </a:r>
          </a:p>
          <a:p>
            <a:pPr marL="800100" lvl="1" indent="-342900">
              <a:buFont typeface="Arial" panose="020B0604020202020204" pitchFamily="34" charset="0"/>
              <a:buChar char="•"/>
            </a:pPr>
            <a:r>
              <a:rPr lang="en-ID" sz="2400" dirty="0" err="1">
                <a:latin typeface="Telegraf" panose="020B0604020202020204" charset="0"/>
              </a:rPr>
              <a:t>mastikan</a:t>
            </a:r>
            <a:r>
              <a:rPr lang="en-ID" sz="2400" dirty="0">
                <a:latin typeface="Telegraf" panose="020B0604020202020204" charset="0"/>
              </a:rPr>
              <a:t> </a:t>
            </a:r>
            <a:r>
              <a:rPr lang="en-ID" sz="2400" dirty="0" err="1">
                <a:latin typeface="Telegraf" panose="020B0604020202020204" charset="0"/>
              </a:rPr>
              <a:t>bahwa</a:t>
            </a:r>
            <a:r>
              <a:rPr lang="en-ID" sz="2400" dirty="0">
                <a:latin typeface="Telegraf" panose="020B0604020202020204" charset="0"/>
              </a:rPr>
              <a:t> </a:t>
            </a:r>
            <a:r>
              <a:rPr lang="en-ID" sz="2400" dirty="0" err="1">
                <a:latin typeface="Telegraf" panose="020B0604020202020204" charset="0"/>
              </a:rPr>
              <a:t>perusahaan</a:t>
            </a:r>
            <a:r>
              <a:rPr lang="en-ID" sz="2400" dirty="0">
                <a:latin typeface="Telegraf" panose="020B0604020202020204" charset="0"/>
              </a:rPr>
              <a:t> </a:t>
            </a:r>
            <a:r>
              <a:rPr lang="en-ID" sz="2400" dirty="0" err="1">
                <a:latin typeface="Telegraf" panose="020B0604020202020204" charset="0"/>
              </a:rPr>
              <a:t>telah</a:t>
            </a:r>
            <a:r>
              <a:rPr lang="en-ID" sz="2400" dirty="0">
                <a:latin typeface="Telegraf" panose="020B0604020202020204" charset="0"/>
              </a:rPr>
              <a:t> </a:t>
            </a:r>
            <a:r>
              <a:rPr lang="en-ID" sz="2400" dirty="0" err="1">
                <a:latin typeface="Telegraf" panose="020B0604020202020204" charset="0"/>
              </a:rPr>
              <a:t>memiliki</a:t>
            </a:r>
            <a:r>
              <a:rPr lang="en-ID" sz="2400" dirty="0">
                <a:latin typeface="Telegraf" panose="020B0604020202020204" charset="0"/>
              </a:rPr>
              <a:t> </a:t>
            </a:r>
            <a:r>
              <a:rPr lang="en-ID" sz="2400" dirty="0" err="1">
                <a:latin typeface="Telegraf" panose="020B0604020202020204" charset="0"/>
              </a:rPr>
              <a:t>mitigasi</a:t>
            </a:r>
            <a:r>
              <a:rPr lang="en-ID" sz="2400" dirty="0">
                <a:latin typeface="Telegraf" panose="020B0604020202020204" charset="0"/>
              </a:rPr>
              <a:t> </a:t>
            </a:r>
            <a:r>
              <a:rPr lang="en-ID" sz="2400" dirty="0" err="1">
                <a:latin typeface="Telegraf" panose="020B0604020202020204" charset="0"/>
              </a:rPr>
              <a:t>risiko</a:t>
            </a:r>
            <a:r>
              <a:rPr lang="en-ID" sz="2400" dirty="0">
                <a:latin typeface="Telegraf" panose="020B0604020202020204" charset="0"/>
              </a:rPr>
              <a:t> </a:t>
            </a:r>
            <a:r>
              <a:rPr lang="en-ID" sz="2400" dirty="0" err="1">
                <a:latin typeface="Telegraf" panose="020B0604020202020204" charset="0"/>
              </a:rPr>
              <a:t>terhadap</a:t>
            </a:r>
            <a:r>
              <a:rPr lang="en-ID" sz="2400" dirty="0">
                <a:latin typeface="Telegraf" panose="020B0604020202020204" charset="0"/>
              </a:rPr>
              <a:t> </a:t>
            </a:r>
            <a:r>
              <a:rPr lang="en-ID" sz="2400" dirty="0" err="1">
                <a:latin typeface="Telegraf" panose="020B0604020202020204" charset="0"/>
              </a:rPr>
              <a:t>aktivitas</a:t>
            </a:r>
            <a:r>
              <a:rPr lang="en-ID" sz="2400" dirty="0">
                <a:latin typeface="Telegraf" panose="020B0604020202020204" charset="0"/>
              </a:rPr>
              <a:t> </a:t>
            </a:r>
            <a:r>
              <a:rPr lang="en-ID" sz="2400" dirty="0" err="1">
                <a:latin typeface="Telegraf" panose="020B0604020202020204" charset="0"/>
              </a:rPr>
              <a:t>operasional</a:t>
            </a:r>
            <a:r>
              <a:rPr lang="en-ID" sz="2400" dirty="0">
                <a:latin typeface="Telegraf" panose="020B0604020202020204" charset="0"/>
              </a:rPr>
              <a:t> yang </a:t>
            </a:r>
            <a:r>
              <a:rPr lang="en-ID" sz="2400" dirty="0" err="1">
                <a:latin typeface="Telegraf" panose="020B0604020202020204" charset="0"/>
              </a:rPr>
              <a:t>berpotensi</a:t>
            </a:r>
            <a:r>
              <a:rPr lang="en-ID" sz="2400" dirty="0">
                <a:latin typeface="Telegraf" panose="020B0604020202020204" charset="0"/>
              </a:rPr>
              <a:t> </a:t>
            </a:r>
            <a:r>
              <a:rPr lang="en-ID" sz="2400" dirty="0" err="1">
                <a:latin typeface="Telegraf" panose="020B0604020202020204" charset="0"/>
              </a:rPr>
              <a:t>terjadi</a:t>
            </a:r>
            <a:r>
              <a:rPr lang="en-ID" sz="2400" dirty="0">
                <a:latin typeface="Telegraf" panose="020B0604020202020204" charset="0"/>
              </a:rPr>
              <a:t> </a:t>
            </a:r>
            <a:r>
              <a:rPr lang="en-ID" sz="2400" dirty="0" err="1">
                <a:latin typeface="Telegraf" panose="020B0604020202020204" charset="0"/>
              </a:rPr>
              <a:t>kecurangan</a:t>
            </a:r>
            <a:r>
              <a:rPr lang="en-ID" sz="2400" dirty="0">
                <a:latin typeface="Telegraf" panose="020B0604020202020204" charset="0"/>
              </a:rPr>
              <a:t>	</a:t>
            </a:r>
          </a:p>
          <a:p>
            <a:r>
              <a:rPr lang="en-ID" sz="2400" dirty="0">
                <a:latin typeface="Telegraf" panose="020B0604020202020204" charset="0"/>
              </a:rPr>
              <a:t>			</a:t>
            </a:r>
          </a:p>
          <a:p>
            <a:pPr marL="457200" indent="-457200">
              <a:buFont typeface="+mj-lt"/>
              <a:buAutoNum type="alphaLcPeriod" startAt="2"/>
            </a:pPr>
            <a:r>
              <a:rPr lang="en-ID" sz="2400" dirty="0" err="1">
                <a:latin typeface="Telegraf" panose="020B0604020202020204" charset="0"/>
              </a:rPr>
              <a:t>Deteksi</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memastikan</a:t>
            </a:r>
            <a:r>
              <a:rPr lang="en-ID" sz="2400" dirty="0">
                <a:latin typeface="Telegraf" panose="020B0604020202020204" charset="0"/>
              </a:rPr>
              <a:t> </a:t>
            </a:r>
            <a:r>
              <a:rPr lang="en-ID" sz="2400" dirty="0" err="1">
                <a:latin typeface="Telegraf" panose="020B0604020202020204" charset="0"/>
              </a:rPr>
              <a:t>efektivitas</a:t>
            </a:r>
            <a:r>
              <a:rPr lang="en-ID" sz="2400" dirty="0">
                <a:latin typeface="Telegraf" panose="020B0604020202020204" charset="0"/>
              </a:rPr>
              <a:t> Whistleblowing System yang </a:t>
            </a:r>
            <a:r>
              <a:rPr lang="en-ID" sz="2400" dirty="0" err="1">
                <a:latin typeface="Telegraf" panose="020B0604020202020204" charset="0"/>
              </a:rPr>
              <a:t>telah</a:t>
            </a:r>
            <a:r>
              <a:rPr lang="en-ID" sz="2400" dirty="0">
                <a:latin typeface="Telegraf" panose="020B0604020202020204" charset="0"/>
              </a:rPr>
              <a:t> </a:t>
            </a:r>
            <a:r>
              <a:rPr lang="en-ID" sz="2400" dirty="0" err="1">
                <a:latin typeface="Telegraf" panose="020B0604020202020204" charset="0"/>
              </a:rPr>
              <a:t>disediakan</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melakukan</a:t>
            </a:r>
            <a:r>
              <a:rPr lang="en-ID" sz="2400" dirty="0">
                <a:latin typeface="Telegraf" panose="020B0604020202020204" charset="0"/>
              </a:rPr>
              <a:t> </a:t>
            </a:r>
            <a:r>
              <a:rPr lang="en-ID" sz="2400" dirty="0" err="1">
                <a:latin typeface="Telegraf" panose="020B0604020202020204" charset="0"/>
              </a:rPr>
              <a:t>penunjukkan</a:t>
            </a:r>
            <a:r>
              <a:rPr lang="en-ID" sz="2400" dirty="0">
                <a:latin typeface="Telegraf" panose="020B0604020202020204" charset="0"/>
              </a:rPr>
              <a:t> </a:t>
            </a:r>
            <a:r>
              <a:rPr lang="en-ID" sz="2400" dirty="0" err="1">
                <a:latin typeface="Telegraf" panose="020B0604020202020204" charset="0"/>
              </a:rPr>
              <a:t>fungsi</a:t>
            </a:r>
            <a:r>
              <a:rPr lang="en-ID" sz="2400" dirty="0">
                <a:latin typeface="Telegraf" panose="020B0604020202020204" charset="0"/>
              </a:rPr>
              <a:t> </a:t>
            </a:r>
            <a:r>
              <a:rPr lang="en-ID" sz="2400" dirty="0" err="1">
                <a:latin typeface="Telegraf" panose="020B0604020202020204" charset="0"/>
              </a:rPr>
              <a:t>terkait</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mekakukan</a:t>
            </a:r>
            <a:r>
              <a:rPr lang="en-ID" sz="2400" dirty="0">
                <a:latin typeface="Telegraf" panose="020B0604020202020204" charset="0"/>
              </a:rPr>
              <a:t> </a:t>
            </a:r>
            <a:r>
              <a:rPr lang="en-ID" sz="2400" dirty="0" err="1">
                <a:latin typeface="Telegraf" panose="020B0604020202020204" charset="0"/>
              </a:rPr>
              <a:t>investigasi</a:t>
            </a:r>
            <a:r>
              <a:rPr lang="en-ID" sz="2400" dirty="0">
                <a:latin typeface="Telegraf" panose="020B0604020202020204" charset="0"/>
              </a:rPr>
              <a:t> </a:t>
            </a:r>
            <a:r>
              <a:rPr lang="en-ID" sz="2400" dirty="0" err="1">
                <a:latin typeface="Telegraf" panose="020B0604020202020204" charset="0"/>
              </a:rPr>
              <a:t>lebih</a:t>
            </a:r>
            <a:r>
              <a:rPr lang="en-ID" sz="2400" dirty="0">
                <a:latin typeface="Telegraf" panose="020B0604020202020204" charset="0"/>
              </a:rPr>
              <a:t> </a:t>
            </a:r>
            <a:r>
              <a:rPr lang="en-ID" sz="2400" dirty="0" err="1">
                <a:latin typeface="Telegraf" panose="020B0604020202020204" charset="0"/>
              </a:rPr>
              <a:t>lanjut</a:t>
            </a:r>
            <a:r>
              <a:rPr lang="en-ID" sz="2400" dirty="0">
                <a:latin typeface="Telegraf" panose="020B0604020202020204" charset="0"/>
              </a:rPr>
              <a:t> </a:t>
            </a:r>
            <a:r>
              <a:rPr lang="en-ID" sz="2400" dirty="0" err="1">
                <a:latin typeface="Telegraf" panose="020B0604020202020204" charset="0"/>
              </a:rPr>
              <a:t>terhadap</a:t>
            </a:r>
            <a:r>
              <a:rPr lang="en-ID" sz="2400" dirty="0">
                <a:latin typeface="Telegraf" panose="020B0604020202020204" charset="0"/>
              </a:rPr>
              <a:t> </a:t>
            </a:r>
            <a:r>
              <a:rPr lang="en-ID" sz="2400" dirty="0" err="1">
                <a:latin typeface="Telegraf" panose="020B0604020202020204" charset="0"/>
              </a:rPr>
              <a:t>kasus</a:t>
            </a:r>
            <a:r>
              <a:rPr lang="en-ID" sz="2400" dirty="0">
                <a:latin typeface="Telegraf" panose="020B0604020202020204" charset="0"/>
              </a:rPr>
              <a:t> Fraud yang </a:t>
            </a:r>
            <a:r>
              <a:rPr lang="en-ID" sz="2400" dirty="0" err="1">
                <a:latin typeface="Telegraf" panose="020B0604020202020204" charset="0"/>
              </a:rPr>
              <a:t>ditangani</a:t>
            </a:r>
            <a:r>
              <a:rPr lang="en-ID" sz="2400" dirty="0">
                <a:latin typeface="Telegraf" panose="020B0604020202020204" charset="0"/>
              </a:rPr>
              <a:t>	</a:t>
            </a:r>
          </a:p>
          <a:p>
            <a:r>
              <a:rPr lang="en-ID" sz="2400" dirty="0">
                <a:latin typeface="Telegraf" panose="020B0604020202020204" charset="0"/>
              </a:rPr>
              <a:t>			</a:t>
            </a:r>
          </a:p>
          <a:p>
            <a:pPr marL="457200" indent="-457200">
              <a:buFont typeface="+mj-lt"/>
              <a:buAutoNum type="alphaLcPeriod" startAt="3"/>
            </a:pPr>
            <a:r>
              <a:rPr lang="en-ID" sz="2400" dirty="0" err="1">
                <a:latin typeface="Telegraf" panose="020B0604020202020204" charset="0"/>
              </a:rPr>
              <a:t>Investigasi</a:t>
            </a:r>
            <a:r>
              <a:rPr lang="en-ID" sz="2400" dirty="0">
                <a:latin typeface="Telegraf" panose="020B0604020202020204" charset="0"/>
              </a:rPr>
              <a:t>, </a:t>
            </a:r>
            <a:r>
              <a:rPr lang="en-ID" sz="2400" dirty="0" err="1">
                <a:latin typeface="Telegraf" panose="020B0604020202020204" charset="0"/>
              </a:rPr>
              <a:t>Pelaporan</a:t>
            </a:r>
            <a:r>
              <a:rPr lang="en-ID" sz="2400" dirty="0">
                <a:latin typeface="Telegraf" panose="020B0604020202020204" charset="0"/>
              </a:rPr>
              <a:t> dan </a:t>
            </a:r>
            <a:r>
              <a:rPr lang="en-ID" sz="2400" dirty="0" err="1">
                <a:latin typeface="Telegraf" panose="020B0604020202020204" charset="0"/>
              </a:rPr>
              <a:t>Sanksi</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memastikan</a:t>
            </a:r>
            <a:r>
              <a:rPr lang="en-ID" sz="2400" dirty="0">
                <a:latin typeface="Telegraf" panose="020B0604020202020204" charset="0"/>
              </a:rPr>
              <a:t> </a:t>
            </a:r>
            <a:r>
              <a:rPr lang="en-ID" sz="2400" dirty="0" err="1">
                <a:latin typeface="Telegraf" panose="020B0604020202020204" charset="0"/>
              </a:rPr>
              <a:t>bahwa</a:t>
            </a:r>
            <a:r>
              <a:rPr lang="en-ID" sz="2400" dirty="0">
                <a:latin typeface="Telegraf" panose="020B0604020202020204" charset="0"/>
              </a:rPr>
              <a:t> </a:t>
            </a:r>
            <a:r>
              <a:rPr lang="en-ID" sz="2400" dirty="0" err="1">
                <a:latin typeface="Telegraf" panose="020B0604020202020204" charset="0"/>
              </a:rPr>
              <a:t>setiap</a:t>
            </a:r>
            <a:r>
              <a:rPr lang="en-ID" sz="2400" dirty="0">
                <a:latin typeface="Telegraf" panose="020B0604020202020204" charset="0"/>
              </a:rPr>
              <a:t> </a:t>
            </a:r>
            <a:r>
              <a:rPr lang="en-ID" sz="2400" dirty="0" err="1">
                <a:latin typeface="Telegraf" panose="020B0604020202020204" charset="0"/>
              </a:rPr>
              <a:t>kasus</a:t>
            </a:r>
            <a:r>
              <a:rPr lang="en-ID" sz="2400" dirty="0">
                <a:latin typeface="Telegraf" panose="020B0604020202020204" charset="0"/>
              </a:rPr>
              <a:t> Fraud yang </a:t>
            </a:r>
            <a:r>
              <a:rPr lang="en-ID" sz="2400" dirty="0" err="1">
                <a:latin typeface="Telegraf" panose="020B0604020202020204" charset="0"/>
              </a:rPr>
              <a:t>ditangani</a:t>
            </a:r>
            <a:r>
              <a:rPr lang="en-ID" sz="2400" dirty="0">
                <a:latin typeface="Telegraf" panose="020B0604020202020204" charset="0"/>
              </a:rPr>
              <a:t> </a:t>
            </a:r>
            <a:r>
              <a:rPr lang="en-ID" sz="2400" dirty="0" err="1">
                <a:latin typeface="Telegraf" panose="020B0604020202020204" charset="0"/>
              </a:rPr>
              <a:t>telah</a:t>
            </a:r>
            <a:r>
              <a:rPr lang="en-ID" sz="2400" dirty="0">
                <a:latin typeface="Telegraf" panose="020B0604020202020204" charset="0"/>
              </a:rPr>
              <a:t> </a:t>
            </a:r>
            <a:r>
              <a:rPr lang="en-ID" sz="2400" dirty="0" err="1">
                <a:latin typeface="Telegraf" panose="020B0604020202020204" charset="0"/>
              </a:rPr>
              <a:t>memenuhi</a:t>
            </a:r>
            <a:r>
              <a:rPr lang="en-ID" sz="2400" dirty="0">
                <a:latin typeface="Telegraf" panose="020B0604020202020204" charset="0"/>
              </a:rPr>
              <a:t> </a:t>
            </a:r>
            <a:r>
              <a:rPr lang="en-ID" sz="2400" dirty="0" err="1">
                <a:latin typeface="Telegraf" panose="020B0604020202020204" charset="0"/>
              </a:rPr>
              <a:t>bukti</a:t>
            </a:r>
            <a:r>
              <a:rPr lang="en-ID" sz="2400" dirty="0">
                <a:latin typeface="Telegraf" panose="020B0604020202020204" charset="0"/>
              </a:rPr>
              <a:t> yang </a:t>
            </a:r>
            <a:r>
              <a:rPr lang="en-ID" sz="2400" dirty="0" err="1">
                <a:latin typeface="Telegraf" panose="020B0604020202020204" charset="0"/>
              </a:rPr>
              <a:t>cukup</a:t>
            </a:r>
            <a:r>
              <a:rPr lang="en-ID" sz="2400" dirty="0">
                <a:latin typeface="Telegraf" panose="020B0604020202020204" charset="0"/>
              </a:rPr>
              <a:t> </a:t>
            </a:r>
            <a:r>
              <a:rPr lang="en-ID" sz="2400" dirty="0" err="1">
                <a:latin typeface="Telegraf" panose="020B0604020202020204" charset="0"/>
              </a:rPr>
              <a:t>kuat</a:t>
            </a:r>
            <a:r>
              <a:rPr lang="en-ID" sz="2400" dirty="0">
                <a:latin typeface="Telegraf" panose="020B0604020202020204" charset="0"/>
              </a:rPr>
              <a:t> dan </a:t>
            </a:r>
            <a:r>
              <a:rPr lang="en-ID" sz="2400" dirty="0" err="1">
                <a:latin typeface="Telegraf" panose="020B0604020202020204" charset="0"/>
              </a:rPr>
              <a:t>hasil</a:t>
            </a:r>
            <a:r>
              <a:rPr lang="en-ID" sz="2400" dirty="0">
                <a:latin typeface="Telegraf" panose="020B0604020202020204" charset="0"/>
              </a:rPr>
              <a:t> </a:t>
            </a:r>
            <a:r>
              <a:rPr lang="en-ID" sz="2400" dirty="0" err="1">
                <a:latin typeface="Telegraf" panose="020B0604020202020204" charset="0"/>
              </a:rPr>
              <a:t>identifikasi</a:t>
            </a:r>
            <a:r>
              <a:rPr lang="en-ID" sz="2400" dirty="0">
                <a:latin typeface="Telegraf" panose="020B0604020202020204" charset="0"/>
              </a:rPr>
              <a:t> yang </a:t>
            </a:r>
            <a:r>
              <a:rPr lang="en-ID" sz="2400" dirty="0" err="1">
                <a:latin typeface="Telegraf" panose="020B0604020202020204" charset="0"/>
              </a:rPr>
              <a:t>memadai</a:t>
            </a:r>
            <a:r>
              <a:rPr lang="en-ID" sz="2400" dirty="0">
                <a:latin typeface="Telegraf" panose="020B0604020202020204" charset="0"/>
              </a:rPr>
              <a:t> </a:t>
            </a:r>
            <a:r>
              <a:rPr lang="en-ID" sz="2400" dirty="0" err="1">
                <a:latin typeface="Telegraf" panose="020B0604020202020204" charset="0"/>
              </a:rPr>
              <a:t>saat</a:t>
            </a:r>
            <a:r>
              <a:rPr lang="en-ID" sz="2400" dirty="0">
                <a:latin typeface="Telegraf" panose="020B0604020202020204" charset="0"/>
              </a:rPr>
              <a:t> proses </a:t>
            </a:r>
            <a:r>
              <a:rPr lang="en-ID" sz="2400" dirty="0" err="1">
                <a:latin typeface="Telegraf" panose="020B0604020202020204" charset="0"/>
              </a:rPr>
              <a:t>penentuan</a:t>
            </a:r>
            <a:r>
              <a:rPr lang="en-ID" sz="2400" dirty="0">
                <a:latin typeface="Telegraf" panose="020B0604020202020204" charset="0"/>
              </a:rPr>
              <a:t> </a:t>
            </a:r>
            <a:r>
              <a:rPr lang="en-ID" sz="2400" dirty="0" err="1">
                <a:latin typeface="Telegraf" panose="020B0604020202020204" charset="0"/>
              </a:rPr>
              <a:t>sanksi</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mengkaji</a:t>
            </a:r>
            <a:r>
              <a:rPr lang="en-ID" sz="2400" dirty="0">
                <a:latin typeface="Telegraf" panose="020B0604020202020204" charset="0"/>
              </a:rPr>
              <a:t> </a:t>
            </a:r>
            <a:r>
              <a:rPr lang="en-ID" sz="2400" dirty="0" err="1">
                <a:latin typeface="Telegraf" panose="020B0604020202020204" charset="0"/>
              </a:rPr>
              <a:t>kasus</a:t>
            </a:r>
            <a:r>
              <a:rPr lang="en-ID" sz="2400" dirty="0">
                <a:latin typeface="Telegraf" panose="020B0604020202020204" charset="0"/>
              </a:rPr>
              <a:t> </a:t>
            </a:r>
            <a:r>
              <a:rPr lang="en-ID" sz="2400" dirty="0" err="1">
                <a:latin typeface="Telegraf" panose="020B0604020202020204" charset="0"/>
              </a:rPr>
              <a:t>kecurangan</a:t>
            </a:r>
            <a:r>
              <a:rPr lang="en-ID" sz="2400" dirty="0">
                <a:latin typeface="Telegraf" panose="020B0604020202020204" charset="0"/>
              </a:rPr>
              <a:t> </a:t>
            </a:r>
            <a:r>
              <a:rPr lang="en-ID" sz="2400" dirty="0" err="1">
                <a:latin typeface="Telegraf" panose="020B0604020202020204" charset="0"/>
              </a:rPr>
              <a:t>berdasarkan</a:t>
            </a:r>
            <a:r>
              <a:rPr lang="en-ID" sz="2400" dirty="0">
                <a:latin typeface="Telegraf" panose="020B0604020202020204" charset="0"/>
              </a:rPr>
              <a:t> </a:t>
            </a:r>
            <a:r>
              <a:rPr lang="en-ID" sz="2400" dirty="0" err="1">
                <a:latin typeface="Telegraf" panose="020B0604020202020204" charset="0"/>
              </a:rPr>
              <a:t>dengan</a:t>
            </a:r>
            <a:r>
              <a:rPr lang="en-ID" sz="2400" dirty="0">
                <a:latin typeface="Telegraf" panose="020B0604020202020204" charset="0"/>
              </a:rPr>
              <a:t> </a:t>
            </a:r>
            <a:r>
              <a:rPr lang="en-ID" sz="2400" dirty="0" err="1">
                <a:latin typeface="Telegraf" panose="020B0604020202020204" charset="0"/>
              </a:rPr>
              <a:t>tingkatan</a:t>
            </a:r>
            <a:r>
              <a:rPr lang="en-ID" sz="2400" dirty="0">
                <a:latin typeface="Telegraf" panose="020B0604020202020204" charset="0"/>
              </a:rPr>
              <a:t> </a:t>
            </a:r>
            <a:r>
              <a:rPr lang="en-ID" sz="2400" dirty="0" err="1">
                <a:latin typeface="Telegraf" panose="020B0604020202020204" charset="0"/>
              </a:rPr>
              <a:t>risiko</a:t>
            </a:r>
            <a:r>
              <a:rPr lang="en-ID" sz="2400" dirty="0">
                <a:latin typeface="Telegraf" panose="020B0604020202020204" charset="0"/>
              </a:rPr>
              <a:t> dan </a:t>
            </a:r>
            <a:r>
              <a:rPr lang="en-ID" sz="2400" dirty="0" err="1">
                <a:latin typeface="Telegraf" panose="020B0604020202020204" charset="0"/>
              </a:rPr>
              <a:t>dampaknya</a:t>
            </a:r>
            <a:r>
              <a:rPr lang="en-ID" sz="2400" dirty="0">
                <a:latin typeface="Telegraf" panose="020B0604020202020204" charset="0"/>
              </a:rPr>
              <a:t> </a:t>
            </a:r>
            <a:r>
              <a:rPr lang="en-ID" sz="2400" dirty="0" err="1">
                <a:latin typeface="Telegraf" panose="020B0604020202020204" charset="0"/>
              </a:rPr>
              <a:t>bagi</a:t>
            </a:r>
            <a:r>
              <a:rPr lang="en-ID" sz="2400" dirty="0">
                <a:latin typeface="Telegraf" panose="020B0604020202020204" charset="0"/>
              </a:rPr>
              <a:t> </a:t>
            </a:r>
            <a:r>
              <a:rPr lang="en-ID" sz="2400" dirty="0" err="1">
                <a:latin typeface="Telegraf" panose="020B0604020202020204" charset="0"/>
              </a:rPr>
              <a:t>perusahaan</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menjatuhkan</a:t>
            </a:r>
            <a:r>
              <a:rPr lang="en-ID" sz="2400" dirty="0">
                <a:latin typeface="Telegraf" panose="020B0604020202020204" charset="0"/>
              </a:rPr>
              <a:t> dan </a:t>
            </a:r>
            <a:r>
              <a:rPr lang="en-ID" sz="2400" dirty="0" err="1">
                <a:latin typeface="Telegraf" panose="020B0604020202020204" charset="0"/>
              </a:rPr>
              <a:t>melaksanakan</a:t>
            </a:r>
            <a:r>
              <a:rPr lang="en-ID" sz="2400" dirty="0">
                <a:latin typeface="Telegraf" panose="020B0604020202020204" charset="0"/>
              </a:rPr>
              <a:t> </a:t>
            </a:r>
            <a:r>
              <a:rPr lang="en-ID" sz="2400" dirty="0" err="1">
                <a:latin typeface="Telegraf" panose="020B0604020202020204" charset="0"/>
              </a:rPr>
              <a:t>pemberian</a:t>
            </a:r>
            <a:r>
              <a:rPr lang="en-ID" sz="2400" dirty="0">
                <a:latin typeface="Telegraf" panose="020B0604020202020204" charset="0"/>
              </a:rPr>
              <a:t> </a:t>
            </a:r>
            <a:r>
              <a:rPr lang="en-ID" sz="2400" dirty="0" err="1">
                <a:latin typeface="Telegraf" panose="020B0604020202020204" charset="0"/>
              </a:rPr>
              <a:t>sanksi</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menimbulkan</a:t>
            </a:r>
            <a:r>
              <a:rPr lang="en-ID" sz="2400" dirty="0">
                <a:latin typeface="Telegraf" panose="020B0604020202020204" charset="0"/>
              </a:rPr>
              <a:t> </a:t>
            </a:r>
            <a:r>
              <a:rPr lang="en-ID" sz="2400" dirty="0" err="1">
                <a:latin typeface="Telegraf" panose="020B0604020202020204" charset="0"/>
              </a:rPr>
              <a:t>efek</a:t>
            </a:r>
            <a:r>
              <a:rPr lang="en-ID" sz="2400" dirty="0">
                <a:latin typeface="Telegraf" panose="020B0604020202020204" charset="0"/>
              </a:rPr>
              <a:t> </a:t>
            </a:r>
            <a:r>
              <a:rPr lang="en-ID" sz="2400" dirty="0" err="1">
                <a:latin typeface="Telegraf" panose="020B0604020202020204" charset="0"/>
              </a:rPr>
              <a:t>jera</a:t>
            </a:r>
            <a:r>
              <a:rPr lang="en-ID" sz="2400" dirty="0">
                <a:latin typeface="Telegraf" panose="020B0604020202020204" charset="0"/>
              </a:rPr>
              <a:t> </a:t>
            </a:r>
            <a:r>
              <a:rPr lang="en-ID" sz="2400" dirty="0" err="1">
                <a:latin typeface="Telegraf" panose="020B0604020202020204" charset="0"/>
              </a:rPr>
              <a:t>kepada</a:t>
            </a:r>
            <a:r>
              <a:rPr lang="en-ID" sz="2400" dirty="0">
                <a:latin typeface="Telegraf" panose="020B0604020202020204" charset="0"/>
              </a:rPr>
              <a:t> </a:t>
            </a:r>
            <a:r>
              <a:rPr lang="en-ID" sz="2400" dirty="0" err="1">
                <a:latin typeface="Telegraf" panose="020B0604020202020204" charset="0"/>
              </a:rPr>
              <a:t>pelaku</a:t>
            </a:r>
            <a:r>
              <a:rPr lang="en-ID" sz="2400" dirty="0">
                <a:latin typeface="Telegraf" panose="020B0604020202020204" charset="0"/>
              </a:rPr>
              <a:t> </a:t>
            </a:r>
            <a:r>
              <a:rPr lang="en-ID" sz="2400" dirty="0" err="1">
                <a:latin typeface="Telegraf" panose="020B0604020202020204" charset="0"/>
              </a:rPr>
              <a:t>kecurangan</a:t>
            </a:r>
            <a:r>
              <a:rPr lang="en-ID" sz="2400" dirty="0">
                <a:latin typeface="Telegraf" panose="020B0604020202020204" charset="0"/>
              </a:rPr>
              <a:t>				</a:t>
            </a:r>
          </a:p>
          <a:p>
            <a:pPr marL="457200" indent="-457200">
              <a:buFont typeface="+mj-lt"/>
              <a:buAutoNum type="alphaLcPeriod" startAt="4"/>
            </a:pPr>
            <a:r>
              <a:rPr lang="en-ID" sz="2400" dirty="0" err="1">
                <a:latin typeface="Telegraf" panose="020B0604020202020204" charset="0"/>
              </a:rPr>
              <a:t>Pemantauan</a:t>
            </a:r>
            <a:r>
              <a:rPr lang="en-ID" sz="2400" dirty="0">
                <a:latin typeface="Telegraf" panose="020B0604020202020204" charset="0"/>
              </a:rPr>
              <a:t>, </a:t>
            </a:r>
            <a:r>
              <a:rPr lang="en-ID" sz="2400" dirty="0" err="1">
                <a:latin typeface="Telegraf" panose="020B0604020202020204" charset="0"/>
              </a:rPr>
              <a:t>Evaluasi</a:t>
            </a:r>
            <a:r>
              <a:rPr lang="en-ID" sz="2400" dirty="0">
                <a:latin typeface="Telegraf" panose="020B0604020202020204" charset="0"/>
              </a:rPr>
              <a:t> dan </a:t>
            </a:r>
            <a:r>
              <a:rPr lang="en-ID" sz="2400" dirty="0" err="1">
                <a:latin typeface="Telegraf" panose="020B0604020202020204" charset="0"/>
              </a:rPr>
              <a:t>Tindak</a:t>
            </a:r>
            <a:r>
              <a:rPr lang="en-ID" sz="2400" dirty="0">
                <a:latin typeface="Telegraf" panose="020B0604020202020204" charset="0"/>
              </a:rPr>
              <a:t> </a:t>
            </a:r>
            <a:r>
              <a:rPr lang="en-ID" sz="2400" dirty="0" err="1">
                <a:latin typeface="Telegraf" panose="020B0604020202020204" charset="0"/>
              </a:rPr>
              <a:t>Lanjut</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melakukan</a:t>
            </a:r>
            <a:r>
              <a:rPr lang="en-ID" sz="2400" dirty="0">
                <a:latin typeface="Telegraf" panose="020B0604020202020204" charset="0"/>
              </a:rPr>
              <a:t> </a:t>
            </a:r>
            <a:r>
              <a:rPr lang="en-ID" sz="2400" dirty="0" err="1">
                <a:latin typeface="Telegraf" panose="020B0604020202020204" charset="0"/>
              </a:rPr>
              <a:t>evaluasi</a:t>
            </a:r>
            <a:r>
              <a:rPr lang="en-ID" sz="2400" dirty="0">
                <a:latin typeface="Telegraf" panose="020B0604020202020204" charset="0"/>
              </a:rPr>
              <a:t> </a:t>
            </a:r>
            <a:r>
              <a:rPr lang="en-ID" sz="2400" dirty="0" err="1">
                <a:latin typeface="Telegraf" panose="020B0604020202020204" charset="0"/>
              </a:rPr>
              <a:t>atas</a:t>
            </a:r>
            <a:r>
              <a:rPr lang="en-ID" sz="2400" dirty="0">
                <a:latin typeface="Telegraf" panose="020B0604020202020204" charset="0"/>
              </a:rPr>
              <a:t> </a:t>
            </a:r>
            <a:r>
              <a:rPr lang="en-ID" sz="2400" dirty="0" err="1">
                <a:latin typeface="Telegraf" panose="020B0604020202020204" charset="0"/>
              </a:rPr>
              <a:t>efektivitas</a:t>
            </a:r>
            <a:r>
              <a:rPr lang="en-ID" sz="2400" dirty="0">
                <a:latin typeface="Telegraf" panose="020B0604020202020204" charset="0"/>
              </a:rPr>
              <a:t> </a:t>
            </a:r>
            <a:r>
              <a:rPr lang="en-ID" sz="2400" dirty="0" err="1">
                <a:latin typeface="Telegraf" panose="020B0604020202020204" charset="0"/>
              </a:rPr>
              <a:t>operasional</a:t>
            </a:r>
            <a:r>
              <a:rPr lang="en-ID" sz="2400" dirty="0">
                <a:latin typeface="Telegraf" panose="020B0604020202020204" charset="0"/>
              </a:rPr>
              <a:t> yang </a:t>
            </a:r>
            <a:r>
              <a:rPr lang="en-ID" sz="2400" dirty="0" err="1">
                <a:latin typeface="Telegraf" panose="020B0604020202020204" charset="0"/>
              </a:rPr>
              <a:t>berpotensi</a:t>
            </a:r>
            <a:r>
              <a:rPr lang="en-ID" sz="2400" dirty="0">
                <a:latin typeface="Telegraf" panose="020B0604020202020204" charset="0"/>
              </a:rPr>
              <a:t> </a:t>
            </a:r>
            <a:r>
              <a:rPr lang="en-ID" sz="2400" dirty="0" err="1">
                <a:latin typeface="Telegraf" panose="020B0604020202020204" charset="0"/>
              </a:rPr>
              <a:t>adanya</a:t>
            </a:r>
            <a:r>
              <a:rPr lang="en-ID" sz="2400" dirty="0">
                <a:latin typeface="Telegraf" panose="020B0604020202020204" charset="0"/>
              </a:rPr>
              <a:t> </a:t>
            </a:r>
            <a:r>
              <a:rPr lang="en-ID" sz="2400" dirty="0" err="1">
                <a:latin typeface="Telegraf" panose="020B0604020202020204" charset="0"/>
              </a:rPr>
              <a:t>kecurangan</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menentukan</a:t>
            </a:r>
            <a:r>
              <a:rPr lang="en-ID" sz="2400" dirty="0">
                <a:latin typeface="Telegraf" panose="020B0604020202020204" charset="0"/>
              </a:rPr>
              <a:t> </a:t>
            </a:r>
            <a:r>
              <a:rPr lang="en-ID" sz="2400" dirty="0" err="1">
                <a:latin typeface="Telegraf" panose="020B0604020202020204" charset="0"/>
              </a:rPr>
              <a:t>langkah</a:t>
            </a:r>
            <a:r>
              <a:rPr lang="en-ID" sz="2400" dirty="0">
                <a:latin typeface="Telegraf" panose="020B0604020202020204" charset="0"/>
              </a:rPr>
              <a:t> </a:t>
            </a:r>
            <a:r>
              <a:rPr lang="en-ID" sz="2400" dirty="0" err="1">
                <a:latin typeface="Telegraf" panose="020B0604020202020204" charset="0"/>
              </a:rPr>
              <a:t>perbaikan</a:t>
            </a:r>
            <a:r>
              <a:rPr lang="en-ID" sz="2400" dirty="0">
                <a:latin typeface="Telegraf" panose="020B0604020202020204" charset="0"/>
              </a:rPr>
              <a:t>				</a:t>
            </a:r>
          </a:p>
          <a:p>
            <a:pPr marL="800100" lvl="1" indent="-342900">
              <a:buFont typeface="Arial" panose="020B0604020202020204" pitchFamily="34" charset="0"/>
              <a:buChar char="•"/>
            </a:pPr>
            <a:r>
              <a:rPr lang="en-ID" sz="2400" dirty="0" err="1">
                <a:latin typeface="Telegraf" panose="020B0604020202020204" charset="0"/>
              </a:rPr>
              <a:t>mengambil</a:t>
            </a:r>
            <a:r>
              <a:rPr lang="en-ID" sz="2400" dirty="0">
                <a:latin typeface="Telegraf" panose="020B0604020202020204" charset="0"/>
              </a:rPr>
              <a:t> </a:t>
            </a:r>
            <a:r>
              <a:rPr lang="en-ID" sz="2400" dirty="0" err="1">
                <a:latin typeface="Telegraf" panose="020B0604020202020204" charset="0"/>
              </a:rPr>
              <a:t>tindakan</a:t>
            </a:r>
            <a:r>
              <a:rPr lang="en-ID" sz="2400" dirty="0">
                <a:latin typeface="Telegraf" panose="020B0604020202020204" charset="0"/>
              </a:rPr>
              <a:t> </a:t>
            </a:r>
            <a:r>
              <a:rPr lang="en-ID" sz="2400" dirty="0" err="1">
                <a:latin typeface="Telegraf" panose="020B0604020202020204" charset="0"/>
              </a:rPr>
              <a:t>mitigasi</a:t>
            </a:r>
            <a:r>
              <a:rPr lang="en-ID" sz="2400" dirty="0">
                <a:latin typeface="Telegraf" panose="020B0604020202020204" charset="0"/>
              </a:rPr>
              <a:t> </a:t>
            </a:r>
            <a:r>
              <a:rPr lang="en-ID" sz="2400" dirty="0" err="1">
                <a:latin typeface="Telegraf" panose="020B0604020202020204" charset="0"/>
              </a:rPr>
              <a:t>risiko</a:t>
            </a:r>
            <a:r>
              <a:rPr lang="en-ID" sz="2400" dirty="0">
                <a:latin typeface="Telegraf" panose="020B0604020202020204" charset="0"/>
              </a:rPr>
              <a:t> yang </a:t>
            </a:r>
            <a:r>
              <a:rPr lang="en-ID" sz="2400" dirty="0" err="1">
                <a:latin typeface="Telegraf" panose="020B0604020202020204" charset="0"/>
              </a:rPr>
              <a:t>harus</a:t>
            </a:r>
            <a:r>
              <a:rPr lang="en-ID" sz="2400" dirty="0">
                <a:latin typeface="Telegraf" panose="020B0604020202020204" charset="0"/>
              </a:rPr>
              <a:t> </a:t>
            </a:r>
            <a:r>
              <a:rPr lang="en-ID" sz="2400" dirty="0" err="1">
                <a:latin typeface="Telegraf" panose="020B0604020202020204" charset="0"/>
              </a:rPr>
              <a:t>dilakukan</a:t>
            </a:r>
            <a:r>
              <a:rPr lang="en-ID" sz="2400" dirty="0">
                <a:latin typeface="Telegraf" panose="020B0604020202020204" charset="0"/>
              </a:rPr>
              <a:t> </a:t>
            </a:r>
            <a:r>
              <a:rPr lang="en-ID" sz="2400" dirty="0" err="1">
                <a:latin typeface="Telegraf" panose="020B0604020202020204" charset="0"/>
              </a:rPr>
              <a:t>berdasarkan</a:t>
            </a:r>
            <a:r>
              <a:rPr lang="en-ID" sz="2400" dirty="0">
                <a:latin typeface="Telegraf" panose="020B0604020202020204" charset="0"/>
              </a:rPr>
              <a:t> </a:t>
            </a:r>
            <a:r>
              <a:rPr lang="en-ID" sz="2400" dirty="0" err="1">
                <a:latin typeface="Telegraf" panose="020B0604020202020204" charset="0"/>
              </a:rPr>
              <a:t>hasil</a:t>
            </a:r>
            <a:r>
              <a:rPr lang="en-ID" sz="2400" dirty="0">
                <a:latin typeface="Telegraf" panose="020B0604020202020204" charset="0"/>
              </a:rPr>
              <a:t> </a:t>
            </a:r>
            <a:r>
              <a:rPr lang="en-ID" sz="2400" dirty="0" err="1">
                <a:latin typeface="Telegraf" panose="020B0604020202020204" charset="0"/>
              </a:rPr>
              <a:t>evaluasi</a:t>
            </a:r>
            <a:r>
              <a:rPr lang="en-ID" sz="2400" dirty="0">
                <a:latin typeface="Telegraf" panose="020B0604020202020204" charset="0"/>
              </a:rPr>
              <a:t>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mencegah</a:t>
            </a:r>
            <a:r>
              <a:rPr lang="en-ID" sz="2400" dirty="0">
                <a:latin typeface="Telegraf" panose="020B0604020202020204" charset="0"/>
              </a:rPr>
              <a:t> </a:t>
            </a:r>
            <a:r>
              <a:rPr lang="en-ID" sz="2400" dirty="0" err="1">
                <a:latin typeface="Telegraf" panose="020B0604020202020204" charset="0"/>
              </a:rPr>
              <a:t>terulangnya</a:t>
            </a:r>
            <a:r>
              <a:rPr lang="en-ID" sz="2400" dirty="0">
                <a:latin typeface="Telegraf" panose="020B0604020202020204" charset="0"/>
              </a:rPr>
              <a:t> </a:t>
            </a:r>
            <a:r>
              <a:rPr lang="en-ID" sz="2400" dirty="0" err="1">
                <a:latin typeface="Telegraf" panose="020B0604020202020204" charset="0"/>
              </a:rPr>
              <a:t>kembali</a:t>
            </a:r>
            <a:r>
              <a:rPr lang="en-ID" sz="2400" dirty="0">
                <a:latin typeface="Telegraf" panose="020B0604020202020204" charset="0"/>
              </a:rPr>
              <a:t> </a:t>
            </a:r>
            <a:r>
              <a:rPr lang="en-ID" sz="2400" dirty="0" err="1">
                <a:latin typeface="Telegraf" panose="020B0604020202020204" charset="0"/>
              </a:rPr>
              <a:t>kejadian</a:t>
            </a:r>
            <a:r>
              <a:rPr lang="en-ID" sz="2400" dirty="0">
                <a:latin typeface="Telegraf" panose="020B0604020202020204" charset="0"/>
              </a:rPr>
              <a:t> </a:t>
            </a:r>
            <a:r>
              <a:rPr lang="en-ID" sz="2400" dirty="0" err="1">
                <a:latin typeface="Telegraf" panose="020B0604020202020204" charset="0"/>
              </a:rPr>
              <a:t>kecurangan</a:t>
            </a:r>
            <a:r>
              <a:rPr lang="en-ID" sz="2400" dirty="0">
                <a:latin typeface="Telegraf" panose="020B0604020202020204" charset="0"/>
              </a:rPr>
              <a:t> yang </a:t>
            </a:r>
            <a:r>
              <a:rPr lang="en-ID" sz="2400" dirty="0" err="1">
                <a:latin typeface="Telegraf" panose="020B0604020202020204" charset="0"/>
              </a:rPr>
              <a:t>serupa</a:t>
            </a:r>
            <a:r>
              <a:rPr lang="en-ID" sz="2400" dirty="0">
                <a:latin typeface="Telegraf" panose="020B0604020202020204" charset="0"/>
              </a:rPr>
              <a:t>				</a:t>
            </a:r>
          </a:p>
        </p:txBody>
      </p:sp>
    </p:spTree>
    <p:extLst>
      <p:ext uri="{BB962C8B-B14F-4D97-AF65-F5344CB8AC3E}">
        <p14:creationId xmlns:p14="http://schemas.microsoft.com/office/powerpoint/2010/main" val="3438914055"/>
      </p:ext>
    </p:extLst>
  </p:cSld>
  <p:clrMapOvr>
    <a:masterClrMapping/>
  </p:clrMapOvr>
  <p:transition spd="slow">
    <p:cov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819014" y="2108913"/>
            <a:ext cx="7581453" cy="6630325"/>
          </a:xfrm>
          <a:prstGeom prst="rect">
            <a:avLst/>
          </a:prstGeom>
        </p:spPr>
      </p:pic>
      <p:sp>
        <p:nvSpPr>
          <p:cNvPr id="4" name="TextBox 4"/>
          <p:cNvSpPr txBox="1"/>
          <p:nvPr/>
        </p:nvSpPr>
        <p:spPr>
          <a:xfrm>
            <a:off x="976423" y="136426"/>
            <a:ext cx="9910764" cy="638175"/>
          </a:xfrm>
          <a:prstGeom prst="rect">
            <a:avLst/>
          </a:prstGeom>
        </p:spPr>
        <p:txBody>
          <a:bodyPr lIns="0" tIns="0" rIns="0" bIns="0" rtlCol="0" anchor="t">
            <a:spAutoFit/>
          </a:bodyPr>
          <a:lstStyle/>
          <a:p>
            <a:pPr>
              <a:lnSpc>
                <a:spcPts val="5040"/>
              </a:lnSpc>
            </a:pPr>
            <a:r>
              <a:rPr lang="en-US" sz="4200" dirty="0" err="1">
                <a:solidFill>
                  <a:srgbClr val="000000"/>
                </a:solidFill>
                <a:latin typeface="DM Sans Bold"/>
              </a:rPr>
              <a:t>Komite</a:t>
            </a:r>
            <a:r>
              <a:rPr lang="en-US" sz="4200" dirty="0">
                <a:solidFill>
                  <a:srgbClr val="000000"/>
                </a:solidFill>
                <a:latin typeface="DM Sans Bold"/>
              </a:rPr>
              <a:t>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dirty="0">
                <a:solidFill>
                  <a:srgbClr val="191919"/>
                </a:solidFill>
                <a:latin typeface="Open Sauce SemiBold Bold"/>
              </a:rPr>
              <a:t>43</a:t>
            </a:r>
          </a:p>
        </p:txBody>
      </p:sp>
      <p:sp>
        <p:nvSpPr>
          <p:cNvPr id="8" name="TextBox 7">
            <a:extLst>
              <a:ext uri="{FF2B5EF4-FFF2-40B4-BE49-F238E27FC236}">
                <a16:creationId xmlns:a16="http://schemas.microsoft.com/office/drawing/2014/main" id="{832EC7A7-45F5-4CE6-A378-C70586AA5BED}"/>
              </a:ext>
            </a:extLst>
          </p:cNvPr>
          <p:cNvSpPr txBox="1"/>
          <p:nvPr/>
        </p:nvSpPr>
        <p:spPr>
          <a:xfrm>
            <a:off x="976423" y="1173666"/>
            <a:ext cx="13425377" cy="8586966"/>
          </a:xfrm>
          <a:prstGeom prst="rect">
            <a:avLst/>
          </a:prstGeom>
          <a:noFill/>
        </p:spPr>
        <p:txBody>
          <a:bodyPr wrap="square">
            <a:spAutoFit/>
          </a:bodyPr>
          <a:lstStyle/>
          <a:p>
            <a:r>
              <a:rPr lang="en-ID" sz="2800" b="1" dirty="0" err="1">
                <a:latin typeface="Telegraf" panose="020B0604020202020204" charset="0"/>
              </a:rPr>
              <a:t>Wewenang</a:t>
            </a:r>
            <a:r>
              <a:rPr lang="en-ID" sz="2800" b="1" dirty="0">
                <a:latin typeface="Telegraf" panose="020B0604020202020204" charset="0"/>
              </a:rPr>
              <a:t> </a:t>
            </a:r>
          </a:p>
          <a:p>
            <a:endParaRPr lang="en-ID" sz="2400" dirty="0">
              <a:latin typeface="Telegraf" panose="020B0604020202020204" charset="0"/>
            </a:endParaRPr>
          </a:p>
          <a:p>
            <a:r>
              <a:rPr lang="en-ID" sz="2400" dirty="0" err="1">
                <a:latin typeface="Telegraf" panose="020B0604020202020204" charset="0"/>
              </a:rPr>
              <a:t>Dalam</a:t>
            </a:r>
            <a:r>
              <a:rPr lang="en-ID" sz="2400" dirty="0">
                <a:latin typeface="Telegraf" panose="020B0604020202020204" charset="0"/>
              </a:rPr>
              <a:t> </a:t>
            </a:r>
            <a:r>
              <a:rPr lang="en-ID" sz="2400" dirty="0" err="1">
                <a:latin typeface="Telegraf" panose="020B0604020202020204" charset="0"/>
              </a:rPr>
              <a:t>melaksanakan</a:t>
            </a:r>
            <a:r>
              <a:rPr lang="en-ID" sz="2400" dirty="0">
                <a:latin typeface="Telegraf" panose="020B0604020202020204" charset="0"/>
              </a:rPr>
              <a:t> </a:t>
            </a:r>
            <a:r>
              <a:rPr lang="en-ID" sz="2400" dirty="0" err="1">
                <a:latin typeface="Telegraf" panose="020B0604020202020204" charset="0"/>
              </a:rPr>
              <a:t>tugasnya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mempunyai</a:t>
            </a:r>
            <a:r>
              <a:rPr lang="en-ID" sz="2400" dirty="0">
                <a:latin typeface="Telegraf" panose="020B0604020202020204" charset="0"/>
              </a:rPr>
              <a:t> </a:t>
            </a:r>
            <a:r>
              <a:rPr lang="en-ID" sz="2400" dirty="0" err="1">
                <a:latin typeface="Telegraf" panose="020B0604020202020204" charset="0"/>
              </a:rPr>
              <a:t>wewenang</a:t>
            </a:r>
            <a:r>
              <a:rPr lang="en-ID" sz="2400" dirty="0">
                <a:latin typeface="Telegraf" panose="020B0604020202020204" charset="0"/>
              </a:rPr>
              <a:t> </a:t>
            </a:r>
            <a:r>
              <a:rPr lang="en-ID" sz="2400" dirty="0" err="1">
                <a:latin typeface="Telegraf" panose="020B0604020202020204" charset="0"/>
              </a:rPr>
              <a:t>sebagai</a:t>
            </a:r>
            <a:r>
              <a:rPr lang="en-ID" sz="2400" dirty="0">
                <a:latin typeface="Telegraf" panose="020B0604020202020204" charset="0"/>
              </a:rPr>
              <a:t> </a:t>
            </a:r>
            <a:r>
              <a:rPr lang="en-ID" sz="2400" dirty="0" err="1">
                <a:latin typeface="Telegraf" panose="020B0604020202020204" charset="0"/>
              </a:rPr>
              <a:t>berikut</a:t>
            </a:r>
            <a:r>
              <a:rPr lang="en-ID" sz="2400" dirty="0">
                <a:latin typeface="Telegraf" panose="020B0604020202020204" charset="0"/>
              </a:rPr>
              <a:t> :</a:t>
            </a:r>
          </a:p>
          <a:p>
            <a:r>
              <a:rPr lang="en-ID" sz="2400" dirty="0">
                <a:latin typeface="Telegraf" panose="020B0604020202020204" charset="0"/>
              </a:rPr>
              <a:t>			</a:t>
            </a:r>
          </a:p>
          <a:p>
            <a:pPr marL="457200" indent="-457200">
              <a:lnSpc>
                <a:spcPct val="200000"/>
              </a:lnSpc>
              <a:buFont typeface="+mj-lt"/>
              <a:buAutoNum type="alphaLcPeriod"/>
            </a:pPr>
            <a:r>
              <a:rPr lang="en-ID" sz="2400" dirty="0" err="1">
                <a:latin typeface="Telegraf" panose="020B0604020202020204" charset="0"/>
              </a:rPr>
              <a:t>mengakses</a:t>
            </a:r>
            <a:r>
              <a:rPr lang="en-ID" sz="2400" dirty="0">
                <a:latin typeface="Telegraf" panose="020B0604020202020204" charset="0"/>
              </a:rPr>
              <a:t> </a:t>
            </a:r>
            <a:r>
              <a:rPr lang="en-ID" sz="2400" dirty="0" err="1">
                <a:latin typeface="Telegraf" panose="020B0604020202020204" charset="0"/>
              </a:rPr>
              <a:t>dokumen</a:t>
            </a:r>
            <a:r>
              <a:rPr lang="en-ID" sz="2400" dirty="0">
                <a:latin typeface="Telegraf" panose="020B0604020202020204" charset="0"/>
              </a:rPr>
              <a:t>, data dan </a:t>
            </a:r>
            <a:r>
              <a:rPr lang="en-ID" sz="2400" dirty="0" err="1">
                <a:latin typeface="Telegraf" panose="020B0604020202020204" charset="0"/>
              </a:rPr>
              <a:t>informasi</a:t>
            </a:r>
            <a:r>
              <a:rPr lang="en-ID" sz="2400" dirty="0">
                <a:latin typeface="Telegraf" panose="020B0604020202020204" charset="0"/>
              </a:rPr>
              <a:t> Perusahaan </a:t>
            </a:r>
            <a:r>
              <a:rPr lang="en-ID" sz="2400" dirty="0" err="1">
                <a:latin typeface="Telegraf" panose="020B0604020202020204" charset="0"/>
              </a:rPr>
              <a:t>tentang</a:t>
            </a:r>
            <a:r>
              <a:rPr lang="en-ID" sz="2400" dirty="0">
                <a:latin typeface="Telegraf" panose="020B0604020202020204" charset="0"/>
              </a:rPr>
              <a:t> </a:t>
            </a:r>
            <a:r>
              <a:rPr lang="en-ID" sz="2400" dirty="0" err="1">
                <a:latin typeface="Telegraf" panose="020B0604020202020204" charset="0"/>
              </a:rPr>
              <a:t>karyawan</a:t>
            </a:r>
            <a:r>
              <a:rPr lang="en-ID" sz="2400" dirty="0">
                <a:latin typeface="Telegraf" panose="020B0604020202020204" charset="0"/>
              </a:rPr>
              <a:t>, dana, </a:t>
            </a:r>
            <a:r>
              <a:rPr lang="en-ID" sz="2400" dirty="0" err="1">
                <a:latin typeface="Telegraf" panose="020B0604020202020204" charset="0"/>
              </a:rPr>
              <a:t>aset</a:t>
            </a:r>
            <a:r>
              <a:rPr lang="en-ID" sz="2400" dirty="0">
                <a:latin typeface="Telegraf" panose="020B0604020202020204" charset="0"/>
              </a:rPr>
              <a:t>, </a:t>
            </a:r>
            <a:r>
              <a:rPr lang="en-ID" sz="2400" dirty="0" err="1">
                <a:latin typeface="Telegraf" panose="020B0604020202020204" charset="0"/>
              </a:rPr>
              <a:t>sumber</a:t>
            </a:r>
            <a:r>
              <a:rPr lang="en-ID" sz="2400" dirty="0">
                <a:latin typeface="Telegraf" panose="020B0604020202020204" charset="0"/>
              </a:rPr>
              <a:t> </a:t>
            </a:r>
            <a:r>
              <a:rPr lang="en-ID" sz="2400" dirty="0" err="1">
                <a:latin typeface="Telegraf" panose="020B0604020202020204" charset="0"/>
              </a:rPr>
              <a:t>daya</a:t>
            </a:r>
            <a:r>
              <a:rPr lang="en-ID" sz="2400" dirty="0">
                <a:latin typeface="Telegraf" panose="020B0604020202020204" charset="0"/>
              </a:rPr>
              <a:t> Perusahaan yang </a:t>
            </a:r>
            <a:r>
              <a:rPr lang="en-ID" sz="2400" dirty="0" err="1">
                <a:latin typeface="Telegraf" panose="020B0604020202020204" charset="0"/>
              </a:rPr>
              <a:t>diperlukan</a:t>
            </a:r>
            <a:r>
              <a:rPr lang="en-ID" sz="2400" dirty="0">
                <a:latin typeface="Telegraf" panose="020B0604020202020204" charset="0"/>
              </a:rPr>
              <a:t>. 				</a:t>
            </a:r>
          </a:p>
          <a:p>
            <a:pPr marL="457200" indent="-457200">
              <a:lnSpc>
                <a:spcPct val="200000"/>
              </a:lnSpc>
              <a:buFont typeface="+mj-lt"/>
              <a:buAutoNum type="alphaLcPeriod"/>
            </a:pPr>
            <a:r>
              <a:rPr lang="en-ID" sz="2400" dirty="0" err="1">
                <a:latin typeface="Telegraf" panose="020B0604020202020204" charset="0"/>
              </a:rPr>
              <a:t>berkomunikasi</a:t>
            </a:r>
            <a:r>
              <a:rPr lang="en-ID" sz="2400" dirty="0">
                <a:latin typeface="Telegraf" panose="020B0604020202020204" charset="0"/>
              </a:rPr>
              <a:t> </a:t>
            </a:r>
            <a:r>
              <a:rPr lang="en-ID" sz="2400" dirty="0" err="1">
                <a:latin typeface="Telegraf" panose="020B0604020202020204" charset="0"/>
              </a:rPr>
              <a:t>langsung</a:t>
            </a:r>
            <a:r>
              <a:rPr lang="en-ID" sz="2400" dirty="0">
                <a:latin typeface="Telegraf" panose="020B0604020202020204" charset="0"/>
              </a:rPr>
              <a:t> </a:t>
            </a:r>
            <a:r>
              <a:rPr lang="en-ID" sz="2400" dirty="0" err="1">
                <a:latin typeface="Telegraf" panose="020B0604020202020204" charset="0"/>
              </a:rPr>
              <a:t>dengan</a:t>
            </a:r>
            <a:r>
              <a:rPr lang="en-ID" sz="2400" dirty="0">
                <a:latin typeface="Telegraf" panose="020B0604020202020204" charset="0"/>
              </a:rPr>
              <a:t> </a:t>
            </a:r>
            <a:r>
              <a:rPr lang="en-ID" sz="2400" dirty="0" err="1">
                <a:latin typeface="Telegraf" panose="020B0604020202020204" charset="0"/>
              </a:rPr>
              <a:t>karyawan</a:t>
            </a:r>
            <a:r>
              <a:rPr lang="en-ID" sz="2400" dirty="0">
                <a:latin typeface="Telegraf" panose="020B0604020202020204" charset="0"/>
              </a:rPr>
              <a:t>, </a:t>
            </a:r>
            <a:r>
              <a:rPr lang="en-ID" sz="2400" dirty="0" err="1">
                <a:latin typeface="Telegraf" panose="020B0604020202020204" charset="0"/>
              </a:rPr>
              <a:t>termasuk</a:t>
            </a:r>
            <a:r>
              <a:rPr lang="en-ID" sz="2400" dirty="0">
                <a:latin typeface="Telegraf" panose="020B0604020202020204" charset="0"/>
              </a:rPr>
              <a:t> </a:t>
            </a:r>
            <a:r>
              <a:rPr lang="en-ID" sz="2400" dirty="0" err="1">
                <a:latin typeface="Telegraf" panose="020B0604020202020204" charset="0"/>
              </a:rPr>
              <a:t>Direksi</a:t>
            </a:r>
            <a:r>
              <a:rPr lang="en-ID" sz="2400" dirty="0">
                <a:latin typeface="Telegraf" panose="020B0604020202020204" charset="0"/>
              </a:rPr>
              <a:t> dan </a:t>
            </a:r>
            <a:r>
              <a:rPr lang="en-ID" sz="2400" dirty="0" err="1">
                <a:latin typeface="Telegraf" panose="020B0604020202020204" charset="0"/>
              </a:rPr>
              <a:t>pihak</a:t>
            </a:r>
            <a:r>
              <a:rPr lang="en-ID" sz="2400" dirty="0">
                <a:latin typeface="Telegraf" panose="020B0604020202020204" charset="0"/>
              </a:rPr>
              <a:t> yang </a:t>
            </a:r>
            <a:r>
              <a:rPr lang="en-ID" sz="2400" dirty="0" err="1">
                <a:latin typeface="Telegraf" panose="020B0604020202020204" charset="0"/>
              </a:rPr>
              <a:t>menjalankan</a:t>
            </a:r>
            <a:r>
              <a:rPr lang="en-ID" sz="2400" dirty="0">
                <a:latin typeface="Telegraf" panose="020B0604020202020204" charset="0"/>
              </a:rPr>
              <a:t> </a:t>
            </a:r>
            <a:r>
              <a:rPr lang="en-ID" sz="2400" dirty="0" err="1">
                <a:latin typeface="Telegraf" panose="020B0604020202020204" charset="0"/>
              </a:rPr>
              <a:t>fungsi</a:t>
            </a:r>
            <a:r>
              <a:rPr lang="en-ID" sz="2400" dirty="0">
                <a:latin typeface="Telegraf" panose="020B0604020202020204" charset="0"/>
              </a:rPr>
              <a:t> </a:t>
            </a:r>
            <a:r>
              <a:rPr lang="en-ID" sz="2400" dirty="0" err="1">
                <a:latin typeface="Telegraf" panose="020B0604020202020204" charset="0"/>
              </a:rPr>
              <a:t>pengawasan</a:t>
            </a:r>
            <a:r>
              <a:rPr lang="en-ID" sz="2400" dirty="0">
                <a:latin typeface="Telegraf" panose="020B0604020202020204" charset="0"/>
              </a:rPr>
              <a:t> </a:t>
            </a:r>
            <a:r>
              <a:rPr lang="en-ID" sz="2400" dirty="0" err="1">
                <a:latin typeface="Telegraf" panose="020B0604020202020204" charset="0"/>
              </a:rPr>
              <a:t>terhadap</a:t>
            </a:r>
            <a:r>
              <a:rPr lang="en-ID" sz="2400" dirty="0">
                <a:latin typeface="Telegraf" panose="020B0604020202020204" charset="0"/>
              </a:rPr>
              <a:t> Fraud</a:t>
            </a:r>
          </a:p>
          <a:p>
            <a:pPr marL="457200" indent="-457200">
              <a:lnSpc>
                <a:spcPct val="200000"/>
              </a:lnSpc>
              <a:buFont typeface="+mj-lt"/>
              <a:buAutoNum type="alphaLcPeriod"/>
            </a:pPr>
            <a:r>
              <a:rPr lang="en-ID" sz="2400" dirty="0" err="1">
                <a:latin typeface="Telegraf" panose="020B0604020202020204" charset="0"/>
              </a:rPr>
              <a:t>melibatkan</a:t>
            </a:r>
            <a:r>
              <a:rPr lang="en-ID" sz="2400" dirty="0">
                <a:latin typeface="Telegraf" panose="020B0604020202020204" charset="0"/>
              </a:rPr>
              <a:t> </a:t>
            </a:r>
            <a:r>
              <a:rPr lang="en-ID" sz="2400" dirty="0" err="1">
                <a:latin typeface="Telegraf" panose="020B0604020202020204" charset="0"/>
              </a:rPr>
              <a:t>pihak</a:t>
            </a:r>
            <a:r>
              <a:rPr lang="en-ID" sz="2400" dirty="0">
                <a:latin typeface="Telegraf" panose="020B0604020202020204" charset="0"/>
              </a:rPr>
              <a:t> </a:t>
            </a:r>
            <a:r>
              <a:rPr lang="en-ID" sz="2400" dirty="0" err="1">
                <a:latin typeface="Telegraf" panose="020B0604020202020204" charset="0"/>
              </a:rPr>
              <a:t>independen</a:t>
            </a:r>
            <a:r>
              <a:rPr lang="en-ID" sz="2400" dirty="0">
                <a:latin typeface="Telegraf" panose="020B0604020202020204" charset="0"/>
              </a:rPr>
              <a:t> di </a:t>
            </a:r>
            <a:r>
              <a:rPr lang="en-ID" sz="2400" dirty="0" err="1">
                <a:latin typeface="Telegraf" panose="020B0604020202020204" charset="0"/>
              </a:rPr>
              <a:t>luar</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untuk</a:t>
            </a:r>
            <a:r>
              <a:rPr lang="en-ID" sz="2400" dirty="0">
                <a:latin typeface="Telegraf" panose="020B0604020202020204" charset="0"/>
              </a:rPr>
              <a:t> </a:t>
            </a:r>
            <a:r>
              <a:rPr lang="en-ID" sz="2400" dirty="0" err="1">
                <a:latin typeface="Telegraf" panose="020B0604020202020204" charset="0"/>
              </a:rPr>
              <a:t>membantu</a:t>
            </a:r>
            <a:r>
              <a:rPr lang="en-ID" sz="2400" dirty="0">
                <a:latin typeface="Telegraf" panose="020B0604020202020204" charset="0"/>
              </a:rPr>
              <a:t> </a:t>
            </a:r>
            <a:r>
              <a:rPr lang="en-ID" sz="2400" dirty="0" err="1">
                <a:latin typeface="Telegraf" panose="020B0604020202020204" charset="0"/>
              </a:rPr>
              <a:t>pelaksanaan</a:t>
            </a:r>
            <a:r>
              <a:rPr lang="en-ID" sz="2400" dirty="0">
                <a:latin typeface="Telegraf" panose="020B0604020202020204" charset="0"/>
              </a:rPr>
              <a:t> </a:t>
            </a:r>
            <a:r>
              <a:rPr lang="en-ID" sz="2400" dirty="0" err="1">
                <a:latin typeface="Telegraf" panose="020B0604020202020204" charset="0"/>
              </a:rPr>
              <a:t>tugasnya</a:t>
            </a:r>
            <a:r>
              <a:rPr lang="en-ID" sz="2400" dirty="0">
                <a:latin typeface="Telegraf" panose="020B0604020202020204" charset="0"/>
              </a:rPr>
              <a:t> (</a:t>
            </a:r>
            <a:r>
              <a:rPr lang="en-ID" sz="2400" dirty="0" err="1">
                <a:latin typeface="Telegraf" panose="020B0604020202020204" charset="0"/>
              </a:rPr>
              <a:t>jika</a:t>
            </a:r>
            <a:r>
              <a:rPr lang="en-ID" sz="2400" dirty="0">
                <a:latin typeface="Telegraf" panose="020B0604020202020204" charset="0"/>
              </a:rPr>
              <a:t> </a:t>
            </a:r>
            <a:r>
              <a:rPr lang="en-ID" sz="2400" dirty="0" err="1">
                <a:latin typeface="Telegraf" panose="020B0604020202020204" charset="0"/>
              </a:rPr>
              <a:t>diperlukan</a:t>
            </a:r>
            <a:r>
              <a:rPr lang="en-ID" sz="2400" dirty="0">
                <a:latin typeface="Telegraf" panose="020B0604020202020204" charset="0"/>
              </a:rPr>
              <a:t>) 		</a:t>
            </a:r>
          </a:p>
          <a:p>
            <a:pPr marL="457200" indent="-457200">
              <a:lnSpc>
                <a:spcPct val="200000"/>
              </a:lnSpc>
              <a:buFont typeface="+mj-lt"/>
              <a:buAutoNum type="alphaLcPeriod"/>
            </a:pPr>
            <a:r>
              <a:rPr lang="en-ID" sz="2400" dirty="0" err="1">
                <a:latin typeface="Telegraf" panose="020B0604020202020204" charset="0"/>
              </a:rPr>
              <a:t>melakukan</a:t>
            </a:r>
            <a:r>
              <a:rPr lang="en-ID" sz="2400" dirty="0">
                <a:latin typeface="Telegraf" panose="020B0604020202020204" charset="0"/>
              </a:rPr>
              <a:t> </a:t>
            </a:r>
            <a:r>
              <a:rPr lang="en-ID" sz="2400" dirty="0" err="1">
                <a:latin typeface="Telegraf" panose="020B0604020202020204" charset="0"/>
              </a:rPr>
              <a:t>kewenangan</a:t>
            </a:r>
            <a:r>
              <a:rPr lang="en-ID" sz="2400" dirty="0">
                <a:latin typeface="Telegraf" panose="020B0604020202020204" charset="0"/>
              </a:rPr>
              <a:t> lain yang </a:t>
            </a:r>
            <a:r>
              <a:rPr lang="en-ID" sz="2400" dirty="0" err="1">
                <a:latin typeface="Telegraf" panose="020B0604020202020204" charset="0"/>
              </a:rPr>
              <a:t>diberikan</a:t>
            </a:r>
            <a:r>
              <a:rPr lang="en-ID" sz="2400" dirty="0">
                <a:latin typeface="Telegraf" panose="020B0604020202020204" charset="0"/>
              </a:rPr>
              <a:t> oleh </a:t>
            </a:r>
            <a:r>
              <a:rPr lang="en-ID" sz="2400" dirty="0" err="1">
                <a:latin typeface="Telegraf" panose="020B0604020202020204" charset="0"/>
              </a:rPr>
              <a:t>Direksi</a:t>
            </a:r>
            <a:r>
              <a:rPr lang="en-ID" sz="2400" dirty="0">
                <a:latin typeface="Telegraf" panose="020B0604020202020204" charset="0"/>
              </a:rPr>
              <a:t>		</a:t>
            </a:r>
          </a:p>
          <a:p>
            <a:pPr>
              <a:lnSpc>
                <a:spcPct val="200000"/>
              </a:lnSpc>
            </a:pPr>
            <a:r>
              <a:rPr lang="en-ID" sz="2400" dirty="0">
                <a:latin typeface="Telegraf" panose="020B0604020202020204" charset="0"/>
              </a:rPr>
              <a:t>			</a:t>
            </a:r>
          </a:p>
          <a:p>
            <a:endParaRPr lang="en-ID" sz="2400" dirty="0">
              <a:latin typeface="Telegraf" panose="020B0604020202020204" charset="0"/>
            </a:endParaRPr>
          </a:p>
          <a:p>
            <a:pPr marL="457200" indent="-457200">
              <a:buFont typeface="+mj-lt"/>
              <a:buAutoNum type="alphaLcPeriod"/>
            </a:pPr>
            <a:endParaRPr lang="en-ID" sz="2400" dirty="0">
              <a:latin typeface="Telegraf" panose="020B0604020202020204" charset="0"/>
            </a:endParaRPr>
          </a:p>
          <a:p>
            <a:r>
              <a:rPr lang="en-ID" sz="2400" dirty="0">
                <a:latin typeface="Telegraf" panose="020B0604020202020204" charset="0"/>
              </a:rPr>
              <a:t>				</a:t>
            </a:r>
          </a:p>
        </p:txBody>
      </p:sp>
    </p:spTree>
    <p:extLst>
      <p:ext uri="{BB962C8B-B14F-4D97-AF65-F5344CB8AC3E}">
        <p14:creationId xmlns:p14="http://schemas.microsoft.com/office/powerpoint/2010/main" val="793445287"/>
      </p:ext>
    </p:extLst>
  </p:cSld>
  <p:clrMapOvr>
    <a:masterClrMapping/>
  </p:clrMapOvr>
  <p:transition spd="slow">
    <p:cov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819014" y="2108913"/>
            <a:ext cx="7581453" cy="6630325"/>
          </a:xfrm>
          <a:prstGeom prst="rect">
            <a:avLst/>
          </a:prstGeom>
        </p:spPr>
      </p:pic>
      <p:sp>
        <p:nvSpPr>
          <p:cNvPr id="4" name="TextBox 4"/>
          <p:cNvSpPr txBox="1"/>
          <p:nvPr/>
        </p:nvSpPr>
        <p:spPr>
          <a:xfrm>
            <a:off x="976423" y="136426"/>
            <a:ext cx="9910764" cy="638175"/>
          </a:xfrm>
          <a:prstGeom prst="rect">
            <a:avLst/>
          </a:prstGeom>
        </p:spPr>
        <p:txBody>
          <a:bodyPr lIns="0" tIns="0" rIns="0" bIns="0" rtlCol="0" anchor="t">
            <a:spAutoFit/>
          </a:bodyPr>
          <a:lstStyle/>
          <a:p>
            <a:pPr>
              <a:lnSpc>
                <a:spcPts val="5040"/>
              </a:lnSpc>
            </a:pPr>
            <a:r>
              <a:rPr lang="en-US" sz="4200" dirty="0" err="1">
                <a:solidFill>
                  <a:srgbClr val="000000"/>
                </a:solidFill>
                <a:latin typeface="DM Sans Bold"/>
              </a:rPr>
              <a:t>Komite</a:t>
            </a:r>
            <a:r>
              <a:rPr lang="en-US" sz="4200" dirty="0">
                <a:solidFill>
                  <a:srgbClr val="000000"/>
                </a:solidFill>
                <a:latin typeface="DM Sans Bold"/>
              </a:rPr>
              <a:t>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dirty="0">
                <a:solidFill>
                  <a:srgbClr val="191919"/>
                </a:solidFill>
                <a:latin typeface="Open Sauce SemiBold Bold"/>
              </a:rPr>
              <a:t>44</a:t>
            </a:r>
          </a:p>
        </p:txBody>
      </p:sp>
      <p:sp>
        <p:nvSpPr>
          <p:cNvPr id="8" name="TextBox 7">
            <a:extLst>
              <a:ext uri="{FF2B5EF4-FFF2-40B4-BE49-F238E27FC236}">
                <a16:creationId xmlns:a16="http://schemas.microsoft.com/office/drawing/2014/main" id="{832EC7A7-45F5-4CE6-A378-C70586AA5BED}"/>
              </a:ext>
            </a:extLst>
          </p:cNvPr>
          <p:cNvSpPr txBox="1"/>
          <p:nvPr/>
        </p:nvSpPr>
        <p:spPr>
          <a:xfrm>
            <a:off x="976423" y="1525611"/>
            <a:ext cx="13425377" cy="6740307"/>
          </a:xfrm>
          <a:prstGeom prst="rect">
            <a:avLst/>
          </a:prstGeom>
          <a:noFill/>
        </p:spPr>
        <p:txBody>
          <a:bodyPr wrap="square">
            <a:spAutoFit/>
          </a:bodyPr>
          <a:lstStyle/>
          <a:p>
            <a:r>
              <a:rPr lang="en-ID" sz="2800" b="1" dirty="0" err="1">
                <a:latin typeface="Telegraf" panose="020B0604020202020204" charset="0"/>
              </a:rPr>
              <a:t>Komposisi</a:t>
            </a:r>
            <a:r>
              <a:rPr lang="en-ID" sz="2800" b="1" dirty="0">
                <a:latin typeface="Telegraf" panose="020B0604020202020204" charset="0"/>
              </a:rPr>
              <a:t> &amp; </a:t>
            </a:r>
            <a:r>
              <a:rPr lang="en-ID" sz="2800" b="1" dirty="0" err="1">
                <a:latin typeface="Telegraf" panose="020B0604020202020204" charset="0"/>
              </a:rPr>
              <a:t>Struktur</a:t>
            </a:r>
            <a:r>
              <a:rPr lang="en-ID" sz="2800" b="1" dirty="0">
                <a:latin typeface="Telegraf" panose="020B0604020202020204" charset="0"/>
              </a:rPr>
              <a:t> </a:t>
            </a:r>
          </a:p>
          <a:p>
            <a:endParaRPr lang="en-ID" sz="2400" dirty="0">
              <a:latin typeface="Telegraf" panose="020B0604020202020204" charset="0"/>
            </a:endParaRPr>
          </a:p>
          <a:p>
            <a:pPr lvl="1">
              <a:lnSpc>
                <a:spcPct val="150000"/>
              </a:lnSpc>
            </a:pPr>
            <a:r>
              <a:rPr lang="en-ID" sz="2400" dirty="0" err="1">
                <a:latin typeface="Telegraf" panose="020B0604020202020204" charset="0"/>
              </a:rPr>
              <a:t>Komposisi</a:t>
            </a:r>
            <a:r>
              <a:rPr lang="en-ID" sz="2400" dirty="0">
                <a:latin typeface="Telegraf" panose="020B0604020202020204" charset="0"/>
              </a:rPr>
              <a:t> dan </a:t>
            </a:r>
            <a:r>
              <a:rPr lang="en-ID" sz="2400" dirty="0" err="1">
                <a:latin typeface="Telegraf" panose="020B0604020202020204" charset="0"/>
              </a:rPr>
              <a:t>struktur</a:t>
            </a:r>
            <a:r>
              <a:rPr lang="en-ID" sz="2400" dirty="0">
                <a:latin typeface="Telegraf" panose="020B0604020202020204" charset="0"/>
              </a:rPr>
              <a:t> </a:t>
            </a:r>
            <a:r>
              <a:rPr lang="en-ID" sz="2400" dirty="0" err="1">
                <a:latin typeface="Telegraf" panose="020B0604020202020204" charset="0"/>
              </a:rPr>
              <a:t>organisasi</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terdiri</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1 (</a:t>
            </a:r>
            <a:r>
              <a:rPr lang="en-ID" sz="2400" dirty="0" err="1">
                <a:latin typeface="Telegraf" panose="020B0604020202020204" charset="0"/>
              </a:rPr>
              <a:t>satu</a:t>
            </a:r>
            <a:r>
              <a:rPr lang="en-ID" sz="2400" dirty="0">
                <a:latin typeface="Telegraf" panose="020B0604020202020204" charset="0"/>
              </a:rPr>
              <a:t>) </a:t>
            </a:r>
            <a:r>
              <a:rPr lang="en-ID" sz="2400" dirty="0" err="1">
                <a:latin typeface="Telegraf" panose="020B0604020202020204" charset="0"/>
              </a:rPr>
              <a:t>Ketua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yang </a:t>
            </a:r>
            <a:r>
              <a:rPr lang="en-ID" sz="2400" dirty="0" err="1">
                <a:latin typeface="Telegraf" panose="020B0604020202020204" charset="0"/>
              </a:rPr>
              <a:t>dijabat</a:t>
            </a:r>
            <a:r>
              <a:rPr lang="en-ID" sz="2400" dirty="0">
                <a:latin typeface="Telegraf" panose="020B0604020202020204" charset="0"/>
              </a:rPr>
              <a:t> oleh </a:t>
            </a:r>
            <a:r>
              <a:rPr lang="en-ID" sz="2400" dirty="0" err="1">
                <a:latin typeface="Telegraf" panose="020B0604020202020204" charset="0"/>
              </a:rPr>
              <a:t>Direktur</a:t>
            </a:r>
            <a:r>
              <a:rPr lang="en-ID" sz="2400" dirty="0">
                <a:latin typeface="Telegraf" panose="020B0604020202020204" charset="0"/>
              </a:rPr>
              <a:t> Utama dan </a:t>
            </a:r>
            <a:r>
              <a:rPr lang="en-ID" sz="2400" dirty="0" err="1">
                <a:latin typeface="Telegraf" panose="020B0604020202020204" charset="0"/>
              </a:rPr>
              <a:t>beranggotakan</a:t>
            </a:r>
            <a:r>
              <a:rPr lang="en-ID" sz="2400" dirty="0">
                <a:latin typeface="Telegraf" panose="020B0604020202020204" charset="0"/>
              </a:rPr>
              <a:t> 4 (</a:t>
            </a:r>
            <a:r>
              <a:rPr lang="en-ID" sz="2400" dirty="0" err="1">
                <a:latin typeface="Telegraf" panose="020B0604020202020204" charset="0"/>
              </a:rPr>
              <a:t>empat</a:t>
            </a:r>
            <a:r>
              <a:rPr lang="en-ID" sz="2400" dirty="0">
                <a:latin typeface="Telegraf" panose="020B0604020202020204" charset="0"/>
              </a:rPr>
              <a:t>) orang </a:t>
            </a:r>
            <a:r>
              <a:rPr lang="en-ID" sz="2400" dirty="0" err="1">
                <a:latin typeface="Telegraf" panose="020B0604020202020204" charset="0"/>
              </a:rPr>
              <a:t>terdiri</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Director dan General Manager yang </a:t>
            </a:r>
            <a:r>
              <a:rPr lang="en-ID" sz="2400" dirty="0" err="1">
                <a:latin typeface="Telegraf" panose="020B0604020202020204" charset="0"/>
              </a:rPr>
              <a:t>ditunjuk</a:t>
            </a:r>
            <a:r>
              <a:rPr lang="en-ID" sz="2400" dirty="0">
                <a:latin typeface="Telegraf" panose="020B0604020202020204" charset="0"/>
              </a:rPr>
              <a:t> oleh </a:t>
            </a:r>
            <a:r>
              <a:rPr lang="en-ID" sz="2400" dirty="0" err="1">
                <a:latin typeface="Telegraf" panose="020B0604020202020204" charset="0"/>
              </a:rPr>
              <a:t>Direksi</a:t>
            </a:r>
            <a:r>
              <a:rPr lang="en-ID" sz="2400" dirty="0">
                <a:latin typeface="Telegraf" panose="020B0604020202020204" charset="0"/>
              </a:rPr>
              <a:t> </a:t>
            </a:r>
            <a:r>
              <a:rPr lang="en-ID" sz="2400" dirty="0" err="1">
                <a:latin typeface="Telegraf" panose="020B0604020202020204" charset="0"/>
              </a:rPr>
              <a:t>melalui</a:t>
            </a:r>
            <a:r>
              <a:rPr lang="en-ID" sz="2400" dirty="0">
                <a:latin typeface="Telegraf" panose="020B0604020202020204" charset="0"/>
              </a:rPr>
              <a:t> Surat </a:t>
            </a:r>
            <a:r>
              <a:rPr lang="en-ID" sz="2400" dirty="0" err="1">
                <a:latin typeface="Telegraf" panose="020B0604020202020204" charset="0"/>
              </a:rPr>
              <a:t>Penunjukkan</a:t>
            </a:r>
            <a:r>
              <a:rPr lang="en-ID" sz="2400" dirty="0">
                <a:latin typeface="Telegraf" panose="020B0604020202020204" charset="0"/>
              </a:rPr>
              <a:t>	</a:t>
            </a:r>
          </a:p>
          <a:p>
            <a:pPr>
              <a:lnSpc>
                <a:spcPct val="200000"/>
              </a:lnSpc>
            </a:pPr>
            <a:r>
              <a:rPr lang="en-ID" sz="2800" b="1" dirty="0" err="1">
                <a:latin typeface="Telegraf" panose="020B0604020202020204" charset="0"/>
              </a:rPr>
              <a:t>Prosedur</a:t>
            </a:r>
            <a:r>
              <a:rPr lang="en-ID" sz="2800" b="1" dirty="0">
                <a:latin typeface="Telegraf" panose="020B0604020202020204" charset="0"/>
              </a:rPr>
              <a:t> </a:t>
            </a:r>
            <a:r>
              <a:rPr lang="en-ID" sz="2800" b="1" dirty="0" err="1">
                <a:latin typeface="Telegraf" panose="020B0604020202020204" charset="0"/>
              </a:rPr>
              <a:t>Kerja</a:t>
            </a:r>
            <a:r>
              <a:rPr lang="en-ID" sz="2800" b="1" dirty="0">
                <a:latin typeface="Telegraf" panose="020B0604020202020204" charset="0"/>
              </a:rPr>
              <a:t> </a:t>
            </a:r>
          </a:p>
          <a:p>
            <a:pPr lvl="1">
              <a:lnSpc>
                <a:spcPct val="200000"/>
              </a:lnSpc>
            </a:pPr>
            <a:r>
              <a:rPr lang="en-ID" sz="2400" dirty="0" err="1">
                <a:latin typeface="Telegraf" panose="020B0604020202020204" charset="0"/>
              </a:rPr>
              <a:t>Prosedur</a:t>
            </a:r>
            <a:r>
              <a:rPr lang="en-ID" sz="2400" dirty="0">
                <a:latin typeface="Telegraf" panose="020B0604020202020204" charset="0"/>
              </a:rPr>
              <a:t> </a:t>
            </a:r>
            <a:r>
              <a:rPr lang="en-ID" sz="2400" dirty="0" err="1">
                <a:latin typeface="Telegraf" panose="020B0604020202020204" charset="0"/>
              </a:rPr>
              <a:t>Kerja</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a:t>
            </a:r>
            <a:r>
              <a:rPr lang="en-ID" sz="2400" dirty="0" err="1">
                <a:latin typeface="Telegraf" panose="020B0604020202020204" charset="0"/>
              </a:rPr>
              <a:t>Komita</a:t>
            </a:r>
            <a:r>
              <a:rPr lang="en-ID" sz="2400" dirty="0">
                <a:latin typeface="Telegraf" panose="020B0604020202020204" charset="0"/>
              </a:rPr>
              <a:t> Anti Fraud </a:t>
            </a:r>
            <a:r>
              <a:rPr lang="en-ID" sz="2400" dirty="0" err="1">
                <a:latin typeface="Telegraf" panose="020B0604020202020204" charset="0"/>
              </a:rPr>
              <a:t>diatur</a:t>
            </a:r>
            <a:r>
              <a:rPr lang="en-ID" sz="2400" dirty="0">
                <a:latin typeface="Telegraf" panose="020B0604020202020204" charset="0"/>
              </a:rPr>
              <a:t> </a:t>
            </a:r>
            <a:r>
              <a:rPr lang="en-ID" sz="2400" dirty="0" err="1">
                <a:latin typeface="Telegraf" panose="020B0604020202020204" charset="0"/>
              </a:rPr>
              <a:t>dengan</a:t>
            </a:r>
            <a:r>
              <a:rPr lang="en-ID" sz="2400" dirty="0">
                <a:latin typeface="Telegraf" panose="020B0604020202020204" charset="0"/>
              </a:rPr>
              <a:t> </a:t>
            </a:r>
            <a:r>
              <a:rPr lang="en-ID" sz="2400" dirty="0" err="1">
                <a:latin typeface="Telegraf" panose="020B0604020202020204" charset="0"/>
              </a:rPr>
              <a:t>lebih</a:t>
            </a:r>
            <a:r>
              <a:rPr lang="en-ID" sz="2400" dirty="0">
                <a:latin typeface="Telegraf" panose="020B0604020202020204" charset="0"/>
              </a:rPr>
              <a:t> </a:t>
            </a:r>
            <a:r>
              <a:rPr lang="en-ID" sz="2400" dirty="0" err="1">
                <a:latin typeface="Telegraf" panose="020B0604020202020204" charset="0"/>
              </a:rPr>
              <a:t>terperinci</a:t>
            </a:r>
            <a:r>
              <a:rPr lang="en-ID" sz="2400" dirty="0">
                <a:latin typeface="Telegraf" panose="020B0604020202020204" charset="0"/>
              </a:rPr>
              <a:t> </a:t>
            </a:r>
            <a:r>
              <a:rPr lang="en-ID" sz="2400" dirty="0" err="1">
                <a:latin typeface="Telegraf" panose="020B0604020202020204" charset="0"/>
              </a:rPr>
              <a:t>dalam</a:t>
            </a:r>
            <a:r>
              <a:rPr lang="en-ID" sz="2400" dirty="0">
                <a:latin typeface="Telegraf" panose="020B0604020202020204" charset="0"/>
              </a:rPr>
              <a:t> Surat Keputusan </a:t>
            </a:r>
            <a:r>
              <a:rPr lang="en-ID" sz="2400" dirty="0" err="1">
                <a:latin typeface="Telegraf" panose="020B0604020202020204" charset="0"/>
              </a:rPr>
              <a:t>Direksi</a:t>
            </a:r>
            <a:r>
              <a:rPr lang="en-ID" sz="2400" dirty="0">
                <a:latin typeface="Telegraf" panose="020B0604020202020204" charset="0"/>
              </a:rPr>
              <a:t>			</a:t>
            </a:r>
          </a:p>
          <a:p>
            <a:pPr>
              <a:lnSpc>
                <a:spcPct val="200000"/>
              </a:lnSpc>
            </a:pPr>
            <a:r>
              <a:rPr lang="en-ID" sz="2400" dirty="0">
                <a:latin typeface="Telegraf" panose="020B0604020202020204" charset="0"/>
              </a:rPr>
              <a:t>		</a:t>
            </a:r>
          </a:p>
          <a:p>
            <a:endParaRPr lang="en-ID" sz="2400" dirty="0">
              <a:latin typeface="Telegraf" panose="020B0604020202020204" charset="0"/>
            </a:endParaRPr>
          </a:p>
          <a:p>
            <a:pPr marL="457200" indent="-457200">
              <a:buFont typeface="+mj-lt"/>
              <a:buAutoNum type="alphaLcPeriod"/>
            </a:pPr>
            <a:endParaRPr lang="en-ID" sz="2400" dirty="0">
              <a:latin typeface="Telegraf" panose="020B0604020202020204" charset="0"/>
            </a:endParaRPr>
          </a:p>
          <a:p>
            <a:r>
              <a:rPr lang="en-ID" sz="2400" dirty="0">
                <a:latin typeface="Telegraf" panose="020B0604020202020204" charset="0"/>
              </a:rPr>
              <a:t>				</a:t>
            </a:r>
          </a:p>
        </p:txBody>
      </p:sp>
    </p:spTree>
    <p:extLst>
      <p:ext uri="{BB962C8B-B14F-4D97-AF65-F5344CB8AC3E}">
        <p14:creationId xmlns:p14="http://schemas.microsoft.com/office/powerpoint/2010/main" val="2604702112"/>
      </p:ext>
    </p:extLst>
  </p:cSld>
  <p:clrMapOvr>
    <a:masterClrMapping/>
  </p:clrMapOvr>
  <p:transition spd="slow">
    <p:cov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17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2819014" y="2108913"/>
            <a:ext cx="7581453" cy="6630325"/>
          </a:xfrm>
          <a:prstGeom prst="rect">
            <a:avLst/>
          </a:prstGeom>
        </p:spPr>
      </p:pic>
      <p:sp>
        <p:nvSpPr>
          <p:cNvPr id="4" name="TextBox 4"/>
          <p:cNvSpPr txBox="1"/>
          <p:nvPr/>
        </p:nvSpPr>
        <p:spPr>
          <a:xfrm>
            <a:off x="446567" y="230057"/>
            <a:ext cx="9910764" cy="638175"/>
          </a:xfrm>
          <a:prstGeom prst="rect">
            <a:avLst/>
          </a:prstGeom>
        </p:spPr>
        <p:txBody>
          <a:bodyPr lIns="0" tIns="0" rIns="0" bIns="0" rtlCol="0" anchor="t">
            <a:spAutoFit/>
          </a:bodyPr>
          <a:lstStyle/>
          <a:p>
            <a:pPr>
              <a:lnSpc>
                <a:spcPts val="5040"/>
              </a:lnSpc>
            </a:pPr>
            <a:r>
              <a:rPr lang="en-US" sz="4200" dirty="0" err="1">
                <a:solidFill>
                  <a:srgbClr val="000000"/>
                </a:solidFill>
                <a:latin typeface="DM Sans Bold"/>
              </a:rPr>
              <a:t>Komite</a:t>
            </a:r>
            <a:r>
              <a:rPr lang="en-US" sz="4200" dirty="0">
                <a:solidFill>
                  <a:srgbClr val="000000"/>
                </a:solidFill>
                <a:latin typeface="DM Sans Bold"/>
              </a:rPr>
              <a:t> Anti Fraud</a:t>
            </a:r>
          </a:p>
        </p:txBody>
      </p:sp>
      <p:sp>
        <p:nvSpPr>
          <p:cNvPr id="5" name="TextBox 5"/>
          <p:cNvSpPr txBox="1"/>
          <p:nvPr/>
        </p:nvSpPr>
        <p:spPr>
          <a:xfrm>
            <a:off x="15247950" y="9760632"/>
            <a:ext cx="6899312" cy="238125"/>
          </a:xfrm>
          <a:prstGeom prst="rect">
            <a:avLst/>
          </a:prstGeom>
        </p:spPr>
        <p:txBody>
          <a:bodyPr lIns="0" tIns="0" rIns="0" bIns="0" rtlCol="0" anchor="t">
            <a:spAutoFit/>
          </a:bodyPr>
          <a:lstStyle/>
          <a:p>
            <a:pPr marL="0" lvl="0" indent="0" algn="l">
              <a:lnSpc>
                <a:spcPts val="1680"/>
              </a:lnSpc>
              <a:spcBef>
                <a:spcPct val="0"/>
              </a:spcBef>
            </a:pPr>
            <a:r>
              <a:rPr lang="en-US" sz="1400" spc="140">
                <a:solidFill>
                  <a:srgbClr val="1A1A1A"/>
                </a:solidFill>
                <a:latin typeface="Telegraf Medium"/>
              </a:rPr>
              <a:t>NUSANTARA SAKTI GROUP </a:t>
            </a:r>
          </a:p>
        </p:txBody>
      </p:sp>
      <p:sp>
        <p:nvSpPr>
          <p:cNvPr id="6" name="TextBox 6"/>
          <p:cNvSpPr txBox="1"/>
          <p:nvPr/>
        </p:nvSpPr>
        <p:spPr>
          <a:xfrm>
            <a:off x="439705" y="9627294"/>
            <a:ext cx="674720" cy="408384"/>
          </a:xfrm>
          <a:prstGeom prst="rect">
            <a:avLst/>
          </a:prstGeom>
        </p:spPr>
        <p:txBody>
          <a:bodyPr lIns="0" tIns="0" rIns="0" bIns="0" rtlCol="0" anchor="t">
            <a:spAutoFit/>
          </a:bodyPr>
          <a:lstStyle/>
          <a:p>
            <a:pPr>
              <a:lnSpc>
                <a:spcPts val="3215"/>
              </a:lnSpc>
            </a:pPr>
            <a:r>
              <a:rPr lang="en-US" sz="2679" spc="26" dirty="0">
                <a:solidFill>
                  <a:srgbClr val="191919"/>
                </a:solidFill>
                <a:latin typeface="Open Sauce SemiBold Bold"/>
              </a:rPr>
              <a:t>45</a:t>
            </a:r>
          </a:p>
        </p:txBody>
      </p:sp>
      <p:sp>
        <p:nvSpPr>
          <p:cNvPr id="8" name="TextBox 7">
            <a:extLst>
              <a:ext uri="{FF2B5EF4-FFF2-40B4-BE49-F238E27FC236}">
                <a16:creationId xmlns:a16="http://schemas.microsoft.com/office/drawing/2014/main" id="{832EC7A7-45F5-4CE6-A378-C70586AA5BED}"/>
              </a:ext>
            </a:extLst>
          </p:cNvPr>
          <p:cNvSpPr txBox="1"/>
          <p:nvPr/>
        </p:nvSpPr>
        <p:spPr>
          <a:xfrm>
            <a:off x="446567" y="1181100"/>
            <a:ext cx="17844977" cy="11172289"/>
          </a:xfrm>
          <a:prstGeom prst="rect">
            <a:avLst/>
          </a:prstGeom>
          <a:noFill/>
        </p:spPr>
        <p:txBody>
          <a:bodyPr wrap="square">
            <a:spAutoFit/>
          </a:bodyPr>
          <a:lstStyle/>
          <a:p>
            <a:r>
              <a:rPr lang="en-ID" sz="2800" b="1" dirty="0" err="1">
                <a:latin typeface="Telegraf" panose="020B0604020202020204" charset="0"/>
              </a:rPr>
              <a:t>Rapat</a:t>
            </a:r>
            <a:r>
              <a:rPr lang="en-ID" sz="2800" b="1" dirty="0">
                <a:latin typeface="Telegraf" panose="020B0604020202020204" charset="0"/>
              </a:rPr>
              <a:t> </a:t>
            </a:r>
            <a:r>
              <a:rPr lang="en-ID" sz="2800" b="1" dirty="0" err="1">
                <a:latin typeface="Telegraf" panose="020B0604020202020204" charset="0"/>
              </a:rPr>
              <a:t>Komite</a:t>
            </a:r>
            <a:r>
              <a:rPr lang="en-ID" sz="2800" b="1" dirty="0">
                <a:latin typeface="Telegraf" panose="020B0604020202020204" charset="0"/>
              </a:rPr>
              <a:t> 	</a:t>
            </a:r>
          </a:p>
          <a:p>
            <a:endParaRPr lang="en-ID" sz="2400" dirty="0">
              <a:latin typeface="Telegraf" panose="020B0604020202020204" charset="0"/>
            </a:endParaRPr>
          </a:p>
          <a:p>
            <a:pPr marL="457200" indent="-457200">
              <a:lnSpc>
                <a:spcPct val="150000"/>
              </a:lnSpc>
              <a:buFont typeface="+mj-lt"/>
              <a:buAutoNum type="alphaLcPeriod"/>
            </a:pP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wajib</a:t>
            </a:r>
            <a:r>
              <a:rPr lang="en-ID" sz="2400" dirty="0">
                <a:latin typeface="Telegraf" panose="020B0604020202020204" charset="0"/>
              </a:rPr>
              <a:t> </a:t>
            </a:r>
            <a:r>
              <a:rPr lang="en-ID" sz="2400" dirty="0" err="1">
                <a:latin typeface="Telegraf" panose="020B0604020202020204" charset="0"/>
              </a:rPr>
              <a:t>mengadakan</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sekurang-kurangnya</a:t>
            </a:r>
            <a:r>
              <a:rPr lang="en-ID" sz="2400" dirty="0">
                <a:latin typeface="Telegraf" panose="020B0604020202020204" charset="0"/>
              </a:rPr>
              <a:t> 1 (</a:t>
            </a:r>
            <a:r>
              <a:rPr lang="en-ID" sz="2400" dirty="0" err="1">
                <a:latin typeface="Telegraf" panose="020B0604020202020204" charset="0"/>
              </a:rPr>
              <a:t>satu</a:t>
            </a:r>
            <a:r>
              <a:rPr lang="en-ID" sz="2400" dirty="0">
                <a:latin typeface="Telegraf" panose="020B0604020202020204" charset="0"/>
              </a:rPr>
              <a:t>) kali </a:t>
            </a:r>
            <a:r>
              <a:rPr lang="en-ID" sz="2400" dirty="0" err="1">
                <a:latin typeface="Telegraf" panose="020B0604020202020204" charset="0"/>
              </a:rPr>
              <a:t>dalam</a:t>
            </a:r>
            <a:r>
              <a:rPr lang="en-ID" sz="2400" dirty="0">
                <a:latin typeface="Telegraf" panose="020B0604020202020204" charset="0"/>
              </a:rPr>
              <a:t> 3 (</a:t>
            </a:r>
            <a:r>
              <a:rPr lang="en-ID" sz="2400" dirty="0" err="1">
                <a:latin typeface="Telegraf" panose="020B0604020202020204" charset="0"/>
              </a:rPr>
              <a:t>tiga</a:t>
            </a:r>
            <a:r>
              <a:rPr lang="en-ID" sz="2400" dirty="0">
                <a:latin typeface="Telegraf" panose="020B0604020202020204" charset="0"/>
              </a:rPr>
              <a:t>) </a:t>
            </a:r>
            <a:r>
              <a:rPr lang="en-ID" sz="2400" dirty="0" err="1">
                <a:latin typeface="Telegraf" panose="020B0604020202020204" charset="0"/>
              </a:rPr>
              <a:t>bulan</a:t>
            </a:r>
            <a:r>
              <a:rPr lang="en-ID" sz="2400" dirty="0">
                <a:latin typeface="Telegraf" panose="020B0604020202020204" charset="0"/>
              </a:rPr>
              <a:t> dan </a:t>
            </a:r>
            <a:r>
              <a:rPr lang="en-ID" sz="2400" dirty="0" err="1">
                <a:latin typeface="Telegraf" panose="020B0604020202020204" charset="0"/>
              </a:rPr>
              <a:t>setiap</a:t>
            </a:r>
            <a:r>
              <a:rPr lang="en-ID" sz="2400" dirty="0">
                <a:latin typeface="Telegraf" panose="020B0604020202020204" charset="0"/>
              </a:rPr>
              <a:t> </a:t>
            </a:r>
            <a:r>
              <a:rPr lang="en-ID" sz="2400" dirty="0" err="1">
                <a:latin typeface="Telegraf" panose="020B0604020202020204" charset="0"/>
              </a:rPr>
              <a:t>waktu</a:t>
            </a:r>
            <a:r>
              <a:rPr lang="en-ID" sz="2400" dirty="0">
                <a:latin typeface="Telegraf" panose="020B0604020202020204" charset="0"/>
              </a:rPr>
              <a:t> </a:t>
            </a:r>
            <a:r>
              <a:rPr lang="en-ID" sz="2400" dirty="0" err="1">
                <a:latin typeface="Telegraf" panose="020B0604020202020204" charset="0"/>
              </a:rPr>
              <a:t>bila</a:t>
            </a:r>
            <a:r>
              <a:rPr lang="en-ID" sz="2400" dirty="0">
                <a:latin typeface="Telegraf" panose="020B0604020202020204" charset="0"/>
              </a:rPr>
              <a:t> </a:t>
            </a:r>
            <a:r>
              <a:rPr lang="en-ID" sz="2400" dirty="0" err="1">
                <a:latin typeface="Telegraf" panose="020B0604020202020204" charset="0"/>
              </a:rPr>
              <a:t>dipandang</a:t>
            </a:r>
            <a:r>
              <a:rPr lang="en-ID" sz="2400" dirty="0">
                <a:latin typeface="Telegraf" panose="020B0604020202020204" charset="0"/>
              </a:rPr>
              <a:t> </a:t>
            </a:r>
            <a:r>
              <a:rPr lang="en-ID" sz="2400" dirty="0" err="1">
                <a:latin typeface="Telegraf" panose="020B0604020202020204" charset="0"/>
              </a:rPr>
              <a:t>perlu</a:t>
            </a:r>
            <a:endParaRPr lang="en-ID" sz="2400" dirty="0">
              <a:latin typeface="Telegraf" panose="020B0604020202020204" charset="0"/>
            </a:endParaRPr>
          </a:p>
          <a:p>
            <a:pPr marL="457200" indent="-457200">
              <a:lnSpc>
                <a:spcPct val="150000"/>
              </a:lnSpc>
              <a:buFont typeface="+mj-lt"/>
              <a:buAutoNum type="alphaLcPeriod"/>
            </a:pP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dipimpin</a:t>
            </a:r>
            <a:r>
              <a:rPr lang="en-ID" sz="2400" dirty="0">
                <a:latin typeface="Telegraf" panose="020B0604020202020204" charset="0"/>
              </a:rPr>
              <a:t> oleh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dipimpin</a:t>
            </a:r>
            <a:r>
              <a:rPr lang="en-ID" sz="2400" dirty="0">
                <a:latin typeface="Telegraf" panose="020B0604020202020204" charset="0"/>
              </a:rPr>
              <a:t> oleh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dalam</a:t>
            </a:r>
            <a:r>
              <a:rPr lang="en-ID" sz="2400" dirty="0">
                <a:latin typeface="Telegraf" panose="020B0604020202020204" charset="0"/>
              </a:rPr>
              <a:t> </a:t>
            </a:r>
            <a:r>
              <a:rPr lang="en-ID" sz="2400" dirty="0" err="1">
                <a:latin typeface="Telegraf" panose="020B0604020202020204" charset="0"/>
              </a:rPr>
              <a:t>hal</a:t>
            </a:r>
            <a:r>
              <a:rPr lang="en-ID" sz="2400" dirty="0">
                <a:latin typeface="Telegraf" panose="020B0604020202020204" charset="0"/>
              </a:rPr>
              <a:t> </a:t>
            </a:r>
            <a:r>
              <a:rPr lang="en-ID" sz="2400" dirty="0" err="1">
                <a:latin typeface="Telegraf" panose="020B0604020202020204" charset="0"/>
              </a:rPr>
              <a:t>ketua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berhalangan</a:t>
            </a:r>
            <a:r>
              <a:rPr lang="en-ID" sz="2400" dirty="0">
                <a:latin typeface="Telegraf" panose="020B0604020202020204" charset="0"/>
              </a:rPr>
              <a:t> </a:t>
            </a:r>
            <a:r>
              <a:rPr lang="en-ID" sz="2400" dirty="0" err="1">
                <a:latin typeface="Telegraf" panose="020B0604020202020204" charset="0"/>
              </a:rPr>
              <a:t>hadir</a:t>
            </a:r>
            <a:r>
              <a:rPr lang="en-ID" sz="2400" dirty="0">
                <a:latin typeface="Telegraf" panose="020B0604020202020204" charset="0"/>
              </a:rPr>
              <a:t> dan </a:t>
            </a:r>
            <a:r>
              <a:rPr lang="en-ID" sz="2400" dirty="0" err="1">
                <a:latin typeface="Telegraf" panose="020B0604020202020204" charset="0"/>
              </a:rPr>
              <a:t>ditunjuk</a:t>
            </a:r>
            <a:r>
              <a:rPr lang="en-ID" sz="2400" dirty="0">
                <a:latin typeface="Telegraf" panose="020B0604020202020204" charset="0"/>
              </a:rPr>
              <a:t> </a:t>
            </a:r>
            <a:r>
              <a:rPr lang="en-ID" sz="2400" dirty="0" err="1">
                <a:latin typeface="Telegraf" panose="020B0604020202020204" charset="0"/>
              </a:rPr>
              <a:t>secara</a:t>
            </a:r>
            <a:r>
              <a:rPr lang="en-ID" sz="2400" dirty="0">
                <a:latin typeface="Telegraf" panose="020B0604020202020204" charset="0"/>
              </a:rPr>
              <a:t> </a:t>
            </a:r>
            <a:r>
              <a:rPr lang="en-ID" sz="2400" dirty="0" err="1">
                <a:latin typeface="Telegraf" panose="020B0604020202020204" charset="0"/>
              </a:rPr>
              <a:t>musyawarah</a:t>
            </a:r>
            <a:r>
              <a:rPr lang="en-ID" sz="2400" dirty="0">
                <a:latin typeface="Telegraf" panose="020B0604020202020204" charset="0"/>
              </a:rPr>
              <a:t> oleh </a:t>
            </a:r>
            <a:r>
              <a:rPr lang="en-ID" sz="2400" dirty="0" err="1">
                <a:latin typeface="Telegraf" panose="020B0604020202020204" charset="0"/>
              </a:rPr>
              <a:t>anggota</a:t>
            </a:r>
            <a:r>
              <a:rPr lang="en-ID" sz="2400" dirty="0">
                <a:latin typeface="Telegraf" panose="020B0604020202020204" charset="0"/>
              </a:rPr>
              <a:t> yang </a:t>
            </a:r>
            <a:r>
              <a:rPr lang="en-ID" sz="2400" dirty="0" err="1">
                <a:latin typeface="Telegraf" panose="020B0604020202020204" charset="0"/>
              </a:rPr>
              <a:t>hadir</a:t>
            </a:r>
            <a:r>
              <a:rPr lang="en-ID" sz="2400" dirty="0">
                <a:latin typeface="Telegraf" panose="020B0604020202020204" charset="0"/>
              </a:rPr>
              <a:t> </a:t>
            </a:r>
            <a:r>
              <a:rPr lang="en-ID" sz="2400" dirty="0" err="1">
                <a:latin typeface="Telegraf" panose="020B0604020202020204" charset="0"/>
              </a:rPr>
              <a:t>dalam</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p>
          <a:p>
            <a:pPr marL="457200" indent="-457200">
              <a:lnSpc>
                <a:spcPct val="150000"/>
              </a:lnSpc>
              <a:buFont typeface="+mj-lt"/>
              <a:buAutoNum type="alphaLcPeriod"/>
            </a:pP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hanya</a:t>
            </a:r>
            <a:r>
              <a:rPr lang="en-ID" sz="2400" dirty="0">
                <a:latin typeface="Telegraf" panose="020B0604020202020204" charset="0"/>
              </a:rPr>
              <a:t> </a:t>
            </a:r>
            <a:r>
              <a:rPr lang="en-ID" sz="2400" dirty="0" err="1">
                <a:latin typeface="Telegraf" panose="020B0604020202020204" charset="0"/>
              </a:rPr>
              <a:t>dapat</a:t>
            </a:r>
            <a:r>
              <a:rPr lang="en-ID" sz="2400" dirty="0">
                <a:latin typeface="Telegraf" panose="020B0604020202020204" charset="0"/>
              </a:rPr>
              <a:t> </a:t>
            </a:r>
            <a:r>
              <a:rPr lang="en-ID" sz="2400" dirty="0" err="1">
                <a:latin typeface="Telegraf" panose="020B0604020202020204" charset="0"/>
              </a:rPr>
              <a:t>dilaksanakan</a:t>
            </a:r>
            <a:r>
              <a:rPr lang="en-ID" sz="2400" dirty="0">
                <a:latin typeface="Telegraf" panose="020B0604020202020204" charset="0"/>
              </a:rPr>
              <a:t> </a:t>
            </a:r>
            <a:r>
              <a:rPr lang="en-ID" sz="2400" dirty="0" err="1">
                <a:latin typeface="Telegraf" panose="020B0604020202020204" charset="0"/>
              </a:rPr>
              <a:t>apabila</a:t>
            </a:r>
            <a:r>
              <a:rPr lang="en-ID" sz="2400" dirty="0">
                <a:latin typeface="Telegraf" panose="020B0604020202020204" charset="0"/>
              </a:rPr>
              <a:t> </a:t>
            </a:r>
            <a:r>
              <a:rPr lang="en-ID" sz="2400" dirty="0" err="1">
                <a:latin typeface="Telegraf" panose="020B0604020202020204" charset="0"/>
              </a:rPr>
              <a:t>dihadiri</a:t>
            </a:r>
            <a:r>
              <a:rPr lang="en-ID" sz="2400" dirty="0">
                <a:latin typeface="Telegraf" panose="020B0604020202020204" charset="0"/>
              </a:rPr>
              <a:t> oleh </a:t>
            </a:r>
            <a:r>
              <a:rPr lang="en-ID" sz="2400" dirty="0" err="1">
                <a:latin typeface="Telegraf" panose="020B0604020202020204" charset="0"/>
              </a:rPr>
              <a:t>lebih</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1/2 (</a:t>
            </a:r>
            <a:r>
              <a:rPr lang="en-ID" sz="2400" dirty="0" err="1">
                <a:latin typeface="Telegraf" panose="020B0604020202020204" charset="0"/>
              </a:rPr>
              <a:t>satu</a:t>
            </a:r>
            <a:r>
              <a:rPr lang="en-ID" sz="2400" dirty="0">
                <a:latin typeface="Telegraf" panose="020B0604020202020204" charset="0"/>
              </a:rPr>
              <a:t> per </a:t>
            </a:r>
            <a:r>
              <a:rPr lang="en-ID" sz="2400" dirty="0" err="1">
                <a:latin typeface="Telegraf" panose="020B0604020202020204" charset="0"/>
              </a:rPr>
              <a:t>dua</a:t>
            </a:r>
            <a:r>
              <a:rPr lang="en-ID" sz="2400" dirty="0">
                <a:latin typeface="Telegraf" panose="020B0604020202020204" charset="0"/>
              </a:rPr>
              <a:t>) </a:t>
            </a:r>
            <a:r>
              <a:rPr lang="en-ID" sz="2400" dirty="0" err="1">
                <a:latin typeface="Telegraf" panose="020B0604020202020204" charset="0"/>
              </a:rPr>
              <a:t>jumlah</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p>
          <a:p>
            <a:pPr marL="457200" indent="-457200">
              <a:lnSpc>
                <a:spcPct val="150000"/>
              </a:lnSpc>
              <a:buFont typeface="+mj-lt"/>
              <a:buAutoNum type="alphaLcPeriod"/>
            </a:pPr>
            <a:r>
              <a:rPr lang="en-ID" sz="2400" dirty="0">
                <a:latin typeface="Telegraf" panose="020B0604020202020204" charset="0"/>
              </a:rPr>
              <a:t>Keputusan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diambil</a:t>
            </a:r>
            <a:r>
              <a:rPr lang="en-ID" sz="2400" dirty="0">
                <a:latin typeface="Telegraf" panose="020B0604020202020204" charset="0"/>
              </a:rPr>
              <a:t> </a:t>
            </a:r>
            <a:r>
              <a:rPr lang="en-ID" sz="2400" dirty="0" err="1">
                <a:latin typeface="Telegraf" panose="020B0604020202020204" charset="0"/>
              </a:rPr>
              <a:t>berdasarkan</a:t>
            </a:r>
            <a:r>
              <a:rPr lang="en-ID" sz="2400" dirty="0">
                <a:latin typeface="Telegraf" panose="020B0604020202020204" charset="0"/>
              </a:rPr>
              <a:t> </a:t>
            </a:r>
            <a:r>
              <a:rPr lang="en-ID" sz="2400" dirty="0" err="1">
                <a:latin typeface="Telegraf" panose="020B0604020202020204" charset="0"/>
              </a:rPr>
              <a:t>musyawarah</a:t>
            </a:r>
            <a:r>
              <a:rPr lang="en-ID" sz="2400" dirty="0">
                <a:latin typeface="Telegraf" panose="020B0604020202020204" charset="0"/>
              </a:rPr>
              <a:t> dan </a:t>
            </a:r>
            <a:r>
              <a:rPr lang="en-ID" sz="2400" dirty="0" err="1">
                <a:latin typeface="Telegraf" panose="020B0604020202020204" charset="0"/>
              </a:rPr>
              <a:t>mufakat</a:t>
            </a:r>
            <a:r>
              <a:rPr lang="en-ID" sz="2400" dirty="0">
                <a:latin typeface="Telegraf" panose="020B0604020202020204" charset="0"/>
              </a:rPr>
              <a:t>. </a:t>
            </a:r>
            <a:r>
              <a:rPr lang="en-ID" sz="2400" dirty="0" err="1">
                <a:latin typeface="Telegraf" panose="020B0604020202020204" charset="0"/>
              </a:rPr>
              <a:t>Dalam</a:t>
            </a:r>
            <a:r>
              <a:rPr lang="en-ID" sz="2400" dirty="0">
                <a:latin typeface="Telegraf" panose="020B0604020202020204" charset="0"/>
              </a:rPr>
              <a:t> </a:t>
            </a:r>
            <a:r>
              <a:rPr lang="en-ID" sz="2400" dirty="0" err="1">
                <a:latin typeface="Telegraf" panose="020B0604020202020204" charset="0"/>
              </a:rPr>
              <a:t>hal</a:t>
            </a:r>
            <a:r>
              <a:rPr lang="en-ID" sz="2400" dirty="0">
                <a:latin typeface="Telegraf" panose="020B0604020202020204" charset="0"/>
              </a:rPr>
              <a:t> </a:t>
            </a:r>
            <a:r>
              <a:rPr lang="en-ID" sz="2400" dirty="0" err="1">
                <a:latin typeface="Telegraf" panose="020B0604020202020204" charset="0"/>
              </a:rPr>
              <a:t>tidak</a:t>
            </a:r>
            <a:r>
              <a:rPr lang="en-ID" sz="2400" dirty="0">
                <a:latin typeface="Telegraf" panose="020B0604020202020204" charset="0"/>
              </a:rPr>
              <a:t> </a:t>
            </a:r>
            <a:r>
              <a:rPr lang="en-ID" sz="2400" dirty="0" err="1">
                <a:latin typeface="Telegraf" panose="020B0604020202020204" charset="0"/>
              </a:rPr>
              <a:t>terjadi</a:t>
            </a:r>
            <a:r>
              <a:rPr lang="en-ID" sz="2400" dirty="0">
                <a:latin typeface="Telegraf" panose="020B0604020202020204" charset="0"/>
              </a:rPr>
              <a:t> </a:t>
            </a:r>
            <a:r>
              <a:rPr lang="en-ID" sz="2400" dirty="0" err="1">
                <a:latin typeface="Telegraf" panose="020B0604020202020204" charset="0"/>
              </a:rPr>
              <a:t>musyawarah</a:t>
            </a:r>
            <a:r>
              <a:rPr lang="en-ID" sz="2400" dirty="0">
                <a:latin typeface="Telegraf" panose="020B0604020202020204" charset="0"/>
              </a:rPr>
              <a:t> </a:t>
            </a:r>
            <a:r>
              <a:rPr lang="en-ID" sz="2400" dirty="0" err="1">
                <a:latin typeface="Telegraf" panose="020B0604020202020204" charset="0"/>
              </a:rPr>
              <a:t>mufakat</a:t>
            </a:r>
            <a:r>
              <a:rPr lang="en-ID" sz="2400" dirty="0">
                <a:latin typeface="Telegraf" panose="020B0604020202020204" charset="0"/>
              </a:rPr>
              <a:t>, </a:t>
            </a:r>
            <a:r>
              <a:rPr lang="en-ID" sz="2400" dirty="0" err="1">
                <a:latin typeface="Telegraf" panose="020B0604020202020204" charset="0"/>
              </a:rPr>
              <a:t>pengambilan</a:t>
            </a:r>
            <a:r>
              <a:rPr lang="en-ID" sz="2400" dirty="0">
                <a:latin typeface="Telegraf" panose="020B0604020202020204" charset="0"/>
              </a:rPr>
              <a:t> </a:t>
            </a:r>
            <a:r>
              <a:rPr lang="en-ID" sz="2400" dirty="0" err="1">
                <a:latin typeface="Telegraf" panose="020B0604020202020204" charset="0"/>
              </a:rPr>
              <a:t>keputusan</a:t>
            </a:r>
            <a:r>
              <a:rPr lang="en-ID" sz="2400" dirty="0">
                <a:latin typeface="Telegraf" panose="020B0604020202020204" charset="0"/>
              </a:rPr>
              <a:t> </a:t>
            </a:r>
            <a:r>
              <a:rPr lang="en-ID" sz="2400" dirty="0" err="1">
                <a:latin typeface="Telegraf" panose="020B0604020202020204" charset="0"/>
              </a:rPr>
              <a:t>dilakukan</a:t>
            </a:r>
            <a:r>
              <a:rPr lang="en-ID" sz="2400" dirty="0">
                <a:latin typeface="Telegraf" panose="020B0604020202020204" charset="0"/>
              </a:rPr>
              <a:t> </a:t>
            </a:r>
            <a:r>
              <a:rPr lang="en-ID" sz="2400" dirty="0" err="1">
                <a:latin typeface="Telegraf" panose="020B0604020202020204" charset="0"/>
              </a:rPr>
              <a:t>melalui</a:t>
            </a:r>
            <a:r>
              <a:rPr lang="en-ID" sz="2400" dirty="0">
                <a:latin typeface="Telegraf" panose="020B0604020202020204" charset="0"/>
              </a:rPr>
              <a:t> voting </a:t>
            </a:r>
            <a:r>
              <a:rPr lang="en-ID" sz="2400" dirty="0" err="1">
                <a:latin typeface="Telegraf" panose="020B0604020202020204" charset="0"/>
              </a:rPr>
              <a:t>berdasarkan</a:t>
            </a:r>
            <a:r>
              <a:rPr lang="en-ID" sz="2400" dirty="0">
                <a:latin typeface="Telegraf" panose="020B0604020202020204" charset="0"/>
              </a:rPr>
              <a:t> </a:t>
            </a:r>
            <a:r>
              <a:rPr lang="en-ID" sz="2400" dirty="0" err="1">
                <a:latin typeface="Telegraf" panose="020B0604020202020204" charset="0"/>
              </a:rPr>
              <a:t>suara</a:t>
            </a:r>
            <a:r>
              <a:rPr lang="en-ID" sz="2400" dirty="0">
                <a:latin typeface="Telegraf" panose="020B0604020202020204" charset="0"/>
              </a:rPr>
              <a:t> </a:t>
            </a:r>
            <a:r>
              <a:rPr lang="en-ID" sz="2400" dirty="0" err="1">
                <a:latin typeface="Telegraf" panose="020B0604020202020204" charset="0"/>
              </a:rPr>
              <a:t>terbanyak</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t>
            </a:r>
          </a:p>
          <a:p>
            <a:pPr marL="457200" indent="-457200">
              <a:lnSpc>
                <a:spcPct val="150000"/>
              </a:lnSpc>
              <a:buFont typeface="+mj-lt"/>
              <a:buAutoNum type="alphaLcPeriod"/>
            </a:pPr>
            <a:r>
              <a:rPr lang="en-ID" sz="2400" dirty="0">
                <a:latin typeface="Telegraf" panose="020B0604020202020204" charset="0"/>
              </a:rPr>
              <a:t>Keputusan </a:t>
            </a:r>
            <a:r>
              <a:rPr lang="en-ID" sz="2400" dirty="0" err="1">
                <a:latin typeface="Telegraf" panose="020B0604020202020204" charset="0"/>
              </a:rPr>
              <a:t>dianggap</a:t>
            </a:r>
            <a:r>
              <a:rPr lang="en-ID" sz="2400" dirty="0">
                <a:latin typeface="Telegraf" panose="020B0604020202020204" charset="0"/>
              </a:rPr>
              <a:t> </a:t>
            </a:r>
            <a:r>
              <a:rPr lang="en-ID" sz="2400" dirty="0" err="1">
                <a:latin typeface="Telegraf" panose="020B0604020202020204" charset="0"/>
              </a:rPr>
              <a:t>sah</a:t>
            </a:r>
            <a:r>
              <a:rPr lang="en-ID" sz="2400" dirty="0">
                <a:latin typeface="Telegraf" panose="020B0604020202020204" charset="0"/>
              </a:rPr>
              <a:t> </a:t>
            </a:r>
            <a:r>
              <a:rPr lang="en-ID" sz="2400" dirty="0" err="1">
                <a:latin typeface="Telegraf" panose="020B0604020202020204" charset="0"/>
              </a:rPr>
              <a:t>apabila</a:t>
            </a:r>
            <a:r>
              <a:rPr lang="en-ID" sz="2400" dirty="0">
                <a:latin typeface="Telegraf" panose="020B0604020202020204" charset="0"/>
              </a:rPr>
              <a:t> </a:t>
            </a:r>
            <a:r>
              <a:rPr lang="en-ID" sz="2400" dirty="0" err="1">
                <a:latin typeface="Telegraf" panose="020B0604020202020204" charset="0"/>
              </a:rPr>
              <a:t>disetujui</a:t>
            </a:r>
            <a:r>
              <a:rPr lang="en-ID" sz="2400" dirty="0">
                <a:latin typeface="Telegraf" panose="020B0604020202020204" charset="0"/>
              </a:rPr>
              <a:t> oleh </a:t>
            </a:r>
            <a:r>
              <a:rPr lang="en-ID" sz="2400" dirty="0" err="1">
                <a:latin typeface="Telegraf" panose="020B0604020202020204" charset="0"/>
              </a:rPr>
              <a:t>lebih</a:t>
            </a:r>
            <a:r>
              <a:rPr lang="en-ID" sz="2400" dirty="0">
                <a:latin typeface="Telegraf" panose="020B0604020202020204" charset="0"/>
              </a:rPr>
              <a:t> </a:t>
            </a:r>
            <a:r>
              <a:rPr lang="en-ID" sz="2400" dirty="0" err="1">
                <a:latin typeface="Telegraf" panose="020B0604020202020204" charset="0"/>
              </a:rPr>
              <a:t>dari</a:t>
            </a:r>
            <a:r>
              <a:rPr lang="en-ID" sz="2400" dirty="0">
                <a:latin typeface="Telegraf" panose="020B0604020202020204" charset="0"/>
              </a:rPr>
              <a:t> 1/2 (</a:t>
            </a:r>
            <a:r>
              <a:rPr lang="en-ID" sz="2400" dirty="0" err="1">
                <a:latin typeface="Telegraf" panose="020B0604020202020204" charset="0"/>
              </a:rPr>
              <a:t>satu</a:t>
            </a:r>
            <a:r>
              <a:rPr lang="en-ID" sz="2400" dirty="0">
                <a:latin typeface="Telegraf" panose="020B0604020202020204" charset="0"/>
              </a:rPr>
              <a:t> per </a:t>
            </a:r>
            <a:r>
              <a:rPr lang="en-ID" sz="2400" dirty="0" err="1">
                <a:latin typeface="Telegraf" panose="020B0604020202020204" charset="0"/>
              </a:rPr>
              <a:t>dua</a:t>
            </a:r>
            <a:r>
              <a:rPr lang="en-ID" sz="2400" dirty="0">
                <a:latin typeface="Telegraf" panose="020B0604020202020204" charset="0"/>
              </a:rPr>
              <a:t>) </a:t>
            </a:r>
            <a:r>
              <a:rPr lang="en-ID" sz="2400" dirty="0" err="1">
                <a:latin typeface="Telegraf" panose="020B0604020202020204" charset="0"/>
              </a:rPr>
              <a:t>jumlah</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yang </a:t>
            </a:r>
            <a:r>
              <a:rPr lang="en-ID" sz="2400" dirty="0" err="1">
                <a:latin typeface="Telegraf" panose="020B0604020202020204" charset="0"/>
              </a:rPr>
              <a:t>hadir</a:t>
            </a:r>
            <a:r>
              <a:rPr lang="en-ID" sz="2400" dirty="0">
                <a:latin typeface="Telegraf" panose="020B0604020202020204" charset="0"/>
              </a:rPr>
              <a:t>		</a:t>
            </a:r>
          </a:p>
          <a:p>
            <a:pPr marL="457200" indent="-457200">
              <a:lnSpc>
                <a:spcPct val="150000"/>
              </a:lnSpc>
              <a:buFont typeface="+mj-lt"/>
              <a:buAutoNum type="alphaLcPeriod"/>
            </a:pPr>
            <a:r>
              <a:rPr lang="en-ID" sz="2400" dirty="0" err="1">
                <a:latin typeface="Telegraf" panose="020B0604020202020204" charset="0"/>
              </a:rPr>
              <a:t>Setiap</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Anti Fraud </a:t>
            </a:r>
            <a:r>
              <a:rPr lang="en-ID" sz="2400" dirty="0" err="1">
                <a:latin typeface="Telegraf" panose="020B0604020202020204" charset="0"/>
              </a:rPr>
              <a:t>dituangkan</a:t>
            </a:r>
            <a:r>
              <a:rPr lang="en-ID" sz="2400" dirty="0">
                <a:latin typeface="Telegraf" panose="020B0604020202020204" charset="0"/>
              </a:rPr>
              <a:t> </a:t>
            </a:r>
            <a:r>
              <a:rPr lang="en-ID" sz="2400" dirty="0" err="1">
                <a:latin typeface="Telegraf" panose="020B0604020202020204" charset="0"/>
              </a:rPr>
              <a:t>dalam</a:t>
            </a:r>
            <a:r>
              <a:rPr lang="en-ID" sz="2400" dirty="0">
                <a:latin typeface="Telegraf" panose="020B0604020202020204" charset="0"/>
              </a:rPr>
              <a:t> </a:t>
            </a:r>
            <a:r>
              <a:rPr lang="en-ID" sz="2400" dirty="0" err="1">
                <a:latin typeface="Telegraf" panose="020B0604020202020204" charset="0"/>
              </a:rPr>
              <a:t>risalah</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ditatausahakan</a:t>
            </a:r>
            <a:r>
              <a:rPr lang="en-ID" sz="2400" dirty="0">
                <a:latin typeface="Telegraf" panose="020B0604020202020204" charset="0"/>
              </a:rPr>
              <a:t> dan </a:t>
            </a:r>
            <a:r>
              <a:rPr lang="en-ID" sz="2400" dirty="0" err="1">
                <a:latin typeface="Telegraf" panose="020B0604020202020204" charset="0"/>
              </a:rPr>
              <a:t>disampaikan</a:t>
            </a:r>
            <a:r>
              <a:rPr lang="en-ID" sz="2400" dirty="0">
                <a:latin typeface="Telegraf" panose="020B0604020202020204" charset="0"/>
              </a:rPr>
              <a:t> </a:t>
            </a:r>
            <a:r>
              <a:rPr lang="en-ID" sz="2400" dirty="0" err="1">
                <a:latin typeface="Telegraf" panose="020B0604020202020204" charset="0"/>
              </a:rPr>
              <a:t>kepada</a:t>
            </a:r>
            <a:r>
              <a:rPr lang="en-ID" sz="2400" dirty="0">
                <a:latin typeface="Telegraf" panose="020B0604020202020204" charset="0"/>
              </a:rPr>
              <a:t> </a:t>
            </a:r>
            <a:r>
              <a:rPr lang="en-ID" sz="2400" dirty="0" err="1">
                <a:latin typeface="Telegraf" panose="020B0604020202020204" charset="0"/>
              </a:rPr>
              <a:t>semua</a:t>
            </a:r>
            <a:r>
              <a:rPr lang="en-ID" sz="2400" dirty="0">
                <a:latin typeface="Telegraf" panose="020B0604020202020204" charset="0"/>
              </a:rPr>
              <a:t> </a:t>
            </a:r>
            <a:r>
              <a:rPr lang="en-ID" sz="2400" dirty="0" err="1">
                <a:latin typeface="Telegraf" panose="020B0604020202020204" charset="0"/>
              </a:rPr>
              <a:t>anggota</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t>
            </a:r>
          </a:p>
          <a:p>
            <a:pPr marL="457200" indent="-457200">
              <a:lnSpc>
                <a:spcPct val="150000"/>
              </a:lnSpc>
              <a:buFont typeface="+mj-lt"/>
              <a:buAutoNum type="alphaLcPeriod"/>
            </a:pPr>
            <a:r>
              <a:rPr lang="en-ID" sz="2400" dirty="0" err="1">
                <a:latin typeface="Telegraf" panose="020B0604020202020204" charset="0"/>
              </a:rPr>
              <a:t>Permasalahan</a:t>
            </a:r>
            <a:r>
              <a:rPr lang="en-ID" sz="2400" dirty="0">
                <a:latin typeface="Telegraf" panose="020B0604020202020204" charset="0"/>
              </a:rPr>
              <a:t> yang </a:t>
            </a:r>
            <a:r>
              <a:rPr lang="en-ID" sz="2400" dirty="0" err="1">
                <a:latin typeface="Telegraf" panose="020B0604020202020204" charset="0"/>
              </a:rPr>
              <a:t>memerlukan</a:t>
            </a:r>
            <a:r>
              <a:rPr lang="en-ID" sz="2400" dirty="0">
                <a:latin typeface="Telegraf" panose="020B0604020202020204" charset="0"/>
              </a:rPr>
              <a:t> </a:t>
            </a:r>
            <a:r>
              <a:rPr lang="en-ID" sz="2400" dirty="0" err="1">
                <a:latin typeface="Telegraf" panose="020B0604020202020204" charset="0"/>
              </a:rPr>
              <a:t>persetujuan</a:t>
            </a:r>
            <a:r>
              <a:rPr lang="en-ID" sz="2400" dirty="0">
                <a:latin typeface="Telegraf" panose="020B0604020202020204" charset="0"/>
              </a:rPr>
              <a:t> </a:t>
            </a:r>
            <a:r>
              <a:rPr lang="en-ID" sz="2400" dirty="0" err="1">
                <a:latin typeface="Telegraf" panose="020B0604020202020204" charset="0"/>
              </a:rPr>
              <a:t>Komita</a:t>
            </a:r>
            <a:r>
              <a:rPr lang="en-ID" sz="2400" dirty="0">
                <a:latin typeface="Telegraf" panose="020B0604020202020204" charset="0"/>
              </a:rPr>
              <a:t> </a:t>
            </a:r>
            <a:r>
              <a:rPr lang="en-ID" sz="2400" dirty="0" err="1">
                <a:latin typeface="Telegraf" panose="020B0604020202020204" charset="0"/>
              </a:rPr>
              <a:t>sebelum</a:t>
            </a:r>
            <a:r>
              <a:rPr lang="en-ID" sz="2400" dirty="0">
                <a:latin typeface="Telegraf" panose="020B0604020202020204" charset="0"/>
              </a:rPr>
              <a:t> </a:t>
            </a:r>
            <a:r>
              <a:rPr lang="en-ID" sz="2400" dirty="0" err="1">
                <a:latin typeface="Telegraf" panose="020B0604020202020204" charset="0"/>
              </a:rPr>
              <a:t>jadwal</a:t>
            </a:r>
            <a:r>
              <a:rPr lang="en-ID" sz="2400" dirty="0">
                <a:latin typeface="Telegraf" panose="020B0604020202020204" charset="0"/>
              </a:rPr>
              <a:t> </a:t>
            </a:r>
            <a:r>
              <a:rPr lang="en-ID" sz="2400" dirty="0" err="1">
                <a:latin typeface="Telegraf" panose="020B0604020202020204" charset="0"/>
              </a:rPr>
              <a:t>rapat</a:t>
            </a:r>
            <a:r>
              <a:rPr lang="en-ID" sz="2400" dirty="0">
                <a:latin typeface="Telegraf" panose="020B0604020202020204" charset="0"/>
              </a:rPr>
              <a:t> </a:t>
            </a:r>
            <a:r>
              <a:rPr lang="en-ID" sz="2400" dirty="0" err="1">
                <a:latin typeface="Telegraf" panose="020B0604020202020204" charset="0"/>
              </a:rPr>
              <a:t>Komite</a:t>
            </a:r>
            <a:r>
              <a:rPr lang="en-ID" sz="2400" dirty="0">
                <a:latin typeface="Telegraf" panose="020B0604020202020204" charset="0"/>
              </a:rPr>
              <a:t> </a:t>
            </a:r>
            <a:r>
              <a:rPr lang="en-ID" sz="2400" dirty="0" err="1">
                <a:latin typeface="Telegraf" panose="020B0604020202020204" charset="0"/>
              </a:rPr>
              <a:t>berikutnya</a:t>
            </a:r>
            <a:r>
              <a:rPr lang="en-ID" sz="2400" dirty="0">
                <a:latin typeface="Telegraf" panose="020B0604020202020204" charset="0"/>
              </a:rPr>
              <a:t> </a:t>
            </a:r>
            <a:r>
              <a:rPr lang="en-ID" sz="2400" dirty="0" err="1">
                <a:latin typeface="Telegraf" panose="020B0604020202020204" charset="0"/>
              </a:rPr>
              <a:t>dapat</a:t>
            </a:r>
            <a:r>
              <a:rPr lang="en-ID" sz="2400" dirty="0">
                <a:latin typeface="Telegraf" panose="020B0604020202020204" charset="0"/>
              </a:rPr>
              <a:t> </a:t>
            </a:r>
            <a:r>
              <a:rPr lang="en-ID" sz="2400" dirty="0" err="1">
                <a:latin typeface="Telegraf" panose="020B0604020202020204" charset="0"/>
              </a:rPr>
              <a:t>dibahas</a:t>
            </a:r>
            <a:r>
              <a:rPr lang="en-ID" sz="2400" dirty="0">
                <a:latin typeface="Telegraf" panose="020B0604020202020204" charset="0"/>
              </a:rPr>
              <a:t> dan </a:t>
            </a:r>
            <a:r>
              <a:rPr lang="en-ID" sz="2400" dirty="0" err="1">
                <a:latin typeface="Telegraf" panose="020B0604020202020204" charset="0"/>
              </a:rPr>
              <a:t>disetujui</a:t>
            </a:r>
            <a:r>
              <a:rPr lang="en-ID" sz="2400" dirty="0">
                <a:latin typeface="Telegraf" panose="020B0604020202020204" charset="0"/>
              </a:rPr>
              <a:t> </a:t>
            </a:r>
            <a:r>
              <a:rPr lang="en-ID" sz="2400" dirty="0" err="1">
                <a:latin typeface="Telegraf" panose="020B0604020202020204" charset="0"/>
              </a:rPr>
              <a:t>melalui</a:t>
            </a:r>
            <a:r>
              <a:rPr lang="en-ID" sz="2400" dirty="0">
                <a:latin typeface="Telegraf" panose="020B0604020202020204" charset="0"/>
              </a:rPr>
              <a:t> telephone/conference dan/</a:t>
            </a:r>
            <a:r>
              <a:rPr lang="en-ID" sz="2400" dirty="0" err="1">
                <a:latin typeface="Telegraf" panose="020B0604020202020204" charset="0"/>
              </a:rPr>
              <a:t>atau</a:t>
            </a:r>
            <a:r>
              <a:rPr lang="en-ID" sz="2400" dirty="0">
                <a:latin typeface="Telegraf" panose="020B0604020202020204" charset="0"/>
              </a:rPr>
              <a:t> </a:t>
            </a:r>
            <a:r>
              <a:rPr lang="en-ID" sz="2400" dirty="0" err="1">
                <a:latin typeface="Telegraf" panose="020B0604020202020204" charset="0"/>
              </a:rPr>
              <a:t>lewat</a:t>
            </a:r>
            <a:r>
              <a:rPr lang="en-ID" sz="2400" dirty="0">
                <a:latin typeface="Telegraf" panose="020B0604020202020204" charset="0"/>
              </a:rPr>
              <a:t> electronic mail		</a:t>
            </a:r>
          </a:p>
          <a:p>
            <a:pPr>
              <a:lnSpc>
                <a:spcPct val="150000"/>
              </a:lnSpc>
            </a:pPr>
            <a:r>
              <a:rPr lang="en-ID" sz="2400" dirty="0">
                <a:latin typeface="Telegraf" panose="020B0604020202020204" charset="0"/>
              </a:rPr>
              <a:t>			</a:t>
            </a:r>
          </a:p>
          <a:p>
            <a:endParaRPr lang="en-ID" sz="2400" dirty="0">
              <a:latin typeface="Telegraf" panose="020B0604020202020204" charset="0"/>
            </a:endParaRPr>
          </a:p>
          <a:p>
            <a:r>
              <a:rPr lang="en-ID" sz="2400" dirty="0">
                <a:latin typeface="Telegraf" panose="020B0604020202020204" charset="0"/>
              </a:rPr>
              <a:t>	</a:t>
            </a:r>
          </a:p>
          <a:p>
            <a:pPr>
              <a:lnSpc>
                <a:spcPct val="200000"/>
              </a:lnSpc>
            </a:pPr>
            <a:r>
              <a:rPr lang="en-ID" sz="2400" dirty="0">
                <a:latin typeface="Telegraf" panose="020B0604020202020204" charset="0"/>
              </a:rPr>
              <a:t>		</a:t>
            </a:r>
          </a:p>
          <a:p>
            <a:endParaRPr lang="en-ID" sz="2400" dirty="0">
              <a:latin typeface="Telegraf" panose="020B0604020202020204" charset="0"/>
            </a:endParaRPr>
          </a:p>
          <a:p>
            <a:pPr marL="457200" indent="-457200">
              <a:buFont typeface="+mj-lt"/>
              <a:buAutoNum type="alphaLcPeriod"/>
            </a:pPr>
            <a:endParaRPr lang="en-ID" sz="2400" dirty="0">
              <a:latin typeface="Telegraf" panose="020B0604020202020204" charset="0"/>
            </a:endParaRPr>
          </a:p>
          <a:p>
            <a:r>
              <a:rPr lang="en-ID" sz="2400" dirty="0">
                <a:latin typeface="Telegraf" panose="020B0604020202020204" charset="0"/>
              </a:rPr>
              <a:t>				</a:t>
            </a:r>
          </a:p>
        </p:txBody>
      </p:sp>
    </p:spTree>
    <p:extLst>
      <p:ext uri="{BB962C8B-B14F-4D97-AF65-F5344CB8AC3E}">
        <p14:creationId xmlns:p14="http://schemas.microsoft.com/office/powerpoint/2010/main" val="68479859"/>
      </p:ext>
    </p:extLst>
  </p:cSld>
  <p:clrMapOvr>
    <a:masterClrMapping/>
  </p:clrMapOvr>
  <p:transition spd="slow">
    <p:cover/>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3586111">
            <a:off x="4636114" y="7649942"/>
            <a:ext cx="4295835" cy="5707027"/>
          </a:xfrm>
          <a:prstGeom prst="rect">
            <a:avLst/>
          </a:prstGeom>
        </p:spPr>
      </p:pic>
      <p:pic>
        <p:nvPicPr>
          <p:cNvPr id="3" name="Picture 3"/>
          <p:cNvPicPr>
            <a:picLocks noChangeAspect="1"/>
          </p:cNvPicPr>
          <p:nvPr/>
        </p:nvPicPr>
        <p:blipFill>
          <a:blip r:embed="rId4"/>
          <a:srcRect/>
          <a:stretch>
            <a:fillRect/>
          </a:stretch>
        </p:blipFill>
        <p:spPr>
          <a:xfrm>
            <a:off x="5464060" y="198095"/>
            <a:ext cx="7359879" cy="7359879"/>
          </a:xfrm>
          <a:prstGeom prst="rect">
            <a:avLst/>
          </a:prstGeom>
        </p:spPr>
      </p:pic>
      <p:pic>
        <p:nvPicPr>
          <p:cNvPr id="4" name="Picture 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5878972" y="6388656"/>
            <a:ext cx="2760657" cy="4114800"/>
          </a:xfrm>
          <a:prstGeom prst="rect">
            <a:avLst/>
          </a:prstGeom>
        </p:spPr>
      </p:pic>
      <p:pic>
        <p:nvPicPr>
          <p:cNvPr id="5" name="Picture 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p:blipFill>
        <p:spPr>
          <a:xfrm>
            <a:off x="0" y="0"/>
            <a:ext cx="3514920" cy="4114800"/>
          </a:xfrm>
          <a:prstGeom prst="rect">
            <a:avLst/>
          </a:prstGeom>
        </p:spPr>
      </p:pic>
      <p:sp>
        <p:nvSpPr>
          <p:cNvPr id="6" name="TextBox 6"/>
          <p:cNvSpPr txBox="1"/>
          <p:nvPr/>
        </p:nvSpPr>
        <p:spPr>
          <a:xfrm>
            <a:off x="4168865" y="7054386"/>
            <a:ext cx="9950270" cy="1169101"/>
          </a:xfrm>
          <a:prstGeom prst="rect">
            <a:avLst/>
          </a:prstGeom>
        </p:spPr>
        <p:txBody>
          <a:bodyPr lIns="0" tIns="0" rIns="0" bIns="0" rtlCol="0" anchor="t">
            <a:spAutoFit/>
          </a:bodyPr>
          <a:lstStyle/>
          <a:p>
            <a:pPr algn="ctr">
              <a:lnSpc>
                <a:spcPts val="8751"/>
              </a:lnSpc>
              <a:spcBef>
                <a:spcPct val="0"/>
              </a:spcBef>
            </a:pPr>
            <a:r>
              <a:rPr lang="en-US" sz="8751">
                <a:solidFill>
                  <a:srgbClr val="FBEA20"/>
                </a:solidFill>
                <a:latin typeface="Shrikhand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4927</Words>
  <Application>Microsoft Office PowerPoint</Application>
  <PresentationFormat>Custom</PresentationFormat>
  <Paragraphs>687</Paragraphs>
  <Slides>46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Telegraf Bold</vt:lpstr>
      <vt:lpstr>Josefin Sans Regular Bold</vt:lpstr>
      <vt:lpstr>Telegraf Medium</vt:lpstr>
      <vt:lpstr>Canva Sans Bold</vt:lpstr>
      <vt:lpstr>Open Sauce SemiBold</vt:lpstr>
      <vt:lpstr>Calibri</vt:lpstr>
      <vt:lpstr>Open Sauce SemiBold Bold</vt:lpstr>
      <vt:lpstr>Arial</vt:lpstr>
      <vt:lpstr>DM Sans Bold</vt:lpstr>
      <vt:lpstr>Telegraf</vt:lpstr>
      <vt:lpstr>Shrikhand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 Fraud - Head Office</dc:title>
  <dc:creator>LENOVO</dc:creator>
  <cp:lastModifiedBy>tanni kh</cp:lastModifiedBy>
  <cp:revision>10</cp:revision>
  <dcterms:created xsi:type="dcterms:W3CDTF">2006-08-16T00:00:00Z</dcterms:created>
  <dcterms:modified xsi:type="dcterms:W3CDTF">2023-04-21T04:01:17Z</dcterms:modified>
  <dc:identifier>DAFb06rlhDo</dc:identifier>
</cp:coreProperties>
</file>