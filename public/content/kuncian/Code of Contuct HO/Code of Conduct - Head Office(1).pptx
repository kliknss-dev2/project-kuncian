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Lst>
  <p:sldSz cx="18288000" cy="10287000"/>
  <p:notesSz cx="6858000" cy="9144000"/>
  <p:embeddedFontLst>
    <p:embeddedFont>
      <p:font typeface="Calibri" panose="020F0502020204030204" pitchFamily="34" charset="0"/>
      <p:regular r:id="rId60"/>
      <p:bold r:id="rId61"/>
      <p:italic r:id="rId62"/>
      <p:boldItalic r:id="rId63"/>
    </p:embeddedFont>
    <p:embeddedFont>
      <p:font typeface="Montserrat Classic" panose="020B0604020202020204" charset="0"/>
      <p:regular r:id="rId64"/>
    </p:embeddedFont>
    <p:embeddedFont>
      <p:font typeface="Montserrat Classic Bold" panose="020B0604020202020204" charset="0"/>
      <p:regular r:id="rId65"/>
    </p:embeddedFont>
    <p:embeddedFont>
      <p:font typeface="Kollektif Bold" panose="020B0604020202020204" charset="0"/>
      <p:regular r:id="rId66"/>
    </p:embeddedFont>
    <p:embeddedFont>
      <p:font typeface="Telegraf" panose="020B0604020202020204" charset="0"/>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156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1.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7.sv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4.sv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3.svg"/><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1.png"/><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111642">
            <a:off x="-2584303" y="1748245"/>
            <a:ext cx="10443683" cy="8487866"/>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318441" y="9258300"/>
            <a:ext cx="9727319" cy="3106962"/>
          </a:xfrm>
          <a:prstGeom prst="rect">
            <a:avLst/>
          </a:prstGeom>
        </p:spPr>
      </p:pic>
      <p:sp>
        <p:nvSpPr>
          <p:cNvPr id="5" name="TextBox 5"/>
          <p:cNvSpPr txBox="1"/>
          <p:nvPr/>
        </p:nvSpPr>
        <p:spPr>
          <a:xfrm>
            <a:off x="1028700" y="2969265"/>
            <a:ext cx="13887040" cy="1167192"/>
          </a:xfrm>
          <a:prstGeom prst="rect">
            <a:avLst/>
          </a:prstGeom>
        </p:spPr>
        <p:txBody>
          <a:bodyPr lIns="0" tIns="0" rIns="0" bIns="0" rtlCol="0" anchor="t">
            <a:spAutoFit/>
          </a:bodyPr>
          <a:lstStyle/>
          <a:p>
            <a:pPr>
              <a:lnSpc>
                <a:spcPts val="8736"/>
              </a:lnSpc>
            </a:pPr>
            <a:r>
              <a:rPr lang="en-US" sz="8825">
                <a:solidFill>
                  <a:srgbClr val="004AAD"/>
                </a:solidFill>
                <a:latin typeface="Montserrat Classic Bold"/>
              </a:rPr>
              <a:t>CODE OF CONDUCT </a:t>
            </a:r>
          </a:p>
        </p:txBody>
      </p:sp>
      <p:sp>
        <p:nvSpPr>
          <p:cNvPr id="6" name="TextBox 6"/>
          <p:cNvSpPr txBox="1"/>
          <p:nvPr/>
        </p:nvSpPr>
        <p:spPr>
          <a:xfrm>
            <a:off x="9182100" y="3886838"/>
            <a:ext cx="4632812" cy="1045183"/>
          </a:xfrm>
          <a:prstGeom prst="rect">
            <a:avLst/>
          </a:prstGeom>
        </p:spPr>
        <p:txBody>
          <a:bodyPr lIns="0" tIns="0" rIns="0" bIns="0" rtlCol="0" anchor="t">
            <a:spAutoFit/>
          </a:bodyPr>
          <a:lstStyle/>
          <a:p>
            <a:pPr>
              <a:lnSpc>
                <a:spcPts val="9413"/>
              </a:lnSpc>
            </a:pPr>
            <a:r>
              <a:rPr lang="en-US" sz="3765" dirty="0">
                <a:solidFill>
                  <a:srgbClr val="2E2E2E"/>
                </a:solidFill>
                <a:latin typeface="Montserrat Classic Bold"/>
              </a:rPr>
              <a:t>Head Office</a:t>
            </a:r>
          </a:p>
        </p:txBody>
      </p:sp>
      <p:sp>
        <p:nvSpPr>
          <p:cNvPr id="7" name="TextBox 7"/>
          <p:cNvSpPr txBox="1"/>
          <p:nvPr/>
        </p:nvSpPr>
        <p:spPr>
          <a:xfrm>
            <a:off x="17202057" y="9153525"/>
            <a:ext cx="197793" cy="601473"/>
          </a:xfrm>
          <a:prstGeom prst="rect">
            <a:avLst/>
          </a:prstGeom>
        </p:spPr>
        <p:txBody>
          <a:bodyPr lIns="0" tIns="0" rIns="0" bIns="0" rtlCol="0" anchor="t">
            <a:spAutoFit/>
          </a:bodyPr>
          <a:lstStyle/>
          <a:p>
            <a:pPr algn="ctr">
              <a:lnSpc>
                <a:spcPts val="4647"/>
              </a:lnSpc>
            </a:pPr>
            <a:r>
              <a:rPr lang="en-US" sz="3319">
                <a:solidFill>
                  <a:srgbClr val="000000"/>
                </a:solidFill>
                <a:latin typeface="Telegraf"/>
              </a:rPr>
              <a:t>1</a:t>
            </a:r>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468600" y="308919"/>
            <a:ext cx="2145803" cy="15182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111642">
            <a:off x="-4592276" y="1439326"/>
            <a:ext cx="10443683" cy="8487866"/>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318441" y="9258300"/>
            <a:ext cx="9727319" cy="3106962"/>
          </a:xfrm>
          <a:prstGeom prst="rect">
            <a:avLst/>
          </a:prstGeom>
        </p:spPr>
      </p:pic>
      <p:sp>
        <p:nvSpPr>
          <p:cNvPr id="5" name="TextBox 5"/>
          <p:cNvSpPr txBox="1"/>
          <p:nvPr/>
        </p:nvSpPr>
        <p:spPr>
          <a:xfrm>
            <a:off x="1457084" y="1961674"/>
            <a:ext cx="5722713" cy="1061086"/>
          </a:xfrm>
          <a:prstGeom prst="rect">
            <a:avLst/>
          </a:prstGeom>
        </p:spPr>
        <p:txBody>
          <a:bodyPr lIns="0" tIns="0" rIns="0" bIns="0" rtlCol="0" anchor="t">
            <a:spAutoFit/>
          </a:bodyPr>
          <a:lstStyle/>
          <a:p>
            <a:pPr>
              <a:lnSpc>
                <a:spcPts val="7920"/>
              </a:lnSpc>
            </a:pPr>
            <a:r>
              <a:rPr lang="en-US" sz="8000">
                <a:solidFill>
                  <a:srgbClr val="004AAD"/>
                </a:solidFill>
                <a:latin typeface="Montserrat Classic"/>
              </a:rPr>
              <a:t>POKOK</a:t>
            </a:r>
          </a:p>
        </p:txBody>
      </p:sp>
      <p:sp>
        <p:nvSpPr>
          <p:cNvPr id="6" name="TextBox 6"/>
          <p:cNvSpPr txBox="1"/>
          <p:nvPr/>
        </p:nvSpPr>
        <p:spPr>
          <a:xfrm>
            <a:off x="1457084" y="3191158"/>
            <a:ext cx="5722713" cy="1061086"/>
          </a:xfrm>
          <a:prstGeom prst="rect">
            <a:avLst/>
          </a:prstGeom>
        </p:spPr>
        <p:txBody>
          <a:bodyPr lIns="0" tIns="0" rIns="0" bIns="0" rtlCol="0" anchor="t">
            <a:spAutoFit/>
          </a:bodyPr>
          <a:lstStyle/>
          <a:p>
            <a:pPr>
              <a:lnSpc>
                <a:spcPts val="7920"/>
              </a:lnSpc>
            </a:pPr>
            <a:r>
              <a:rPr lang="en-US" sz="8000">
                <a:solidFill>
                  <a:srgbClr val="2BB4D4"/>
                </a:solidFill>
                <a:latin typeface="Montserrat Classic Bold"/>
              </a:rPr>
              <a:t>BAHASAN</a:t>
            </a:r>
          </a:p>
        </p:txBody>
      </p:sp>
      <p:sp>
        <p:nvSpPr>
          <p:cNvPr id="7" name="TextBox 7"/>
          <p:cNvSpPr txBox="1"/>
          <p:nvPr/>
        </p:nvSpPr>
        <p:spPr>
          <a:xfrm>
            <a:off x="1457084" y="4800600"/>
            <a:ext cx="5821014" cy="5195570"/>
          </a:xfrm>
          <a:prstGeom prst="rect">
            <a:avLst/>
          </a:prstGeom>
        </p:spPr>
        <p:txBody>
          <a:bodyPr lIns="0" tIns="0" rIns="0" bIns="0" rtlCol="0" anchor="t">
            <a:spAutoFit/>
          </a:bodyPr>
          <a:lstStyle/>
          <a:p>
            <a:pPr marL="604519" lvl="1" indent="-302260">
              <a:lnSpc>
                <a:spcPts val="6999"/>
              </a:lnSpc>
              <a:buFont typeface="Arial"/>
              <a:buChar char="•"/>
            </a:pPr>
            <a:r>
              <a:rPr lang="en-US" sz="2799">
                <a:solidFill>
                  <a:srgbClr val="2E2E2E"/>
                </a:solidFill>
                <a:latin typeface="Montserrat Classic"/>
              </a:rPr>
              <a:t>Pendahuluan </a:t>
            </a:r>
          </a:p>
          <a:p>
            <a:pPr marL="604519" lvl="1" indent="-302260">
              <a:lnSpc>
                <a:spcPts val="6999"/>
              </a:lnSpc>
              <a:buFont typeface="Arial"/>
              <a:buChar char="•"/>
            </a:pPr>
            <a:r>
              <a:rPr lang="en-US" sz="2799">
                <a:solidFill>
                  <a:srgbClr val="2E2E2E"/>
                </a:solidFill>
                <a:latin typeface="Montserrat Classic"/>
              </a:rPr>
              <a:t>Etika Bisnis </a:t>
            </a:r>
          </a:p>
          <a:p>
            <a:pPr marL="604519" lvl="1" indent="-302260">
              <a:lnSpc>
                <a:spcPts val="6999"/>
              </a:lnSpc>
              <a:buFont typeface="Arial"/>
              <a:buChar char="•"/>
            </a:pPr>
            <a:r>
              <a:rPr lang="en-US" sz="2799">
                <a:solidFill>
                  <a:srgbClr val="2E2E2E"/>
                </a:solidFill>
                <a:latin typeface="Montserrat Classic"/>
              </a:rPr>
              <a:t>Etika Kerja </a:t>
            </a:r>
          </a:p>
          <a:p>
            <a:pPr marL="604519" lvl="1" indent="-302260">
              <a:lnSpc>
                <a:spcPts val="6999"/>
              </a:lnSpc>
              <a:buFont typeface="Arial"/>
              <a:buChar char="•"/>
            </a:pPr>
            <a:r>
              <a:rPr lang="en-US" sz="2799">
                <a:solidFill>
                  <a:srgbClr val="2E2E2E"/>
                </a:solidFill>
                <a:latin typeface="Montserrat Classic"/>
              </a:rPr>
              <a:t>Penerapan &amp; Penegakan </a:t>
            </a:r>
          </a:p>
          <a:p>
            <a:pPr marL="604519" lvl="1" indent="-302260">
              <a:lnSpc>
                <a:spcPts val="6999"/>
              </a:lnSpc>
              <a:buFont typeface="Arial"/>
              <a:buChar char="•"/>
            </a:pPr>
            <a:r>
              <a:rPr lang="en-US" sz="2799">
                <a:solidFill>
                  <a:srgbClr val="2E2E2E"/>
                </a:solidFill>
                <a:latin typeface="Montserrat Classic"/>
              </a:rPr>
              <a:t>Penutup</a:t>
            </a:r>
          </a:p>
          <a:p>
            <a:pPr>
              <a:lnSpc>
                <a:spcPts val="6999"/>
              </a:lnSpc>
            </a:pPr>
            <a:endParaRPr lang="en-US" sz="2799">
              <a:solidFill>
                <a:srgbClr val="2E2E2E"/>
              </a:solidFill>
              <a:latin typeface="Montserrat Classic"/>
            </a:endParaRPr>
          </a:p>
        </p:txBody>
      </p:sp>
      <p:sp>
        <p:nvSpPr>
          <p:cNvPr id="8" name="TextBox 8"/>
          <p:cNvSpPr txBox="1"/>
          <p:nvPr/>
        </p:nvSpPr>
        <p:spPr>
          <a:xfrm>
            <a:off x="17259300" y="9153525"/>
            <a:ext cx="83306" cy="601473"/>
          </a:xfrm>
          <a:prstGeom prst="rect">
            <a:avLst/>
          </a:prstGeom>
        </p:spPr>
        <p:txBody>
          <a:bodyPr lIns="0" tIns="0" rIns="0" bIns="0" rtlCol="0" anchor="t">
            <a:spAutoFit/>
          </a:bodyPr>
          <a:lstStyle/>
          <a:p>
            <a:pPr algn="ctr">
              <a:lnSpc>
                <a:spcPts val="4647"/>
              </a:lnSpc>
            </a:pPr>
            <a:r>
              <a:rPr lang="en-US" sz="3319">
                <a:solidFill>
                  <a:srgbClr val="000000"/>
                </a:solidFill>
                <a:latin typeface="Telegraf"/>
              </a:rPr>
              <a:t>2</a:t>
            </a:r>
          </a:p>
        </p:txBody>
      </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468600" y="308919"/>
            <a:ext cx="2145803" cy="1518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111642">
            <a:off x="-4592276" y="1439326"/>
            <a:ext cx="10443683" cy="8487866"/>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318441" y="9258300"/>
            <a:ext cx="9727319" cy="3106962"/>
          </a:xfrm>
          <a:prstGeom prst="rect">
            <a:avLst/>
          </a:prstGeom>
        </p:spPr>
      </p:pic>
      <p:sp>
        <p:nvSpPr>
          <p:cNvPr id="5" name="TextBox 5"/>
          <p:cNvSpPr txBox="1"/>
          <p:nvPr/>
        </p:nvSpPr>
        <p:spPr>
          <a:xfrm>
            <a:off x="1922735" y="4622173"/>
            <a:ext cx="9458068" cy="1061086"/>
          </a:xfrm>
          <a:prstGeom prst="rect">
            <a:avLst/>
          </a:prstGeom>
        </p:spPr>
        <p:txBody>
          <a:bodyPr lIns="0" tIns="0" rIns="0" bIns="0" rtlCol="0" anchor="t">
            <a:spAutoFit/>
          </a:bodyPr>
          <a:lstStyle/>
          <a:p>
            <a:pPr>
              <a:lnSpc>
                <a:spcPts val="7920"/>
              </a:lnSpc>
            </a:pPr>
            <a:r>
              <a:rPr lang="en-US" sz="8000">
                <a:solidFill>
                  <a:srgbClr val="2BB4D4"/>
                </a:solidFill>
                <a:latin typeface="Montserrat Classic Bold"/>
              </a:rPr>
              <a:t>I. PENDAHULUAN</a:t>
            </a:r>
          </a:p>
        </p:txBody>
      </p:sp>
      <p:sp>
        <p:nvSpPr>
          <p:cNvPr id="6" name="TextBox 6"/>
          <p:cNvSpPr txBox="1"/>
          <p:nvPr/>
        </p:nvSpPr>
        <p:spPr>
          <a:xfrm>
            <a:off x="17168571" y="9153525"/>
            <a:ext cx="264765" cy="601473"/>
          </a:xfrm>
          <a:prstGeom prst="rect">
            <a:avLst/>
          </a:prstGeom>
        </p:spPr>
        <p:txBody>
          <a:bodyPr lIns="0" tIns="0" rIns="0" bIns="0" rtlCol="0" anchor="t">
            <a:spAutoFit/>
          </a:bodyPr>
          <a:lstStyle/>
          <a:p>
            <a:pPr algn="ctr">
              <a:lnSpc>
                <a:spcPts val="4647"/>
              </a:lnSpc>
            </a:pPr>
            <a:r>
              <a:rPr lang="en-US" sz="3319">
                <a:solidFill>
                  <a:srgbClr val="000000"/>
                </a:solidFill>
                <a:latin typeface="Telegraf"/>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8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2085749">
            <a:off x="-5690637" y="-3861861"/>
            <a:ext cx="14345355" cy="14345355"/>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1799293">
            <a:off x="13038808" y="-720131"/>
            <a:ext cx="6885296" cy="11055409"/>
          </a:xfrm>
          <a:prstGeom prst="rect">
            <a:avLst/>
          </a:prstGeom>
        </p:spPr>
      </p:pic>
      <p:sp>
        <p:nvSpPr>
          <p:cNvPr id="4" name="TextBox 4"/>
          <p:cNvSpPr txBox="1"/>
          <p:nvPr/>
        </p:nvSpPr>
        <p:spPr>
          <a:xfrm>
            <a:off x="1028700" y="1476375"/>
            <a:ext cx="16230600" cy="8810625"/>
          </a:xfrm>
          <a:prstGeom prst="rect">
            <a:avLst/>
          </a:prstGeom>
        </p:spPr>
        <p:txBody>
          <a:bodyPr lIns="0" tIns="0" rIns="0" bIns="0" rtlCol="0" anchor="t">
            <a:spAutoFit/>
          </a:bodyPr>
          <a:lstStyle/>
          <a:p>
            <a:pPr algn="just">
              <a:lnSpc>
                <a:spcPts val="2520"/>
              </a:lnSpc>
            </a:pPr>
            <a:r>
              <a:rPr lang="en-US" sz="1800">
                <a:solidFill>
                  <a:srgbClr val="2E2E2E"/>
                </a:solidFill>
                <a:latin typeface="Montserrat Classic"/>
              </a:rPr>
              <a:t>Nusantara Sakti yang selanjutnya disebut Perusahaan menyadari akan pentingnya arti implementasi Good Corporate Governance (GCG) sebagai salah satu alat untuk meningkatkan nilai dan pertumbuhan bisnis jangka panjang secara berkesinambungan, tidak hanya bagi Pemegang Saham (shareholder) namun juga segenap Pemangku Kepentingan (stakeholders). Untuk itulah, Perusahaan berkomitmen mengimplementasikan GCG secara konsisten yang salah satunya dilakukan melalui penerapan Pedoman Etika Bisnis dan Etika Kerja (Code of Conduct).</a:t>
            </a:r>
          </a:p>
          <a:p>
            <a:pPr algn="just">
              <a:lnSpc>
                <a:spcPts val="2520"/>
              </a:lnSpc>
            </a:pPr>
            <a:endParaRPr lang="en-US" sz="1800">
              <a:solidFill>
                <a:srgbClr val="2E2E2E"/>
              </a:solidFill>
              <a:latin typeface="Montserrat Classic"/>
            </a:endParaRPr>
          </a:p>
          <a:p>
            <a:pPr algn="just">
              <a:lnSpc>
                <a:spcPts val="2196"/>
              </a:lnSpc>
            </a:pPr>
            <a:r>
              <a:rPr lang="en-US" sz="1800">
                <a:solidFill>
                  <a:srgbClr val="2E2E2E"/>
                </a:solidFill>
                <a:latin typeface="Montserrat Classic"/>
              </a:rPr>
              <a:t>Pedoman ini berlaku untuk seluruh individu yang bertindak atas nama Perusahaan baik Dewan Komisaris, Direksi maupun Karyawan yang selanjutnya disebut Insan Perusahaan, anak Perusahaan dan perusahaan afiliasi dibawah pengendalian, Pemegang Saham serta seluruh stakeholder atau mitra kerja yang melakukan transaksi bisnis dengan Perusahaan.</a:t>
            </a:r>
          </a:p>
          <a:p>
            <a:pPr algn="just">
              <a:lnSpc>
                <a:spcPts val="2520"/>
              </a:lnSpc>
            </a:pPr>
            <a:endParaRPr lang="en-US" sz="1800">
              <a:solidFill>
                <a:srgbClr val="2E2E2E"/>
              </a:solidFill>
              <a:latin typeface="Montserrat Classic"/>
            </a:endParaRPr>
          </a:p>
          <a:p>
            <a:pPr algn="just">
              <a:lnSpc>
                <a:spcPts val="2520"/>
              </a:lnSpc>
            </a:pPr>
            <a:r>
              <a:rPr lang="en-US" sz="1800">
                <a:solidFill>
                  <a:srgbClr val="2E2E2E"/>
                </a:solidFill>
                <a:latin typeface="Montserrat Classic"/>
              </a:rPr>
              <a:t>Pedoman Etika Bisnis dan Etika Kerja (Code of Conduct) adalah sekumpulan komitmen yang terdiri dari Etika Bisnis Perusahaan dan Etika Kerja Insan Perusahaan yang disusun untuk mempengaruhi, membentuk, mengatur dan melakukan kesesuaian tingkah laku sehingga tercapai keluaran yang konsisten yang sesuai dengan nilai-nilai budaya Perusahaan dalam mencapai visi dan misi Perusahaan</a:t>
            </a:r>
          </a:p>
          <a:p>
            <a:pPr algn="just">
              <a:lnSpc>
                <a:spcPts val="2520"/>
              </a:lnSpc>
            </a:pPr>
            <a:endParaRPr lang="en-US" sz="1800">
              <a:solidFill>
                <a:srgbClr val="2E2E2E"/>
              </a:solidFill>
              <a:latin typeface="Montserrat Classic"/>
            </a:endParaRPr>
          </a:p>
          <a:p>
            <a:pPr algn="just">
              <a:lnSpc>
                <a:spcPts val="2520"/>
              </a:lnSpc>
            </a:pPr>
            <a:r>
              <a:rPr lang="en-US" sz="1800">
                <a:solidFill>
                  <a:srgbClr val="2E2E2E"/>
                </a:solidFill>
                <a:latin typeface="Montserrat Classic"/>
              </a:rPr>
              <a:t>Perusahaan senantiasa mendorong kepatuhan terhadap standar etika dan berkomitmen untuk mengimplementasikannya, serta mewajibkan seluruh pimpinan dari setiap tingkatan dalam Perusahaan, bertanggung jawab untuk memastikan bahwa pedoman etika bisnis dan etika kerja dipatuhi dan dijalankan dengan baik pada jajaran masing-masing.</a:t>
            </a:r>
          </a:p>
          <a:p>
            <a:pPr algn="just">
              <a:lnSpc>
                <a:spcPts val="2520"/>
              </a:lnSpc>
            </a:pPr>
            <a:endParaRPr lang="en-US" sz="1800">
              <a:solidFill>
                <a:srgbClr val="2E2E2E"/>
              </a:solidFill>
              <a:latin typeface="Montserrat Classic"/>
            </a:endParaRPr>
          </a:p>
          <a:p>
            <a:pPr algn="just">
              <a:lnSpc>
                <a:spcPts val="2520"/>
              </a:lnSpc>
            </a:pPr>
            <a:r>
              <a:rPr lang="en-US" sz="1800">
                <a:solidFill>
                  <a:srgbClr val="2E2E2E"/>
                </a:solidFill>
                <a:latin typeface="Montserrat Classic"/>
              </a:rPr>
              <a:t>Sebagai bentuk pernyataan tersebut, Pedoman Etika Bisnis dan Etika Kerja (Code of Conduct) ditandatangani oleh seluruh anggota Dewan Komisaris dan Direksi. Selanjutnya setiap individu (Karyawan) diwajibkan untuk menandatangani pernyataan pribadi Pedoman Etika Bisnis dan Etika Kerja (Code of Conduct) secara tahunan.</a:t>
            </a:r>
          </a:p>
          <a:p>
            <a:pPr algn="just">
              <a:lnSpc>
                <a:spcPts val="2520"/>
              </a:lnSpc>
            </a:pPr>
            <a:r>
              <a:rPr lang="en-US" sz="1800">
                <a:solidFill>
                  <a:srgbClr val="2E2E2E"/>
                </a:solidFill>
                <a:latin typeface="Montserrat Classic"/>
              </a:rPr>
              <a:t>Perusahaan akan mengkomunikasikan kebijakan ini kepada Pemegang Saham, customer, Agen Asuransi, Broker, Lembaga Keuangan, Mitra Kerja dan stakeholders lainnya untuk mendorong secara aktif agar tercipta sinergi dan sejalan dengan penerapan Code of Conduct in.</a:t>
            </a:r>
          </a:p>
          <a:p>
            <a:pPr algn="just">
              <a:lnSpc>
                <a:spcPts val="2520"/>
              </a:lnSpc>
            </a:pPr>
            <a:endParaRPr lang="en-US" sz="1800">
              <a:solidFill>
                <a:srgbClr val="2E2E2E"/>
              </a:solidFill>
              <a:latin typeface="Montserrat Classic"/>
            </a:endParaRPr>
          </a:p>
          <a:p>
            <a:pPr algn="just">
              <a:lnSpc>
                <a:spcPts val="2520"/>
              </a:lnSpc>
            </a:pPr>
            <a:r>
              <a:rPr lang="en-US" sz="1800">
                <a:solidFill>
                  <a:srgbClr val="2E2E2E"/>
                </a:solidFill>
                <a:latin typeface="Montserrat Classic"/>
              </a:rPr>
              <a:t>Sebagai pedoman yang bersifat dinamis, Code of Conduct Perusahaan akan dikaji secara berkala dan berkelanjutan sesuai dengan dinamika lingkungan usaha yang terjadi. Namun demikian, dalam setiap perubahannya Perusahaan tidak akan mengorbankan nilai- nilai yang telah ada demi keuntungan jangka pendek semata.</a:t>
            </a:r>
          </a:p>
          <a:p>
            <a:pPr algn="just">
              <a:lnSpc>
                <a:spcPts val="4500"/>
              </a:lnSpc>
            </a:pPr>
            <a:endParaRPr lang="en-US" sz="1800">
              <a:solidFill>
                <a:srgbClr val="2E2E2E"/>
              </a:solidFill>
              <a:latin typeface="Montserrat Classic"/>
            </a:endParaRPr>
          </a:p>
        </p:txBody>
      </p:sp>
      <p:sp>
        <p:nvSpPr>
          <p:cNvPr id="5" name="TextBox 5"/>
          <p:cNvSpPr txBox="1"/>
          <p:nvPr/>
        </p:nvSpPr>
        <p:spPr>
          <a:xfrm>
            <a:off x="1028700" y="720777"/>
            <a:ext cx="11808021"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A. DASAR PEMIKIRAN </a:t>
            </a:r>
          </a:p>
          <a:p>
            <a:pPr>
              <a:lnSpc>
                <a:spcPts val="4700"/>
              </a:lnSpc>
            </a:pPr>
            <a:r>
              <a:rPr lang="en-US" sz="4700">
                <a:solidFill>
                  <a:srgbClr val="004AAD"/>
                </a:solidFill>
                <a:latin typeface="Montserrat Classic"/>
              </a:rPr>
              <a:t> </a:t>
            </a:r>
          </a:p>
        </p:txBody>
      </p:sp>
      <p:sp>
        <p:nvSpPr>
          <p:cNvPr id="6" name="TextBox 6"/>
          <p:cNvSpPr txBox="1"/>
          <p:nvPr/>
        </p:nvSpPr>
        <p:spPr>
          <a:xfrm>
            <a:off x="17508904" y="9400445"/>
            <a:ext cx="263128" cy="601473"/>
          </a:xfrm>
          <a:prstGeom prst="rect">
            <a:avLst/>
          </a:prstGeom>
        </p:spPr>
        <p:txBody>
          <a:bodyPr lIns="0" tIns="0" rIns="0" bIns="0" rtlCol="0" anchor="t">
            <a:spAutoFit/>
          </a:bodyPr>
          <a:lstStyle/>
          <a:p>
            <a:pPr algn="ctr">
              <a:lnSpc>
                <a:spcPts val="4647"/>
              </a:lnSpc>
            </a:pPr>
            <a:r>
              <a:rPr lang="en-US" sz="3319">
                <a:solidFill>
                  <a:srgbClr val="000000"/>
                </a:solidFill>
                <a:latin typeface="Telegraf"/>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3525861">
            <a:off x="8777887" y="-2612009"/>
            <a:ext cx="13709384" cy="13709384"/>
          </a:xfrm>
          <a:prstGeom prst="rect">
            <a:avLst/>
          </a:prstGeom>
        </p:spPr>
      </p:pic>
      <p:pic>
        <p:nvPicPr>
          <p:cNvPr id="3" name="Picture 3"/>
          <p:cNvPicPr>
            <a:picLocks noChangeAspect="1"/>
          </p:cNvPicPr>
          <p:nvPr/>
        </p:nvPicPr>
        <p:blipFill>
          <a:blip r:embed="rId4">
            <a:alphaModFix amt="36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flipH="1">
            <a:off x="1698770" y="4242683"/>
            <a:ext cx="13933809" cy="6281696"/>
          </a:xfrm>
          <a:prstGeom prst="rect">
            <a:avLst/>
          </a:prstGeom>
        </p:spPr>
      </p:pic>
      <p:sp>
        <p:nvSpPr>
          <p:cNvPr id="4" name="TextBox 4"/>
          <p:cNvSpPr txBox="1"/>
          <p:nvPr/>
        </p:nvSpPr>
        <p:spPr>
          <a:xfrm>
            <a:off x="1019175" y="2964180"/>
            <a:ext cx="16403784" cy="4739439"/>
          </a:xfrm>
          <a:prstGeom prst="rect">
            <a:avLst/>
          </a:prstGeom>
        </p:spPr>
        <p:txBody>
          <a:bodyPr lIns="0" tIns="0" rIns="0" bIns="0" rtlCol="0" anchor="t">
            <a:spAutoFit/>
          </a:bodyPr>
          <a:lstStyle/>
          <a:p>
            <a:pPr marL="457200" indent="-457200" algn="just">
              <a:lnSpc>
                <a:spcPts val="3360"/>
              </a:lnSpc>
              <a:buFont typeface="+mj-lt"/>
              <a:buAutoNum type="arabicPeriod"/>
            </a:pPr>
            <a:r>
              <a:rPr lang="en-US" sz="2100" dirty="0" err="1">
                <a:solidFill>
                  <a:srgbClr val="2E2E2E"/>
                </a:solidFill>
                <a:latin typeface="Montserrat Classic"/>
              </a:rPr>
              <a:t>Mengutamakan</a:t>
            </a:r>
            <a:r>
              <a:rPr lang="en-US" sz="2100" dirty="0">
                <a:solidFill>
                  <a:srgbClr val="2E2E2E"/>
                </a:solidFill>
                <a:latin typeface="Montserrat Classic"/>
              </a:rPr>
              <a:t> </a:t>
            </a:r>
            <a:r>
              <a:rPr lang="en-US" sz="2100" dirty="0" err="1">
                <a:solidFill>
                  <a:srgbClr val="2E2E2E"/>
                </a:solidFill>
                <a:latin typeface="Montserrat Classic"/>
              </a:rPr>
              <a:t>kepatuhan</a:t>
            </a:r>
            <a:r>
              <a:rPr lang="en-US" sz="2100" dirty="0">
                <a:solidFill>
                  <a:srgbClr val="2E2E2E"/>
                </a:solidFill>
                <a:latin typeface="Montserrat Classic"/>
              </a:rPr>
              <a:t> </a:t>
            </a:r>
            <a:r>
              <a:rPr lang="en-US" sz="2100" dirty="0" err="1">
                <a:solidFill>
                  <a:srgbClr val="2E2E2E"/>
                </a:solidFill>
                <a:latin typeface="Montserrat Classic"/>
              </a:rPr>
              <a:t>pada</a:t>
            </a:r>
            <a:r>
              <a:rPr lang="en-US" sz="2100" dirty="0">
                <a:solidFill>
                  <a:srgbClr val="2E2E2E"/>
                </a:solidFill>
                <a:latin typeface="Montserrat Classic"/>
              </a:rPr>
              <a:t> </a:t>
            </a:r>
            <a:r>
              <a:rPr lang="en-US" sz="2100" dirty="0" err="1">
                <a:solidFill>
                  <a:srgbClr val="2E2E2E"/>
                </a:solidFill>
                <a:latin typeface="Montserrat Classic"/>
              </a:rPr>
              <a:t>hukum</a:t>
            </a:r>
            <a:r>
              <a:rPr lang="en-US" sz="2100" dirty="0">
                <a:solidFill>
                  <a:srgbClr val="2E2E2E"/>
                </a:solidFill>
                <a:latin typeface="Montserrat Classic"/>
              </a:rPr>
              <a:t> </a:t>
            </a:r>
            <a:r>
              <a:rPr lang="en-US" sz="2100" dirty="0" err="1">
                <a:solidFill>
                  <a:srgbClr val="2E2E2E"/>
                </a:solidFill>
                <a:latin typeface="Montserrat Classic"/>
              </a:rPr>
              <a:t>dan</a:t>
            </a:r>
            <a:r>
              <a:rPr lang="en-US" sz="2100" dirty="0">
                <a:solidFill>
                  <a:srgbClr val="2E2E2E"/>
                </a:solidFill>
                <a:latin typeface="Montserrat Classic"/>
              </a:rPr>
              <a:t> </a:t>
            </a:r>
            <a:r>
              <a:rPr lang="en-US" sz="2100" dirty="0" err="1">
                <a:solidFill>
                  <a:srgbClr val="2E2E2E"/>
                </a:solidFill>
                <a:latin typeface="Montserrat Classic"/>
              </a:rPr>
              <a:t>peraturan</a:t>
            </a:r>
            <a:r>
              <a:rPr lang="en-US" sz="2100" dirty="0">
                <a:solidFill>
                  <a:srgbClr val="2E2E2E"/>
                </a:solidFill>
                <a:latin typeface="Montserrat Classic"/>
              </a:rPr>
              <a:t> </a:t>
            </a:r>
            <a:r>
              <a:rPr lang="en-US" sz="2100" dirty="0" err="1">
                <a:solidFill>
                  <a:srgbClr val="2E2E2E"/>
                </a:solidFill>
                <a:latin typeface="Montserrat Classic"/>
              </a:rPr>
              <a:t>perundang-undangan</a:t>
            </a:r>
            <a:r>
              <a:rPr lang="en-US" sz="2100" dirty="0">
                <a:solidFill>
                  <a:srgbClr val="2E2E2E"/>
                </a:solidFill>
                <a:latin typeface="Montserrat Classic"/>
              </a:rPr>
              <a:t> yang </a:t>
            </a:r>
            <a:r>
              <a:rPr lang="en-US" sz="2100" dirty="0" err="1">
                <a:solidFill>
                  <a:srgbClr val="2E2E2E"/>
                </a:solidFill>
                <a:latin typeface="Montserrat Classic"/>
              </a:rPr>
              <a:t>berlaku</a:t>
            </a:r>
            <a:r>
              <a:rPr lang="en-US" sz="2100" dirty="0">
                <a:solidFill>
                  <a:srgbClr val="2E2E2E"/>
                </a:solidFill>
                <a:latin typeface="Montserrat Classic"/>
              </a:rPr>
              <a:t> </a:t>
            </a:r>
            <a:r>
              <a:rPr lang="en-US" sz="2100" dirty="0" err="1">
                <a:solidFill>
                  <a:srgbClr val="2E2E2E"/>
                </a:solidFill>
                <a:latin typeface="Montserrat Classic"/>
              </a:rPr>
              <a:t>serta</a:t>
            </a:r>
            <a:r>
              <a:rPr lang="en-US" sz="2100" dirty="0">
                <a:solidFill>
                  <a:srgbClr val="2E2E2E"/>
                </a:solidFill>
                <a:latin typeface="Montserrat Classic"/>
              </a:rPr>
              <a:t> </a:t>
            </a:r>
            <a:r>
              <a:rPr lang="en-US" sz="2100" dirty="0" err="1">
                <a:solidFill>
                  <a:srgbClr val="2E2E2E"/>
                </a:solidFill>
                <a:latin typeface="Montserrat Classic"/>
              </a:rPr>
              <a:t>mengindahkan</a:t>
            </a:r>
            <a:r>
              <a:rPr lang="en-US" sz="2100" dirty="0">
                <a:solidFill>
                  <a:srgbClr val="2E2E2E"/>
                </a:solidFill>
                <a:latin typeface="Montserrat Classic"/>
              </a:rPr>
              <a:t> </a:t>
            </a:r>
            <a:r>
              <a:rPr lang="en-US" sz="2100" dirty="0" err="1">
                <a:solidFill>
                  <a:srgbClr val="2E2E2E"/>
                </a:solidFill>
                <a:latin typeface="Montserrat Classic"/>
              </a:rPr>
              <a:t>norma-norma</a:t>
            </a:r>
            <a:r>
              <a:rPr lang="en-US" sz="2100" dirty="0">
                <a:solidFill>
                  <a:srgbClr val="2E2E2E"/>
                </a:solidFill>
                <a:latin typeface="Montserrat Classic"/>
              </a:rPr>
              <a:t> yang </a:t>
            </a:r>
            <a:r>
              <a:rPr lang="en-US" sz="2100" dirty="0" err="1">
                <a:solidFill>
                  <a:srgbClr val="2E2E2E"/>
                </a:solidFill>
                <a:latin typeface="Montserrat Classic"/>
              </a:rPr>
              <a:t>berlaku</a:t>
            </a:r>
            <a:r>
              <a:rPr lang="en-US" sz="2100" dirty="0">
                <a:solidFill>
                  <a:srgbClr val="2E2E2E"/>
                </a:solidFill>
                <a:latin typeface="Montserrat Classic"/>
              </a:rPr>
              <a:t> </a:t>
            </a:r>
            <a:r>
              <a:rPr lang="en-US" sz="2100" dirty="0" err="1">
                <a:solidFill>
                  <a:srgbClr val="2E2E2E"/>
                </a:solidFill>
                <a:latin typeface="Montserrat Classic"/>
              </a:rPr>
              <a:t>pada</a:t>
            </a:r>
            <a:r>
              <a:rPr lang="en-US" sz="2100" dirty="0">
                <a:solidFill>
                  <a:srgbClr val="2E2E2E"/>
                </a:solidFill>
                <a:latin typeface="Montserrat Classic"/>
              </a:rPr>
              <a:t> </a:t>
            </a:r>
            <a:r>
              <a:rPr lang="en-US" sz="2100" dirty="0" err="1">
                <a:solidFill>
                  <a:srgbClr val="2E2E2E"/>
                </a:solidFill>
                <a:latin typeface="Montserrat Classic"/>
              </a:rPr>
              <a:t>masyarakat</a:t>
            </a:r>
            <a:r>
              <a:rPr lang="en-US" sz="2100" dirty="0">
                <a:solidFill>
                  <a:srgbClr val="2E2E2E"/>
                </a:solidFill>
                <a:latin typeface="Montserrat Classic"/>
              </a:rPr>
              <a:t> </a:t>
            </a:r>
            <a:endParaRPr lang="id-ID" sz="2100" dirty="0">
              <a:solidFill>
                <a:srgbClr val="2E2E2E"/>
              </a:solidFill>
              <a:latin typeface="Montserrat Classic"/>
            </a:endParaRPr>
          </a:p>
          <a:p>
            <a:pPr marL="457200" indent="-457200" algn="just">
              <a:lnSpc>
                <a:spcPts val="3360"/>
              </a:lnSpc>
              <a:buFont typeface="+mj-lt"/>
              <a:buAutoNum type="arabicPeriod"/>
            </a:pPr>
            <a:r>
              <a:rPr lang="en-US" sz="2100" dirty="0" err="1">
                <a:solidFill>
                  <a:srgbClr val="2E2E2E"/>
                </a:solidFill>
                <a:latin typeface="Montserrat Classic"/>
              </a:rPr>
              <a:t>Menghindari</a:t>
            </a:r>
            <a:r>
              <a:rPr lang="en-US" sz="2100" dirty="0">
                <a:solidFill>
                  <a:srgbClr val="2E2E2E"/>
                </a:solidFill>
                <a:latin typeface="Montserrat Classic"/>
              </a:rPr>
              <a:t> </a:t>
            </a:r>
            <a:r>
              <a:rPr lang="en-US" sz="2100" dirty="0" err="1">
                <a:solidFill>
                  <a:srgbClr val="2E2E2E"/>
                </a:solidFill>
                <a:latin typeface="Montserrat Classic"/>
              </a:rPr>
              <a:t>tindakan</a:t>
            </a:r>
            <a:r>
              <a:rPr lang="en-US" sz="2100" dirty="0">
                <a:solidFill>
                  <a:srgbClr val="2E2E2E"/>
                </a:solidFill>
                <a:latin typeface="Montserrat Classic"/>
              </a:rPr>
              <a:t>, </a:t>
            </a:r>
            <a:r>
              <a:rPr lang="en-US" sz="2100" dirty="0" err="1">
                <a:solidFill>
                  <a:srgbClr val="2E2E2E"/>
                </a:solidFill>
                <a:latin typeface="Montserrat Classic"/>
              </a:rPr>
              <a:t>perilaku</a:t>
            </a:r>
            <a:r>
              <a:rPr lang="en-US" sz="2100" dirty="0">
                <a:solidFill>
                  <a:srgbClr val="2E2E2E"/>
                </a:solidFill>
                <a:latin typeface="Montserrat Classic"/>
              </a:rPr>
              <a:t> </a:t>
            </a:r>
            <a:r>
              <a:rPr lang="en-US" sz="2100" dirty="0" err="1">
                <a:solidFill>
                  <a:srgbClr val="2E2E2E"/>
                </a:solidFill>
                <a:latin typeface="Montserrat Classic"/>
              </a:rPr>
              <a:t>ataupun</a:t>
            </a:r>
            <a:r>
              <a:rPr lang="en-US" sz="2100" dirty="0">
                <a:solidFill>
                  <a:srgbClr val="2E2E2E"/>
                </a:solidFill>
                <a:latin typeface="Montserrat Classic"/>
              </a:rPr>
              <a:t> </a:t>
            </a:r>
            <a:r>
              <a:rPr lang="en-US" sz="2100" dirty="0" err="1">
                <a:solidFill>
                  <a:srgbClr val="2E2E2E"/>
                </a:solidFill>
                <a:latin typeface="Montserrat Classic"/>
              </a:rPr>
              <a:t>perbuatan-perbuatan</a:t>
            </a:r>
            <a:r>
              <a:rPr lang="en-US" sz="2100" dirty="0">
                <a:solidFill>
                  <a:srgbClr val="2E2E2E"/>
                </a:solidFill>
                <a:latin typeface="Montserrat Classic"/>
              </a:rPr>
              <a:t> yang </a:t>
            </a:r>
            <a:r>
              <a:rPr lang="en-US" sz="2100" dirty="0" err="1">
                <a:solidFill>
                  <a:srgbClr val="2E2E2E"/>
                </a:solidFill>
                <a:latin typeface="Montserrat Classic"/>
              </a:rPr>
              <a:t>dapat</a:t>
            </a:r>
            <a:r>
              <a:rPr lang="en-US" sz="2100" dirty="0">
                <a:solidFill>
                  <a:srgbClr val="2E2E2E"/>
                </a:solidFill>
                <a:latin typeface="Montserrat Classic"/>
              </a:rPr>
              <a:t> </a:t>
            </a:r>
            <a:r>
              <a:rPr lang="en-US" sz="2100" dirty="0" err="1">
                <a:solidFill>
                  <a:srgbClr val="2E2E2E"/>
                </a:solidFill>
                <a:latin typeface="Montserrat Classic"/>
              </a:rPr>
              <a:t>menimbulkan</a:t>
            </a:r>
            <a:r>
              <a:rPr lang="en-US" sz="2100" dirty="0">
                <a:solidFill>
                  <a:srgbClr val="2E2E2E"/>
                </a:solidFill>
                <a:latin typeface="Montserrat Classic"/>
              </a:rPr>
              <a:t> </a:t>
            </a:r>
            <a:r>
              <a:rPr lang="en-US" sz="2100" dirty="0" err="1">
                <a:solidFill>
                  <a:srgbClr val="2E2E2E"/>
                </a:solidFill>
                <a:latin typeface="Montserrat Classic"/>
              </a:rPr>
              <a:t>konflik</a:t>
            </a:r>
            <a:r>
              <a:rPr lang="en-US" sz="2100" dirty="0">
                <a:solidFill>
                  <a:srgbClr val="2E2E2E"/>
                </a:solidFill>
                <a:latin typeface="Montserrat Classic"/>
              </a:rPr>
              <a:t> </a:t>
            </a:r>
            <a:r>
              <a:rPr lang="en-US" sz="2100" dirty="0" err="1">
                <a:solidFill>
                  <a:srgbClr val="2E2E2E"/>
                </a:solidFill>
                <a:latin typeface="Montserrat Classic"/>
              </a:rPr>
              <a:t>kepentingan</a:t>
            </a:r>
            <a:r>
              <a:rPr lang="en-US" sz="2100" dirty="0">
                <a:solidFill>
                  <a:srgbClr val="2E2E2E"/>
                </a:solidFill>
                <a:latin typeface="Montserrat Classic"/>
              </a:rPr>
              <a:t>, </a:t>
            </a:r>
            <a:r>
              <a:rPr lang="en-US" sz="2100" dirty="0" err="1">
                <a:solidFill>
                  <a:srgbClr val="2E2E2E"/>
                </a:solidFill>
                <a:latin typeface="Montserrat Classic"/>
              </a:rPr>
              <a:t>korupsi</a:t>
            </a:r>
            <a:r>
              <a:rPr lang="en-US" sz="2100" dirty="0">
                <a:solidFill>
                  <a:srgbClr val="2E2E2E"/>
                </a:solidFill>
                <a:latin typeface="Montserrat Classic"/>
              </a:rPr>
              <a:t>, </a:t>
            </a:r>
            <a:r>
              <a:rPr lang="en-US" sz="2100" dirty="0" err="1">
                <a:solidFill>
                  <a:srgbClr val="2E2E2E"/>
                </a:solidFill>
                <a:latin typeface="Montserrat Classic"/>
              </a:rPr>
              <a:t>kolusi</a:t>
            </a:r>
            <a:r>
              <a:rPr lang="en-US" sz="2100" dirty="0">
                <a:solidFill>
                  <a:srgbClr val="2E2E2E"/>
                </a:solidFill>
                <a:latin typeface="Montserrat Classic"/>
              </a:rPr>
              <a:t> </a:t>
            </a:r>
            <a:r>
              <a:rPr lang="en-US" sz="2100" dirty="0" err="1">
                <a:solidFill>
                  <a:srgbClr val="2E2E2E"/>
                </a:solidFill>
                <a:latin typeface="Montserrat Classic"/>
              </a:rPr>
              <a:t>maupun</a:t>
            </a:r>
            <a:r>
              <a:rPr lang="en-US" sz="2100" dirty="0">
                <a:solidFill>
                  <a:srgbClr val="2E2E2E"/>
                </a:solidFill>
                <a:latin typeface="Montserrat Classic"/>
              </a:rPr>
              <a:t> </a:t>
            </a:r>
            <a:r>
              <a:rPr lang="en-US" sz="2100" dirty="0" err="1">
                <a:solidFill>
                  <a:srgbClr val="2E2E2E"/>
                </a:solidFill>
                <a:latin typeface="Montserrat Classic"/>
              </a:rPr>
              <a:t>nepotisme</a:t>
            </a:r>
            <a:r>
              <a:rPr lang="en-US" sz="2100" dirty="0">
                <a:solidFill>
                  <a:srgbClr val="2E2E2E"/>
                </a:solidFill>
                <a:latin typeface="Montserrat Classic"/>
              </a:rPr>
              <a:t> </a:t>
            </a:r>
            <a:r>
              <a:rPr lang="en-US" sz="2100" dirty="0" err="1">
                <a:solidFill>
                  <a:srgbClr val="2E2E2E"/>
                </a:solidFill>
                <a:latin typeface="Montserrat Classic"/>
              </a:rPr>
              <a:t>serta</a:t>
            </a:r>
            <a:r>
              <a:rPr lang="en-US" sz="2100" dirty="0">
                <a:solidFill>
                  <a:srgbClr val="2E2E2E"/>
                </a:solidFill>
                <a:latin typeface="Montserrat Classic"/>
              </a:rPr>
              <a:t> </a:t>
            </a:r>
            <a:r>
              <a:rPr lang="en-US" sz="2100" dirty="0" err="1">
                <a:solidFill>
                  <a:srgbClr val="2E2E2E"/>
                </a:solidFill>
                <a:latin typeface="Montserrat Classic"/>
              </a:rPr>
              <a:t>selalu</a:t>
            </a:r>
            <a:r>
              <a:rPr lang="en-US" sz="2100" dirty="0">
                <a:solidFill>
                  <a:srgbClr val="2E2E2E"/>
                </a:solidFill>
                <a:latin typeface="Montserrat Classic"/>
              </a:rPr>
              <a:t> </a:t>
            </a:r>
            <a:r>
              <a:rPr lang="en-US" sz="2100" dirty="0" err="1">
                <a:solidFill>
                  <a:srgbClr val="2E2E2E"/>
                </a:solidFill>
                <a:latin typeface="Montserrat Classic"/>
              </a:rPr>
              <a:t>mengutamakan</a:t>
            </a:r>
            <a:r>
              <a:rPr lang="en-US" sz="2100" dirty="0">
                <a:solidFill>
                  <a:srgbClr val="2E2E2E"/>
                </a:solidFill>
                <a:latin typeface="Montserrat Classic"/>
              </a:rPr>
              <a:t> </a:t>
            </a:r>
            <a:r>
              <a:rPr lang="en-US" sz="2100" dirty="0" err="1">
                <a:solidFill>
                  <a:srgbClr val="2E2E2E"/>
                </a:solidFill>
                <a:latin typeface="Montserrat Classic"/>
              </a:rPr>
              <a:t>kepentingan</a:t>
            </a:r>
            <a:r>
              <a:rPr lang="en-US" sz="2100" dirty="0">
                <a:solidFill>
                  <a:srgbClr val="2E2E2E"/>
                </a:solidFill>
                <a:latin typeface="Montserrat Classic"/>
              </a:rPr>
              <a:t> Perusahaan di </a:t>
            </a:r>
            <a:r>
              <a:rPr lang="en-US" sz="2100" dirty="0" err="1">
                <a:solidFill>
                  <a:srgbClr val="2E2E2E"/>
                </a:solidFill>
                <a:latin typeface="Montserrat Classic"/>
              </a:rPr>
              <a:t>atas</a:t>
            </a:r>
            <a:r>
              <a:rPr lang="en-US" sz="2100" dirty="0">
                <a:solidFill>
                  <a:srgbClr val="2E2E2E"/>
                </a:solidFill>
                <a:latin typeface="Montserrat Classic"/>
              </a:rPr>
              <a:t> </a:t>
            </a:r>
            <a:r>
              <a:rPr lang="en-US" sz="2100" dirty="0" err="1">
                <a:solidFill>
                  <a:srgbClr val="2E2E2E"/>
                </a:solidFill>
                <a:latin typeface="Montserrat Classic"/>
              </a:rPr>
              <a:t>kepentingan</a:t>
            </a:r>
            <a:r>
              <a:rPr lang="en-US" sz="2100" dirty="0">
                <a:solidFill>
                  <a:srgbClr val="2E2E2E"/>
                </a:solidFill>
                <a:latin typeface="Montserrat Classic"/>
              </a:rPr>
              <a:t> </a:t>
            </a:r>
            <a:r>
              <a:rPr lang="en-US" sz="2100" dirty="0" err="1">
                <a:solidFill>
                  <a:srgbClr val="2E2E2E"/>
                </a:solidFill>
                <a:latin typeface="Montserrat Classic"/>
              </a:rPr>
              <a:t>pribadi</a:t>
            </a:r>
            <a:r>
              <a:rPr lang="en-US" sz="2100" dirty="0">
                <a:solidFill>
                  <a:srgbClr val="2E2E2E"/>
                </a:solidFill>
                <a:latin typeface="Montserrat Classic"/>
              </a:rPr>
              <a:t>, </a:t>
            </a:r>
            <a:r>
              <a:rPr lang="en-US" sz="2100" dirty="0" err="1">
                <a:solidFill>
                  <a:srgbClr val="2E2E2E"/>
                </a:solidFill>
                <a:latin typeface="Montserrat Classic"/>
              </a:rPr>
              <a:t>keluarga</a:t>
            </a:r>
            <a:r>
              <a:rPr lang="en-US" sz="2100" dirty="0">
                <a:solidFill>
                  <a:srgbClr val="2E2E2E"/>
                </a:solidFill>
                <a:latin typeface="Montserrat Classic"/>
              </a:rPr>
              <a:t>, </a:t>
            </a:r>
            <a:r>
              <a:rPr lang="en-US" sz="2100" dirty="0" err="1">
                <a:solidFill>
                  <a:srgbClr val="2E2E2E"/>
                </a:solidFill>
                <a:latin typeface="Montserrat Classic"/>
              </a:rPr>
              <a:t>kelompok</a:t>
            </a:r>
            <a:r>
              <a:rPr lang="en-US" sz="2100" dirty="0">
                <a:solidFill>
                  <a:srgbClr val="2E2E2E"/>
                </a:solidFill>
                <a:latin typeface="Montserrat Classic"/>
              </a:rPr>
              <a:t> </a:t>
            </a:r>
            <a:r>
              <a:rPr lang="en-US" sz="2100" dirty="0" err="1">
                <a:solidFill>
                  <a:srgbClr val="2E2E2E"/>
                </a:solidFill>
                <a:latin typeface="Montserrat Classic"/>
              </a:rPr>
              <a:t>ataupun</a:t>
            </a:r>
            <a:r>
              <a:rPr lang="en-US" sz="2100" dirty="0">
                <a:solidFill>
                  <a:srgbClr val="2E2E2E"/>
                </a:solidFill>
                <a:latin typeface="Montserrat Classic"/>
              </a:rPr>
              <a:t> </a:t>
            </a:r>
            <a:r>
              <a:rPr lang="en-US" sz="2100" dirty="0" err="1">
                <a:solidFill>
                  <a:srgbClr val="2E2E2E"/>
                </a:solidFill>
                <a:latin typeface="Montserrat Classic"/>
              </a:rPr>
              <a:t>golongan</a:t>
            </a:r>
            <a:r>
              <a:rPr lang="en-US" sz="2100" dirty="0">
                <a:solidFill>
                  <a:srgbClr val="2E2E2E"/>
                </a:solidFill>
                <a:latin typeface="Montserrat Classic"/>
              </a:rPr>
              <a:t>.</a:t>
            </a:r>
            <a:endParaRPr lang="id-ID" sz="2100" dirty="0">
              <a:solidFill>
                <a:srgbClr val="2E2E2E"/>
              </a:solidFill>
              <a:latin typeface="Montserrat Classic"/>
            </a:endParaRPr>
          </a:p>
          <a:p>
            <a:pPr marL="457200" indent="-457200" algn="just">
              <a:lnSpc>
                <a:spcPts val="3360"/>
              </a:lnSpc>
              <a:buFont typeface="+mj-lt"/>
              <a:buAutoNum type="arabicPeriod"/>
            </a:pPr>
            <a:r>
              <a:rPr lang="en-US" sz="2100" dirty="0" err="1">
                <a:solidFill>
                  <a:srgbClr val="2E2E2E"/>
                </a:solidFill>
                <a:latin typeface="Montserrat Classic"/>
              </a:rPr>
              <a:t>Sadar</a:t>
            </a:r>
            <a:r>
              <a:rPr lang="en-US" sz="2100" dirty="0">
                <a:solidFill>
                  <a:srgbClr val="2E2E2E"/>
                </a:solidFill>
                <a:latin typeface="Montserrat Classic"/>
              </a:rPr>
              <a:t> </a:t>
            </a:r>
            <a:r>
              <a:rPr lang="en-US" sz="2100" dirty="0" err="1">
                <a:solidFill>
                  <a:srgbClr val="2E2E2E"/>
                </a:solidFill>
                <a:latin typeface="Montserrat Classic"/>
              </a:rPr>
              <a:t>bahwa</a:t>
            </a:r>
            <a:r>
              <a:rPr lang="en-US" sz="2100" dirty="0">
                <a:solidFill>
                  <a:srgbClr val="2E2E2E"/>
                </a:solidFill>
                <a:latin typeface="Montserrat Classic"/>
              </a:rPr>
              <a:t> Perusahaan </a:t>
            </a:r>
            <a:r>
              <a:rPr lang="en-US" sz="2100" dirty="0" err="1">
                <a:solidFill>
                  <a:srgbClr val="2E2E2E"/>
                </a:solidFill>
                <a:latin typeface="Montserrat Classic"/>
              </a:rPr>
              <a:t>dituntut</a:t>
            </a:r>
            <a:r>
              <a:rPr lang="en-US" sz="2100" dirty="0">
                <a:solidFill>
                  <a:srgbClr val="2E2E2E"/>
                </a:solidFill>
                <a:latin typeface="Montserrat Classic"/>
              </a:rPr>
              <a:t> </a:t>
            </a:r>
            <a:r>
              <a:rPr lang="en-US" sz="2100" dirty="0" err="1">
                <a:solidFill>
                  <a:srgbClr val="2E2E2E"/>
                </a:solidFill>
                <a:latin typeface="Montserrat Classic"/>
              </a:rPr>
              <a:t>untuk</a:t>
            </a:r>
            <a:r>
              <a:rPr lang="en-US" sz="2100" dirty="0">
                <a:solidFill>
                  <a:srgbClr val="2E2E2E"/>
                </a:solidFill>
                <a:latin typeface="Montserrat Classic"/>
              </a:rPr>
              <a:t> </a:t>
            </a:r>
            <a:r>
              <a:rPr lang="en-US" sz="2100" dirty="0" err="1">
                <a:solidFill>
                  <a:srgbClr val="2E2E2E"/>
                </a:solidFill>
                <a:latin typeface="Montserrat Classic"/>
              </a:rPr>
              <a:t>tumbuh</a:t>
            </a:r>
            <a:r>
              <a:rPr lang="en-US" sz="2100" dirty="0">
                <a:solidFill>
                  <a:srgbClr val="2E2E2E"/>
                </a:solidFill>
                <a:latin typeface="Montserrat Classic"/>
              </a:rPr>
              <a:t> </a:t>
            </a:r>
            <a:r>
              <a:rPr lang="en-US" sz="2100" dirty="0" err="1">
                <a:solidFill>
                  <a:srgbClr val="2E2E2E"/>
                </a:solidFill>
                <a:latin typeface="Montserrat Classic"/>
              </a:rPr>
              <a:t>dan</a:t>
            </a:r>
            <a:r>
              <a:rPr lang="en-US" sz="2100" dirty="0">
                <a:solidFill>
                  <a:srgbClr val="2E2E2E"/>
                </a:solidFill>
                <a:latin typeface="Montserrat Classic"/>
              </a:rPr>
              <a:t> </a:t>
            </a:r>
            <a:r>
              <a:rPr lang="en-US" sz="2100" dirty="0" err="1">
                <a:solidFill>
                  <a:srgbClr val="2E2E2E"/>
                </a:solidFill>
                <a:latin typeface="Montserrat Classic"/>
              </a:rPr>
              <a:t>berkembang</a:t>
            </a:r>
            <a:r>
              <a:rPr lang="en-US" sz="2100" dirty="0">
                <a:solidFill>
                  <a:srgbClr val="2E2E2E"/>
                </a:solidFill>
                <a:latin typeface="Montserrat Classic"/>
              </a:rPr>
              <a:t> </a:t>
            </a:r>
            <a:r>
              <a:rPr lang="en-US" sz="2100" dirty="0" err="1">
                <a:solidFill>
                  <a:srgbClr val="2E2E2E"/>
                </a:solidFill>
                <a:latin typeface="Montserrat Classic"/>
              </a:rPr>
              <a:t>sesuai</a:t>
            </a:r>
            <a:r>
              <a:rPr lang="en-US" sz="2100" dirty="0">
                <a:solidFill>
                  <a:srgbClr val="2E2E2E"/>
                </a:solidFill>
                <a:latin typeface="Montserrat Classic"/>
              </a:rPr>
              <a:t> </a:t>
            </a:r>
            <a:r>
              <a:rPr lang="en-US" sz="2100" dirty="0" err="1">
                <a:solidFill>
                  <a:srgbClr val="2E2E2E"/>
                </a:solidFill>
                <a:latin typeface="Montserrat Classic"/>
              </a:rPr>
              <a:t>dengan</a:t>
            </a:r>
            <a:r>
              <a:rPr lang="en-US" sz="2100" dirty="0">
                <a:solidFill>
                  <a:srgbClr val="2E2E2E"/>
                </a:solidFill>
                <a:latin typeface="Montserrat Classic"/>
              </a:rPr>
              <a:t> </a:t>
            </a:r>
            <a:r>
              <a:rPr lang="en-US" sz="2100" dirty="0" err="1">
                <a:solidFill>
                  <a:srgbClr val="2E2E2E"/>
                </a:solidFill>
                <a:latin typeface="Montserrat Classic"/>
              </a:rPr>
              <a:t>dinamika</a:t>
            </a:r>
            <a:r>
              <a:rPr lang="en-US" sz="2100" dirty="0">
                <a:solidFill>
                  <a:srgbClr val="2E2E2E"/>
                </a:solidFill>
                <a:latin typeface="Montserrat Classic"/>
              </a:rPr>
              <a:t> </a:t>
            </a:r>
            <a:r>
              <a:rPr lang="en-US" sz="2100" dirty="0" err="1">
                <a:solidFill>
                  <a:srgbClr val="2E2E2E"/>
                </a:solidFill>
                <a:latin typeface="Montserrat Classic"/>
              </a:rPr>
              <a:t>dan</a:t>
            </a:r>
            <a:r>
              <a:rPr lang="en-US" sz="2100" dirty="0">
                <a:solidFill>
                  <a:srgbClr val="2E2E2E"/>
                </a:solidFill>
                <a:latin typeface="Montserrat Classic"/>
              </a:rPr>
              <a:t> </a:t>
            </a:r>
            <a:r>
              <a:rPr lang="en-US" sz="2100" dirty="0" err="1">
                <a:solidFill>
                  <a:srgbClr val="2E2E2E"/>
                </a:solidFill>
                <a:latin typeface="Montserrat Classic"/>
              </a:rPr>
              <a:t>perkembangan</a:t>
            </a:r>
            <a:r>
              <a:rPr lang="en-US" sz="2100" dirty="0">
                <a:solidFill>
                  <a:srgbClr val="2E2E2E"/>
                </a:solidFill>
                <a:latin typeface="Montserrat Classic"/>
              </a:rPr>
              <a:t> </a:t>
            </a:r>
            <a:r>
              <a:rPr lang="en-US" sz="2100" dirty="0" err="1">
                <a:solidFill>
                  <a:srgbClr val="2E2E2E"/>
                </a:solidFill>
                <a:latin typeface="Montserrat Classic"/>
              </a:rPr>
              <a:t>pasar</a:t>
            </a:r>
            <a:r>
              <a:rPr lang="en-US" sz="2100" dirty="0">
                <a:solidFill>
                  <a:srgbClr val="2E2E2E"/>
                </a:solidFill>
                <a:latin typeface="Montserrat Classic"/>
              </a:rPr>
              <a:t> </a:t>
            </a:r>
            <a:r>
              <a:rPr lang="en-US" sz="2100" dirty="0" err="1">
                <a:solidFill>
                  <a:srgbClr val="2E2E2E"/>
                </a:solidFill>
                <a:latin typeface="Montserrat Classic"/>
              </a:rPr>
              <a:t>serta</a:t>
            </a:r>
            <a:r>
              <a:rPr lang="en-US" sz="2100" dirty="0">
                <a:solidFill>
                  <a:srgbClr val="2E2E2E"/>
                </a:solidFill>
                <a:latin typeface="Montserrat Classic"/>
              </a:rPr>
              <a:t> </a:t>
            </a:r>
            <a:r>
              <a:rPr lang="en-US" sz="2100" dirty="0" err="1">
                <a:solidFill>
                  <a:srgbClr val="2E2E2E"/>
                </a:solidFill>
                <a:latin typeface="Montserrat Classic"/>
              </a:rPr>
              <a:t>tuntutan</a:t>
            </a:r>
            <a:r>
              <a:rPr lang="en-US" sz="2100" dirty="0">
                <a:solidFill>
                  <a:srgbClr val="2E2E2E"/>
                </a:solidFill>
                <a:latin typeface="Montserrat Classic"/>
              </a:rPr>
              <a:t> </a:t>
            </a:r>
            <a:r>
              <a:rPr lang="en-US" sz="2100" dirty="0" err="1">
                <a:solidFill>
                  <a:srgbClr val="2E2E2E"/>
                </a:solidFill>
                <a:latin typeface="Montserrat Classic"/>
              </a:rPr>
              <a:t>dari</a:t>
            </a:r>
            <a:r>
              <a:rPr lang="en-US" sz="2100" dirty="0">
                <a:solidFill>
                  <a:srgbClr val="2E2E2E"/>
                </a:solidFill>
                <a:latin typeface="Montserrat Classic"/>
              </a:rPr>
              <a:t> para </a:t>
            </a:r>
            <a:r>
              <a:rPr lang="en-US" sz="2100" dirty="0" err="1">
                <a:solidFill>
                  <a:srgbClr val="2E2E2E"/>
                </a:solidFill>
                <a:latin typeface="Montserrat Classic"/>
              </a:rPr>
              <a:t>pemangku</a:t>
            </a:r>
            <a:r>
              <a:rPr lang="en-US" sz="2100" dirty="0">
                <a:solidFill>
                  <a:srgbClr val="2E2E2E"/>
                </a:solidFill>
                <a:latin typeface="Montserrat Classic"/>
              </a:rPr>
              <a:t> </a:t>
            </a:r>
            <a:r>
              <a:rPr lang="en-US" sz="2100" dirty="0" err="1">
                <a:solidFill>
                  <a:srgbClr val="2E2E2E"/>
                </a:solidFill>
                <a:latin typeface="Montserrat Classic"/>
              </a:rPr>
              <a:t>kepentingan</a:t>
            </a:r>
            <a:r>
              <a:rPr lang="en-US" sz="2100" dirty="0">
                <a:solidFill>
                  <a:srgbClr val="2E2E2E"/>
                </a:solidFill>
                <a:latin typeface="Montserrat Classic"/>
              </a:rPr>
              <a:t> (Stakeholders).</a:t>
            </a:r>
            <a:endParaRPr lang="id-ID" sz="2100" dirty="0">
              <a:solidFill>
                <a:srgbClr val="2E2E2E"/>
              </a:solidFill>
              <a:latin typeface="Montserrat Classic"/>
            </a:endParaRPr>
          </a:p>
          <a:p>
            <a:pPr marL="457200" indent="-457200" algn="just">
              <a:lnSpc>
                <a:spcPts val="3360"/>
              </a:lnSpc>
              <a:buFont typeface="+mj-lt"/>
              <a:buAutoNum type="arabicPeriod"/>
            </a:pPr>
            <a:r>
              <a:rPr lang="en-US" sz="2100" dirty="0" err="1">
                <a:solidFill>
                  <a:srgbClr val="2E2E2E"/>
                </a:solidFill>
                <a:latin typeface="Montserrat Classic"/>
              </a:rPr>
              <a:t>Memberikan</a:t>
            </a:r>
            <a:r>
              <a:rPr lang="en-US" sz="2100" dirty="0">
                <a:solidFill>
                  <a:srgbClr val="2E2E2E"/>
                </a:solidFill>
                <a:latin typeface="Montserrat Classic"/>
              </a:rPr>
              <a:t> </a:t>
            </a:r>
            <a:r>
              <a:rPr lang="en-US" sz="2100" dirty="0" err="1">
                <a:solidFill>
                  <a:srgbClr val="2E2E2E"/>
                </a:solidFill>
                <a:latin typeface="Montserrat Classic"/>
              </a:rPr>
              <a:t>kontribusi</a:t>
            </a:r>
            <a:r>
              <a:rPr lang="en-US" sz="2100" dirty="0">
                <a:solidFill>
                  <a:srgbClr val="2E2E2E"/>
                </a:solidFill>
                <a:latin typeface="Montserrat Classic"/>
              </a:rPr>
              <a:t> </a:t>
            </a:r>
            <a:r>
              <a:rPr lang="en-US" sz="2100" dirty="0" err="1">
                <a:solidFill>
                  <a:srgbClr val="2E2E2E"/>
                </a:solidFill>
                <a:latin typeface="Montserrat Classic"/>
              </a:rPr>
              <a:t>pada</a:t>
            </a:r>
            <a:r>
              <a:rPr lang="en-US" sz="2100" dirty="0">
                <a:solidFill>
                  <a:srgbClr val="2E2E2E"/>
                </a:solidFill>
                <a:latin typeface="Montserrat Classic"/>
              </a:rPr>
              <a:t> </a:t>
            </a:r>
            <a:r>
              <a:rPr lang="en-US" sz="2100" dirty="0" err="1">
                <a:solidFill>
                  <a:srgbClr val="2E2E2E"/>
                </a:solidFill>
                <a:latin typeface="Montserrat Classic"/>
              </a:rPr>
              <a:t>peningkatan</a:t>
            </a:r>
            <a:r>
              <a:rPr lang="en-US" sz="2100" dirty="0">
                <a:solidFill>
                  <a:srgbClr val="2E2E2E"/>
                </a:solidFill>
                <a:latin typeface="Montserrat Classic"/>
              </a:rPr>
              <a:t> </a:t>
            </a:r>
            <a:r>
              <a:rPr lang="en-US" sz="2100" dirty="0" err="1">
                <a:solidFill>
                  <a:srgbClr val="2E2E2E"/>
                </a:solidFill>
                <a:latin typeface="Montserrat Classic"/>
              </a:rPr>
              <a:t>kesejahteraan</a:t>
            </a:r>
            <a:r>
              <a:rPr lang="en-US" sz="2100" dirty="0">
                <a:solidFill>
                  <a:srgbClr val="2E2E2E"/>
                </a:solidFill>
                <a:latin typeface="Montserrat Classic"/>
              </a:rPr>
              <a:t> </a:t>
            </a:r>
            <a:r>
              <a:rPr lang="en-US" sz="2100" dirty="0" err="1">
                <a:solidFill>
                  <a:srgbClr val="2E2E2E"/>
                </a:solidFill>
                <a:latin typeface="Montserrat Classic"/>
              </a:rPr>
              <a:t>masyarakat</a:t>
            </a:r>
            <a:r>
              <a:rPr lang="en-US" sz="2100" dirty="0">
                <a:solidFill>
                  <a:srgbClr val="2E2E2E"/>
                </a:solidFill>
                <a:latin typeface="Montserrat Classic"/>
              </a:rPr>
              <a:t>, </a:t>
            </a:r>
            <a:r>
              <a:rPr lang="en-US" sz="2100" dirty="0" err="1">
                <a:solidFill>
                  <a:srgbClr val="2E2E2E"/>
                </a:solidFill>
                <a:latin typeface="Montserrat Classic"/>
              </a:rPr>
              <a:t>bangsa</a:t>
            </a:r>
            <a:r>
              <a:rPr lang="en-US" sz="2100" dirty="0">
                <a:solidFill>
                  <a:srgbClr val="2E2E2E"/>
                </a:solidFill>
                <a:latin typeface="Montserrat Classic"/>
              </a:rPr>
              <a:t> </a:t>
            </a:r>
            <a:r>
              <a:rPr lang="en-US" sz="2100" dirty="0" err="1">
                <a:solidFill>
                  <a:srgbClr val="2E2E2E"/>
                </a:solidFill>
                <a:latin typeface="Montserrat Classic"/>
              </a:rPr>
              <a:t>dan</a:t>
            </a:r>
            <a:r>
              <a:rPr lang="en-US" sz="2100" dirty="0">
                <a:solidFill>
                  <a:srgbClr val="2E2E2E"/>
                </a:solidFill>
                <a:latin typeface="Montserrat Classic"/>
              </a:rPr>
              <a:t> </a:t>
            </a:r>
            <a:r>
              <a:rPr lang="en-US" sz="2100" dirty="0" err="1">
                <a:solidFill>
                  <a:srgbClr val="2E2E2E"/>
                </a:solidFill>
                <a:latin typeface="Montserrat Classic"/>
              </a:rPr>
              <a:t>negara</a:t>
            </a:r>
            <a:r>
              <a:rPr lang="en-US" sz="2100" dirty="0">
                <a:solidFill>
                  <a:srgbClr val="2E2E2E"/>
                </a:solidFill>
                <a:latin typeface="Montserrat Classic"/>
              </a:rPr>
              <a:t>.</a:t>
            </a:r>
            <a:endParaRPr lang="id-ID" sz="2100" dirty="0">
              <a:solidFill>
                <a:srgbClr val="2E2E2E"/>
              </a:solidFill>
              <a:latin typeface="Montserrat Classic"/>
            </a:endParaRPr>
          </a:p>
          <a:p>
            <a:pPr marL="457200" indent="-457200" algn="just">
              <a:lnSpc>
                <a:spcPts val="3360"/>
              </a:lnSpc>
              <a:buFont typeface="+mj-lt"/>
              <a:buAutoNum type="arabicPeriod"/>
            </a:pPr>
            <a:r>
              <a:rPr lang="en-US" sz="2100" dirty="0" err="1">
                <a:solidFill>
                  <a:srgbClr val="2E2E2E"/>
                </a:solidFill>
                <a:latin typeface="Montserrat Classic"/>
              </a:rPr>
              <a:t>Menerapkan</a:t>
            </a:r>
            <a:r>
              <a:rPr lang="en-US" sz="2100" dirty="0">
                <a:solidFill>
                  <a:srgbClr val="2E2E2E"/>
                </a:solidFill>
                <a:latin typeface="Montserrat Classic"/>
              </a:rPr>
              <a:t> </a:t>
            </a:r>
            <a:r>
              <a:rPr lang="en-US" sz="2100" dirty="0" err="1">
                <a:solidFill>
                  <a:srgbClr val="2E2E2E"/>
                </a:solidFill>
                <a:latin typeface="Montserrat Classic"/>
              </a:rPr>
              <a:t>prinsip-prinsip</a:t>
            </a:r>
            <a:r>
              <a:rPr lang="en-US" sz="2100" dirty="0">
                <a:solidFill>
                  <a:srgbClr val="2E2E2E"/>
                </a:solidFill>
                <a:latin typeface="Montserrat Classic"/>
              </a:rPr>
              <a:t> </a:t>
            </a:r>
            <a:r>
              <a:rPr lang="en-US" sz="2100" dirty="0" err="1">
                <a:solidFill>
                  <a:srgbClr val="2E2E2E"/>
                </a:solidFill>
                <a:latin typeface="Montserrat Classic"/>
              </a:rPr>
              <a:t>transparansi</a:t>
            </a:r>
            <a:r>
              <a:rPr lang="en-US" sz="2100" dirty="0">
                <a:solidFill>
                  <a:srgbClr val="2E2E2E"/>
                </a:solidFill>
                <a:latin typeface="Montserrat Classic"/>
              </a:rPr>
              <a:t>, </a:t>
            </a:r>
            <a:r>
              <a:rPr lang="en-US" sz="2100" dirty="0" err="1">
                <a:solidFill>
                  <a:srgbClr val="2E2E2E"/>
                </a:solidFill>
                <a:latin typeface="Montserrat Classic"/>
              </a:rPr>
              <a:t>akuntabilitas</a:t>
            </a:r>
            <a:r>
              <a:rPr lang="en-US" sz="2100" dirty="0">
                <a:solidFill>
                  <a:srgbClr val="2E2E2E"/>
                </a:solidFill>
                <a:latin typeface="Montserrat Classic"/>
              </a:rPr>
              <a:t>, </a:t>
            </a:r>
            <a:r>
              <a:rPr lang="en-US" sz="2100" dirty="0" err="1">
                <a:solidFill>
                  <a:srgbClr val="2E2E2E"/>
                </a:solidFill>
                <a:latin typeface="Montserrat Classic"/>
              </a:rPr>
              <a:t>pertanggung</a:t>
            </a:r>
            <a:r>
              <a:rPr lang="en-US" sz="2100" dirty="0">
                <a:solidFill>
                  <a:srgbClr val="2E2E2E"/>
                </a:solidFill>
                <a:latin typeface="Montserrat Classic"/>
              </a:rPr>
              <a:t> </a:t>
            </a:r>
            <a:r>
              <a:rPr lang="en-US" sz="2100" dirty="0" err="1">
                <a:solidFill>
                  <a:srgbClr val="2E2E2E"/>
                </a:solidFill>
                <a:latin typeface="Montserrat Classic"/>
              </a:rPr>
              <a:t>jawaban</a:t>
            </a:r>
            <a:r>
              <a:rPr lang="en-US" sz="2100" dirty="0">
                <a:solidFill>
                  <a:srgbClr val="2E2E2E"/>
                </a:solidFill>
                <a:latin typeface="Montserrat Classic"/>
              </a:rPr>
              <a:t>, </a:t>
            </a:r>
            <a:r>
              <a:rPr lang="en-US" sz="2100" dirty="0" err="1">
                <a:solidFill>
                  <a:srgbClr val="2E2E2E"/>
                </a:solidFill>
                <a:latin typeface="Montserrat Classic"/>
              </a:rPr>
              <a:t>kemandirian</a:t>
            </a:r>
            <a:r>
              <a:rPr lang="en-US" sz="2100" dirty="0">
                <a:solidFill>
                  <a:srgbClr val="2E2E2E"/>
                </a:solidFill>
                <a:latin typeface="Montserrat Classic"/>
              </a:rPr>
              <a:t>, </a:t>
            </a:r>
            <a:r>
              <a:rPr lang="en-US" sz="2100" dirty="0" err="1">
                <a:solidFill>
                  <a:srgbClr val="2E2E2E"/>
                </a:solidFill>
                <a:latin typeface="Montserrat Classic"/>
              </a:rPr>
              <a:t>dan</a:t>
            </a:r>
            <a:r>
              <a:rPr lang="en-US" sz="2100" dirty="0">
                <a:solidFill>
                  <a:srgbClr val="2E2E2E"/>
                </a:solidFill>
                <a:latin typeface="Montserrat Classic"/>
              </a:rPr>
              <a:t> </a:t>
            </a:r>
            <a:r>
              <a:rPr lang="en-US" sz="2100" dirty="0" err="1">
                <a:solidFill>
                  <a:srgbClr val="2E2E2E"/>
                </a:solidFill>
                <a:latin typeface="Montserrat Classic"/>
              </a:rPr>
              <a:t>keadilan</a:t>
            </a:r>
            <a:r>
              <a:rPr lang="en-US" sz="2100" dirty="0">
                <a:solidFill>
                  <a:srgbClr val="2E2E2E"/>
                </a:solidFill>
                <a:latin typeface="Montserrat Classic"/>
              </a:rPr>
              <a:t> </a:t>
            </a:r>
            <a:r>
              <a:rPr lang="en-US" sz="2100" dirty="0" err="1">
                <a:solidFill>
                  <a:srgbClr val="2E2E2E"/>
                </a:solidFill>
                <a:latin typeface="Montserrat Classic"/>
              </a:rPr>
              <a:t>dalam</a:t>
            </a:r>
            <a:r>
              <a:rPr lang="en-US" sz="2100" dirty="0">
                <a:solidFill>
                  <a:srgbClr val="2E2E2E"/>
                </a:solidFill>
                <a:latin typeface="Montserrat Classic"/>
              </a:rPr>
              <a:t> </a:t>
            </a:r>
            <a:r>
              <a:rPr lang="en-US" sz="2100" dirty="0" err="1">
                <a:solidFill>
                  <a:srgbClr val="2E2E2E"/>
                </a:solidFill>
                <a:latin typeface="Montserrat Classic"/>
              </a:rPr>
              <a:t>mengelola</a:t>
            </a:r>
            <a:r>
              <a:rPr lang="en-US" sz="2100" dirty="0">
                <a:solidFill>
                  <a:srgbClr val="2E2E2E"/>
                </a:solidFill>
                <a:latin typeface="Montserrat Classic"/>
              </a:rPr>
              <a:t> Perusahaan.</a:t>
            </a:r>
          </a:p>
          <a:p>
            <a:pPr algn="just">
              <a:lnSpc>
                <a:spcPts val="3360"/>
              </a:lnSpc>
            </a:pPr>
            <a:endParaRPr lang="en-US" sz="2100" dirty="0">
              <a:solidFill>
                <a:srgbClr val="2E2E2E"/>
              </a:solidFill>
              <a:latin typeface="Montserrat Classic"/>
            </a:endParaRPr>
          </a:p>
        </p:txBody>
      </p:sp>
      <p:sp>
        <p:nvSpPr>
          <p:cNvPr id="5" name="TextBox 5"/>
          <p:cNvSpPr txBox="1"/>
          <p:nvPr/>
        </p:nvSpPr>
        <p:spPr>
          <a:xfrm>
            <a:off x="1028700" y="2044605"/>
            <a:ext cx="13494351" cy="944880"/>
          </a:xfrm>
          <a:prstGeom prst="rect">
            <a:avLst/>
          </a:prstGeom>
        </p:spPr>
        <p:txBody>
          <a:bodyPr lIns="0" tIns="0" rIns="0" bIns="0" rtlCol="0" anchor="t">
            <a:spAutoFit/>
          </a:bodyPr>
          <a:lstStyle/>
          <a:p>
            <a:pPr>
              <a:lnSpc>
                <a:spcPts val="3840"/>
              </a:lnSpc>
            </a:pPr>
            <a:r>
              <a:rPr lang="en-US" sz="2400">
                <a:solidFill>
                  <a:srgbClr val="2E2E2E"/>
                </a:solidFill>
                <a:latin typeface="Montserrat Classic Bold"/>
              </a:rPr>
              <a:t>Dalam menyusun COC perusahaan dilandasi oleh sikap sebagai  berikut: </a:t>
            </a:r>
          </a:p>
          <a:p>
            <a:pPr>
              <a:lnSpc>
                <a:spcPts val="3840"/>
              </a:lnSpc>
            </a:pPr>
            <a:endParaRPr lang="en-US" sz="2400">
              <a:solidFill>
                <a:srgbClr val="2E2E2E"/>
              </a:solidFill>
              <a:latin typeface="Montserrat Classic Bold"/>
            </a:endParaRPr>
          </a:p>
        </p:txBody>
      </p:sp>
      <p:pic>
        <p:nvPicPr>
          <p:cNvPr id="6" name="Picture 6"/>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532740" flipH="1">
            <a:off x="-2734387" y="7203298"/>
            <a:ext cx="6729406" cy="5469172"/>
          </a:xfrm>
          <a:prstGeom prst="rect">
            <a:avLst/>
          </a:prstGeom>
        </p:spPr>
      </p:pic>
      <p:sp>
        <p:nvSpPr>
          <p:cNvPr id="7" name="TextBox 7"/>
          <p:cNvSpPr txBox="1"/>
          <p:nvPr/>
        </p:nvSpPr>
        <p:spPr>
          <a:xfrm>
            <a:off x="1028700" y="720777"/>
            <a:ext cx="15213964"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B. LANDASAN PENYUSUNAN CODE OF CONDUCT</a:t>
            </a:r>
          </a:p>
        </p:txBody>
      </p:sp>
      <p:sp>
        <p:nvSpPr>
          <p:cNvPr id="8" name="TextBox 8"/>
          <p:cNvSpPr txBox="1"/>
          <p:nvPr/>
        </p:nvSpPr>
        <p:spPr>
          <a:xfrm>
            <a:off x="17168124" y="9153525"/>
            <a:ext cx="265658" cy="601473"/>
          </a:xfrm>
          <a:prstGeom prst="rect">
            <a:avLst/>
          </a:prstGeom>
        </p:spPr>
        <p:txBody>
          <a:bodyPr lIns="0" tIns="0" rIns="0" bIns="0" rtlCol="0" anchor="t">
            <a:spAutoFit/>
          </a:bodyPr>
          <a:lstStyle/>
          <a:p>
            <a:pPr algn="ctr">
              <a:lnSpc>
                <a:spcPts val="4647"/>
              </a:lnSpc>
            </a:pPr>
            <a:r>
              <a:rPr lang="en-US" sz="3319" dirty="0">
                <a:solidFill>
                  <a:srgbClr val="000000"/>
                </a:solidFill>
                <a:latin typeface="Telegraf"/>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799293">
            <a:off x="13038808" y="-720131"/>
            <a:ext cx="6885296" cy="11055409"/>
          </a:xfrm>
          <a:prstGeom prst="rect">
            <a:avLst/>
          </a:prstGeom>
        </p:spPr>
      </p:pic>
      <p:sp>
        <p:nvSpPr>
          <p:cNvPr id="3" name="TextBox 3"/>
          <p:cNvSpPr txBox="1"/>
          <p:nvPr/>
        </p:nvSpPr>
        <p:spPr>
          <a:xfrm>
            <a:off x="1028700" y="720777"/>
            <a:ext cx="15213964"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C. PERNYATAAN VISI,MISI &amp; NILAI-NILAI BUDAYA PERUSAHAAN</a:t>
            </a:r>
          </a:p>
        </p:txBody>
      </p:sp>
      <p:sp>
        <p:nvSpPr>
          <p:cNvPr id="4" name="TextBox 4"/>
          <p:cNvSpPr txBox="1"/>
          <p:nvPr/>
        </p:nvSpPr>
        <p:spPr>
          <a:xfrm>
            <a:off x="1028700" y="2583180"/>
            <a:ext cx="15884853" cy="6675120"/>
          </a:xfrm>
          <a:prstGeom prst="rect">
            <a:avLst/>
          </a:prstGeom>
        </p:spPr>
        <p:txBody>
          <a:bodyPr lIns="0" tIns="0" rIns="0" bIns="0" rtlCol="0" anchor="t">
            <a:spAutoFit/>
          </a:bodyPr>
          <a:lstStyle/>
          <a:p>
            <a:pPr algn="just">
              <a:lnSpc>
                <a:spcPts val="3360"/>
              </a:lnSpc>
            </a:pPr>
            <a:r>
              <a:rPr lang="en-US" sz="2100" spc="105">
                <a:solidFill>
                  <a:srgbClr val="2E2E2E"/>
                </a:solidFill>
                <a:latin typeface="Montserrat Classic"/>
              </a:rPr>
              <a:t>Code of Conduct Perusahaan ini diharapkan dapat menjadi acuan dalam membentuk nilai, norma serta etika bagi segenap Jajaran Manajemen dan Karyawan dalam membangun dan membina hubungan yang lebih sehat, harmonis dan wajar dengan Pemegang Saham, Dewan Komisaris, Lembaga Keuangan, Mitra Kerja, dan Masyarakat sehingga tercapai peningkatan kinerja dan produktivitas secara signifikan. Hal tersebut tercapai bila terdapat hubungan yang erat antara aspek-aspek yang terdapat dalam Code of Conduct dengan visi, misi dan budaya Perusahaan yang dimiliki.</a:t>
            </a:r>
          </a:p>
          <a:p>
            <a:pPr algn="just">
              <a:lnSpc>
                <a:spcPts val="3360"/>
              </a:lnSpc>
            </a:pPr>
            <a:endParaRPr lang="en-US" sz="2100" spc="105">
              <a:solidFill>
                <a:srgbClr val="2E2E2E"/>
              </a:solidFill>
              <a:latin typeface="Montserrat Classic"/>
            </a:endParaRPr>
          </a:p>
          <a:p>
            <a:pPr algn="just">
              <a:lnSpc>
                <a:spcPts val="3360"/>
              </a:lnSpc>
            </a:pPr>
            <a:r>
              <a:rPr lang="en-US" sz="2100" spc="105">
                <a:solidFill>
                  <a:srgbClr val="2E2E2E"/>
                </a:solidFill>
                <a:latin typeface="Montserrat Classic Bold"/>
              </a:rPr>
              <a:t> 1.Visi</a:t>
            </a:r>
          </a:p>
          <a:p>
            <a:pPr algn="just">
              <a:lnSpc>
                <a:spcPts val="3360"/>
              </a:lnSpc>
            </a:pPr>
            <a:r>
              <a:rPr lang="en-US" sz="2100" spc="105">
                <a:solidFill>
                  <a:srgbClr val="2E2E2E"/>
                </a:solidFill>
                <a:latin typeface="Montserrat Classic"/>
              </a:rPr>
              <a:t>Menjadi perusahaan yang terbaik di bidang otomotif beserta suku cadang, pembiayaan, properti serta logistik di Indonesia</a:t>
            </a:r>
          </a:p>
          <a:p>
            <a:pPr algn="just">
              <a:lnSpc>
                <a:spcPts val="3360"/>
              </a:lnSpc>
            </a:pPr>
            <a:endParaRPr lang="en-US" sz="2100" spc="105">
              <a:solidFill>
                <a:srgbClr val="2E2E2E"/>
              </a:solidFill>
              <a:latin typeface="Montserrat Classic"/>
            </a:endParaRPr>
          </a:p>
          <a:p>
            <a:pPr algn="just">
              <a:lnSpc>
                <a:spcPts val="3360"/>
              </a:lnSpc>
            </a:pPr>
            <a:r>
              <a:rPr lang="en-US" sz="2100" spc="105">
                <a:solidFill>
                  <a:srgbClr val="2E2E2E"/>
                </a:solidFill>
                <a:latin typeface="Montserrat Classic"/>
              </a:rPr>
              <a:t> </a:t>
            </a:r>
            <a:r>
              <a:rPr lang="en-US" sz="2100" spc="105">
                <a:solidFill>
                  <a:srgbClr val="2E2E2E"/>
                </a:solidFill>
                <a:latin typeface="Montserrat Classic Bold"/>
              </a:rPr>
              <a:t>2.Misi</a:t>
            </a:r>
          </a:p>
          <a:p>
            <a:pPr algn="just">
              <a:lnSpc>
                <a:spcPts val="3360"/>
              </a:lnSpc>
            </a:pPr>
            <a:r>
              <a:rPr lang="en-US" sz="2100" spc="105">
                <a:solidFill>
                  <a:srgbClr val="2E2E2E"/>
                </a:solidFill>
                <a:latin typeface="Montserrat Classic"/>
              </a:rPr>
              <a:t>Pemberian pelayanan terbaik kepada konsumen dengan konsep 3T yaitu Tercepat, Termudah, dan Terpercaya namun tetap mengindahkan aspek kehati-hatian sehingga menjadi perusahaan yang sehat dan kuat</a:t>
            </a:r>
          </a:p>
          <a:p>
            <a:pPr algn="just">
              <a:lnSpc>
                <a:spcPts val="3360"/>
              </a:lnSpc>
            </a:pPr>
            <a:endParaRPr lang="en-US" sz="2100" spc="105">
              <a:solidFill>
                <a:srgbClr val="2E2E2E"/>
              </a:solidFill>
              <a:latin typeface="Montserrat Classic"/>
            </a:endParaRPr>
          </a:p>
        </p:txBody>
      </p:sp>
      <p:sp>
        <p:nvSpPr>
          <p:cNvPr id="5" name="TextBox 8"/>
          <p:cNvSpPr txBox="1"/>
          <p:nvPr/>
        </p:nvSpPr>
        <p:spPr>
          <a:xfrm>
            <a:off x="17168124" y="9153525"/>
            <a:ext cx="265658"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6</a:t>
            </a:r>
            <a:endParaRPr lang="en-US" sz="3319" dirty="0">
              <a:solidFill>
                <a:srgbClr val="000000"/>
              </a:solidFill>
              <a:latin typeface="Telegraf"/>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073461">
            <a:off x="-9137676" y="-5298841"/>
            <a:ext cx="17617704" cy="17617704"/>
          </a:xfrm>
          <a:prstGeom prst="rect">
            <a:avLst/>
          </a:prstGeom>
        </p:spPr>
      </p:pic>
      <p:sp>
        <p:nvSpPr>
          <p:cNvPr id="3" name="TextBox 3"/>
          <p:cNvSpPr txBox="1"/>
          <p:nvPr/>
        </p:nvSpPr>
        <p:spPr>
          <a:xfrm>
            <a:off x="1167595" y="1455484"/>
            <a:ext cx="15952810" cy="8157210"/>
          </a:xfrm>
          <a:prstGeom prst="rect">
            <a:avLst/>
          </a:prstGeom>
        </p:spPr>
        <p:txBody>
          <a:bodyPr lIns="0" tIns="0" rIns="0" bIns="0" rtlCol="0" anchor="t">
            <a:spAutoFit/>
          </a:bodyPr>
          <a:lstStyle/>
          <a:p>
            <a:pPr>
              <a:lnSpc>
                <a:spcPts val="2940"/>
              </a:lnSpc>
            </a:pPr>
            <a:r>
              <a:rPr lang="en-US" sz="2100" spc="105">
                <a:solidFill>
                  <a:srgbClr val="000000"/>
                </a:solidFill>
                <a:latin typeface="Montserrat Classic Bold"/>
              </a:rPr>
              <a:t>Nilai - Nilai budaya korperasi: </a:t>
            </a:r>
          </a:p>
          <a:p>
            <a:pPr>
              <a:lnSpc>
                <a:spcPts val="2940"/>
              </a:lnSpc>
            </a:pPr>
            <a:endParaRPr lang="en-US" sz="2100" spc="105">
              <a:solidFill>
                <a:srgbClr val="000000"/>
              </a:solidFill>
              <a:latin typeface="Montserrat Classic Bold"/>
            </a:endParaRPr>
          </a:p>
          <a:p>
            <a:pPr>
              <a:lnSpc>
                <a:spcPts val="2940"/>
              </a:lnSpc>
            </a:pPr>
            <a:r>
              <a:rPr lang="en-US" sz="2100" spc="105">
                <a:solidFill>
                  <a:srgbClr val="2E2E2E"/>
                </a:solidFill>
                <a:latin typeface="Montserrat Classic Bold"/>
              </a:rPr>
              <a:t>1. Integrity </a:t>
            </a:r>
          </a:p>
          <a:p>
            <a:pPr>
              <a:lnSpc>
                <a:spcPts val="2940"/>
              </a:lnSpc>
            </a:pPr>
            <a:r>
              <a:rPr lang="en-US" sz="2100" spc="105">
                <a:solidFill>
                  <a:srgbClr val="2E2E2E"/>
                </a:solidFill>
                <a:latin typeface="Montserrat Classic"/>
              </a:rPr>
              <a:t>Bersikap &amp; berperilaku jujur terhadap setiap ketentuan yang berlaku di perusahaan, tidak merugikan perusahaan, berani untuk melaporkan segala bentuk ketidakjujuran, kecurangan, fraud yang dilihatnya, serta mendukung sepenuhnya terhadap tercapainya visi dan misi perusahaan</a:t>
            </a:r>
          </a:p>
          <a:p>
            <a:pPr>
              <a:lnSpc>
                <a:spcPts val="2940"/>
              </a:lnSpc>
            </a:pPr>
            <a:endParaRPr lang="en-US" sz="2100" spc="105">
              <a:solidFill>
                <a:srgbClr val="2E2E2E"/>
              </a:solidFill>
              <a:latin typeface="Montserrat Classic"/>
            </a:endParaRPr>
          </a:p>
          <a:p>
            <a:pPr>
              <a:lnSpc>
                <a:spcPts val="2940"/>
              </a:lnSpc>
            </a:pPr>
            <a:r>
              <a:rPr lang="en-US" sz="2100" spc="105">
                <a:solidFill>
                  <a:srgbClr val="2E2E2E"/>
                </a:solidFill>
                <a:latin typeface="Montserrat Classic Bold"/>
              </a:rPr>
              <a:t>2. Customer Satisfaction</a:t>
            </a:r>
          </a:p>
          <a:p>
            <a:pPr>
              <a:lnSpc>
                <a:spcPts val="2940"/>
              </a:lnSpc>
            </a:pPr>
            <a:r>
              <a:rPr lang="en-US" sz="2100" spc="105">
                <a:solidFill>
                  <a:srgbClr val="2E2E2E"/>
                </a:solidFill>
                <a:latin typeface="Montserrat Classic"/>
              </a:rPr>
              <a:t>Mengutamakan kepentingan customer, memberikan pelayanan terbaik yang dapat memberikan ekspektasi (harapan) melebihi kepuasan customer</a:t>
            </a:r>
          </a:p>
          <a:p>
            <a:pPr>
              <a:lnSpc>
                <a:spcPts val="2940"/>
              </a:lnSpc>
            </a:pPr>
            <a:endParaRPr lang="en-US" sz="2100" spc="105">
              <a:solidFill>
                <a:srgbClr val="2E2E2E"/>
              </a:solidFill>
              <a:latin typeface="Montserrat Classic"/>
            </a:endParaRPr>
          </a:p>
          <a:p>
            <a:pPr>
              <a:lnSpc>
                <a:spcPts val="2940"/>
              </a:lnSpc>
            </a:pPr>
            <a:r>
              <a:rPr lang="en-US" sz="2100" spc="105">
                <a:solidFill>
                  <a:srgbClr val="2E2E2E"/>
                </a:solidFill>
                <a:latin typeface="Montserrat Classic Bold"/>
              </a:rPr>
              <a:t>3. Excellent Achievemrnt </a:t>
            </a:r>
          </a:p>
          <a:p>
            <a:pPr>
              <a:lnSpc>
                <a:spcPts val="2940"/>
              </a:lnSpc>
            </a:pPr>
            <a:r>
              <a:rPr lang="en-US" sz="2100" spc="105">
                <a:solidFill>
                  <a:srgbClr val="2E2E2E"/>
                </a:solidFill>
                <a:latin typeface="Montserrat Classic"/>
              </a:rPr>
              <a:t>Bersemangat dan gigih melakukan setiap aktivitas operasional dalam pekerjaan, melakukan check/review secara periodic dengan menerapkan siklus PDCA secara konsisten dan benar</a:t>
            </a:r>
          </a:p>
          <a:p>
            <a:pPr>
              <a:lnSpc>
                <a:spcPts val="2940"/>
              </a:lnSpc>
            </a:pPr>
            <a:endParaRPr lang="en-US" sz="2100" spc="105">
              <a:solidFill>
                <a:srgbClr val="2E2E2E"/>
              </a:solidFill>
              <a:latin typeface="Montserrat Classic"/>
            </a:endParaRPr>
          </a:p>
          <a:p>
            <a:pPr>
              <a:lnSpc>
                <a:spcPts val="2940"/>
              </a:lnSpc>
            </a:pPr>
            <a:r>
              <a:rPr lang="en-US" sz="2100" spc="105">
                <a:solidFill>
                  <a:srgbClr val="2E2E2E"/>
                </a:solidFill>
                <a:latin typeface="Montserrat Classic Bold"/>
              </a:rPr>
              <a:t>4. Synergy </a:t>
            </a:r>
          </a:p>
          <a:p>
            <a:pPr>
              <a:lnSpc>
                <a:spcPts val="2940"/>
              </a:lnSpc>
            </a:pPr>
            <a:r>
              <a:rPr lang="en-US" sz="2100" spc="105">
                <a:solidFill>
                  <a:srgbClr val="2E2E2E"/>
                </a:solidFill>
                <a:latin typeface="Montserrat Classic"/>
              </a:rPr>
              <a:t>saling membantu dalam membangun hubungan kerjasama yang produktif baik Internal  </a:t>
            </a:r>
          </a:p>
          <a:p>
            <a:pPr>
              <a:lnSpc>
                <a:spcPts val="2940"/>
              </a:lnSpc>
            </a:pPr>
            <a:r>
              <a:rPr lang="en-US" sz="2100" spc="105">
                <a:solidFill>
                  <a:srgbClr val="2E2E2E"/>
                </a:solidFill>
                <a:latin typeface="Montserrat Classic"/>
              </a:rPr>
              <a:t>maupun eksternal, sebagai rekanan yang dapat di andalkan untuk dapat mencapai visi misi perusahaan </a:t>
            </a:r>
          </a:p>
          <a:p>
            <a:pPr>
              <a:lnSpc>
                <a:spcPts val="2940"/>
              </a:lnSpc>
            </a:pPr>
            <a:endParaRPr lang="en-US" sz="2100" spc="105">
              <a:solidFill>
                <a:srgbClr val="2E2E2E"/>
              </a:solidFill>
              <a:latin typeface="Montserrat Classic"/>
            </a:endParaRPr>
          </a:p>
          <a:p>
            <a:pPr>
              <a:lnSpc>
                <a:spcPts val="2940"/>
              </a:lnSpc>
            </a:pPr>
            <a:endParaRPr lang="en-US" sz="2100" spc="105">
              <a:solidFill>
                <a:srgbClr val="2E2E2E"/>
              </a:solidFill>
              <a:latin typeface="Montserrat Classic"/>
            </a:endParaRPr>
          </a:p>
          <a:p>
            <a:pPr>
              <a:lnSpc>
                <a:spcPts val="2940"/>
              </a:lnSpc>
            </a:pPr>
            <a:endParaRPr lang="en-US" sz="2100" spc="105">
              <a:solidFill>
                <a:srgbClr val="2E2E2E"/>
              </a:solidFill>
              <a:latin typeface="Montserrat Classic"/>
            </a:endParaRPr>
          </a:p>
          <a:p>
            <a:pPr>
              <a:lnSpc>
                <a:spcPts val="2940"/>
              </a:lnSpc>
            </a:pPr>
            <a:endParaRPr lang="en-US" sz="2100" spc="105">
              <a:solidFill>
                <a:srgbClr val="2E2E2E"/>
              </a:solidFill>
              <a:latin typeface="Montserrat Classic"/>
            </a:endParaRPr>
          </a:p>
        </p:txBody>
      </p:sp>
      <p:pic>
        <p:nvPicPr>
          <p:cNvPr id="4" name="Picture 4"/>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5400000" flipH="1">
            <a:off x="8778703" y="-4549008"/>
            <a:ext cx="8063091" cy="6553094"/>
          </a:xfrm>
          <a:prstGeom prst="rect">
            <a:avLst/>
          </a:prstGeom>
        </p:spPr>
      </p:pic>
      <p:sp>
        <p:nvSpPr>
          <p:cNvPr id="5" name="TextBox 5"/>
          <p:cNvSpPr txBox="1"/>
          <p:nvPr/>
        </p:nvSpPr>
        <p:spPr>
          <a:xfrm>
            <a:off x="17170208" y="9153525"/>
            <a:ext cx="26149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7</a:t>
            </a:r>
            <a:endParaRPr lang="en-US" sz="3319" dirty="0">
              <a:solidFill>
                <a:srgbClr val="000000"/>
              </a:solidFill>
              <a:latin typeface="Telegra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489744" y="-2841143"/>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266374" y="6074235"/>
            <a:ext cx="11300655" cy="9184351"/>
          </a:xfrm>
          <a:prstGeom prst="rect">
            <a:avLst/>
          </a:prstGeom>
        </p:spPr>
      </p:pic>
      <p:sp>
        <p:nvSpPr>
          <p:cNvPr id="4" name="TextBox 4"/>
          <p:cNvSpPr txBox="1"/>
          <p:nvPr/>
        </p:nvSpPr>
        <p:spPr>
          <a:xfrm>
            <a:off x="1028700" y="2672679"/>
            <a:ext cx="15681144" cy="7640813"/>
          </a:xfrm>
          <a:prstGeom prst="rect">
            <a:avLst/>
          </a:prstGeom>
        </p:spPr>
        <p:txBody>
          <a:bodyPr lIns="0" tIns="0" rIns="0" bIns="0" rtlCol="0" anchor="t">
            <a:spAutoFit/>
          </a:bodyPr>
          <a:lstStyle/>
          <a:p>
            <a:pPr>
              <a:lnSpc>
                <a:spcPts val="3359"/>
              </a:lnSpc>
            </a:pPr>
            <a:r>
              <a:rPr lang="en-US" sz="2400" spc="120">
                <a:solidFill>
                  <a:srgbClr val="2E2E2E"/>
                </a:solidFill>
                <a:latin typeface="Montserrat Classic Bold"/>
              </a:rPr>
              <a:t>1. Maksud penerapan code of conduct bagi perusahaan adalah sebagai berikut: </a:t>
            </a:r>
          </a:p>
          <a:p>
            <a:pPr>
              <a:lnSpc>
                <a:spcPts val="2940"/>
              </a:lnSpc>
            </a:pPr>
            <a:endParaRPr lang="en-US" sz="2400" spc="120">
              <a:solidFill>
                <a:srgbClr val="2E2E2E"/>
              </a:solidFill>
              <a:latin typeface="Montserrat Classic Bold"/>
            </a:endParaRPr>
          </a:p>
          <a:p>
            <a:pPr>
              <a:lnSpc>
                <a:spcPts val="2940"/>
              </a:lnSpc>
            </a:pPr>
            <a:r>
              <a:rPr lang="en-US" sz="2100" spc="105">
                <a:solidFill>
                  <a:srgbClr val="000000"/>
                </a:solidFill>
                <a:latin typeface="Montserrat Classic"/>
              </a:rPr>
              <a:t>a. Setiap Insan Perusahaan dapat memahami bahwa segala aktivitas Perusahaan berlandaskan pada prinsip-prinsip tata kelola perusahaan yang baik.</a:t>
            </a:r>
          </a:p>
          <a:p>
            <a:pPr>
              <a:lnSpc>
                <a:spcPts val="2940"/>
              </a:lnSpc>
            </a:pPr>
            <a:endParaRPr lang="en-US" sz="2100" spc="105">
              <a:solidFill>
                <a:srgbClr val="000000"/>
              </a:solidFill>
              <a:latin typeface="Montserrat Classic"/>
            </a:endParaRPr>
          </a:p>
          <a:p>
            <a:pPr>
              <a:lnSpc>
                <a:spcPts val="2940"/>
              </a:lnSpc>
            </a:pPr>
            <a:r>
              <a:rPr lang="en-US" sz="2100" spc="105">
                <a:solidFill>
                  <a:srgbClr val="000000"/>
                </a:solidFill>
                <a:latin typeface="Montserrat Classic"/>
              </a:rPr>
              <a:t>b. Mendorong seluruh Insan Perusahaan untuk berperilaku yang baik dalam melaksanakan segala aktivitas Perusahaan.</a:t>
            </a:r>
          </a:p>
          <a:p>
            <a:pPr>
              <a:lnSpc>
                <a:spcPts val="2940"/>
              </a:lnSpc>
            </a:pPr>
            <a:endParaRPr lang="en-US" sz="2100" spc="105">
              <a:solidFill>
                <a:srgbClr val="000000"/>
              </a:solidFill>
              <a:latin typeface="Montserrat Classic"/>
            </a:endParaRPr>
          </a:p>
          <a:p>
            <a:pPr>
              <a:lnSpc>
                <a:spcPts val="2940"/>
              </a:lnSpc>
            </a:pPr>
            <a:r>
              <a:rPr lang="en-US" sz="2100" spc="105">
                <a:solidFill>
                  <a:srgbClr val="000000"/>
                </a:solidFill>
                <a:latin typeface="Montserrat Classic"/>
              </a:rPr>
              <a:t>c. Menciptakan suasana kerja yang sehat dan nyaman dalam lingkungan Perusahaan</a:t>
            </a:r>
          </a:p>
          <a:p>
            <a:pPr>
              <a:lnSpc>
                <a:spcPts val="2940"/>
              </a:lnSpc>
            </a:pPr>
            <a:endParaRPr lang="en-US" sz="2100" spc="105">
              <a:solidFill>
                <a:srgbClr val="000000"/>
              </a:solidFill>
              <a:latin typeface="Montserrat Classic"/>
            </a:endParaRPr>
          </a:p>
          <a:p>
            <a:pPr>
              <a:lnSpc>
                <a:spcPts val="2940"/>
              </a:lnSpc>
            </a:pPr>
            <a:r>
              <a:rPr lang="en-US" sz="2100" spc="105">
                <a:solidFill>
                  <a:srgbClr val="000000"/>
                </a:solidFill>
                <a:latin typeface="Montserrat Classic"/>
              </a:rPr>
              <a:t>d. Meminimalisasi peluang terjadinya penyimpangan atau merupakan bagian dari manajemen risiko serta dapat membangun reputasi Perusahaan.</a:t>
            </a:r>
          </a:p>
          <a:p>
            <a:pPr>
              <a:lnSpc>
                <a:spcPts val="2940"/>
              </a:lnSpc>
            </a:pPr>
            <a:endParaRPr lang="en-US" sz="2100" spc="105">
              <a:solidFill>
                <a:srgbClr val="000000"/>
              </a:solidFill>
              <a:latin typeface="Montserrat Classic"/>
            </a:endParaRPr>
          </a:p>
          <a:p>
            <a:pPr>
              <a:lnSpc>
                <a:spcPts val="2940"/>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a:p>
            <a:pPr>
              <a:lnSpc>
                <a:spcPts val="2745"/>
              </a:lnSpc>
            </a:pPr>
            <a:endParaRPr lang="en-US" sz="2100" spc="105">
              <a:solidFill>
                <a:srgbClr val="000000"/>
              </a:solidFill>
              <a:latin typeface="Montserrat Classic"/>
            </a:endParaRPr>
          </a:p>
        </p:txBody>
      </p:sp>
      <p:sp>
        <p:nvSpPr>
          <p:cNvPr id="5" name="TextBox 5"/>
          <p:cNvSpPr txBox="1"/>
          <p:nvPr/>
        </p:nvSpPr>
        <p:spPr>
          <a:xfrm>
            <a:off x="1028700" y="720777"/>
            <a:ext cx="15213964"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D. MAKSUD TUJUAN DAN MANFAAT PEDOMAN ETIKA BISNIS DAN ETIKA KERJA </a:t>
            </a:r>
          </a:p>
        </p:txBody>
      </p:sp>
      <p:sp>
        <p:nvSpPr>
          <p:cNvPr id="6" name="TextBox 6"/>
          <p:cNvSpPr txBox="1"/>
          <p:nvPr/>
        </p:nvSpPr>
        <p:spPr>
          <a:xfrm>
            <a:off x="17184793" y="9153525"/>
            <a:ext cx="232321" cy="554767"/>
          </a:xfrm>
          <a:prstGeom prst="rect">
            <a:avLst/>
          </a:prstGeom>
        </p:spPr>
        <p:txBody>
          <a:bodyPr lIns="0" tIns="0" rIns="0" bIns="0" rtlCol="0" anchor="t">
            <a:spAutoFit/>
          </a:bodyPr>
          <a:lstStyle/>
          <a:p>
            <a:pPr algn="ctr">
              <a:lnSpc>
                <a:spcPts val="4647"/>
              </a:lnSpc>
            </a:pPr>
            <a:r>
              <a:rPr lang="id-ID" sz="3319" dirty="0">
                <a:solidFill>
                  <a:srgbClr val="000000"/>
                </a:solidFill>
                <a:latin typeface="Telegraf"/>
              </a:rPr>
              <a:t>8</a:t>
            </a:r>
            <a:endParaRPr lang="en-US" sz="3319" dirty="0">
              <a:solidFill>
                <a:srgbClr val="000000"/>
              </a:solidFill>
              <a:latin typeface="Telegra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489744" y="-2841143"/>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266374" y="6074235"/>
            <a:ext cx="11300655" cy="9184351"/>
          </a:xfrm>
          <a:prstGeom prst="rect">
            <a:avLst/>
          </a:prstGeom>
        </p:spPr>
      </p:pic>
      <p:sp>
        <p:nvSpPr>
          <p:cNvPr id="4" name="TextBox 4"/>
          <p:cNvSpPr txBox="1"/>
          <p:nvPr/>
        </p:nvSpPr>
        <p:spPr>
          <a:xfrm>
            <a:off x="1171575" y="2678410"/>
            <a:ext cx="15543167" cy="5305425"/>
          </a:xfrm>
          <a:prstGeom prst="rect">
            <a:avLst/>
          </a:prstGeom>
        </p:spPr>
        <p:txBody>
          <a:bodyPr lIns="0" tIns="0" rIns="0" bIns="0" rtlCol="0" anchor="t">
            <a:spAutoFit/>
          </a:bodyPr>
          <a:lstStyle/>
          <a:p>
            <a:pPr>
              <a:lnSpc>
                <a:spcPts val="3359"/>
              </a:lnSpc>
              <a:spcBef>
                <a:spcPct val="0"/>
              </a:spcBef>
            </a:pPr>
            <a:r>
              <a:rPr lang="en-US" sz="2400">
                <a:solidFill>
                  <a:srgbClr val="000000"/>
                </a:solidFill>
                <a:latin typeface="Montserrat Classic Bold"/>
              </a:rPr>
              <a:t>2. Tujuan Code of Conduct adalah: </a:t>
            </a:r>
          </a:p>
          <a:p>
            <a:pPr>
              <a:lnSpc>
                <a:spcPts val="3499"/>
              </a:lnSpc>
              <a:spcBef>
                <a:spcPct val="0"/>
              </a:spcBef>
            </a:pPr>
            <a:endParaRPr lang="en-US" sz="2400">
              <a:solidFill>
                <a:srgbClr val="000000"/>
              </a:solidFill>
              <a:latin typeface="Montserrat Classic Bold"/>
            </a:endParaRPr>
          </a:p>
          <a:p>
            <a:pPr>
              <a:lnSpc>
                <a:spcPts val="2940"/>
              </a:lnSpc>
              <a:spcBef>
                <a:spcPct val="0"/>
              </a:spcBef>
            </a:pPr>
            <a:r>
              <a:rPr lang="en-US" sz="2100">
                <a:solidFill>
                  <a:srgbClr val="000000"/>
                </a:solidFill>
                <a:latin typeface="Montserrat Classic"/>
              </a:rPr>
              <a:t>a. Sebagai petunjuk praktis dan pedoman Kerja bagi Insan Perusahaan yang harus dipatuhi dalam berinteraksi sehari-hari dengan semua pihak serta dijadikan landasan berpikir dalam proses pengambilan keputusan</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b. Mengembangkan standar etika terbaik yang sejalan dengan prinsip-prinsip GCG khususnya di bidang perasuransian guna menciptakan dan memelihara lingkungan kerja yang positif, yang mendukung perilaku-perilaku etis sehingga mendorong terciptanya budaya Perusahaan, yang secara langsung maupun tidak langsung akan meningkatkan nilai Perusahaan</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c. Mengembangkan hubungan yang harmonis, sinergi dan saling menguntungkan antara debitur, Lembaga Keuangan, Mitra Kerja, Karyawan dan pihak yang berkepentingan lainnya (stakeholders) dengan Perusahaan yang berlandaskan prinsip-prinsip korporasi yang sehat dan etika berusaha yang menjadi nilai-nilai serta filsafat bisnis Perusahaan untuk menjadi salah satu Perusahaan Pembiayaan yang unggul.</a:t>
            </a:r>
          </a:p>
        </p:txBody>
      </p:sp>
      <p:sp>
        <p:nvSpPr>
          <p:cNvPr id="5" name="TextBox 5"/>
          <p:cNvSpPr txBox="1"/>
          <p:nvPr/>
        </p:nvSpPr>
        <p:spPr>
          <a:xfrm>
            <a:off x="1028700" y="720777"/>
            <a:ext cx="15213964"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D. MAKSUD TUJUAN DAN MANFAAT PEDOMAN ETIKA BISNIS DAN ETIKA KERJA </a:t>
            </a:r>
          </a:p>
        </p:txBody>
      </p:sp>
      <p:sp>
        <p:nvSpPr>
          <p:cNvPr id="6" name="TextBox 6"/>
          <p:cNvSpPr txBox="1"/>
          <p:nvPr/>
        </p:nvSpPr>
        <p:spPr>
          <a:xfrm>
            <a:off x="17170208" y="9153525"/>
            <a:ext cx="261491" cy="554767"/>
          </a:xfrm>
          <a:prstGeom prst="rect">
            <a:avLst/>
          </a:prstGeom>
        </p:spPr>
        <p:txBody>
          <a:bodyPr lIns="0" tIns="0" rIns="0" bIns="0" rtlCol="0" anchor="t">
            <a:spAutoFit/>
          </a:bodyPr>
          <a:lstStyle/>
          <a:p>
            <a:pPr algn="ctr">
              <a:lnSpc>
                <a:spcPts val="4647"/>
              </a:lnSpc>
            </a:pPr>
            <a:r>
              <a:rPr lang="id-ID" sz="3319" dirty="0">
                <a:solidFill>
                  <a:srgbClr val="000000"/>
                </a:solidFill>
                <a:latin typeface="Telegraf"/>
              </a:rPr>
              <a:t>9</a:t>
            </a:r>
            <a:endParaRPr lang="en-US" sz="3319" dirty="0">
              <a:solidFill>
                <a:srgbClr val="000000"/>
              </a:solidFill>
              <a:latin typeface="Telegraf"/>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489744" y="-2841143"/>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266374" y="6074235"/>
            <a:ext cx="11300655" cy="9184351"/>
          </a:xfrm>
          <a:prstGeom prst="rect">
            <a:avLst/>
          </a:prstGeom>
        </p:spPr>
      </p:pic>
      <p:sp>
        <p:nvSpPr>
          <p:cNvPr id="4" name="TextBox 4"/>
          <p:cNvSpPr txBox="1"/>
          <p:nvPr/>
        </p:nvSpPr>
        <p:spPr>
          <a:xfrm>
            <a:off x="1076325" y="2344530"/>
            <a:ext cx="14313758" cy="7654290"/>
          </a:xfrm>
          <a:prstGeom prst="rect">
            <a:avLst/>
          </a:prstGeom>
        </p:spPr>
        <p:txBody>
          <a:bodyPr lIns="0" tIns="0" rIns="0" bIns="0" rtlCol="0" anchor="t">
            <a:spAutoFit/>
          </a:bodyPr>
          <a:lstStyle/>
          <a:p>
            <a:pPr>
              <a:lnSpc>
                <a:spcPts val="3359"/>
              </a:lnSpc>
              <a:spcBef>
                <a:spcPct val="0"/>
              </a:spcBef>
            </a:pPr>
            <a:r>
              <a:rPr lang="en-US" sz="2400" dirty="0">
                <a:solidFill>
                  <a:srgbClr val="000000"/>
                </a:solidFill>
                <a:latin typeface="Montserrat Classic Bold"/>
              </a:rPr>
              <a:t>3. Perusahaan </a:t>
            </a:r>
            <a:r>
              <a:rPr lang="en-US" sz="2400" dirty="0" err="1">
                <a:solidFill>
                  <a:srgbClr val="000000"/>
                </a:solidFill>
                <a:latin typeface="Montserrat Classic Bold"/>
              </a:rPr>
              <a:t>berusaha</a:t>
            </a:r>
            <a:r>
              <a:rPr lang="en-US" sz="2400" dirty="0">
                <a:solidFill>
                  <a:srgbClr val="000000"/>
                </a:solidFill>
                <a:latin typeface="Montserrat Classic Bold"/>
              </a:rPr>
              <a:t> </a:t>
            </a:r>
            <a:r>
              <a:rPr lang="en-US" sz="2400" dirty="0" err="1">
                <a:solidFill>
                  <a:srgbClr val="000000"/>
                </a:solidFill>
                <a:latin typeface="Montserrat Classic Bold"/>
              </a:rPr>
              <a:t>untuk</a:t>
            </a:r>
            <a:r>
              <a:rPr lang="en-US" sz="2400" dirty="0">
                <a:solidFill>
                  <a:srgbClr val="000000"/>
                </a:solidFill>
                <a:latin typeface="Montserrat Classic Bold"/>
              </a:rPr>
              <a:t> </a:t>
            </a:r>
            <a:r>
              <a:rPr lang="en-US" sz="2400" dirty="0" err="1">
                <a:solidFill>
                  <a:srgbClr val="000000"/>
                </a:solidFill>
                <a:latin typeface="Montserrat Classic Bold"/>
              </a:rPr>
              <a:t>melaksanakan</a:t>
            </a:r>
            <a:r>
              <a:rPr lang="en-US" sz="2400" dirty="0">
                <a:solidFill>
                  <a:srgbClr val="000000"/>
                </a:solidFill>
                <a:latin typeface="Montserrat Classic Bold"/>
              </a:rPr>
              <a:t> Code of Conduct </a:t>
            </a:r>
            <a:r>
              <a:rPr lang="en-US" sz="2400" dirty="0" err="1">
                <a:solidFill>
                  <a:srgbClr val="000000"/>
                </a:solidFill>
                <a:latin typeface="Montserrat Classic Bold"/>
              </a:rPr>
              <a:t>ini</a:t>
            </a:r>
            <a:r>
              <a:rPr lang="en-US" sz="2400" dirty="0">
                <a:solidFill>
                  <a:srgbClr val="000000"/>
                </a:solidFill>
                <a:latin typeface="Montserrat Classic Bold"/>
              </a:rPr>
              <a:t> </a:t>
            </a:r>
            <a:r>
              <a:rPr lang="en-US" sz="2400" dirty="0" err="1">
                <a:solidFill>
                  <a:srgbClr val="000000"/>
                </a:solidFill>
                <a:latin typeface="Montserrat Classic Bold"/>
              </a:rPr>
              <a:t>secara</a:t>
            </a:r>
            <a:r>
              <a:rPr lang="en-US" sz="2400" dirty="0">
                <a:solidFill>
                  <a:srgbClr val="000000"/>
                </a:solidFill>
                <a:latin typeface="Montserrat Classic Bold"/>
              </a:rPr>
              <a:t> </a:t>
            </a:r>
            <a:r>
              <a:rPr lang="en-US" sz="2400" dirty="0" err="1">
                <a:solidFill>
                  <a:srgbClr val="000000"/>
                </a:solidFill>
                <a:latin typeface="Montserrat Classic Bold"/>
              </a:rPr>
              <a:t>konsisten</a:t>
            </a:r>
            <a:r>
              <a:rPr lang="en-US" sz="2400" dirty="0">
                <a:solidFill>
                  <a:srgbClr val="000000"/>
                </a:solidFill>
                <a:latin typeface="Montserrat Classic Bold"/>
              </a:rPr>
              <a:t> </a:t>
            </a:r>
            <a:r>
              <a:rPr lang="en-US" sz="2400" dirty="0" err="1">
                <a:solidFill>
                  <a:srgbClr val="000000"/>
                </a:solidFill>
                <a:latin typeface="Montserrat Classic Bold"/>
              </a:rPr>
              <a:t>sehingga</a:t>
            </a:r>
            <a:r>
              <a:rPr lang="en-US" sz="2400" dirty="0">
                <a:solidFill>
                  <a:srgbClr val="000000"/>
                </a:solidFill>
                <a:latin typeface="Montserrat Classic Bold"/>
              </a:rPr>
              <a:t> </a:t>
            </a:r>
            <a:r>
              <a:rPr lang="en-US" sz="2400" dirty="0" err="1">
                <a:solidFill>
                  <a:srgbClr val="000000"/>
                </a:solidFill>
                <a:latin typeface="Montserrat Classic Bold"/>
              </a:rPr>
              <a:t>dapat</a:t>
            </a:r>
            <a:r>
              <a:rPr lang="en-US" sz="2400" dirty="0">
                <a:solidFill>
                  <a:srgbClr val="000000"/>
                </a:solidFill>
                <a:latin typeface="Montserrat Classic Bold"/>
              </a:rPr>
              <a:t> </a:t>
            </a:r>
            <a:r>
              <a:rPr lang="en-US" sz="2400" dirty="0" err="1">
                <a:solidFill>
                  <a:srgbClr val="000000"/>
                </a:solidFill>
                <a:latin typeface="Montserrat Classic Bold"/>
              </a:rPr>
              <a:t>memberikan</a:t>
            </a:r>
            <a:r>
              <a:rPr lang="en-US" sz="2400" dirty="0">
                <a:solidFill>
                  <a:srgbClr val="000000"/>
                </a:solidFill>
                <a:latin typeface="Montserrat Classic Bold"/>
              </a:rPr>
              <a:t> </a:t>
            </a:r>
            <a:r>
              <a:rPr lang="en-US" sz="2400" dirty="0" err="1">
                <a:solidFill>
                  <a:srgbClr val="000000"/>
                </a:solidFill>
                <a:latin typeface="Montserrat Classic Bold"/>
              </a:rPr>
              <a:t>manfaat</a:t>
            </a:r>
            <a:r>
              <a:rPr lang="en-US" sz="2400" dirty="0">
                <a:solidFill>
                  <a:srgbClr val="000000"/>
                </a:solidFill>
                <a:latin typeface="Montserrat Classic Bold"/>
              </a:rPr>
              <a:t> </a:t>
            </a:r>
            <a:r>
              <a:rPr lang="en-US" sz="2400" dirty="0" err="1">
                <a:solidFill>
                  <a:srgbClr val="000000"/>
                </a:solidFill>
                <a:latin typeface="Montserrat Classic Bold"/>
              </a:rPr>
              <a:t>jangka</a:t>
            </a:r>
            <a:r>
              <a:rPr lang="en-US" sz="2400" dirty="0">
                <a:solidFill>
                  <a:srgbClr val="000000"/>
                </a:solidFill>
                <a:latin typeface="Montserrat Classic Bold"/>
              </a:rPr>
              <a:t> </a:t>
            </a:r>
            <a:r>
              <a:rPr lang="en-US" sz="2400" dirty="0" err="1">
                <a:solidFill>
                  <a:srgbClr val="000000"/>
                </a:solidFill>
                <a:latin typeface="Montserrat Classic Bold"/>
              </a:rPr>
              <a:t>panjang</a:t>
            </a:r>
            <a:r>
              <a:rPr lang="en-US" sz="2400" dirty="0">
                <a:solidFill>
                  <a:srgbClr val="000000"/>
                </a:solidFill>
                <a:latin typeface="Montserrat Classic Bold"/>
              </a:rPr>
              <a:t>, </a:t>
            </a:r>
            <a:r>
              <a:rPr lang="en-US" sz="2400" dirty="0" err="1">
                <a:solidFill>
                  <a:srgbClr val="000000"/>
                </a:solidFill>
                <a:latin typeface="Montserrat Classic Bold"/>
              </a:rPr>
              <a:t>bagi</a:t>
            </a:r>
            <a:r>
              <a:rPr lang="en-US" sz="2400" dirty="0">
                <a:solidFill>
                  <a:srgbClr val="000000"/>
                </a:solidFill>
                <a:latin typeface="Montserrat Classic Bold"/>
              </a:rPr>
              <a:t>:</a:t>
            </a:r>
          </a:p>
          <a:p>
            <a:pPr algn="ctr">
              <a:lnSpc>
                <a:spcPts val="3359"/>
              </a:lnSpc>
              <a:spcBef>
                <a:spcPct val="0"/>
              </a:spcBef>
            </a:pPr>
            <a:endParaRPr lang="en-US" sz="2400" dirty="0">
              <a:solidFill>
                <a:srgbClr val="000000"/>
              </a:solidFill>
              <a:latin typeface="Montserrat Classic Bold"/>
            </a:endParaRPr>
          </a:p>
          <a:p>
            <a:pPr>
              <a:lnSpc>
                <a:spcPts val="2940"/>
              </a:lnSpc>
              <a:spcBef>
                <a:spcPct val="0"/>
              </a:spcBef>
            </a:pPr>
            <a:r>
              <a:rPr lang="en-US" sz="2100" dirty="0">
                <a:solidFill>
                  <a:srgbClr val="000000"/>
                </a:solidFill>
                <a:latin typeface="Montserrat Classic Bold"/>
              </a:rPr>
              <a:t>a. </a:t>
            </a:r>
            <a:r>
              <a:rPr lang="en-US" sz="2100" dirty="0" err="1">
                <a:solidFill>
                  <a:srgbClr val="000000"/>
                </a:solidFill>
                <a:latin typeface="Montserrat Classic Bold"/>
              </a:rPr>
              <a:t>Karyawan</a:t>
            </a:r>
            <a:endParaRPr lang="en-US" sz="2100" dirty="0">
              <a:solidFill>
                <a:srgbClr val="000000"/>
              </a:solidFill>
              <a:latin typeface="Montserrat Classic Bold"/>
            </a:endParaRPr>
          </a:p>
          <a:p>
            <a:pPr algn="ctr">
              <a:lnSpc>
                <a:spcPts val="2940"/>
              </a:lnSpc>
              <a:spcBef>
                <a:spcPct val="0"/>
              </a:spcBef>
            </a:pPr>
            <a:r>
              <a:rPr lang="en-US" sz="2100" dirty="0">
                <a:solidFill>
                  <a:srgbClr val="000000"/>
                </a:solidFill>
                <a:latin typeface="Montserrat Classic"/>
              </a:rPr>
              <a:t>-</a:t>
            </a:r>
          </a:p>
          <a:p>
            <a:pPr marL="453392" lvl="1" indent="-226696" algn="l">
              <a:lnSpc>
                <a:spcPts val="2940"/>
              </a:lnSpc>
              <a:buFont typeface="Arial"/>
              <a:buChar char="•"/>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tentang</a:t>
            </a:r>
            <a:r>
              <a:rPr lang="en-US" sz="2100" dirty="0">
                <a:solidFill>
                  <a:srgbClr val="000000"/>
                </a:solidFill>
                <a:latin typeface="Montserrat Classic"/>
              </a:rPr>
              <a:t> </a:t>
            </a:r>
            <a:r>
              <a:rPr lang="en-US" sz="2100" dirty="0" err="1">
                <a:solidFill>
                  <a:srgbClr val="000000"/>
                </a:solidFill>
                <a:latin typeface="Montserrat Classic"/>
              </a:rPr>
              <a:t>tingkah</a:t>
            </a:r>
            <a:r>
              <a:rPr lang="en-US" sz="2100" dirty="0">
                <a:solidFill>
                  <a:srgbClr val="000000"/>
                </a:solidFill>
                <a:latin typeface="Montserrat Classic"/>
              </a:rPr>
              <a:t> </a:t>
            </a:r>
            <a:r>
              <a:rPr lang="en-US" sz="2100" dirty="0" err="1">
                <a:solidFill>
                  <a:srgbClr val="000000"/>
                </a:solidFill>
                <a:latin typeface="Montserrat Classic"/>
              </a:rPr>
              <a:t>laku</a:t>
            </a:r>
            <a:r>
              <a:rPr lang="en-US" sz="2100" dirty="0">
                <a:solidFill>
                  <a:srgbClr val="000000"/>
                </a:solidFill>
                <a:latin typeface="Montserrat Classic"/>
              </a:rPr>
              <a:t> yang </a:t>
            </a:r>
            <a:r>
              <a:rPr lang="en-US" sz="2100" dirty="0" err="1">
                <a:solidFill>
                  <a:srgbClr val="000000"/>
                </a:solidFill>
                <a:latin typeface="Montserrat Classic"/>
              </a:rPr>
              <a:t>diinginkan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diinginkan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Perusahaan.-</a:t>
            </a:r>
          </a:p>
          <a:p>
            <a:pPr marL="453392" lvl="1" indent="-226696">
              <a:lnSpc>
                <a:spcPts val="2940"/>
              </a:lnSpc>
              <a:buFont typeface="Arial"/>
              <a:buChar char="•"/>
            </a:pPr>
            <a:r>
              <a:rPr lang="en-US" sz="2100" dirty="0" err="1">
                <a:solidFill>
                  <a:srgbClr val="000000"/>
                </a:solidFill>
                <a:latin typeface="Montserrat Classic"/>
              </a:rPr>
              <a:t>Menciptakan</a:t>
            </a:r>
            <a:r>
              <a:rPr lang="en-US" sz="2100" dirty="0">
                <a:solidFill>
                  <a:srgbClr val="000000"/>
                </a:solidFill>
                <a:latin typeface="Montserrat Classic"/>
              </a:rPr>
              <a:t> </a:t>
            </a: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menjunjung</a:t>
            </a:r>
            <a:r>
              <a:rPr lang="en-US" sz="2100" dirty="0">
                <a:solidFill>
                  <a:srgbClr val="000000"/>
                </a:solidFill>
                <a:latin typeface="Montserrat Classic"/>
              </a:rPr>
              <a:t> </a:t>
            </a:r>
            <a:r>
              <a:rPr lang="en-US" sz="2100" dirty="0" err="1">
                <a:solidFill>
                  <a:srgbClr val="000000"/>
                </a:solidFill>
                <a:latin typeface="Montserrat Classic"/>
              </a:rPr>
              <a:t>tinggi</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kejujuran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keterbukaan</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meningkatkan</a:t>
            </a:r>
            <a:r>
              <a:rPr lang="en-US" sz="2100" dirty="0">
                <a:solidFill>
                  <a:srgbClr val="000000"/>
                </a:solidFill>
                <a:latin typeface="Montserrat Classic"/>
              </a:rPr>
              <a:t> </a:t>
            </a:r>
            <a:r>
              <a:rPr lang="en-US" sz="2100" dirty="0" err="1">
                <a:solidFill>
                  <a:srgbClr val="000000"/>
                </a:solidFill>
                <a:latin typeface="Montserrat Classic"/>
              </a:rPr>
              <a:t>kinerja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produktivitas</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menyeluruh</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a:lnSpc>
                <a:spcPts val="2940"/>
              </a:lnSpc>
              <a:spcBef>
                <a:spcPct val="0"/>
              </a:spcBef>
            </a:pPr>
            <a:r>
              <a:rPr lang="en-US" sz="2100" dirty="0">
                <a:solidFill>
                  <a:srgbClr val="000000"/>
                </a:solidFill>
                <a:latin typeface="Montserrat Classic Bold"/>
              </a:rPr>
              <a:t>B. Perusahaan </a:t>
            </a:r>
          </a:p>
          <a:p>
            <a:pPr>
              <a:lnSpc>
                <a:spcPts val="2940"/>
              </a:lnSpc>
              <a:spcBef>
                <a:spcPct val="0"/>
              </a:spcBef>
            </a:pPr>
            <a:endParaRPr lang="en-US" sz="2100" dirty="0">
              <a:solidFill>
                <a:srgbClr val="000000"/>
              </a:solidFill>
              <a:latin typeface="Montserrat Classic Bold"/>
            </a:endParaRPr>
          </a:p>
          <a:p>
            <a:pPr marL="453392" lvl="1" indent="-226696">
              <a:lnSpc>
                <a:spcPts val="2940"/>
              </a:lnSpc>
              <a:buFont typeface="Arial"/>
              <a:buChar char="•"/>
            </a:pPr>
            <a:r>
              <a:rPr lang="en-US" sz="2100" dirty="0" err="1">
                <a:solidFill>
                  <a:srgbClr val="000000"/>
                </a:solidFill>
                <a:latin typeface="Montserrat Classic"/>
              </a:rPr>
              <a:t>Mendorong</a:t>
            </a:r>
            <a:r>
              <a:rPr lang="en-US" sz="2100" dirty="0">
                <a:solidFill>
                  <a:srgbClr val="000000"/>
                </a:solidFill>
                <a:latin typeface="Montserrat Classic"/>
              </a:rPr>
              <a:t> </a:t>
            </a:r>
            <a:r>
              <a:rPr lang="en-US" sz="2100" dirty="0" err="1">
                <a:solidFill>
                  <a:srgbClr val="000000"/>
                </a:solidFill>
                <a:latin typeface="Montserrat Classic"/>
              </a:rPr>
              <a:t>kegiatan</a:t>
            </a:r>
            <a:r>
              <a:rPr lang="en-US" sz="2100" dirty="0">
                <a:solidFill>
                  <a:srgbClr val="000000"/>
                </a:solidFill>
                <a:latin typeface="Montserrat Classic"/>
              </a:rPr>
              <a:t> </a:t>
            </a:r>
            <a:r>
              <a:rPr lang="en-US" sz="2100" dirty="0" err="1">
                <a:solidFill>
                  <a:srgbClr val="000000"/>
                </a:solidFill>
                <a:latin typeface="Montserrat Classic"/>
              </a:rPr>
              <a:t>operasional</a:t>
            </a:r>
            <a:r>
              <a:rPr lang="en-US" sz="2100" dirty="0">
                <a:solidFill>
                  <a:srgbClr val="000000"/>
                </a:solidFill>
                <a:latin typeface="Montserrat Classic"/>
              </a:rPr>
              <a:t> Perusahaan agar </a:t>
            </a:r>
            <a:r>
              <a:rPr lang="en-US" sz="2100" dirty="0" err="1">
                <a:solidFill>
                  <a:srgbClr val="000000"/>
                </a:solidFill>
                <a:latin typeface="Montserrat Classic"/>
              </a:rPr>
              <a:t>lebih</a:t>
            </a:r>
            <a:r>
              <a:rPr lang="en-US" sz="2100" dirty="0">
                <a:solidFill>
                  <a:srgbClr val="000000"/>
                </a:solidFill>
                <a:latin typeface="Montserrat Classic"/>
              </a:rPr>
              <a:t> </a:t>
            </a:r>
            <a:r>
              <a:rPr lang="en-US" sz="2100" dirty="0" err="1">
                <a:solidFill>
                  <a:srgbClr val="000000"/>
                </a:solidFill>
                <a:latin typeface="Montserrat Classic"/>
              </a:rPr>
              <a:t>efisien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efektif</a:t>
            </a:r>
            <a:r>
              <a:rPr lang="en-US" sz="2100" dirty="0">
                <a:solidFill>
                  <a:srgbClr val="000000"/>
                </a:solidFill>
                <a:latin typeface="Montserrat Classic"/>
              </a:rPr>
              <a:t>, </a:t>
            </a:r>
            <a:r>
              <a:rPr lang="en-US" sz="2100" dirty="0" err="1">
                <a:solidFill>
                  <a:srgbClr val="000000"/>
                </a:solidFill>
                <a:latin typeface="Montserrat Classic"/>
              </a:rPr>
              <a:t>mengingat</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debitur</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pemerintah</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stakeholders </a:t>
            </a:r>
            <a:r>
              <a:rPr lang="en-US" sz="2100" dirty="0" err="1">
                <a:solidFill>
                  <a:srgbClr val="000000"/>
                </a:solidFill>
                <a:latin typeface="Montserrat Classic"/>
              </a:rPr>
              <a:t>lainnya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yang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diperhatikan</a:t>
            </a:r>
            <a:endParaRPr lang="en-US" sz="2100" dirty="0">
              <a:solidFill>
                <a:srgbClr val="000000"/>
              </a:solidFill>
              <a:latin typeface="Montserrat Classic"/>
            </a:endParaRPr>
          </a:p>
          <a:p>
            <a:pPr marL="453392" lvl="1" indent="-226696">
              <a:lnSpc>
                <a:spcPts val="2940"/>
              </a:lnSpc>
              <a:buFont typeface="Arial"/>
              <a:buChar char="•"/>
            </a:pPr>
            <a:r>
              <a:rPr lang="en-US" sz="2100" dirty="0" err="1">
                <a:solidFill>
                  <a:srgbClr val="000000"/>
                </a:solidFill>
                <a:latin typeface="Montserrat Classic"/>
              </a:rPr>
              <a:t>Meningkatkan</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Perusahaan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kepastian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perlindungan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para stakeholders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berhubungan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Perusahaan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menghasilkan</a:t>
            </a:r>
            <a:r>
              <a:rPr lang="en-US" sz="2100" dirty="0">
                <a:solidFill>
                  <a:srgbClr val="000000"/>
                </a:solidFill>
                <a:latin typeface="Montserrat Classic"/>
              </a:rPr>
              <a:t> </a:t>
            </a:r>
            <a:r>
              <a:rPr lang="en-US" sz="2100" dirty="0" err="1">
                <a:solidFill>
                  <a:srgbClr val="000000"/>
                </a:solidFill>
                <a:latin typeface="Montserrat Classic"/>
              </a:rPr>
              <a:t>reputasi</a:t>
            </a:r>
            <a:r>
              <a:rPr lang="en-US" sz="2100" dirty="0">
                <a:solidFill>
                  <a:srgbClr val="000000"/>
                </a:solidFill>
                <a:latin typeface="Montserrat Classic"/>
              </a:rPr>
              <a:t> yang </a:t>
            </a:r>
            <a:r>
              <a:rPr lang="en-US" sz="2100" dirty="0" err="1">
                <a:solidFill>
                  <a:srgbClr val="000000"/>
                </a:solidFill>
                <a:latin typeface="Montserrat Classic"/>
              </a:rPr>
              <a:t>baik</a:t>
            </a:r>
            <a:r>
              <a:rPr lang="en-US" sz="2100" dirty="0">
                <a:solidFill>
                  <a:srgbClr val="000000"/>
                </a:solidFill>
                <a:latin typeface="Montserrat Classic"/>
              </a:rPr>
              <a:t> yang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akhirnya</a:t>
            </a:r>
            <a:r>
              <a:rPr lang="en-US" sz="2100" dirty="0">
                <a:solidFill>
                  <a:srgbClr val="000000"/>
                </a:solidFill>
                <a:latin typeface="Montserrat Classic"/>
              </a:rPr>
              <a:t> </a:t>
            </a:r>
            <a:r>
              <a:rPr lang="en-US" sz="2100" dirty="0" err="1">
                <a:solidFill>
                  <a:srgbClr val="000000"/>
                </a:solidFill>
                <a:latin typeface="Montserrat Classic"/>
              </a:rPr>
              <a:t>mewujudkan</a:t>
            </a:r>
            <a:r>
              <a:rPr lang="en-US" sz="2100" dirty="0">
                <a:solidFill>
                  <a:srgbClr val="000000"/>
                </a:solidFill>
                <a:latin typeface="Montserrat Classic"/>
              </a:rPr>
              <a:t> </a:t>
            </a:r>
            <a:r>
              <a:rPr lang="en-US" sz="2100" dirty="0" err="1">
                <a:solidFill>
                  <a:srgbClr val="000000"/>
                </a:solidFill>
                <a:latin typeface="Montserrat Classic"/>
              </a:rPr>
              <a:t>keberhasilan</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jangka</a:t>
            </a:r>
            <a:r>
              <a:rPr lang="en-US" sz="2100" dirty="0">
                <a:solidFill>
                  <a:srgbClr val="000000"/>
                </a:solidFill>
                <a:latin typeface="Montserrat Classic"/>
              </a:rPr>
              <a:t> </a:t>
            </a:r>
            <a:r>
              <a:rPr lang="en-US" sz="2100" dirty="0" err="1">
                <a:solidFill>
                  <a:srgbClr val="000000"/>
                </a:solidFill>
                <a:latin typeface="Montserrat Classic"/>
              </a:rPr>
              <a:t>panjang</a:t>
            </a:r>
            <a:r>
              <a:rPr lang="en-US" sz="2100" dirty="0">
                <a:solidFill>
                  <a:srgbClr val="000000"/>
                </a:solidFill>
                <a:latin typeface="Montserrat Classic"/>
              </a:rPr>
              <a:t>.</a:t>
            </a:r>
          </a:p>
          <a:p>
            <a:pPr algn="ctr">
              <a:lnSpc>
                <a:spcPts val="3359"/>
              </a:lnSpc>
              <a:spcBef>
                <a:spcPct val="0"/>
              </a:spcBef>
            </a:pPr>
            <a:endParaRPr lang="en-US" sz="2100" dirty="0">
              <a:solidFill>
                <a:srgbClr val="000000"/>
              </a:solidFill>
              <a:latin typeface="Montserrat Classic"/>
            </a:endParaRPr>
          </a:p>
          <a:p>
            <a:pPr algn="ctr">
              <a:lnSpc>
                <a:spcPts val="3359"/>
              </a:lnSpc>
              <a:spcBef>
                <a:spcPct val="0"/>
              </a:spcBef>
            </a:pPr>
            <a:endParaRPr lang="en-US" sz="2100" dirty="0">
              <a:solidFill>
                <a:srgbClr val="000000"/>
              </a:solidFill>
              <a:latin typeface="Montserrat Classic"/>
            </a:endParaRPr>
          </a:p>
        </p:txBody>
      </p:sp>
      <p:sp>
        <p:nvSpPr>
          <p:cNvPr id="5" name="TextBox 5"/>
          <p:cNvSpPr txBox="1"/>
          <p:nvPr/>
        </p:nvSpPr>
        <p:spPr>
          <a:xfrm>
            <a:off x="1028700" y="720777"/>
            <a:ext cx="15213964"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D. MAKSUD TUJUAN DAN MANFAAT PEDOMAN ETIKA BISNIS DAN ETIKA KERJA </a:t>
            </a:r>
          </a:p>
        </p:txBody>
      </p:sp>
      <p:sp>
        <p:nvSpPr>
          <p:cNvPr id="6" name="TextBox 6"/>
          <p:cNvSpPr txBox="1"/>
          <p:nvPr/>
        </p:nvSpPr>
        <p:spPr>
          <a:xfrm>
            <a:off x="16916400" y="9153525"/>
            <a:ext cx="515299" cy="589905"/>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10</a:t>
            </a:r>
            <a:endParaRPr lang="en-US" sz="3319" dirty="0">
              <a:solidFill>
                <a:srgbClr val="000000"/>
              </a:solidFill>
              <a:latin typeface="Telegra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2700276"/>
            <a:ext cx="14879852" cy="7350154"/>
          </a:xfrm>
          <a:prstGeom prst="rect">
            <a:avLst/>
          </a:prstGeom>
        </p:spPr>
        <p:txBody>
          <a:bodyPr lIns="0" tIns="0" rIns="0" bIns="0" rtlCol="0" anchor="t">
            <a:spAutoFit/>
          </a:bodyPr>
          <a:lstStyle/>
          <a:p>
            <a:pPr>
              <a:lnSpc>
                <a:spcPts val="3359"/>
              </a:lnSpc>
              <a:spcBef>
                <a:spcPct val="0"/>
              </a:spcBef>
            </a:pPr>
            <a:r>
              <a:rPr lang="en-US" sz="2100" dirty="0">
                <a:solidFill>
                  <a:srgbClr val="000000"/>
                </a:solidFill>
                <a:latin typeface="Montserrat Classic Bold"/>
              </a:rPr>
              <a:t>C. </a:t>
            </a:r>
            <a:r>
              <a:rPr lang="en-US" sz="2100" dirty="0" err="1">
                <a:solidFill>
                  <a:srgbClr val="000000"/>
                </a:solidFill>
                <a:latin typeface="Montserrat Classic Bold"/>
              </a:rPr>
              <a:t>Pemegang</a:t>
            </a:r>
            <a:r>
              <a:rPr lang="en-US" sz="2100" dirty="0">
                <a:solidFill>
                  <a:srgbClr val="000000"/>
                </a:solidFill>
                <a:latin typeface="Montserrat Classic Bold"/>
              </a:rPr>
              <a:t> </a:t>
            </a:r>
            <a:r>
              <a:rPr lang="en-US" sz="2100" dirty="0" err="1">
                <a:solidFill>
                  <a:srgbClr val="000000"/>
                </a:solidFill>
                <a:latin typeface="Montserrat Classic Bold"/>
              </a:rPr>
              <a:t>saham</a:t>
            </a:r>
            <a:r>
              <a:rPr lang="en-US" sz="2100" dirty="0">
                <a:solidFill>
                  <a:srgbClr val="000000"/>
                </a:solidFill>
                <a:latin typeface="Montserrat Classic Bold"/>
              </a:rPr>
              <a:t> (shareholders)</a:t>
            </a:r>
          </a:p>
          <a:p>
            <a:pPr>
              <a:lnSpc>
                <a:spcPts val="2940"/>
              </a:lnSpc>
              <a:spcBef>
                <a:spcPct val="0"/>
              </a:spcBef>
            </a:pPr>
            <a:endParaRPr lang="en-US" sz="24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Menambah</a:t>
            </a:r>
            <a:r>
              <a:rPr lang="en-US" sz="2100" dirty="0">
                <a:solidFill>
                  <a:srgbClr val="000000"/>
                </a:solidFill>
                <a:latin typeface="Montserrat Classic"/>
              </a:rPr>
              <a:t> </a:t>
            </a:r>
            <a:r>
              <a:rPr lang="en-US" sz="2100" dirty="0" err="1">
                <a:solidFill>
                  <a:srgbClr val="000000"/>
                </a:solidFill>
                <a:latin typeface="Montserrat Classic"/>
              </a:rPr>
              <a:t>keyakinan</a:t>
            </a:r>
            <a:r>
              <a:rPr lang="en-US" sz="2100" dirty="0">
                <a:solidFill>
                  <a:srgbClr val="000000"/>
                </a:solidFill>
                <a:latin typeface="Montserrat Classic"/>
              </a:rPr>
              <a:t> </a:t>
            </a:r>
            <a:r>
              <a:rPr lang="en-US" sz="2100" dirty="0" err="1">
                <a:solidFill>
                  <a:srgbClr val="000000"/>
                </a:solidFill>
                <a:latin typeface="Montserrat Classic"/>
              </a:rPr>
              <a:t>bahwa</a:t>
            </a:r>
            <a:r>
              <a:rPr lang="en-US" sz="2100" dirty="0">
                <a:solidFill>
                  <a:srgbClr val="000000"/>
                </a:solidFill>
                <a:latin typeface="Montserrat Classic"/>
              </a:rPr>
              <a:t> Perusahaan </a:t>
            </a:r>
            <a:r>
              <a:rPr lang="en-US" sz="2100" dirty="0" err="1">
                <a:solidFill>
                  <a:srgbClr val="000000"/>
                </a:solidFill>
                <a:latin typeface="Montserrat Classic"/>
              </a:rPr>
              <a:t>dikelola</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hati-hati</a:t>
            </a:r>
            <a:r>
              <a:rPr lang="en-US" sz="2100" dirty="0">
                <a:solidFill>
                  <a:srgbClr val="000000"/>
                </a:solidFill>
                <a:latin typeface="Montserrat Classic"/>
              </a:rPr>
              <a:t> (prudent), </a:t>
            </a:r>
            <a:r>
              <a:rPr lang="en-US" sz="2100" dirty="0" err="1">
                <a:solidFill>
                  <a:srgbClr val="000000"/>
                </a:solidFill>
                <a:latin typeface="Montserrat Classic"/>
              </a:rPr>
              <a:t>efisien</a:t>
            </a:r>
            <a:r>
              <a:rPr lang="en-US" sz="2100" dirty="0">
                <a:solidFill>
                  <a:srgbClr val="000000"/>
                </a:solidFill>
                <a:latin typeface="Montserrat Classic"/>
              </a:rPr>
              <a:t>, </a:t>
            </a:r>
            <a:r>
              <a:rPr lang="en-US" sz="2100" dirty="0" err="1">
                <a:solidFill>
                  <a:srgbClr val="000000"/>
                </a:solidFill>
                <a:latin typeface="Montserrat Classic"/>
              </a:rPr>
              <a:t>transparan</a:t>
            </a:r>
            <a:r>
              <a:rPr lang="en-US" sz="2100" dirty="0">
                <a:solidFill>
                  <a:srgbClr val="000000"/>
                </a:solidFill>
                <a:latin typeface="Montserrat Classic"/>
              </a:rPr>
              <a:t>, </a:t>
            </a:r>
            <a:r>
              <a:rPr lang="en-US" sz="2100" dirty="0" err="1">
                <a:solidFill>
                  <a:srgbClr val="000000"/>
                </a:solidFill>
                <a:latin typeface="Montserrat Classic"/>
              </a:rPr>
              <a:t>akuntabilitas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adil</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mencapai</a:t>
            </a:r>
            <a:r>
              <a:rPr lang="en-US" sz="2100" dirty="0">
                <a:solidFill>
                  <a:srgbClr val="000000"/>
                </a:solidFill>
                <a:latin typeface="Montserrat Classic"/>
              </a:rPr>
              <a:t> </a:t>
            </a:r>
            <a:r>
              <a:rPr lang="en-US" sz="2100" dirty="0" err="1">
                <a:solidFill>
                  <a:srgbClr val="000000"/>
                </a:solidFill>
                <a:latin typeface="Montserrat Classic"/>
              </a:rPr>
              <a:t>tingkat</a:t>
            </a:r>
            <a:r>
              <a:rPr lang="en-US" sz="2100" dirty="0">
                <a:solidFill>
                  <a:srgbClr val="000000"/>
                </a:solidFill>
                <a:latin typeface="Montserrat Classic"/>
              </a:rPr>
              <a:t> </a:t>
            </a:r>
            <a:r>
              <a:rPr lang="en-US" sz="2100" dirty="0" err="1">
                <a:solidFill>
                  <a:srgbClr val="000000"/>
                </a:solidFill>
                <a:latin typeface="Montserrat Classic"/>
              </a:rPr>
              <a:t>profitabilitas</a:t>
            </a:r>
            <a:r>
              <a:rPr lang="en-US" sz="2100" dirty="0">
                <a:solidFill>
                  <a:srgbClr val="000000"/>
                </a:solidFill>
                <a:latin typeface="Montserrat Classic"/>
              </a:rPr>
              <a:t> yang </a:t>
            </a:r>
            <a:r>
              <a:rPr lang="en-US" sz="2100" dirty="0" err="1">
                <a:solidFill>
                  <a:srgbClr val="000000"/>
                </a:solidFill>
                <a:latin typeface="Montserrat Classic"/>
              </a:rPr>
              <a:t>diharapkan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Pemegang</a:t>
            </a:r>
            <a:r>
              <a:rPr lang="en-US" sz="2100" dirty="0">
                <a:solidFill>
                  <a:srgbClr val="000000"/>
                </a:solidFill>
                <a:latin typeface="Montserrat Classic"/>
              </a:rPr>
              <a:t> </a:t>
            </a:r>
            <a:r>
              <a:rPr lang="en-US" sz="2100" dirty="0" err="1">
                <a:solidFill>
                  <a:srgbClr val="000000"/>
                </a:solidFill>
                <a:latin typeface="Montserrat Classic"/>
              </a:rPr>
              <a:t>Saham</a:t>
            </a:r>
            <a:r>
              <a:rPr lang="en-US" sz="2100" dirty="0">
                <a:solidFill>
                  <a:srgbClr val="000000"/>
                </a:solidFill>
                <a:latin typeface="Montserrat Classic"/>
              </a:rPr>
              <a:t> (Shareholders)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tetap</a:t>
            </a:r>
            <a:r>
              <a:rPr lang="en-US" sz="2100" dirty="0">
                <a:solidFill>
                  <a:srgbClr val="000000"/>
                </a:solidFill>
                <a:latin typeface="Montserrat Classic"/>
              </a:rPr>
              <a:t> </a:t>
            </a:r>
            <a:r>
              <a:rPr lang="en-US" sz="2100" dirty="0" err="1">
                <a:solidFill>
                  <a:srgbClr val="000000"/>
                </a:solidFill>
                <a:latin typeface="Montserrat Classic"/>
              </a:rPr>
              <a:t>memperhatikan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a:t>
            </a:r>
          </a:p>
          <a:p>
            <a:pPr>
              <a:lnSpc>
                <a:spcPts val="3359"/>
              </a:lnSpc>
              <a:spcBef>
                <a:spcPct val="0"/>
              </a:spcBef>
            </a:pPr>
            <a:endParaRPr lang="en-US" sz="2100" dirty="0">
              <a:solidFill>
                <a:srgbClr val="000000"/>
              </a:solidFill>
              <a:latin typeface="Montserrat Classic"/>
            </a:endParaRPr>
          </a:p>
          <a:p>
            <a:pPr>
              <a:lnSpc>
                <a:spcPts val="3359"/>
              </a:lnSpc>
              <a:spcBef>
                <a:spcPct val="0"/>
              </a:spcBef>
            </a:pPr>
            <a:r>
              <a:rPr lang="en-US" sz="2100" dirty="0">
                <a:solidFill>
                  <a:srgbClr val="000000"/>
                </a:solidFill>
                <a:latin typeface="Montserrat Classic Bold"/>
              </a:rPr>
              <a:t>D. </a:t>
            </a:r>
            <a:r>
              <a:rPr lang="en-US" sz="2100" dirty="0" err="1">
                <a:solidFill>
                  <a:srgbClr val="000000"/>
                </a:solidFill>
                <a:latin typeface="Montserrat Classic Bold"/>
              </a:rPr>
              <a:t>Masyarakat</a:t>
            </a:r>
            <a:r>
              <a:rPr lang="en-US" sz="2100" dirty="0">
                <a:solidFill>
                  <a:srgbClr val="000000"/>
                </a:solidFill>
                <a:latin typeface="Montserrat Classic Bold"/>
              </a:rPr>
              <a:t> </a:t>
            </a:r>
            <a:r>
              <a:rPr lang="en-US" sz="2100" dirty="0" err="1">
                <a:solidFill>
                  <a:srgbClr val="000000"/>
                </a:solidFill>
                <a:latin typeface="Montserrat Classic Bold"/>
              </a:rPr>
              <a:t>dan</a:t>
            </a:r>
            <a:r>
              <a:rPr lang="en-US" sz="2100" dirty="0">
                <a:solidFill>
                  <a:srgbClr val="000000"/>
                </a:solidFill>
                <a:latin typeface="Montserrat Classic Bold"/>
              </a:rPr>
              <a:t> </a:t>
            </a:r>
            <a:r>
              <a:rPr lang="en-US" sz="2100" dirty="0" err="1">
                <a:solidFill>
                  <a:srgbClr val="000000"/>
                </a:solidFill>
                <a:latin typeface="Montserrat Classic Bold"/>
              </a:rPr>
              <a:t>pihak</a:t>
            </a:r>
            <a:r>
              <a:rPr lang="en-US" sz="2100" dirty="0">
                <a:solidFill>
                  <a:srgbClr val="000000"/>
                </a:solidFill>
                <a:latin typeface="Montserrat Classic Bold"/>
              </a:rPr>
              <a:t> lain yang </a:t>
            </a:r>
            <a:r>
              <a:rPr lang="en-US" sz="2100" dirty="0" err="1">
                <a:solidFill>
                  <a:srgbClr val="000000"/>
                </a:solidFill>
                <a:latin typeface="Montserrat Classic Bold"/>
              </a:rPr>
              <a:t>berkepentingan</a:t>
            </a:r>
            <a:r>
              <a:rPr lang="en-US" sz="2100" dirty="0">
                <a:solidFill>
                  <a:srgbClr val="000000"/>
                </a:solidFill>
                <a:latin typeface="Montserrat Classic Bold"/>
              </a:rPr>
              <a:t> </a:t>
            </a:r>
            <a:r>
              <a:rPr lang="en-US" sz="2100" dirty="0" smtClean="0">
                <a:solidFill>
                  <a:srgbClr val="000000"/>
                </a:solidFill>
                <a:latin typeface="Montserrat Classic Bold"/>
              </a:rPr>
              <a:t>(</a:t>
            </a:r>
            <a:r>
              <a:rPr lang="id-ID" sz="2100" dirty="0" smtClean="0">
                <a:solidFill>
                  <a:srgbClr val="000000"/>
                </a:solidFill>
                <a:latin typeface="Montserrat Classic Bold"/>
              </a:rPr>
              <a:t>s</a:t>
            </a:r>
            <a:r>
              <a:rPr lang="en-US" sz="2100" dirty="0" err="1" smtClean="0">
                <a:solidFill>
                  <a:srgbClr val="000000"/>
                </a:solidFill>
                <a:latin typeface="Montserrat Classic Bold"/>
              </a:rPr>
              <a:t>takeholders</a:t>
            </a:r>
            <a:r>
              <a:rPr lang="en-US" sz="2100" dirty="0">
                <a:solidFill>
                  <a:srgbClr val="000000"/>
                </a:solidFill>
                <a:latin typeface="Montserrat Classic Bold"/>
              </a:rPr>
              <a:t>)</a:t>
            </a:r>
          </a:p>
          <a:p>
            <a:pPr>
              <a:lnSpc>
                <a:spcPts val="3359"/>
              </a:lnSpc>
              <a:spcBef>
                <a:spcPct val="0"/>
              </a:spcBef>
            </a:pPr>
            <a:endParaRPr lang="en-US" sz="24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Meningkatnya</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kepastian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perlindungan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para Stakeholders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berhubungan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Perusahaan yang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akhirnya</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menciptakan</a:t>
            </a:r>
            <a:r>
              <a:rPr lang="en-US" sz="2100" dirty="0">
                <a:solidFill>
                  <a:srgbClr val="000000"/>
                </a:solidFill>
                <a:latin typeface="Montserrat Classic"/>
              </a:rPr>
              <a:t> </a:t>
            </a:r>
            <a:r>
              <a:rPr lang="en-US" sz="2100" dirty="0" err="1">
                <a:solidFill>
                  <a:srgbClr val="000000"/>
                </a:solidFill>
                <a:latin typeface="Montserrat Classic"/>
              </a:rPr>
              <a:t>kesejahteraan</a:t>
            </a:r>
            <a:r>
              <a:rPr lang="en-US" sz="2100" dirty="0">
                <a:solidFill>
                  <a:srgbClr val="000000"/>
                </a:solidFill>
                <a:latin typeface="Montserrat Classic"/>
              </a:rPr>
              <a:t> </a:t>
            </a:r>
            <a:r>
              <a:rPr lang="en-US" sz="2100" dirty="0" err="1">
                <a:solidFill>
                  <a:srgbClr val="000000"/>
                </a:solidFill>
                <a:latin typeface="Montserrat Classic"/>
              </a:rPr>
              <a:t>ekonomi-sosial</a:t>
            </a:r>
            <a:r>
              <a:rPr lang="en-US" sz="2100" dirty="0">
                <a:solidFill>
                  <a:srgbClr val="000000"/>
                </a:solidFill>
                <a:latin typeface="Montserrat Classic"/>
              </a:rPr>
              <a:t> </a:t>
            </a:r>
            <a:r>
              <a:rPr lang="en-US" sz="2100" dirty="0" err="1">
                <a:solidFill>
                  <a:srgbClr val="000000"/>
                </a:solidFill>
                <a:latin typeface="Montserrat Classic"/>
              </a:rPr>
              <a:t>bagi</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yang </a:t>
            </a:r>
            <a:r>
              <a:rPr lang="en-US" sz="2100" dirty="0" err="1">
                <a:solidFill>
                  <a:srgbClr val="000000"/>
                </a:solidFill>
                <a:latin typeface="Montserrat Classic"/>
              </a:rPr>
              <a:t>terkait</a:t>
            </a:r>
            <a:r>
              <a:rPr lang="en-US" sz="2100" dirty="0">
                <a:solidFill>
                  <a:srgbClr val="000000"/>
                </a:solidFill>
                <a:latin typeface="Montserrat Classic"/>
              </a:rPr>
              <a:t>.</a:t>
            </a:r>
          </a:p>
          <a:p>
            <a:pPr>
              <a:lnSpc>
                <a:spcPts val="3359"/>
              </a:lnSpc>
              <a:spcBef>
                <a:spcPct val="0"/>
              </a:spcBef>
            </a:pPr>
            <a:endParaRPr lang="en-US" sz="2100" dirty="0">
              <a:solidFill>
                <a:srgbClr val="000000"/>
              </a:solidFill>
              <a:latin typeface="Montserrat Classic"/>
            </a:endParaRPr>
          </a:p>
          <a:p>
            <a:pPr>
              <a:lnSpc>
                <a:spcPts val="3359"/>
              </a:lnSpc>
              <a:spcBef>
                <a:spcPct val="0"/>
              </a:spcBef>
            </a:pPr>
            <a:endParaRPr lang="en-US" sz="2100" dirty="0">
              <a:solidFill>
                <a:srgbClr val="000000"/>
              </a:solidFill>
              <a:latin typeface="Montserrat Classic"/>
            </a:endParaRPr>
          </a:p>
          <a:p>
            <a:pPr>
              <a:lnSpc>
                <a:spcPts val="3359"/>
              </a:lnSpc>
              <a:spcBef>
                <a:spcPct val="0"/>
              </a:spcBef>
            </a:pPr>
            <a:endParaRPr lang="en-US" sz="2100" dirty="0">
              <a:solidFill>
                <a:srgbClr val="000000"/>
              </a:solidFill>
              <a:latin typeface="Montserrat Classic"/>
            </a:endParaRPr>
          </a:p>
          <a:p>
            <a:pPr>
              <a:lnSpc>
                <a:spcPts val="3359"/>
              </a:lnSpc>
              <a:spcBef>
                <a:spcPct val="0"/>
              </a:spcBef>
            </a:pPr>
            <a:endParaRPr lang="en-US" sz="2100" dirty="0">
              <a:solidFill>
                <a:srgbClr val="000000"/>
              </a:solidFill>
              <a:latin typeface="Montserrat Classic"/>
            </a:endParaRPr>
          </a:p>
          <a:p>
            <a:pPr algn="ctr">
              <a:lnSpc>
                <a:spcPts val="3359"/>
              </a:lnSpc>
              <a:spcBef>
                <a:spcPct val="0"/>
              </a:spcBef>
            </a:pPr>
            <a:r>
              <a:rPr lang="en-US" sz="2400" dirty="0">
                <a:solidFill>
                  <a:srgbClr val="000000"/>
                </a:solidFill>
                <a:latin typeface="Montserrat Classic"/>
              </a:rPr>
              <a:t>-</a:t>
            </a:r>
          </a:p>
          <a:p>
            <a:pPr algn="ctr">
              <a:lnSpc>
                <a:spcPts val="3359"/>
              </a:lnSpc>
              <a:spcBef>
                <a:spcPct val="0"/>
              </a:spcBef>
            </a:pPr>
            <a:endParaRPr lang="en-US" sz="2400" dirty="0">
              <a:solidFill>
                <a:srgbClr val="000000"/>
              </a:solidFill>
              <a:latin typeface="Montserrat Classic"/>
            </a:endParaRPr>
          </a:p>
          <a:p>
            <a:pPr algn="ctr">
              <a:lnSpc>
                <a:spcPts val="3359"/>
              </a:lnSpc>
              <a:spcBef>
                <a:spcPct val="0"/>
              </a:spcBef>
            </a:pPr>
            <a:endParaRPr lang="en-US" sz="2400" dirty="0">
              <a:solidFill>
                <a:srgbClr val="000000"/>
              </a:solidFill>
              <a:latin typeface="Montserrat Classic"/>
            </a:endParaRPr>
          </a:p>
        </p:txBody>
      </p:sp>
      <p:sp>
        <p:nvSpPr>
          <p:cNvPr id="5" name="TextBox 5"/>
          <p:cNvSpPr txBox="1"/>
          <p:nvPr/>
        </p:nvSpPr>
        <p:spPr>
          <a:xfrm>
            <a:off x="1028700" y="720777"/>
            <a:ext cx="15213964" cy="121475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D. MAKSUD TUJUAN DAN MANFAAT PEDOMAN ETIKA BISNIS DAN ETIKA KERJA </a:t>
            </a:r>
          </a:p>
        </p:txBody>
      </p:sp>
      <p:sp>
        <p:nvSpPr>
          <p:cNvPr id="6" name="TextBox 6"/>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1</a:t>
            </a:r>
            <a:endParaRPr lang="en-US" sz="3319" dirty="0">
              <a:solidFill>
                <a:srgbClr val="000000"/>
              </a:solidFill>
              <a:latin typeface="Telegra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20777"/>
            <a:ext cx="15213964"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E. SASARAN CODE OF CONDUCT </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2</a:t>
            </a:r>
            <a:endParaRPr lang="en-US" sz="3319" dirty="0">
              <a:solidFill>
                <a:srgbClr val="000000"/>
              </a:solidFill>
              <a:latin typeface="Telegraf"/>
            </a:endParaRPr>
          </a:p>
        </p:txBody>
      </p:sp>
      <p:sp>
        <p:nvSpPr>
          <p:cNvPr id="6" name="TextBox 6"/>
          <p:cNvSpPr txBox="1"/>
          <p:nvPr/>
        </p:nvSpPr>
        <p:spPr>
          <a:xfrm>
            <a:off x="1028700" y="1830705"/>
            <a:ext cx="14879852" cy="7704994"/>
          </a:xfrm>
          <a:prstGeom prst="rect">
            <a:avLst/>
          </a:prstGeom>
        </p:spPr>
        <p:txBody>
          <a:bodyPr lIns="0" tIns="0" rIns="0" bIns="0" rtlCol="0" anchor="t">
            <a:spAutoFit/>
          </a:bodyPr>
          <a:lstStyle/>
          <a:p>
            <a:pPr>
              <a:lnSpc>
                <a:spcPts val="3255"/>
              </a:lnSpc>
            </a:pPr>
            <a:endParaRPr dirty="0"/>
          </a:p>
          <a:p>
            <a:pPr>
              <a:lnSpc>
                <a:spcPts val="3255"/>
              </a:lnSpc>
            </a:pPr>
            <a:r>
              <a:rPr lang="en-US" sz="2100" dirty="0" err="1">
                <a:solidFill>
                  <a:srgbClr val="000000"/>
                </a:solidFill>
                <a:latin typeface="Montserrat Classic Bold"/>
              </a:rPr>
              <a:t>Pihak-pihak</a:t>
            </a:r>
            <a:r>
              <a:rPr lang="en-US" sz="2100" dirty="0">
                <a:solidFill>
                  <a:srgbClr val="000000"/>
                </a:solidFill>
                <a:latin typeface="Montserrat Classic Bold"/>
              </a:rPr>
              <a:t> yang </a:t>
            </a:r>
            <a:r>
              <a:rPr lang="en-US" sz="2100" dirty="0" err="1">
                <a:solidFill>
                  <a:srgbClr val="000000"/>
                </a:solidFill>
                <a:latin typeface="Montserrat Classic Bold"/>
              </a:rPr>
              <a:t>wajib</a:t>
            </a:r>
            <a:r>
              <a:rPr lang="en-US" sz="2100" dirty="0">
                <a:solidFill>
                  <a:srgbClr val="000000"/>
                </a:solidFill>
                <a:latin typeface="Montserrat Classic Bold"/>
              </a:rPr>
              <a:t> </a:t>
            </a:r>
            <a:r>
              <a:rPr lang="en-US" sz="2100" dirty="0" err="1">
                <a:solidFill>
                  <a:srgbClr val="000000"/>
                </a:solidFill>
                <a:latin typeface="Montserrat Classic Bold"/>
              </a:rPr>
              <a:t>mematuhi</a:t>
            </a:r>
            <a:r>
              <a:rPr lang="en-US" sz="2100" dirty="0">
                <a:solidFill>
                  <a:srgbClr val="000000"/>
                </a:solidFill>
                <a:latin typeface="Montserrat Classic Bold"/>
              </a:rPr>
              <a:t> </a:t>
            </a:r>
            <a:r>
              <a:rPr lang="en-US" sz="2100" dirty="0" err="1">
                <a:solidFill>
                  <a:srgbClr val="000000"/>
                </a:solidFill>
                <a:latin typeface="Montserrat Classic Bold"/>
              </a:rPr>
              <a:t>dan</a:t>
            </a:r>
            <a:r>
              <a:rPr lang="en-US" sz="2100" dirty="0">
                <a:solidFill>
                  <a:srgbClr val="000000"/>
                </a:solidFill>
                <a:latin typeface="Montserrat Classic Bold"/>
              </a:rPr>
              <a:t> </a:t>
            </a:r>
            <a:r>
              <a:rPr lang="en-US" sz="2100" dirty="0" err="1">
                <a:solidFill>
                  <a:srgbClr val="000000"/>
                </a:solidFill>
                <a:latin typeface="Montserrat Classic Bold"/>
              </a:rPr>
              <a:t>melaksanakan</a:t>
            </a:r>
            <a:r>
              <a:rPr lang="en-US" sz="2100" dirty="0">
                <a:solidFill>
                  <a:srgbClr val="000000"/>
                </a:solidFill>
                <a:latin typeface="Montserrat Classic Bold"/>
              </a:rPr>
              <a:t> COC, </a:t>
            </a:r>
            <a:r>
              <a:rPr lang="en-US" sz="2100" dirty="0" err="1">
                <a:solidFill>
                  <a:srgbClr val="000000"/>
                </a:solidFill>
                <a:latin typeface="Montserrat Classic Bold"/>
              </a:rPr>
              <a:t>adalah</a:t>
            </a:r>
            <a:r>
              <a:rPr lang="en-US" sz="2100" dirty="0">
                <a:solidFill>
                  <a:srgbClr val="000000"/>
                </a:solidFill>
                <a:latin typeface="Montserrat Classic Bold"/>
              </a:rPr>
              <a:t>:</a:t>
            </a:r>
          </a:p>
          <a:p>
            <a:pPr>
              <a:lnSpc>
                <a:spcPts val="3255"/>
              </a:lnSpc>
            </a:pPr>
            <a:endParaRPr lang="en-US" sz="2100" dirty="0">
              <a:solidFill>
                <a:srgbClr val="000000"/>
              </a:solidFill>
              <a:latin typeface="Montserrat Classic Bold"/>
            </a:endParaRPr>
          </a:p>
          <a:p>
            <a:pPr marL="457200" indent="-457200">
              <a:lnSpc>
                <a:spcPts val="4389"/>
              </a:lnSpc>
              <a:buFont typeface="+mj-lt"/>
              <a:buAutoNum type="arabicPeriod"/>
            </a:pP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a:t>
            </a:r>
          </a:p>
          <a:p>
            <a:pPr marL="457200" indent="-457200">
              <a:lnSpc>
                <a:spcPts val="4389"/>
              </a:lnSpc>
              <a:buFont typeface="+mj-lt"/>
              <a:buAutoNum type="arabicPeriod" startAt="2"/>
            </a:pPr>
            <a:r>
              <a:rPr lang="en-US" sz="2100" dirty="0" err="1">
                <a:solidFill>
                  <a:srgbClr val="000000"/>
                </a:solidFill>
                <a:latin typeface="Montserrat Classic"/>
              </a:rPr>
              <a:t>Anak</a:t>
            </a:r>
            <a:r>
              <a:rPr lang="en-US" sz="2100" dirty="0">
                <a:solidFill>
                  <a:srgbClr val="000000"/>
                </a:solidFill>
                <a:latin typeface="Montserrat Classic"/>
              </a:rPr>
              <a:t> Perusahaan</a:t>
            </a:r>
          </a:p>
          <a:p>
            <a:pPr marL="457200" indent="-457200">
              <a:lnSpc>
                <a:spcPts val="4389"/>
              </a:lnSpc>
              <a:buFont typeface="+mj-lt"/>
              <a:buAutoNum type="arabicPeriod" startAt="3"/>
            </a:pPr>
            <a:r>
              <a:rPr lang="en-US" sz="2100" dirty="0" err="1">
                <a:solidFill>
                  <a:srgbClr val="000000"/>
                </a:solidFill>
                <a:latin typeface="Montserrat Classic"/>
              </a:rPr>
              <a:t>Pemegang</a:t>
            </a:r>
            <a:r>
              <a:rPr lang="en-US" sz="2100" dirty="0">
                <a:solidFill>
                  <a:srgbClr val="000000"/>
                </a:solidFill>
                <a:latin typeface="Montserrat Classic"/>
              </a:rPr>
              <a:t> </a:t>
            </a:r>
            <a:r>
              <a:rPr lang="en-US" sz="2100" dirty="0" err="1">
                <a:solidFill>
                  <a:srgbClr val="000000"/>
                </a:solidFill>
                <a:latin typeface="Montserrat Classic"/>
              </a:rPr>
              <a:t>Saham</a:t>
            </a:r>
            <a:endParaRPr lang="en-US" sz="2100" dirty="0">
              <a:solidFill>
                <a:srgbClr val="000000"/>
              </a:solidFill>
              <a:latin typeface="Montserrat Classic"/>
            </a:endParaRPr>
          </a:p>
          <a:p>
            <a:pPr marL="457200" indent="-457200">
              <a:lnSpc>
                <a:spcPts val="4389"/>
              </a:lnSpc>
              <a:buFont typeface="+mj-lt"/>
              <a:buAutoNum type="arabicPeriod" startAt="4"/>
            </a:pPr>
            <a:r>
              <a:rPr lang="en-US" sz="2100" dirty="0" err="1">
                <a:solidFill>
                  <a:srgbClr val="000000"/>
                </a:solidFill>
                <a:latin typeface="Montserrat Classic"/>
              </a:rPr>
              <a:t>Mitra</a:t>
            </a:r>
            <a:r>
              <a:rPr lang="en-US" sz="2100" dirty="0">
                <a:solidFill>
                  <a:srgbClr val="000000"/>
                </a:solidFill>
                <a:latin typeface="Montserrat Classic"/>
              </a:rPr>
              <a:t> </a:t>
            </a:r>
            <a:r>
              <a:rPr lang="en-US" sz="2100" dirty="0" err="1">
                <a:solidFill>
                  <a:srgbClr val="000000"/>
                </a:solidFill>
                <a:latin typeface="Montserrat Classic"/>
              </a:rPr>
              <a:t>Kerja</a:t>
            </a:r>
            <a:endParaRPr lang="en-US" sz="2100" dirty="0">
              <a:solidFill>
                <a:srgbClr val="000000"/>
              </a:solidFill>
              <a:latin typeface="Montserrat Classic"/>
            </a:endParaRPr>
          </a:p>
          <a:p>
            <a:pPr marL="457200" indent="-457200">
              <a:lnSpc>
                <a:spcPts val="4389"/>
              </a:lnSpc>
              <a:buFont typeface="+mj-lt"/>
              <a:buAutoNum type="arabicPeriod" startAt="5"/>
            </a:pPr>
            <a:r>
              <a:rPr lang="en-US" sz="2100" dirty="0" err="1">
                <a:solidFill>
                  <a:srgbClr val="000000"/>
                </a:solidFill>
                <a:latin typeface="Montserrat Classic"/>
              </a:rPr>
              <a:t>Debitur</a:t>
            </a:r>
            <a:endParaRPr lang="en-US" sz="2100" dirty="0">
              <a:solidFill>
                <a:srgbClr val="000000"/>
              </a:solidFill>
              <a:latin typeface="Montserrat Classic"/>
            </a:endParaRPr>
          </a:p>
          <a:p>
            <a:pPr marL="457200" indent="-457200">
              <a:lnSpc>
                <a:spcPts val="4389"/>
              </a:lnSpc>
              <a:buFont typeface="+mj-lt"/>
              <a:buAutoNum type="arabicPeriod" startAt="6"/>
            </a:pPr>
            <a:r>
              <a:rPr lang="en-US" sz="2100" dirty="0" err="1">
                <a:solidFill>
                  <a:srgbClr val="000000"/>
                </a:solidFill>
                <a:latin typeface="Montserrat Classic"/>
              </a:rPr>
              <a:t>Penyedia</a:t>
            </a:r>
            <a:r>
              <a:rPr lang="en-US" sz="2100" dirty="0">
                <a:solidFill>
                  <a:srgbClr val="000000"/>
                </a:solidFill>
                <a:latin typeface="Montserrat Classic"/>
              </a:rPr>
              <a:t> </a:t>
            </a:r>
            <a:r>
              <a:rPr lang="en-US" sz="2100" dirty="0" err="1">
                <a:solidFill>
                  <a:srgbClr val="000000"/>
                </a:solidFill>
                <a:latin typeface="Montserrat Classic"/>
              </a:rPr>
              <a:t>Barang</a:t>
            </a:r>
            <a:r>
              <a:rPr lang="en-US" sz="2100" dirty="0">
                <a:solidFill>
                  <a:srgbClr val="000000"/>
                </a:solidFill>
                <a:latin typeface="Montserrat Classic"/>
              </a:rPr>
              <a:t> &amp; </a:t>
            </a:r>
            <a:r>
              <a:rPr lang="en-US" sz="2100" dirty="0" err="1">
                <a:solidFill>
                  <a:srgbClr val="000000"/>
                </a:solidFill>
                <a:latin typeface="Montserrat Classic"/>
              </a:rPr>
              <a:t>Jasa</a:t>
            </a:r>
            <a:r>
              <a:rPr lang="en-US" sz="2100" dirty="0">
                <a:solidFill>
                  <a:srgbClr val="000000"/>
                </a:solidFill>
                <a:latin typeface="Montserrat Classic"/>
              </a:rPr>
              <a:t>/</a:t>
            </a:r>
            <a:r>
              <a:rPr lang="en-US" sz="2100" dirty="0" err="1">
                <a:solidFill>
                  <a:srgbClr val="000000"/>
                </a:solidFill>
                <a:latin typeface="Montserrat Classic"/>
              </a:rPr>
              <a:t>Pemasok</a:t>
            </a:r>
            <a:r>
              <a:rPr lang="en-US" sz="2100" dirty="0">
                <a:solidFill>
                  <a:srgbClr val="000000"/>
                </a:solidFill>
                <a:latin typeface="Montserrat Classic"/>
              </a:rPr>
              <a:t>/Vendor</a:t>
            </a:r>
          </a:p>
          <a:p>
            <a:pPr marL="457200" indent="-457200">
              <a:lnSpc>
                <a:spcPts val="4389"/>
              </a:lnSpc>
              <a:buFont typeface="+mj-lt"/>
              <a:buAutoNum type="arabicPeriod" startAt="7"/>
            </a:pPr>
            <a:r>
              <a:rPr lang="en-US" sz="2100" dirty="0" err="1">
                <a:solidFill>
                  <a:srgbClr val="000000"/>
                </a:solidFill>
                <a:latin typeface="Montserrat Classic"/>
              </a:rPr>
              <a:t>Pihak-pihak</a:t>
            </a:r>
            <a:r>
              <a:rPr lang="en-US" sz="2100" dirty="0">
                <a:solidFill>
                  <a:srgbClr val="000000"/>
                </a:solidFill>
                <a:latin typeface="Montserrat Classic"/>
              </a:rPr>
              <a:t> </a:t>
            </a:r>
            <a:r>
              <a:rPr lang="en-US" sz="2100" dirty="0" err="1">
                <a:solidFill>
                  <a:srgbClr val="000000"/>
                </a:solidFill>
                <a:latin typeface="Montserrat Classic"/>
              </a:rPr>
              <a:t>berkepentingan</a:t>
            </a:r>
            <a:r>
              <a:rPr lang="en-US" sz="2100" dirty="0">
                <a:solidFill>
                  <a:srgbClr val="000000"/>
                </a:solidFill>
                <a:latin typeface="Montserrat Classic"/>
              </a:rPr>
              <a:t> </a:t>
            </a:r>
            <a:r>
              <a:rPr lang="en-US" sz="2100" dirty="0" err="1">
                <a:solidFill>
                  <a:srgbClr val="000000"/>
                </a:solidFill>
                <a:latin typeface="Montserrat Classic"/>
              </a:rPr>
              <a:t>lainnya</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gn="ctr">
              <a:lnSpc>
                <a:spcPts val="3255"/>
              </a:lnSpc>
            </a:pPr>
            <a:r>
              <a:rPr lang="en-US" sz="2100" dirty="0">
                <a:solidFill>
                  <a:srgbClr val="000000"/>
                </a:solidFill>
                <a:latin typeface="Montserrat Classic"/>
              </a:rPr>
              <a:t>-</a:t>
            </a:r>
          </a:p>
          <a:p>
            <a:pPr algn="ctr">
              <a:lnSpc>
                <a:spcPts val="3255"/>
              </a:lnSpc>
            </a:pPr>
            <a:endParaRPr lang="en-US" sz="2100" dirty="0">
              <a:solidFill>
                <a:srgbClr val="000000"/>
              </a:solidFill>
              <a:latin typeface="Montserrat Classic"/>
            </a:endParaRPr>
          </a:p>
          <a:p>
            <a:pPr algn="ctr">
              <a:lnSpc>
                <a:spcPts val="3255"/>
              </a:lnSpc>
            </a:pPr>
            <a:endParaRPr lang="en-US" sz="2100" dirty="0">
              <a:solidFill>
                <a:srgbClr val="000000"/>
              </a:solidFill>
              <a:latin typeface="Montserrat Class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20777"/>
            <a:ext cx="15213964"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F. TANGGUNG JAWAB INSAN PERUSAHAAN</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3</a:t>
            </a:r>
            <a:endParaRPr lang="en-US" sz="3319" dirty="0">
              <a:solidFill>
                <a:srgbClr val="000000"/>
              </a:solidFill>
              <a:latin typeface="Telegraf"/>
            </a:endParaRPr>
          </a:p>
        </p:txBody>
      </p:sp>
      <p:sp>
        <p:nvSpPr>
          <p:cNvPr id="6" name="TextBox 6"/>
          <p:cNvSpPr txBox="1"/>
          <p:nvPr/>
        </p:nvSpPr>
        <p:spPr>
          <a:xfrm>
            <a:off x="1028700" y="1900601"/>
            <a:ext cx="15551409" cy="5871159"/>
          </a:xfrm>
          <a:prstGeom prst="rect">
            <a:avLst/>
          </a:prstGeom>
        </p:spPr>
        <p:txBody>
          <a:bodyPr lIns="0" tIns="0" rIns="0" bIns="0" rtlCol="0" anchor="t">
            <a:spAutoFit/>
          </a:bodyPr>
          <a:lstStyle/>
          <a:p>
            <a:pPr>
              <a:lnSpc>
                <a:spcPts val="3255"/>
              </a:lnSpc>
            </a:pPr>
            <a:endParaRPr dirty="0"/>
          </a:p>
          <a:p>
            <a:pPr marL="342900" indent="-342900">
              <a:lnSpc>
                <a:spcPts val="3255"/>
              </a:lnSpc>
              <a:buFont typeface="Arial" panose="020B0604020202020204" pitchFamily="34" charset="0"/>
              <a:buChar char="•"/>
            </a:pPr>
            <a:r>
              <a:rPr lang="en-US" sz="2100" dirty="0" err="1">
                <a:solidFill>
                  <a:srgbClr val="000000"/>
                </a:solidFill>
                <a:latin typeface="Montserrat Classic"/>
              </a:rPr>
              <a:t>Mempelajari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memahami</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rinci</a:t>
            </a:r>
            <a:r>
              <a:rPr lang="en-US" sz="2100" dirty="0">
                <a:solidFill>
                  <a:srgbClr val="000000"/>
                </a:solidFill>
                <a:latin typeface="Montserrat Classic"/>
              </a:rPr>
              <a:t> COC yang </a:t>
            </a:r>
            <a:r>
              <a:rPr lang="en-US" sz="2100" dirty="0" err="1">
                <a:solidFill>
                  <a:srgbClr val="000000"/>
                </a:solidFill>
                <a:latin typeface="Montserrat Classic"/>
              </a:rPr>
              <a:t>terkait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pekerjaannya</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yang </a:t>
            </a:r>
            <a:r>
              <a:rPr lang="en-US" sz="2100" dirty="0" err="1">
                <a:solidFill>
                  <a:srgbClr val="000000"/>
                </a:solidFill>
                <a:latin typeface="Montserrat Classic"/>
              </a:rPr>
              <a:t>dituangkan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COC </a:t>
            </a:r>
            <a:r>
              <a:rPr lang="en-US" sz="2100" dirty="0" err="1">
                <a:solidFill>
                  <a:srgbClr val="000000"/>
                </a:solidFill>
                <a:latin typeface="Montserrat Classic"/>
              </a:rPr>
              <a:t>ini</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Memahami</a:t>
            </a:r>
            <a:r>
              <a:rPr lang="en-US" sz="2100" dirty="0">
                <a:solidFill>
                  <a:srgbClr val="000000"/>
                </a:solidFill>
                <a:latin typeface="Montserrat Classic"/>
              </a:rPr>
              <a:t> </a:t>
            </a:r>
            <a:r>
              <a:rPr lang="en-US" sz="2100" dirty="0" err="1">
                <a:solidFill>
                  <a:srgbClr val="000000"/>
                </a:solidFill>
                <a:latin typeface="Montserrat Classic"/>
              </a:rPr>
              <a:t>prosedur</a:t>
            </a:r>
            <a:r>
              <a:rPr lang="en-US" sz="2100" dirty="0">
                <a:solidFill>
                  <a:srgbClr val="000000"/>
                </a:solidFill>
                <a:latin typeface="Montserrat Classic"/>
              </a:rPr>
              <a:t> yang </a:t>
            </a:r>
            <a:r>
              <a:rPr lang="en-US" sz="2100" dirty="0" err="1">
                <a:solidFill>
                  <a:srgbClr val="000000"/>
                </a:solidFill>
                <a:latin typeface="Montserrat Classic"/>
              </a:rPr>
              <a:t>dipakai</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memberitahukan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kemungkinan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COC</a:t>
            </a:r>
          </a:p>
          <a:p>
            <a:pPr>
              <a:lnSpc>
                <a:spcPts val="3255"/>
              </a:lnSpc>
            </a:pP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Bersedia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bekerjasama</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proses </a:t>
            </a:r>
            <a:r>
              <a:rPr lang="en-US" sz="2100" dirty="0" err="1">
                <a:solidFill>
                  <a:srgbClr val="000000"/>
                </a:solidFill>
                <a:latin typeface="Montserrat Classic"/>
              </a:rPr>
              <a:t>investigasi</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kemungkinan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COC</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gn="ctr">
              <a:lnSpc>
                <a:spcPts val="3255"/>
              </a:lnSpc>
            </a:pPr>
            <a:r>
              <a:rPr lang="en-US" sz="2100" dirty="0">
                <a:solidFill>
                  <a:srgbClr val="000000"/>
                </a:solidFill>
                <a:latin typeface="Montserrat Classic"/>
              </a:rPr>
              <a:t>-</a:t>
            </a:r>
          </a:p>
          <a:p>
            <a:pPr algn="ctr">
              <a:lnSpc>
                <a:spcPts val="3255"/>
              </a:lnSpc>
            </a:pPr>
            <a:endParaRPr lang="en-US" sz="2100" dirty="0">
              <a:solidFill>
                <a:srgbClr val="000000"/>
              </a:solidFill>
              <a:latin typeface="Montserrat Classic"/>
            </a:endParaRPr>
          </a:p>
          <a:p>
            <a:pPr algn="ctr">
              <a:lnSpc>
                <a:spcPts val="3255"/>
              </a:lnSpc>
            </a:pPr>
            <a:endParaRPr lang="en-US" sz="2100" dirty="0">
              <a:solidFill>
                <a:srgbClr val="000000"/>
              </a:solidFill>
              <a:latin typeface="Montserrat Class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20777"/>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G. PRINSIP-PRINSIP GOOD CORPORATE GOVERNANCE</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4</a:t>
            </a:r>
            <a:endParaRPr lang="en-US" sz="3319" dirty="0">
              <a:solidFill>
                <a:srgbClr val="000000"/>
              </a:solidFill>
              <a:latin typeface="Telegraf"/>
            </a:endParaRPr>
          </a:p>
        </p:txBody>
      </p:sp>
      <p:sp>
        <p:nvSpPr>
          <p:cNvPr id="6" name="TextBox 6"/>
          <p:cNvSpPr txBox="1"/>
          <p:nvPr/>
        </p:nvSpPr>
        <p:spPr>
          <a:xfrm>
            <a:off x="1181100" y="1680173"/>
            <a:ext cx="16316228" cy="8696740"/>
          </a:xfrm>
          <a:prstGeom prst="rect">
            <a:avLst/>
          </a:prstGeom>
        </p:spPr>
        <p:txBody>
          <a:bodyPr lIns="0" tIns="0" rIns="0" bIns="0" rtlCol="0" anchor="t">
            <a:spAutoFit/>
          </a:bodyPr>
          <a:lstStyle/>
          <a:p>
            <a:pPr>
              <a:lnSpc>
                <a:spcPts val="3123"/>
              </a:lnSpc>
            </a:pPr>
            <a:endParaRPr dirty="0"/>
          </a:p>
          <a:p>
            <a:pPr>
              <a:lnSpc>
                <a:spcPts val="3123"/>
              </a:lnSpc>
            </a:pPr>
            <a:r>
              <a:rPr lang="en-US" sz="2015" dirty="0">
                <a:solidFill>
                  <a:srgbClr val="000000"/>
                </a:solidFill>
                <a:latin typeface="Montserrat Classic"/>
              </a:rPr>
              <a:t>Perusahaan </a:t>
            </a:r>
            <a:r>
              <a:rPr lang="en-US" sz="2015" dirty="0" err="1">
                <a:solidFill>
                  <a:srgbClr val="000000"/>
                </a:solidFill>
                <a:latin typeface="Montserrat Classic"/>
              </a:rPr>
              <a:t>melakukan</a:t>
            </a:r>
            <a:r>
              <a:rPr lang="en-US" sz="2015" dirty="0">
                <a:solidFill>
                  <a:srgbClr val="000000"/>
                </a:solidFill>
                <a:latin typeface="Montserrat Classic"/>
              </a:rPr>
              <a:t> </a:t>
            </a:r>
            <a:r>
              <a:rPr lang="en-US" sz="2015" dirty="0" err="1">
                <a:solidFill>
                  <a:srgbClr val="000000"/>
                </a:solidFill>
                <a:latin typeface="Montserrat Classic"/>
              </a:rPr>
              <a:t>kegiatan</a:t>
            </a:r>
            <a:r>
              <a:rPr lang="en-US" sz="2015" dirty="0">
                <a:solidFill>
                  <a:srgbClr val="000000"/>
                </a:solidFill>
                <a:latin typeface="Montserrat Classic"/>
              </a:rPr>
              <a:t> </a:t>
            </a:r>
            <a:r>
              <a:rPr lang="en-US" sz="2015" dirty="0" err="1">
                <a:solidFill>
                  <a:srgbClr val="000000"/>
                </a:solidFill>
                <a:latin typeface="Montserrat Classic"/>
              </a:rPr>
              <a:t>usahanya</a:t>
            </a:r>
            <a:r>
              <a:rPr lang="en-US" sz="2015" dirty="0">
                <a:solidFill>
                  <a:srgbClr val="000000"/>
                </a:solidFill>
                <a:latin typeface="Montserrat Classic"/>
              </a:rPr>
              <a:t> </a:t>
            </a:r>
            <a:r>
              <a:rPr lang="en-US" sz="2015" dirty="0" err="1">
                <a:solidFill>
                  <a:srgbClr val="000000"/>
                </a:solidFill>
                <a:latin typeface="Montserrat Classic"/>
              </a:rPr>
              <a:t>dengan</a:t>
            </a:r>
            <a:r>
              <a:rPr lang="en-US" sz="2015" dirty="0">
                <a:solidFill>
                  <a:srgbClr val="000000"/>
                </a:solidFill>
                <a:latin typeface="Montserrat Classic"/>
              </a:rPr>
              <a:t> </a:t>
            </a:r>
            <a:r>
              <a:rPr lang="en-US" sz="2015" dirty="0" err="1">
                <a:solidFill>
                  <a:srgbClr val="000000"/>
                </a:solidFill>
                <a:latin typeface="Montserrat Classic"/>
              </a:rPr>
              <a:t>cara</a:t>
            </a:r>
            <a:r>
              <a:rPr lang="en-US" sz="2015" dirty="0">
                <a:solidFill>
                  <a:srgbClr val="000000"/>
                </a:solidFill>
                <a:latin typeface="Montserrat Classic"/>
              </a:rPr>
              <a:t> yang </a:t>
            </a:r>
            <a:r>
              <a:rPr lang="en-US" sz="2015" dirty="0" err="1">
                <a:solidFill>
                  <a:srgbClr val="000000"/>
                </a:solidFill>
                <a:latin typeface="Montserrat Classic"/>
              </a:rPr>
              <a:t>dapat</a:t>
            </a:r>
            <a:r>
              <a:rPr lang="en-US" sz="2015" dirty="0">
                <a:solidFill>
                  <a:srgbClr val="000000"/>
                </a:solidFill>
                <a:latin typeface="Montserrat Classic"/>
              </a:rPr>
              <a:t> </a:t>
            </a:r>
            <a:r>
              <a:rPr lang="en-US" sz="2015" dirty="0" err="1">
                <a:solidFill>
                  <a:srgbClr val="000000"/>
                </a:solidFill>
                <a:latin typeface="Montserrat Classic"/>
              </a:rPr>
              <a:t>dipertanggungjawabkan</a:t>
            </a:r>
            <a:r>
              <a:rPr lang="en-US" sz="2015" dirty="0">
                <a:solidFill>
                  <a:srgbClr val="000000"/>
                </a:solidFill>
                <a:latin typeface="Montserrat Classic"/>
              </a:rPr>
              <a:t> yang </a:t>
            </a:r>
            <a:r>
              <a:rPr lang="en-US" sz="2015" dirty="0" err="1">
                <a:solidFill>
                  <a:srgbClr val="000000"/>
                </a:solidFill>
                <a:latin typeface="Montserrat Classic"/>
              </a:rPr>
              <a:t>mencerminkan</a:t>
            </a:r>
            <a:r>
              <a:rPr lang="en-US" sz="2015" dirty="0">
                <a:solidFill>
                  <a:srgbClr val="000000"/>
                </a:solidFill>
                <a:latin typeface="Montserrat Classic"/>
              </a:rPr>
              <a:t> </a:t>
            </a:r>
            <a:r>
              <a:rPr lang="en-US" sz="2015" dirty="0" err="1">
                <a:solidFill>
                  <a:srgbClr val="000000"/>
                </a:solidFill>
                <a:latin typeface="Montserrat Classic"/>
              </a:rPr>
              <a:t>perhatian</a:t>
            </a:r>
            <a:r>
              <a:rPr lang="en-US" sz="2015" dirty="0">
                <a:solidFill>
                  <a:srgbClr val="000000"/>
                </a:solidFill>
                <a:latin typeface="Montserrat Classic"/>
              </a:rPr>
              <a:t> </a:t>
            </a:r>
            <a:r>
              <a:rPr lang="en-US" sz="2015" dirty="0" err="1">
                <a:solidFill>
                  <a:srgbClr val="000000"/>
                </a:solidFill>
                <a:latin typeface="Montserrat Classic"/>
              </a:rPr>
              <a:t>tidak</a:t>
            </a:r>
            <a:r>
              <a:rPr lang="en-US" sz="2015" dirty="0">
                <a:solidFill>
                  <a:srgbClr val="000000"/>
                </a:solidFill>
                <a:latin typeface="Montserrat Classic"/>
              </a:rPr>
              <a:t> </a:t>
            </a:r>
            <a:r>
              <a:rPr lang="en-US" sz="2015" dirty="0" err="1">
                <a:solidFill>
                  <a:srgbClr val="000000"/>
                </a:solidFill>
                <a:latin typeface="Montserrat Classic"/>
              </a:rPr>
              <a:t>hanya</a:t>
            </a:r>
            <a:r>
              <a:rPr lang="en-US" sz="2015" dirty="0">
                <a:solidFill>
                  <a:srgbClr val="000000"/>
                </a:solidFill>
                <a:latin typeface="Montserrat Classic"/>
              </a:rPr>
              <a:t> </a:t>
            </a:r>
            <a:r>
              <a:rPr lang="en-US" sz="2015" dirty="0" err="1">
                <a:solidFill>
                  <a:srgbClr val="000000"/>
                </a:solidFill>
                <a:latin typeface="Montserrat Classic"/>
              </a:rPr>
              <a:t>kepada</a:t>
            </a:r>
            <a:r>
              <a:rPr lang="en-US" sz="2015" dirty="0">
                <a:solidFill>
                  <a:srgbClr val="000000"/>
                </a:solidFill>
                <a:latin typeface="Montserrat Classic"/>
              </a:rPr>
              <a:t> </a:t>
            </a:r>
            <a:r>
              <a:rPr lang="en-US" sz="2015" dirty="0" err="1">
                <a:solidFill>
                  <a:srgbClr val="000000"/>
                </a:solidFill>
                <a:latin typeface="Montserrat Classic"/>
              </a:rPr>
              <a:t>Pemegang</a:t>
            </a:r>
            <a:r>
              <a:rPr lang="en-US" sz="2015" dirty="0">
                <a:solidFill>
                  <a:srgbClr val="000000"/>
                </a:solidFill>
                <a:latin typeface="Montserrat Classic"/>
              </a:rPr>
              <a:t> </a:t>
            </a:r>
            <a:r>
              <a:rPr lang="en-US" sz="2015" dirty="0" err="1">
                <a:solidFill>
                  <a:srgbClr val="000000"/>
                </a:solidFill>
                <a:latin typeface="Montserrat Classic"/>
              </a:rPr>
              <a:t>Saham</a:t>
            </a:r>
            <a:r>
              <a:rPr lang="en-US" sz="2015" dirty="0">
                <a:solidFill>
                  <a:srgbClr val="000000"/>
                </a:solidFill>
                <a:latin typeface="Montserrat Classic"/>
              </a:rPr>
              <a:t> </a:t>
            </a:r>
            <a:r>
              <a:rPr lang="en-US" sz="2015" dirty="0" err="1">
                <a:solidFill>
                  <a:srgbClr val="000000"/>
                </a:solidFill>
                <a:latin typeface="Montserrat Classic"/>
              </a:rPr>
              <a:t>tetapi</a:t>
            </a:r>
            <a:r>
              <a:rPr lang="en-US" sz="2015" dirty="0">
                <a:solidFill>
                  <a:srgbClr val="000000"/>
                </a:solidFill>
                <a:latin typeface="Montserrat Classic"/>
              </a:rPr>
              <a:t> </a:t>
            </a:r>
            <a:r>
              <a:rPr lang="en-US" sz="2015" dirty="0" err="1">
                <a:solidFill>
                  <a:srgbClr val="000000"/>
                </a:solidFill>
                <a:latin typeface="Montserrat Classic"/>
              </a:rPr>
              <a:t>juga</a:t>
            </a:r>
            <a:r>
              <a:rPr lang="en-US" sz="2015" dirty="0">
                <a:solidFill>
                  <a:srgbClr val="000000"/>
                </a:solidFill>
                <a:latin typeface="Montserrat Classic"/>
              </a:rPr>
              <a:t> </a:t>
            </a:r>
            <a:r>
              <a:rPr lang="en-US" sz="2015" dirty="0" err="1">
                <a:solidFill>
                  <a:srgbClr val="000000"/>
                </a:solidFill>
                <a:latin typeface="Montserrat Classic"/>
              </a:rPr>
              <a:t>pihak-pihak</a:t>
            </a:r>
            <a:r>
              <a:rPr lang="en-US" sz="2015" dirty="0">
                <a:solidFill>
                  <a:srgbClr val="000000"/>
                </a:solidFill>
                <a:latin typeface="Montserrat Classic"/>
              </a:rPr>
              <a:t> lain yang </a:t>
            </a:r>
            <a:r>
              <a:rPr lang="en-US" sz="2015" dirty="0" err="1">
                <a:solidFill>
                  <a:srgbClr val="000000"/>
                </a:solidFill>
                <a:latin typeface="Montserrat Classic"/>
              </a:rPr>
              <a:t>berkepentingan</a:t>
            </a:r>
            <a:r>
              <a:rPr lang="en-US" sz="2015" dirty="0">
                <a:solidFill>
                  <a:srgbClr val="000000"/>
                </a:solidFill>
                <a:latin typeface="Montserrat Classic"/>
              </a:rPr>
              <a:t> </a:t>
            </a:r>
            <a:r>
              <a:rPr lang="en-US" sz="2015" dirty="0" err="1">
                <a:solidFill>
                  <a:srgbClr val="000000"/>
                </a:solidFill>
                <a:latin typeface="Montserrat Classic"/>
              </a:rPr>
              <a:t>dengan</a:t>
            </a:r>
            <a:r>
              <a:rPr lang="en-US" sz="2015" dirty="0">
                <a:solidFill>
                  <a:srgbClr val="000000"/>
                </a:solidFill>
                <a:latin typeface="Montserrat Classic"/>
              </a:rPr>
              <a:t> Perusahaan (stakeholders)</a:t>
            </a:r>
          </a:p>
          <a:p>
            <a:pPr>
              <a:lnSpc>
                <a:spcPts val="3123"/>
              </a:lnSpc>
            </a:pPr>
            <a:endParaRPr lang="en-US" sz="2015" dirty="0">
              <a:solidFill>
                <a:srgbClr val="000000"/>
              </a:solidFill>
              <a:latin typeface="Montserrat Classic"/>
            </a:endParaRPr>
          </a:p>
          <a:p>
            <a:pPr>
              <a:lnSpc>
                <a:spcPts val="3123"/>
              </a:lnSpc>
            </a:pPr>
            <a:r>
              <a:rPr lang="en-US" sz="2015" dirty="0" err="1">
                <a:solidFill>
                  <a:srgbClr val="000000"/>
                </a:solidFill>
                <a:latin typeface="Montserrat Classic"/>
              </a:rPr>
              <a:t>Berikut</a:t>
            </a:r>
            <a:r>
              <a:rPr lang="en-US" sz="2015" dirty="0">
                <a:solidFill>
                  <a:srgbClr val="000000"/>
                </a:solidFill>
                <a:latin typeface="Montserrat Classic"/>
              </a:rPr>
              <a:t> </a:t>
            </a:r>
            <a:r>
              <a:rPr lang="en-US" sz="2015" dirty="0" err="1">
                <a:solidFill>
                  <a:srgbClr val="000000"/>
                </a:solidFill>
                <a:latin typeface="Montserrat Classic"/>
              </a:rPr>
              <a:t>ini</a:t>
            </a:r>
            <a:r>
              <a:rPr lang="en-US" sz="2015" dirty="0">
                <a:solidFill>
                  <a:srgbClr val="000000"/>
                </a:solidFill>
                <a:latin typeface="Montserrat Classic"/>
              </a:rPr>
              <a:t> </a:t>
            </a:r>
            <a:r>
              <a:rPr lang="en-US" sz="2015" dirty="0" err="1">
                <a:solidFill>
                  <a:srgbClr val="000000"/>
                </a:solidFill>
                <a:latin typeface="Montserrat Classic"/>
              </a:rPr>
              <a:t>adalah</a:t>
            </a:r>
            <a:r>
              <a:rPr lang="en-US" sz="2015" dirty="0">
                <a:solidFill>
                  <a:srgbClr val="000000"/>
                </a:solidFill>
                <a:latin typeface="Montserrat Classic"/>
              </a:rPr>
              <a:t> </a:t>
            </a:r>
            <a:r>
              <a:rPr lang="en-US" sz="2015" dirty="0" err="1">
                <a:solidFill>
                  <a:srgbClr val="000000"/>
                </a:solidFill>
                <a:latin typeface="Montserrat Classic"/>
              </a:rPr>
              <a:t>prinsip-prinsip</a:t>
            </a:r>
            <a:r>
              <a:rPr lang="en-US" sz="2015" dirty="0">
                <a:solidFill>
                  <a:srgbClr val="000000"/>
                </a:solidFill>
                <a:latin typeface="Montserrat Classic"/>
              </a:rPr>
              <a:t> corporate governance yang </a:t>
            </a:r>
            <a:r>
              <a:rPr lang="en-US" sz="2015" dirty="0" err="1">
                <a:solidFill>
                  <a:srgbClr val="000000"/>
                </a:solidFill>
                <a:latin typeface="Montserrat Classic"/>
              </a:rPr>
              <a:t>diterapkan</a:t>
            </a:r>
            <a:r>
              <a:rPr lang="en-US" sz="2015" dirty="0">
                <a:solidFill>
                  <a:srgbClr val="000000"/>
                </a:solidFill>
                <a:latin typeface="Montserrat Classic"/>
              </a:rPr>
              <a:t> </a:t>
            </a:r>
            <a:r>
              <a:rPr lang="en-US" sz="2015" dirty="0" err="1">
                <a:solidFill>
                  <a:srgbClr val="000000"/>
                </a:solidFill>
                <a:latin typeface="Montserrat Classic"/>
              </a:rPr>
              <a:t>oleh</a:t>
            </a:r>
            <a:r>
              <a:rPr lang="en-US" sz="2015" dirty="0">
                <a:solidFill>
                  <a:srgbClr val="000000"/>
                </a:solidFill>
                <a:latin typeface="Montserrat Classic"/>
              </a:rPr>
              <a:t> Perusahaan.</a:t>
            </a:r>
          </a:p>
          <a:p>
            <a:pPr>
              <a:lnSpc>
                <a:spcPts val="3123"/>
              </a:lnSpc>
            </a:pPr>
            <a:endParaRPr lang="en-US" sz="2015" dirty="0">
              <a:solidFill>
                <a:srgbClr val="000000"/>
              </a:solidFill>
              <a:latin typeface="Montserrat Classic"/>
            </a:endParaRPr>
          </a:p>
          <a:p>
            <a:pPr>
              <a:lnSpc>
                <a:spcPts val="3123"/>
              </a:lnSpc>
            </a:pPr>
            <a:r>
              <a:rPr lang="en-US" sz="2015" dirty="0" smtClean="0">
                <a:solidFill>
                  <a:srgbClr val="000000"/>
                </a:solidFill>
                <a:latin typeface="Montserrat Classic Bold"/>
              </a:rPr>
              <a:t>Transparency </a:t>
            </a:r>
            <a:r>
              <a:rPr lang="en-US" sz="2015" dirty="0">
                <a:solidFill>
                  <a:srgbClr val="000000"/>
                </a:solidFill>
                <a:latin typeface="Montserrat Classic Bold"/>
              </a:rPr>
              <a:t>(</a:t>
            </a:r>
            <a:r>
              <a:rPr lang="en-US" sz="2015" dirty="0" err="1">
                <a:solidFill>
                  <a:srgbClr val="000000"/>
                </a:solidFill>
                <a:latin typeface="Montserrat Classic Bold"/>
              </a:rPr>
              <a:t>Transparansi</a:t>
            </a:r>
            <a:r>
              <a:rPr lang="en-US" sz="2015" dirty="0">
                <a:solidFill>
                  <a:srgbClr val="000000"/>
                </a:solidFill>
                <a:latin typeface="Montserrat Classic Bold"/>
              </a:rPr>
              <a:t>)</a:t>
            </a:r>
          </a:p>
          <a:p>
            <a:pPr>
              <a:lnSpc>
                <a:spcPts val="3123"/>
              </a:lnSpc>
            </a:pPr>
            <a:r>
              <a:rPr lang="en-US" sz="2015" dirty="0" err="1">
                <a:solidFill>
                  <a:srgbClr val="000000"/>
                </a:solidFill>
                <a:latin typeface="Montserrat Classic"/>
              </a:rPr>
              <a:t>Yaitu</a:t>
            </a:r>
            <a:r>
              <a:rPr lang="en-US" sz="2015" dirty="0">
                <a:solidFill>
                  <a:srgbClr val="000000"/>
                </a:solidFill>
                <a:latin typeface="Montserrat Classic"/>
              </a:rPr>
              <a:t> </a:t>
            </a:r>
            <a:r>
              <a:rPr lang="en-US" sz="2015" dirty="0" err="1">
                <a:solidFill>
                  <a:srgbClr val="000000"/>
                </a:solidFill>
                <a:latin typeface="Montserrat Classic"/>
              </a:rPr>
              <a:t>keterbukaan</a:t>
            </a:r>
            <a:r>
              <a:rPr lang="en-US" sz="2015" dirty="0">
                <a:solidFill>
                  <a:srgbClr val="000000"/>
                </a:solidFill>
                <a:latin typeface="Montserrat Classic"/>
              </a:rPr>
              <a:t> </a:t>
            </a:r>
            <a:r>
              <a:rPr lang="en-US" sz="2015" dirty="0" err="1">
                <a:solidFill>
                  <a:srgbClr val="000000"/>
                </a:solidFill>
                <a:latin typeface="Montserrat Classic"/>
              </a:rPr>
              <a:t>dalam</a:t>
            </a:r>
            <a:r>
              <a:rPr lang="en-US" sz="2015" dirty="0">
                <a:solidFill>
                  <a:srgbClr val="000000"/>
                </a:solidFill>
                <a:latin typeface="Montserrat Classic"/>
              </a:rPr>
              <a:t> proses </a:t>
            </a:r>
            <a:r>
              <a:rPr lang="en-US" sz="2015" dirty="0" err="1">
                <a:solidFill>
                  <a:srgbClr val="000000"/>
                </a:solidFill>
                <a:latin typeface="Montserrat Classic"/>
              </a:rPr>
              <a:t>pengambilan</a:t>
            </a:r>
            <a:r>
              <a:rPr lang="en-US" sz="2015" dirty="0">
                <a:solidFill>
                  <a:srgbClr val="000000"/>
                </a:solidFill>
                <a:latin typeface="Montserrat Classic"/>
              </a:rPr>
              <a:t> </a:t>
            </a:r>
            <a:r>
              <a:rPr lang="en-US" sz="2015" dirty="0" err="1">
                <a:solidFill>
                  <a:srgbClr val="000000"/>
                </a:solidFill>
                <a:latin typeface="Montserrat Classic"/>
              </a:rPr>
              <a:t>keputusan</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keterbukaan</a:t>
            </a:r>
            <a:r>
              <a:rPr lang="en-US" sz="2015" dirty="0">
                <a:solidFill>
                  <a:srgbClr val="000000"/>
                </a:solidFill>
                <a:latin typeface="Montserrat Classic"/>
              </a:rPr>
              <a:t> </a:t>
            </a:r>
            <a:r>
              <a:rPr lang="en-US" sz="2015" dirty="0" err="1">
                <a:solidFill>
                  <a:srgbClr val="000000"/>
                </a:solidFill>
                <a:latin typeface="Montserrat Classic"/>
              </a:rPr>
              <a:t>dalam</a:t>
            </a:r>
            <a:r>
              <a:rPr lang="en-US" sz="2015" dirty="0">
                <a:solidFill>
                  <a:srgbClr val="000000"/>
                </a:solidFill>
                <a:latin typeface="Montserrat Classic"/>
              </a:rPr>
              <a:t> </a:t>
            </a:r>
            <a:r>
              <a:rPr lang="en-US" sz="2015" dirty="0" err="1">
                <a:solidFill>
                  <a:srgbClr val="000000"/>
                </a:solidFill>
                <a:latin typeface="Montserrat Classic"/>
              </a:rPr>
              <a:t>pengungkapan</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penyediaan</a:t>
            </a:r>
            <a:r>
              <a:rPr lang="en-US" sz="2015" dirty="0">
                <a:solidFill>
                  <a:srgbClr val="000000"/>
                </a:solidFill>
                <a:latin typeface="Montserrat Classic"/>
              </a:rPr>
              <a:t> </a:t>
            </a:r>
            <a:r>
              <a:rPr lang="en-US" sz="2015" dirty="0" err="1">
                <a:solidFill>
                  <a:srgbClr val="000000"/>
                </a:solidFill>
                <a:latin typeface="Montserrat Classic"/>
              </a:rPr>
              <a:t>informasi</a:t>
            </a:r>
            <a:r>
              <a:rPr lang="en-US" sz="2015" dirty="0">
                <a:solidFill>
                  <a:srgbClr val="000000"/>
                </a:solidFill>
                <a:latin typeface="Montserrat Classic"/>
              </a:rPr>
              <a:t> yang </a:t>
            </a:r>
            <a:r>
              <a:rPr lang="en-US" sz="2015" dirty="0" err="1">
                <a:solidFill>
                  <a:srgbClr val="000000"/>
                </a:solidFill>
                <a:latin typeface="Montserrat Classic"/>
              </a:rPr>
              <a:t>relevan</a:t>
            </a:r>
            <a:r>
              <a:rPr lang="en-US" sz="2015" dirty="0">
                <a:solidFill>
                  <a:srgbClr val="000000"/>
                </a:solidFill>
                <a:latin typeface="Montserrat Classic"/>
              </a:rPr>
              <a:t> </a:t>
            </a:r>
            <a:r>
              <a:rPr lang="en-US" sz="2015" dirty="0" err="1">
                <a:solidFill>
                  <a:srgbClr val="000000"/>
                </a:solidFill>
                <a:latin typeface="Montserrat Classic"/>
              </a:rPr>
              <a:t>mengenai</a:t>
            </a:r>
            <a:r>
              <a:rPr lang="en-US" sz="2015" dirty="0">
                <a:solidFill>
                  <a:srgbClr val="000000"/>
                </a:solidFill>
                <a:latin typeface="Montserrat Classic"/>
              </a:rPr>
              <a:t> Perusahaan, yang </a:t>
            </a:r>
            <a:r>
              <a:rPr lang="en-US" sz="2015" dirty="0" err="1">
                <a:solidFill>
                  <a:srgbClr val="000000"/>
                </a:solidFill>
                <a:latin typeface="Montserrat Classic"/>
              </a:rPr>
              <a:t>mudah</a:t>
            </a:r>
            <a:r>
              <a:rPr lang="en-US" sz="2015" dirty="0">
                <a:solidFill>
                  <a:srgbClr val="000000"/>
                </a:solidFill>
                <a:latin typeface="Montserrat Classic"/>
              </a:rPr>
              <a:t> </a:t>
            </a:r>
            <a:r>
              <a:rPr lang="en-US" sz="2015" dirty="0" err="1">
                <a:solidFill>
                  <a:srgbClr val="000000"/>
                </a:solidFill>
                <a:latin typeface="Montserrat Classic"/>
              </a:rPr>
              <a:t>diakses</a:t>
            </a:r>
            <a:r>
              <a:rPr lang="en-US" sz="2015" dirty="0">
                <a:solidFill>
                  <a:srgbClr val="000000"/>
                </a:solidFill>
                <a:latin typeface="Montserrat Classic"/>
              </a:rPr>
              <a:t> </a:t>
            </a:r>
            <a:r>
              <a:rPr lang="en-US" sz="2015" dirty="0" err="1">
                <a:solidFill>
                  <a:srgbClr val="000000"/>
                </a:solidFill>
                <a:latin typeface="Montserrat Classic"/>
              </a:rPr>
              <a:t>oleh</a:t>
            </a:r>
            <a:r>
              <a:rPr lang="en-US" sz="2015" dirty="0">
                <a:solidFill>
                  <a:srgbClr val="000000"/>
                </a:solidFill>
                <a:latin typeface="Montserrat Classic"/>
              </a:rPr>
              <a:t> </a:t>
            </a:r>
            <a:r>
              <a:rPr lang="en-US" sz="2015" dirty="0" err="1">
                <a:solidFill>
                  <a:srgbClr val="000000"/>
                </a:solidFill>
                <a:latin typeface="Montserrat Classic"/>
              </a:rPr>
              <a:t>Pemangku</a:t>
            </a:r>
            <a:r>
              <a:rPr lang="en-US" sz="2015" dirty="0">
                <a:solidFill>
                  <a:srgbClr val="000000"/>
                </a:solidFill>
                <a:latin typeface="Montserrat Classic"/>
              </a:rPr>
              <a:t> </a:t>
            </a:r>
            <a:r>
              <a:rPr lang="en-US" sz="2015" dirty="0" err="1">
                <a:solidFill>
                  <a:srgbClr val="000000"/>
                </a:solidFill>
                <a:latin typeface="Montserrat Classic"/>
              </a:rPr>
              <a:t>kepentingan</a:t>
            </a:r>
            <a:r>
              <a:rPr lang="en-US" sz="2015" dirty="0">
                <a:solidFill>
                  <a:srgbClr val="000000"/>
                </a:solidFill>
                <a:latin typeface="Montserrat Classic"/>
              </a:rPr>
              <a:t> </a:t>
            </a:r>
            <a:r>
              <a:rPr lang="en-US" sz="2015" dirty="0" err="1">
                <a:solidFill>
                  <a:srgbClr val="000000"/>
                </a:solidFill>
                <a:latin typeface="Montserrat Classic"/>
              </a:rPr>
              <a:t>sesuai</a:t>
            </a:r>
            <a:r>
              <a:rPr lang="en-US" sz="2015" dirty="0">
                <a:solidFill>
                  <a:srgbClr val="000000"/>
                </a:solidFill>
                <a:latin typeface="Montserrat Classic"/>
              </a:rPr>
              <a:t> </a:t>
            </a:r>
            <a:r>
              <a:rPr lang="en-US" sz="2015" dirty="0" err="1">
                <a:solidFill>
                  <a:srgbClr val="000000"/>
                </a:solidFill>
                <a:latin typeface="Montserrat Classic"/>
              </a:rPr>
              <a:t>dengan</a:t>
            </a:r>
            <a:r>
              <a:rPr lang="en-US" sz="2015" dirty="0">
                <a:solidFill>
                  <a:srgbClr val="000000"/>
                </a:solidFill>
                <a:latin typeface="Montserrat Classic"/>
              </a:rPr>
              <a:t> </a:t>
            </a:r>
            <a:r>
              <a:rPr lang="en-US" sz="2015" dirty="0" err="1">
                <a:solidFill>
                  <a:srgbClr val="000000"/>
                </a:solidFill>
                <a:latin typeface="Montserrat Classic"/>
              </a:rPr>
              <a:t>peraturan</a:t>
            </a:r>
            <a:r>
              <a:rPr lang="en-US" sz="2015" dirty="0">
                <a:solidFill>
                  <a:srgbClr val="000000"/>
                </a:solidFill>
                <a:latin typeface="Montserrat Classic"/>
              </a:rPr>
              <a:t> </a:t>
            </a:r>
            <a:r>
              <a:rPr lang="en-US" sz="2015" dirty="0" err="1">
                <a:solidFill>
                  <a:srgbClr val="000000"/>
                </a:solidFill>
                <a:latin typeface="Montserrat Classic"/>
              </a:rPr>
              <a:t>perundang-undangan</a:t>
            </a:r>
            <a:r>
              <a:rPr lang="en-US" sz="2015" dirty="0">
                <a:solidFill>
                  <a:srgbClr val="000000"/>
                </a:solidFill>
                <a:latin typeface="Montserrat Classic"/>
              </a:rPr>
              <a:t> </a:t>
            </a:r>
            <a:r>
              <a:rPr lang="en-US" sz="2015" dirty="0" err="1">
                <a:solidFill>
                  <a:srgbClr val="000000"/>
                </a:solidFill>
                <a:latin typeface="Montserrat Classic"/>
              </a:rPr>
              <a:t>dibidang</a:t>
            </a:r>
            <a:r>
              <a:rPr lang="en-US" sz="2015" dirty="0">
                <a:solidFill>
                  <a:srgbClr val="000000"/>
                </a:solidFill>
                <a:latin typeface="Montserrat Classic"/>
              </a:rPr>
              <a:t> </a:t>
            </a:r>
            <a:r>
              <a:rPr lang="en-US" sz="2015" dirty="0" err="1">
                <a:solidFill>
                  <a:srgbClr val="000000"/>
                </a:solidFill>
                <a:latin typeface="Montserrat Classic"/>
              </a:rPr>
              <a:t>pembiayaan</a:t>
            </a:r>
            <a:r>
              <a:rPr lang="en-US" sz="2015" dirty="0">
                <a:solidFill>
                  <a:srgbClr val="000000"/>
                </a:solidFill>
                <a:latin typeface="Montserrat Classic"/>
              </a:rPr>
              <a:t> </a:t>
            </a:r>
            <a:r>
              <a:rPr lang="en-US" sz="2015" dirty="0" err="1">
                <a:solidFill>
                  <a:srgbClr val="000000"/>
                </a:solidFill>
                <a:latin typeface="Montserrat Classic"/>
              </a:rPr>
              <a:t>serta</a:t>
            </a:r>
            <a:r>
              <a:rPr lang="en-US" sz="2015" dirty="0">
                <a:solidFill>
                  <a:srgbClr val="000000"/>
                </a:solidFill>
                <a:latin typeface="Montserrat Classic"/>
              </a:rPr>
              <a:t> </a:t>
            </a:r>
            <a:r>
              <a:rPr lang="en-US" sz="2015" dirty="0" err="1">
                <a:solidFill>
                  <a:srgbClr val="000000"/>
                </a:solidFill>
                <a:latin typeface="Montserrat Classic"/>
              </a:rPr>
              <a:t>standar</a:t>
            </a:r>
            <a:r>
              <a:rPr lang="en-US" sz="2015" dirty="0">
                <a:solidFill>
                  <a:srgbClr val="000000"/>
                </a:solidFill>
                <a:latin typeface="Montserrat Classic"/>
              </a:rPr>
              <a:t>, </a:t>
            </a:r>
            <a:r>
              <a:rPr lang="en-US" sz="2015" dirty="0" err="1">
                <a:solidFill>
                  <a:srgbClr val="000000"/>
                </a:solidFill>
                <a:latin typeface="Montserrat Classic"/>
              </a:rPr>
              <a:t>prinsip</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praktik</a:t>
            </a:r>
            <a:r>
              <a:rPr lang="en-US" sz="2015" dirty="0">
                <a:solidFill>
                  <a:srgbClr val="000000"/>
                </a:solidFill>
                <a:latin typeface="Montserrat Classic"/>
              </a:rPr>
              <a:t> </a:t>
            </a:r>
            <a:r>
              <a:rPr lang="en-US" sz="2015" dirty="0" err="1">
                <a:solidFill>
                  <a:srgbClr val="000000"/>
                </a:solidFill>
                <a:latin typeface="Montserrat Classic"/>
              </a:rPr>
              <a:t>penyelenggaraan</a:t>
            </a:r>
            <a:r>
              <a:rPr lang="en-US" sz="2015" dirty="0">
                <a:solidFill>
                  <a:srgbClr val="000000"/>
                </a:solidFill>
                <a:latin typeface="Montserrat Classic"/>
              </a:rPr>
              <a:t> </a:t>
            </a:r>
            <a:r>
              <a:rPr lang="en-US" sz="2015" dirty="0" err="1">
                <a:solidFill>
                  <a:srgbClr val="000000"/>
                </a:solidFill>
                <a:latin typeface="Montserrat Classic"/>
              </a:rPr>
              <a:t>usaha</a:t>
            </a:r>
            <a:r>
              <a:rPr lang="en-US" sz="2015" dirty="0">
                <a:solidFill>
                  <a:srgbClr val="000000"/>
                </a:solidFill>
                <a:latin typeface="Montserrat Classic"/>
              </a:rPr>
              <a:t> yang </a:t>
            </a:r>
            <a:r>
              <a:rPr lang="en-US" sz="2015" dirty="0" err="1">
                <a:solidFill>
                  <a:srgbClr val="000000"/>
                </a:solidFill>
                <a:latin typeface="Montserrat Classic"/>
              </a:rPr>
              <a:t>sehat</a:t>
            </a:r>
            <a:r>
              <a:rPr lang="en-US" sz="2015" dirty="0">
                <a:solidFill>
                  <a:srgbClr val="000000"/>
                </a:solidFill>
                <a:latin typeface="Montserrat Classic"/>
              </a:rPr>
              <a:t>.</a:t>
            </a:r>
          </a:p>
          <a:p>
            <a:pPr>
              <a:lnSpc>
                <a:spcPts val="3123"/>
              </a:lnSpc>
            </a:pPr>
            <a:endParaRPr lang="en-US" sz="2015" dirty="0">
              <a:solidFill>
                <a:srgbClr val="000000"/>
              </a:solidFill>
              <a:latin typeface="Montserrat Classic"/>
            </a:endParaRPr>
          </a:p>
          <a:p>
            <a:pPr>
              <a:lnSpc>
                <a:spcPts val="3123"/>
              </a:lnSpc>
            </a:pPr>
            <a:r>
              <a:rPr lang="en-US" sz="2015" dirty="0" smtClean="0">
                <a:solidFill>
                  <a:srgbClr val="000000"/>
                </a:solidFill>
                <a:latin typeface="Montserrat Classic Bold"/>
              </a:rPr>
              <a:t>Accountability </a:t>
            </a:r>
            <a:r>
              <a:rPr lang="en-US" sz="2015" dirty="0">
                <a:solidFill>
                  <a:srgbClr val="000000"/>
                </a:solidFill>
                <a:latin typeface="Montserrat Classic Bold"/>
              </a:rPr>
              <a:t>(</a:t>
            </a:r>
            <a:r>
              <a:rPr lang="en-US" sz="2015" dirty="0" err="1">
                <a:solidFill>
                  <a:srgbClr val="000000"/>
                </a:solidFill>
                <a:latin typeface="Montserrat Classic Bold"/>
              </a:rPr>
              <a:t>Akuntabilitas</a:t>
            </a:r>
            <a:r>
              <a:rPr lang="en-US" sz="2015" dirty="0">
                <a:solidFill>
                  <a:srgbClr val="000000"/>
                </a:solidFill>
                <a:latin typeface="Montserrat Classic Bold"/>
              </a:rPr>
              <a:t>)</a:t>
            </a:r>
          </a:p>
          <a:p>
            <a:pPr>
              <a:lnSpc>
                <a:spcPts val="3123"/>
              </a:lnSpc>
            </a:pPr>
            <a:r>
              <a:rPr lang="en-US" sz="2015" dirty="0" err="1">
                <a:solidFill>
                  <a:srgbClr val="000000"/>
                </a:solidFill>
                <a:latin typeface="Montserrat Classic"/>
              </a:rPr>
              <a:t>Yaitu</a:t>
            </a:r>
            <a:r>
              <a:rPr lang="en-US" sz="2015" dirty="0">
                <a:solidFill>
                  <a:srgbClr val="000000"/>
                </a:solidFill>
                <a:latin typeface="Montserrat Classic"/>
              </a:rPr>
              <a:t> </a:t>
            </a:r>
            <a:r>
              <a:rPr lang="en-US" sz="2015" dirty="0" err="1">
                <a:solidFill>
                  <a:srgbClr val="000000"/>
                </a:solidFill>
                <a:latin typeface="Montserrat Classic"/>
              </a:rPr>
              <a:t>kejelasan</a:t>
            </a:r>
            <a:r>
              <a:rPr lang="en-US" sz="2015" dirty="0">
                <a:solidFill>
                  <a:srgbClr val="000000"/>
                </a:solidFill>
                <a:latin typeface="Montserrat Classic"/>
              </a:rPr>
              <a:t> </a:t>
            </a:r>
            <a:r>
              <a:rPr lang="en-US" sz="2015" dirty="0" err="1">
                <a:solidFill>
                  <a:srgbClr val="000000"/>
                </a:solidFill>
                <a:latin typeface="Montserrat Classic"/>
              </a:rPr>
              <a:t>fungsi</a:t>
            </a:r>
            <a:r>
              <a:rPr lang="en-US" sz="2015" dirty="0">
                <a:solidFill>
                  <a:srgbClr val="000000"/>
                </a:solidFill>
                <a:latin typeface="Montserrat Classic"/>
              </a:rPr>
              <a:t>, </a:t>
            </a:r>
            <a:r>
              <a:rPr lang="en-US" sz="2015" dirty="0" err="1">
                <a:solidFill>
                  <a:srgbClr val="000000"/>
                </a:solidFill>
                <a:latin typeface="Montserrat Classic"/>
              </a:rPr>
              <a:t>pelaksanaan</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pertanggungjawaban</a:t>
            </a:r>
            <a:r>
              <a:rPr lang="en-US" sz="2015" dirty="0">
                <a:solidFill>
                  <a:srgbClr val="000000"/>
                </a:solidFill>
                <a:latin typeface="Montserrat Classic"/>
              </a:rPr>
              <a:t> Organ Perusahaan </a:t>
            </a:r>
            <a:r>
              <a:rPr lang="en-US" sz="2015" dirty="0" err="1">
                <a:solidFill>
                  <a:srgbClr val="000000"/>
                </a:solidFill>
                <a:latin typeface="Montserrat Classic"/>
              </a:rPr>
              <a:t>sehingga</a:t>
            </a:r>
            <a:r>
              <a:rPr lang="en-US" sz="2015" dirty="0">
                <a:solidFill>
                  <a:srgbClr val="000000"/>
                </a:solidFill>
                <a:latin typeface="Montserrat Classic"/>
              </a:rPr>
              <a:t> </a:t>
            </a:r>
            <a:r>
              <a:rPr lang="en-US" sz="2015" dirty="0" err="1">
                <a:solidFill>
                  <a:srgbClr val="000000"/>
                </a:solidFill>
                <a:latin typeface="Montserrat Classic"/>
              </a:rPr>
              <a:t>kinerja</a:t>
            </a:r>
            <a:r>
              <a:rPr lang="en-US" sz="2015" dirty="0">
                <a:solidFill>
                  <a:srgbClr val="000000"/>
                </a:solidFill>
                <a:latin typeface="Montserrat Classic"/>
              </a:rPr>
              <a:t> Perusahaan </a:t>
            </a:r>
            <a:r>
              <a:rPr lang="en-US" sz="2015" dirty="0" err="1">
                <a:solidFill>
                  <a:srgbClr val="000000"/>
                </a:solidFill>
                <a:latin typeface="Montserrat Classic"/>
              </a:rPr>
              <a:t>dapat</a:t>
            </a:r>
            <a:r>
              <a:rPr lang="en-US" sz="2015" dirty="0">
                <a:solidFill>
                  <a:srgbClr val="000000"/>
                </a:solidFill>
                <a:latin typeface="Montserrat Classic"/>
              </a:rPr>
              <a:t> </a:t>
            </a:r>
            <a:r>
              <a:rPr lang="en-US" sz="2015" dirty="0" err="1">
                <a:solidFill>
                  <a:srgbClr val="000000"/>
                </a:solidFill>
                <a:latin typeface="Montserrat Classic"/>
              </a:rPr>
              <a:t>berjalan</a:t>
            </a:r>
            <a:r>
              <a:rPr lang="en-US" sz="2015" dirty="0">
                <a:solidFill>
                  <a:srgbClr val="000000"/>
                </a:solidFill>
                <a:latin typeface="Montserrat Classic"/>
              </a:rPr>
              <a:t> </a:t>
            </a:r>
            <a:r>
              <a:rPr lang="en-US" sz="2015" dirty="0" err="1">
                <a:solidFill>
                  <a:srgbClr val="000000"/>
                </a:solidFill>
                <a:latin typeface="Montserrat Classic"/>
              </a:rPr>
              <a:t>secara</a:t>
            </a:r>
            <a:r>
              <a:rPr lang="en-US" sz="2015" dirty="0">
                <a:solidFill>
                  <a:srgbClr val="000000"/>
                </a:solidFill>
                <a:latin typeface="Montserrat Classic"/>
              </a:rPr>
              <a:t> </a:t>
            </a:r>
            <a:r>
              <a:rPr lang="en-US" sz="2015" dirty="0" err="1">
                <a:solidFill>
                  <a:srgbClr val="000000"/>
                </a:solidFill>
                <a:latin typeface="Montserrat Classic"/>
              </a:rPr>
              <a:t>transparan</a:t>
            </a:r>
            <a:r>
              <a:rPr lang="en-US" sz="2015" dirty="0">
                <a:solidFill>
                  <a:srgbClr val="000000"/>
                </a:solidFill>
                <a:latin typeface="Montserrat Classic"/>
              </a:rPr>
              <a:t>, </a:t>
            </a:r>
            <a:r>
              <a:rPr lang="en-US" sz="2015" dirty="0" err="1">
                <a:solidFill>
                  <a:srgbClr val="000000"/>
                </a:solidFill>
                <a:latin typeface="Montserrat Classic"/>
              </a:rPr>
              <a:t>wajar</a:t>
            </a:r>
            <a:r>
              <a:rPr lang="en-US" sz="2015" dirty="0">
                <a:solidFill>
                  <a:srgbClr val="000000"/>
                </a:solidFill>
                <a:latin typeface="Montserrat Classic"/>
              </a:rPr>
              <a:t>, </a:t>
            </a:r>
            <a:r>
              <a:rPr lang="en-US" sz="2015" dirty="0" err="1">
                <a:solidFill>
                  <a:srgbClr val="000000"/>
                </a:solidFill>
                <a:latin typeface="Montserrat Classic"/>
              </a:rPr>
              <a:t>efektif</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efisien</a:t>
            </a:r>
            <a:r>
              <a:rPr lang="en-US" sz="2015" dirty="0">
                <a:solidFill>
                  <a:srgbClr val="000000"/>
                </a:solidFill>
                <a:latin typeface="Montserrat Classic"/>
              </a:rPr>
              <a:t>.</a:t>
            </a:r>
          </a:p>
          <a:p>
            <a:pPr>
              <a:lnSpc>
                <a:spcPts val="3123"/>
              </a:lnSpc>
            </a:pPr>
            <a:endParaRPr lang="en-US" sz="2015" dirty="0">
              <a:solidFill>
                <a:srgbClr val="000000"/>
              </a:solidFill>
              <a:latin typeface="Montserrat Classic"/>
            </a:endParaRPr>
          </a:p>
          <a:p>
            <a:pPr>
              <a:lnSpc>
                <a:spcPts val="3123"/>
              </a:lnSpc>
            </a:pPr>
            <a:r>
              <a:rPr lang="en-US" sz="2015" dirty="0" smtClean="0">
                <a:solidFill>
                  <a:srgbClr val="000000"/>
                </a:solidFill>
                <a:latin typeface="Montserrat Classic Bold"/>
              </a:rPr>
              <a:t>Responsibility </a:t>
            </a:r>
            <a:r>
              <a:rPr lang="en-US" sz="2015" dirty="0">
                <a:solidFill>
                  <a:srgbClr val="000000"/>
                </a:solidFill>
                <a:latin typeface="Montserrat Classic Bold"/>
              </a:rPr>
              <a:t>(</a:t>
            </a:r>
            <a:r>
              <a:rPr lang="en-US" sz="2015" dirty="0" err="1">
                <a:solidFill>
                  <a:srgbClr val="000000"/>
                </a:solidFill>
                <a:latin typeface="Montserrat Classic Bold"/>
              </a:rPr>
              <a:t>Pertanggungjawaban</a:t>
            </a:r>
            <a:r>
              <a:rPr lang="en-US" sz="2015" dirty="0">
                <a:solidFill>
                  <a:srgbClr val="000000"/>
                </a:solidFill>
                <a:latin typeface="Montserrat Classic Bold"/>
              </a:rPr>
              <a:t>)</a:t>
            </a:r>
          </a:p>
          <a:p>
            <a:pPr>
              <a:lnSpc>
                <a:spcPts val="3123"/>
              </a:lnSpc>
            </a:pPr>
            <a:r>
              <a:rPr lang="en-US" sz="2015" dirty="0" err="1">
                <a:solidFill>
                  <a:srgbClr val="000000"/>
                </a:solidFill>
                <a:latin typeface="Montserrat Classic"/>
              </a:rPr>
              <a:t>Yaitu</a:t>
            </a:r>
            <a:r>
              <a:rPr lang="en-US" sz="2015" dirty="0">
                <a:solidFill>
                  <a:srgbClr val="000000"/>
                </a:solidFill>
                <a:latin typeface="Montserrat Classic"/>
              </a:rPr>
              <a:t> </a:t>
            </a:r>
            <a:r>
              <a:rPr lang="en-US" sz="2015" dirty="0" err="1">
                <a:solidFill>
                  <a:srgbClr val="000000"/>
                </a:solidFill>
                <a:latin typeface="Montserrat Classic"/>
              </a:rPr>
              <a:t>kesesuaian</a:t>
            </a:r>
            <a:r>
              <a:rPr lang="en-US" sz="2015" dirty="0">
                <a:solidFill>
                  <a:srgbClr val="000000"/>
                </a:solidFill>
                <a:latin typeface="Montserrat Classic"/>
              </a:rPr>
              <a:t> </a:t>
            </a:r>
            <a:r>
              <a:rPr lang="en-US" sz="2015" dirty="0" err="1">
                <a:solidFill>
                  <a:srgbClr val="000000"/>
                </a:solidFill>
                <a:latin typeface="Montserrat Classic"/>
              </a:rPr>
              <a:t>pengelolaan</a:t>
            </a:r>
            <a:r>
              <a:rPr lang="en-US" sz="2015" dirty="0">
                <a:solidFill>
                  <a:srgbClr val="000000"/>
                </a:solidFill>
                <a:latin typeface="Montserrat Classic"/>
              </a:rPr>
              <a:t> Perusahaan </a:t>
            </a:r>
            <a:r>
              <a:rPr lang="en-US" sz="2015" dirty="0" err="1">
                <a:solidFill>
                  <a:srgbClr val="000000"/>
                </a:solidFill>
                <a:latin typeface="Montserrat Classic"/>
              </a:rPr>
              <a:t>Perasuransian</a:t>
            </a:r>
            <a:r>
              <a:rPr lang="en-US" sz="2015" dirty="0">
                <a:solidFill>
                  <a:srgbClr val="000000"/>
                </a:solidFill>
                <a:latin typeface="Montserrat Classic"/>
              </a:rPr>
              <a:t> </a:t>
            </a:r>
            <a:r>
              <a:rPr lang="en-US" sz="2015" dirty="0" err="1">
                <a:solidFill>
                  <a:srgbClr val="000000"/>
                </a:solidFill>
                <a:latin typeface="Montserrat Classic"/>
              </a:rPr>
              <a:t>dengan</a:t>
            </a:r>
            <a:r>
              <a:rPr lang="en-US" sz="2015" dirty="0">
                <a:solidFill>
                  <a:srgbClr val="000000"/>
                </a:solidFill>
                <a:latin typeface="Montserrat Classic"/>
              </a:rPr>
              <a:t> </a:t>
            </a:r>
            <a:r>
              <a:rPr lang="en-US" sz="2015" dirty="0" err="1">
                <a:solidFill>
                  <a:srgbClr val="000000"/>
                </a:solidFill>
                <a:latin typeface="Montserrat Classic"/>
              </a:rPr>
              <a:t>peraturan</a:t>
            </a:r>
            <a:r>
              <a:rPr lang="en-US" sz="2015" dirty="0">
                <a:solidFill>
                  <a:srgbClr val="000000"/>
                </a:solidFill>
                <a:latin typeface="Montserrat Classic"/>
              </a:rPr>
              <a:t> </a:t>
            </a:r>
            <a:r>
              <a:rPr lang="en-US" sz="2015" dirty="0" err="1">
                <a:solidFill>
                  <a:srgbClr val="000000"/>
                </a:solidFill>
                <a:latin typeface="Montserrat Classic"/>
              </a:rPr>
              <a:t>perudang-undangan</a:t>
            </a:r>
            <a:r>
              <a:rPr lang="en-US" sz="2015" dirty="0">
                <a:solidFill>
                  <a:srgbClr val="000000"/>
                </a:solidFill>
                <a:latin typeface="Montserrat Classic"/>
              </a:rPr>
              <a:t> yang </a:t>
            </a:r>
            <a:r>
              <a:rPr lang="en-US" sz="2015" dirty="0" err="1">
                <a:solidFill>
                  <a:srgbClr val="000000"/>
                </a:solidFill>
                <a:latin typeface="Montserrat Classic"/>
              </a:rPr>
              <a:t>berlaku</a:t>
            </a:r>
            <a:r>
              <a:rPr lang="en-US" sz="2015" dirty="0">
                <a:solidFill>
                  <a:srgbClr val="000000"/>
                </a:solidFill>
                <a:latin typeface="Montserrat Classic"/>
              </a:rPr>
              <a:t>, di </a:t>
            </a:r>
            <a:r>
              <a:rPr lang="en-US" sz="2015" dirty="0" err="1">
                <a:solidFill>
                  <a:srgbClr val="000000"/>
                </a:solidFill>
                <a:latin typeface="Montserrat Classic"/>
              </a:rPr>
              <a:t>bidang</a:t>
            </a:r>
            <a:r>
              <a:rPr lang="en-US" sz="2015" dirty="0">
                <a:solidFill>
                  <a:srgbClr val="000000"/>
                </a:solidFill>
                <a:latin typeface="Montserrat Classic"/>
              </a:rPr>
              <a:t> </a:t>
            </a:r>
            <a:r>
              <a:rPr lang="en-US" sz="2015" dirty="0" err="1">
                <a:solidFill>
                  <a:srgbClr val="000000"/>
                </a:solidFill>
                <a:latin typeface="Montserrat Classic"/>
              </a:rPr>
              <a:t>pembiayaan</a:t>
            </a:r>
            <a:r>
              <a:rPr lang="en-US" sz="2015" dirty="0">
                <a:solidFill>
                  <a:srgbClr val="000000"/>
                </a:solidFill>
                <a:latin typeface="Montserrat Classic"/>
              </a:rPr>
              <a:t>, </a:t>
            </a:r>
            <a:r>
              <a:rPr lang="en-US" sz="2015" dirty="0" err="1">
                <a:solidFill>
                  <a:srgbClr val="000000"/>
                </a:solidFill>
                <a:latin typeface="Montserrat Classic"/>
              </a:rPr>
              <a:t>nilai-nilai</a:t>
            </a:r>
            <a:r>
              <a:rPr lang="en-US" sz="2015" dirty="0">
                <a:solidFill>
                  <a:srgbClr val="000000"/>
                </a:solidFill>
                <a:latin typeface="Montserrat Classic"/>
              </a:rPr>
              <a:t> </a:t>
            </a:r>
            <a:r>
              <a:rPr lang="en-US" sz="2015" dirty="0" err="1">
                <a:solidFill>
                  <a:srgbClr val="000000"/>
                </a:solidFill>
                <a:latin typeface="Montserrat Classic"/>
              </a:rPr>
              <a:t>etika</a:t>
            </a:r>
            <a:r>
              <a:rPr lang="en-US" sz="2015" dirty="0">
                <a:solidFill>
                  <a:srgbClr val="000000"/>
                </a:solidFill>
                <a:latin typeface="Montserrat Classic"/>
              </a:rPr>
              <a:t> </a:t>
            </a:r>
            <a:r>
              <a:rPr lang="en-US" sz="2015" dirty="0" err="1">
                <a:solidFill>
                  <a:srgbClr val="000000"/>
                </a:solidFill>
                <a:latin typeface="Montserrat Classic"/>
              </a:rPr>
              <a:t>serta</a:t>
            </a:r>
            <a:r>
              <a:rPr lang="en-US" sz="2015" dirty="0">
                <a:solidFill>
                  <a:srgbClr val="000000"/>
                </a:solidFill>
                <a:latin typeface="Montserrat Classic"/>
              </a:rPr>
              <a:t> </a:t>
            </a:r>
            <a:r>
              <a:rPr lang="en-US" sz="2015" dirty="0" err="1">
                <a:solidFill>
                  <a:srgbClr val="000000"/>
                </a:solidFill>
                <a:latin typeface="Montserrat Classic"/>
              </a:rPr>
              <a:t>standar</a:t>
            </a:r>
            <a:r>
              <a:rPr lang="en-US" sz="2015" dirty="0">
                <a:solidFill>
                  <a:srgbClr val="000000"/>
                </a:solidFill>
                <a:latin typeface="Montserrat Classic"/>
              </a:rPr>
              <a:t>, </a:t>
            </a:r>
            <a:r>
              <a:rPr lang="en-US" sz="2015" dirty="0" err="1">
                <a:solidFill>
                  <a:srgbClr val="000000"/>
                </a:solidFill>
                <a:latin typeface="Montserrat Classic"/>
              </a:rPr>
              <a:t>prinsip</a:t>
            </a:r>
            <a:r>
              <a:rPr lang="en-US" sz="2015" dirty="0">
                <a:solidFill>
                  <a:srgbClr val="000000"/>
                </a:solidFill>
                <a:latin typeface="Montserrat Classic"/>
              </a:rPr>
              <a:t>, </a:t>
            </a:r>
            <a:r>
              <a:rPr lang="en-US" sz="2015" dirty="0" err="1">
                <a:solidFill>
                  <a:srgbClr val="000000"/>
                </a:solidFill>
                <a:latin typeface="Montserrat Classic"/>
              </a:rPr>
              <a:t>dan</a:t>
            </a:r>
            <a:r>
              <a:rPr lang="en-US" sz="2015" dirty="0">
                <a:solidFill>
                  <a:srgbClr val="000000"/>
                </a:solidFill>
                <a:latin typeface="Montserrat Classic"/>
              </a:rPr>
              <a:t> </a:t>
            </a:r>
            <a:r>
              <a:rPr lang="en-US" sz="2015" dirty="0" err="1">
                <a:solidFill>
                  <a:srgbClr val="000000"/>
                </a:solidFill>
                <a:latin typeface="Montserrat Classic"/>
              </a:rPr>
              <a:t>praktik</a:t>
            </a:r>
            <a:r>
              <a:rPr lang="en-US" sz="2015" dirty="0">
                <a:solidFill>
                  <a:srgbClr val="000000"/>
                </a:solidFill>
                <a:latin typeface="Montserrat Classic"/>
              </a:rPr>
              <a:t> </a:t>
            </a:r>
            <a:r>
              <a:rPr lang="en-US" sz="2015" dirty="0" err="1">
                <a:solidFill>
                  <a:srgbClr val="000000"/>
                </a:solidFill>
                <a:latin typeface="Montserrat Classic"/>
              </a:rPr>
              <a:t>penyelenggaraan</a:t>
            </a:r>
            <a:r>
              <a:rPr lang="en-US" sz="2015" dirty="0">
                <a:solidFill>
                  <a:srgbClr val="000000"/>
                </a:solidFill>
                <a:latin typeface="Montserrat Classic"/>
              </a:rPr>
              <a:t> </a:t>
            </a:r>
            <a:r>
              <a:rPr lang="en-US" sz="2015" dirty="0" err="1">
                <a:solidFill>
                  <a:srgbClr val="000000"/>
                </a:solidFill>
                <a:latin typeface="Montserrat Classic"/>
              </a:rPr>
              <a:t>usaha</a:t>
            </a:r>
            <a:r>
              <a:rPr lang="en-US" sz="2015" dirty="0">
                <a:solidFill>
                  <a:srgbClr val="000000"/>
                </a:solidFill>
                <a:latin typeface="Montserrat Classic"/>
              </a:rPr>
              <a:t> yang </a:t>
            </a:r>
            <a:r>
              <a:rPr lang="en-US" sz="2015" dirty="0" err="1">
                <a:solidFill>
                  <a:srgbClr val="000000"/>
                </a:solidFill>
                <a:latin typeface="Montserrat Classic"/>
              </a:rPr>
              <a:t>sehat</a:t>
            </a:r>
            <a:endParaRPr lang="en-US" sz="2015" dirty="0">
              <a:solidFill>
                <a:srgbClr val="000000"/>
              </a:solidFill>
              <a:latin typeface="Montserrat Classic"/>
            </a:endParaRPr>
          </a:p>
          <a:p>
            <a:pPr>
              <a:lnSpc>
                <a:spcPts val="3123"/>
              </a:lnSpc>
            </a:pPr>
            <a:endParaRPr lang="en-US" sz="2015" dirty="0">
              <a:solidFill>
                <a:srgbClr val="000000"/>
              </a:solidFill>
              <a:latin typeface="Montserrat Classic"/>
            </a:endParaRPr>
          </a:p>
          <a:p>
            <a:pPr algn="ctr">
              <a:lnSpc>
                <a:spcPts val="3123"/>
              </a:lnSpc>
            </a:pPr>
            <a:r>
              <a:rPr lang="en-US" sz="2015" dirty="0">
                <a:solidFill>
                  <a:srgbClr val="000000"/>
                </a:solidFill>
                <a:latin typeface="Montserrat Classic"/>
              </a:rPr>
              <a:t>-</a:t>
            </a:r>
          </a:p>
          <a:p>
            <a:pPr algn="ctr">
              <a:lnSpc>
                <a:spcPts val="3123"/>
              </a:lnSpc>
            </a:pPr>
            <a:endParaRPr lang="en-US" sz="2015" dirty="0">
              <a:solidFill>
                <a:srgbClr val="000000"/>
              </a:solidFill>
              <a:latin typeface="Montserrat Classic"/>
            </a:endParaRPr>
          </a:p>
          <a:p>
            <a:pPr algn="ctr">
              <a:lnSpc>
                <a:spcPts val="3123"/>
              </a:lnSpc>
            </a:pPr>
            <a:endParaRPr lang="en-US" sz="2015" dirty="0">
              <a:solidFill>
                <a:srgbClr val="000000"/>
              </a:solidFill>
              <a:latin typeface="Montserrat Class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20777"/>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G. PRINSIP-PRINSIP GOOD CORPORATE GOVERNANCE</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5</a:t>
            </a:r>
            <a:endParaRPr lang="en-US" sz="3319" dirty="0">
              <a:solidFill>
                <a:srgbClr val="000000"/>
              </a:solidFill>
              <a:latin typeface="Telegraf"/>
            </a:endParaRPr>
          </a:p>
        </p:txBody>
      </p:sp>
      <p:sp>
        <p:nvSpPr>
          <p:cNvPr id="6" name="TextBox 6"/>
          <p:cNvSpPr txBox="1"/>
          <p:nvPr/>
        </p:nvSpPr>
        <p:spPr>
          <a:xfrm>
            <a:off x="1189292" y="1807626"/>
            <a:ext cx="15005476" cy="6243056"/>
          </a:xfrm>
          <a:prstGeom prst="rect">
            <a:avLst/>
          </a:prstGeom>
        </p:spPr>
        <p:txBody>
          <a:bodyPr lIns="0" tIns="0" rIns="0" bIns="0" rtlCol="0" anchor="t">
            <a:spAutoFit/>
          </a:bodyPr>
          <a:lstStyle/>
          <a:p>
            <a:pPr>
              <a:lnSpc>
                <a:spcPts val="3123"/>
              </a:lnSpc>
            </a:pPr>
            <a:endParaRPr dirty="0"/>
          </a:p>
          <a:p>
            <a:pPr algn="ctr">
              <a:lnSpc>
                <a:spcPts val="3123"/>
              </a:lnSpc>
            </a:pPr>
            <a:r>
              <a:rPr lang="en-US" sz="2015" dirty="0">
                <a:solidFill>
                  <a:srgbClr val="000000"/>
                </a:solidFill>
                <a:latin typeface="Montserrat Classic Bold"/>
              </a:rPr>
              <a:t>-</a:t>
            </a:r>
          </a:p>
          <a:p>
            <a:pPr>
              <a:lnSpc>
                <a:spcPts val="3255"/>
              </a:lnSpc>
            </a:pPr>
            <a:r>
              <a:rPr lang="en-US" sz="2100" dirty="0" smtClean="0">
                <a:solidFill>
                  <a:srgbClr val="000000"/>
                </a:solidFill>
                <a:latin typeface="Montserrat Classic Bold"/>
              </a:rPr>
              <a:t>Independency </a:t>
            </a:r>
            <a:r>
              <a:rPr lang="en-US" sz="2100" dirty="0">
                <a:solidFill>
                  <a:srgbClr val="000000"/>
                </a:solidFill>
                <a:latin typeface="Montserrat Classic Bold"/>
              </a:rPr>
              <a:t>(</a:t>
            </a:r>
            <a:r>
              <a:rPr lang="en-US" sz="2100" dirty="0" err="1">
                <a:solidFill>
                  <a:srgbClr val="000000"/>
                </a:solidFill>
                <a:latin typeface="Montserrat Classic Bold"/>
              </a:rPr>
              <a:t>Kemandirian</a:t>
            </a:r>
            <a:r>
              <a:rPr lang="en-US" sz="2100" dirty="0">
                <a:solidFill>
                  <a:srgbClr val="000000"/>
                </a:solidFill>
                <a:latin typeface="Montserrat Classic Bold"/>
              </a:rPr>
              <a:t>)</a:t>
            </a:r>
          </a:p>
          <a:p>
            <a:pPr>
              <a:lnSpc>
                <a:spcPts val="3255"/>
              </a:lnSpc>
            </a:pPr>
            <a:r>
              <a:rPr lang="en-US" sz="2100" dirty="0" err="1">
                <a:solidFill>
                  <a:srgbClr val="000000"/>
                </a:solidFill>
                <a:latin typeface="Montserrat Classic"/>
              </a:rPr>
              <a:t>Yaitu</a:t>
            </a:r>
            <a:r>
              <a:rPr lang="en-US" sz="2100" dirty="0">
                <a:solidFill>
                  <a:srgbClr val="000000"/>
                </a:solidFill>
                <a:latin typeface="Montserrat Classic"/>
              </a:rPr>
              <a:t> </a:t>
            </a:r>
            <a:r>
              <a:rPr lang="en-US" sz="2100" dirty="0" err="1">
                <a:solidFill>
                  <a:srgbClr val="000000"/>
                </a:solidFill>
                <a:latin typeface="Montserrat Classic"/>
              </a:rPr>
              <a:t>keadaan</a:t>
            </a:r>
            <a:r>
              <a:rPr lang="en-US" sz="2100" dirty="0">
                <a:solidFill>
                  <a:srgbClr val="000000"/>
                </a:solidFill>
                <a:latin typeface="Montserrat Classic"/>
              </a:rPr>
              <a:t> </a:t>
            </a:r>
            <a:r>
              <a:rPr lang="en-US" sz="2100" dirty="0" err="1">
                <a:solidFill>
                  <a:srgbClr val="000000"/>
                </a:solidFill>
                <a:latin typeface="Montserrat Classic"/>
              </a:rPr>
              <a:t>dimana</a:t>
            </a:r>
            <a:r>
              <a:rPr lang="en-US" sz="2100" dirty="0">
                <a:solidFill>
                  <a:srgbClr val="000000"/>
                </a:solidFill>
                <a:latin typeface="Montserrat Classic"/>
              </a:rPr>
              <a:t> Perusahaan </a:t>
            </a:r>
            <a:r>
              <a:rPr lang="en-US" sz="2100" dirty="0" err="1">
                <a:solidFill>
                  <a:srgbClr val="000000"/>
                </a:solidFill>
                <a:latin typeface="Montserrat Classic"/>
              </a:rPr>
              <a:t>dikelola</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mandiri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professional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bebas</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benturan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pengaruh</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tekanan</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manapun</a:t>
            </a:r>
            <a:r>
              <a:rPr lang="en-US" sz="2100" dirty="0">
                <a:solidFill>
                  <a:srgbClr val="000000"/>
                </a:solidFill>
                <a:latin typeface="Montserrat Classic"/>
              </a:rPr>
              <a:t>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perundang-undangan</a:t>
            </a:r>
            <a:r>
              <a:rPr lang="en-US" sz="2100" dirty="0">
                <a:solidFill>
                  <a:srgbClr val="000000"/>
                </a:solidFill>
                <a:latin typeface="Montserrat Classic"/>
              </a:rPr>
              <a:t> </a:t>
            </a:r>
            <a:r>
              <a:rPr lang="en-US" sz="2100" dirty="0" err="1">
                <a:solidFill>
                  <a:srgbClr val="000000"/>
                </a:solidFill>
                <a:latin typeface="Montserrat Classic"/>
              </a:rPr>
              <a:t>dibidang</a:t>
            </a:r>
            <a:r>
              <a:rPr lang="en-US" sz="2100" dirty="0">
                <a:solidFill>
                  <a:srgbClr val="000000"/>
                </a:solidFill>
                <a:latin typeface="Montserrat Classic"/>
              </a:rPr>
              <a:t> </a:t>
            </a:r>
            <a:r>
              <a:rPr lang="en-US" sz="2100" dirty="0" err="1">
                <a:solidFill>
                  <a:srgbClr val="000000"/>
                </a:solidFill>
                <a:latin typeface="Montserrat Classic"/>
              </a:rPr>
              <a:t>pembiayaan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prinsip</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praktik</a:t>
            </a:r>
            <a:r>
              <a:rPr lang="en-US" sz="2100" dirty="0">
                <a:solidFill>
                  <a:srgbClr val="000000"/>
                </a:solidFill>
                <a:latin typeface="Montserrat Classic"/>
              </a:rPr>
              <a:t> </a:t>
            </a:r>
            <a:r>
              <a:rPr lang="en-US" sz="2100" dirty="0" err="1">
                <a:solidFill>
                  <a:srgbClr val="000000"/>
                </a:solidFill>
                <a:latin typeface="Montserrat Classic"/>
              </a:rPr>
              <a:t>penyelenggaraan</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yang </a:t>
            </a:r>
            <a:r>
              <a:rPr lang="en-US" sz="2100" dirty="0" err="1">
                <a:solidFill>
                  <a:srgbClr val="000000"/>
                </a:solidFill>
                <a:latin typeface="Montserrat Classic"/>
              </a:rPr>
              <a:t>sehat</a:t>
            </a:r>
            <a:r>
              <a:rPr lang="en-US" sz="2100" dirty="0">
                <a:solidFill>
                  <a:srgbClr val="000000"/>
                </a:solidFill>
                <a:latin typeface="Montserrat Classic"/>
              </a:rPr>
              <a:t>.</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r>
              <a:rPr lang="en-US" sz="2100" dirty="0" smtClean="0">
                <a:solidFill>
                  <a:srgbClr val="000000"/>
                </a:solidFill>
                <a:latin typeface="Montserrat Classic Bold"/>
              </a:rPr>
              <a:t>Fairness </a:t>
            </a:r>
            <a:r>
              <a:rPr lang="en-US" sz="2100" dirty="0">
                <a:solidFill>
                  <a:srgbClr val="000000"/>
                </a:solidFill>
                <a:latin typeface="Montserrat Classic Bold"/>
              </a:rPr>
              <a:t>(</a:t>
            </a:r>
            <a:r>
              <a:rPr lang="en-US" sz="2100" dirty="0" err="1">
                <a:solidFill>
                  <a:srgbClr val="000000"/>
                </a:solidFill>
                <a:latin typeface="Montserrat Classic Bold"/>
              </a:rPr>
              <a:t>Kewajaran</a:t>
            </a:r>
            <a:r>
              <a:rPr lang="en-US" sz="2100" dirty="0">
                <a:solidFill>
                  <a:srgbClr val="000000"/>
                </a:solidFill>
                <a:latin typeface="Montserrat Classic Bold"/>
              </a:rPr>
              <a:t>)</a:t>
            </a:r>
          </a:p>
          <a:p>
            <a:pPr>
              <a:lnSpc>
                <a:spcPts val="3255"/>
              </a:lnSpc>
            </a:pPr>
            <a:r>
              <a:rPr lang="en-US" sz="2100" dirty="0" err="1">
                <a:solidFill>
                  <a:srgbClr val="000000"/>
                </a:solidFill>
                <a:latin typeface="Montserrat Classic"/>
              </a:rPr>
              <a:t>Yaitu</a:t>
            </a:r>
            <a:r>
              <a:rPr lang="en-US" sz="2100" dirty="0">
                <a:solidFill>
                  <a:srgbClr val="000000"/>
                </a:solidFill>
                <a:latin typeface="Montserrat Classic"/>
              </a:rPr>
              <a:t> </a:t>
            </a:r>
            <a:r>
              <a:rPr lang="en-US" sz="2100" dirty="0" err="1">
                <a:solidFill>
                  <a:srgbClr val="000000"/>
                </a:solidFill>
                <a:latin typeface="Montserrat Classic"/>
              </a:rPr>
              <a:t>Kesetaraan</a:t>
            </a:r>
            <a:r>
              <a:rPr lang="en-US" sz="2100" dirty="0">
                <a:solidFill>
                  <a:srgbClr val="000000"/>
                </a:solidFill>
                <a:latin typeface="Montserrat Classic"/>
              </a:rPr>
              <a:t>, </a:t>
            </a:r>
            <a:r>
              <a:rPr lang="en-US" sz="2100" dirty="0" err="1">
                <a:solidFill>
                  <a:srgbClr val="000000"/>
                </a:solidFill>
                <a:latin typeface="Montserrat Classic"/>
              </a:rPr>
              <a:t>keseimbangan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keadilan</a:t>
            </a:r>
            <a:r>
              <a:rPr lang="en-US" sz="2100" dirty="0">
                <a:solidFill>
                  <a:srgbClr val="000000"/>
                </a:solidFill>
                <a:latin typeface="Montserrat Classic"/>
              </a:rPr>
              <a:t> di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memenuhi</a:t>
            </a:r>
            <a:r>
              <a:rPr lang="en-US" sz="2100" dirty="0">
                <a:solidFill>
                  <a:srgbClr val="000000"/>
                </a:solidFill>
                <a:latin typeface="Montserrat Classic"/>
              </a:rPr>
              <a:t> </a:t>
            </a:r>
            <a:r>
              <a:rPr lang="en-US" sz="2100" dirty="0" err="1">
                <a:solidFill>
                  <a:srgbClr val="000000"/>
                </a:solidFill>
                <a:latin typeface="Montserrat Classic"/>
              </a:rPr>
              <a:t>hak</a:t>
            </a:r>
            <a:r>
              <a:rPr lang="en-US" sz="2100" dirty="0">
                <a:solidFill>
                  <a:srgbClr val="000000"/>
                </a:solidFill>
                <a:latin typeface="Montserrat Classic"/>
              </a:rPr>
              <a:t>- </a:t>
            </a:r>
            <a:r>
              <a:rPr lang="en-US" sz="2100" dirty="0" err="1">
                <a:solidFill>
                  <a:srgbClr val="000000"/>
                </a:solidFill>
                <a:latin typeface="Montserrat Classic"/>
              </a:rPr>
              <a:t>hak</a:t>
            </a:r>
            <a:r>
              <a:rPr lang="en-US" sz="2100" dirty="0">
                <a:solidFill>
                  <a:srgbClr val="000000"/>
                </a:solidFill>
                <a:latin typeface="Montserrat Classic"/>
              </a:rPr>
              <a:t> </a:t>
            </a:r>
            <a:r>
              <a:rPr lang="en-US" sz="2100" dirty="0" err="1">
                <a:solidFill>
                  <a:srgbClr val="000000"/>
                </a:solidFill>
                <a:latin typeface="Montserrat Classic"/>
              </a:rPr>
              <a:t>pemangku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yang </a:t>
            </a:r>
            <a:r>
              <a:rPr lang="en-US" sz="2100" dirty="0" err="1">
                <a:solidFill>
                  <a:srgbClr val="000000"/>
                </a:solidFill>
                <a:latin typeface="Montserrat Classic"/>
              </a:rPr>
              <a:t>timbul</a:t>
            </a:r>
            <a:r>
              <a:rPr lang="en-US" sz="2100" dirty="0">
                <a:solidFill>
                  <a:srgbClr val="000000"/>
                </a:solidFill>
                <a:latin typeface="Montserrat Classic"/>
              </a:rPr>
              <a:t> </a:t>
            </a:r>
            <a:r>
              <a:rPr lang="en-US" sz="2100" dirty="0" err="1">
                <a:solidFill>
                  <a:srgbClr val="000000"/>
                </a:solidFill>
                <a:latin typeface="Montserrat Classic"/>
              </a:rPr>
              <a:t>berdasarkan</a:t>
            </a:r>
            <a:r>
              <a:rPr lang="en-US" sz="2100" dirty="0">
                <a:solidFill>
                  <a:srgbClr val="000000"/>
                </a:solidFill>
                <a:latin typeface="Montserrat Classic"/>
              </a:rPr>
              <a:t> </a:t>
            </a:r>
            <a:r>
              <a:rPr lang="en-US" sz="2100" dirty="0" err="1">
                <a:solidFill>
                  <a:srgbClr val="000000"/>
                </a:solidFill>
                <a:latin typeface="Montserrat Classic"/>
              </a:rPr>
              <a:t>perjanjian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perundangundangan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prinsip</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praktik</a:t>
            </a:r>
            <a:r>
              <a:rPr lang="en-US" sz="2100" dirty="0">
                <a:solidFill>
                  <a:srgbClr val="000000"/>
                </a:solidFill>
                <a:latin typeface="Montserrat Classic"/>
              </a:rPr>
              <a:t> </a:t>
            </a:r>
            <a:r>
              <a:rPr lang="en-US" sz="2100" dirty="0" err="1">
                <a:solidFill>
                  <a:srgbClr val="000000"/>
                </a:solidFill>
                <a:latin typeface="Montserrat Classic"/>
              </a:rPr>
              <a:t>penyelenggaraan</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yang </a:t>
            </a:r>
            <a:r>
              <a:rPr lang="en-US" sz="2100" dirty="0" err="1">
                <a:solidFill>
                  <a:srgbClr val="000000"/>
                </a:solidFill>
                <a:latin typeface="Montserrat Classic"/>
              </a:rPr>
              <a:t>sehat</a:t>
            </a:r>
            <a:r>
              <a:rPr lang="en-US" sz="2100" dirty="0">
                <a:solidFill>
                  <a:srgbClr val="000000"/>
                </a:solidFill>
                <a:latin typeface="Montserrat Classic"/>
              </a:rPr>
              <a:t>.</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20777"/>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H. ARTI ISTILAH </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6</a:t>
            </a:r>
            <a:endParaRPr lang="en-US" sz="3319" dirty="0">
              <a:solidFill>
                <a:srgbClr val="000000"/>
              </a:solidFill>
              <a:latin typeface="Telegraf"/>
            </a:endParaRPr>
          </a:p>
        </p:txBody>
      </p:sp>
      <p:sp>
        <p:nvSpPr>
          <p:cNvPr id="6" name="TextBox 6"/>
          <p:cNvSpPr txBox="1"/>
          <p:nvPr/>
        </p:nvSpPr>
        <p:spPr>
          <a:xfrm>
            <a:off x="1028700" y="1588527"/>
            <a:ext cx="16230600" cy="7089441"/>
          </a:xfrm>
          <a:prstGeom prst="rect">
            <a:avLst/>
          </a:prstGeom>
        </p:spPr>
        <p:txBody>
          <a:bodyPr lIns="0" tIns="0" rIns="0" bIns="0" rtlCol="0" anchor="t">
            <a:spAutoFit/>
          </a:bodyPr>
          <a:lstStyle/>
          <a:p>
            <a:pPr>
              <a:lnSpc>
                <a:spcPts val="3123"/>
              </a:lnSpc>
            </a:pPr>
            <a:r>
              <a:rPr lang="en-US" sz="2015" dirty="0" err="1">
                <a:solidFill>
                  <a:srgbClr val="000000"/>
                </a:solidFill>
                <a:latin typeface="Montserrat Classic Bold"/>
              </a:rPr>
              <a:t>Dalam</a:t>
            </a:r>
            <a:r>
              <a:rPr lang="en-US" sz="2015" dirty="0">
                <a:solidFill>
                  <a:srgbClr val="000000"/>
                </a:solidFill>
                <a:latin typeface="Montserrat Classic Bold"/>
              </a:rPr>
              <a:t> </a:t>
            </a:r>
            <a:r>
              <a:rPr lang="en-US" sz="2015" dirty="0" err="1">
                <a:solidFill>
                  <a:srgbClr val="000000"/>
                </a:solidFill>
                <a:latin typeface="Montserrat Classic Bold"/>
              </a:rPr>
              <a:t>Pedoman</a:t>
            </a:r>
            <a:r>
              <a:rPr lang="en-US" sz="2015" dirty="0">
                <a:solidFill>
                  <a:srgbClr val="000000"/>
                </a:solidFill>
                <a:latin typeface="Montserrat Classic Bold"/>
              </a:rPr>
              <a:t> </a:t>
            </a:r>
            <a:r>
              <a:rPr lang="en-US" sz="2015" dirty="0" err="1">
                <a:solidFill>
                  <a:srgbClr val="000000"/>
                </a:solidFill>
                <a:latin typeface="Montserrat Classic Bold"/>
              </a:rPr>
              <a:t>Etika</a:t>
            </a:r>
            <a:r>
              <a:rPr lang="en-US" sz="2015" dirty="0">
                <a:solidFill>
                  <a:srgbClr val="000000"/>
                </a:solidFill>
                <a:latin typeface="Montserrat Classic Bold"/>
              </a:rPr>
              <a:t> </a:t>
            </a:r>
            <a:r>
              <a:rPr lang="en-US" sz="2015" dirty="0" err="1">
                <a:solidFill>
                  <a:srgbClr val="000000"/>
                </a:solidFill>
                <a:latin typeface="Montserrat Classic Bold"/>
              </a:rPr>
              <a:t>Bisnis</a:t>
            </a:r>
            <a:r>
              <a:rPr lang="en-US" sz="2015" dirty="0">
                <a:solidFill>
                  <a:srgbClr val="000000"/>
                </a:solidFill>
                <a:latin typeface="Montserrat Classic Bold"/>
              </a:rPr>
              <a:t> </a:t>
            </a:r>
            <a:r>
              <a:rPr lang="en-US" sz="2015" dirty="0" err="1">
                <a:solidFill>
                  <a:srgbClr val="000000"/>
                </a:solidFill>
                <a:latin typeface="Montserrat Classic Bold"/>
              </a:rPr>
              <a:t>dan</a:t>
            </a:r>
            <a:r>
              <a:rPr lang="en-US" sz="2015" dirty="0">
                <a:solidFill>
                  <a:srgbClr val="000000"/>
                </a:solidFill>
                <a:latin typeface="Montserrat Classic Bold"/>
              </a:rPr>
              <a:t> </a:t>
            </a:r>
            <a:r>
              <a:rPr lang="en-US" sz="2015" dirty="0" err="1">
                <a:solidFill>
                  <a:srgbClr val="000000"/>
                </a:solidFill>
                <a:latin typeface="Montserrat Classic Bold"/>
              </a:rPr>
              <a:t>Etika</a:t>
            </a:r>
            <a:r>
              <a:rPr lang="en-US" sz="2015" dirty="0">
                <a:solidFill>
                  <a:srgbClr val="000000"/>
                </a:solidFill>
                <a:latin typeface="Montserrat Classic Bold"/>
              </a:rPr>
              <a:t> </a:t>
            </a:r>
            <a:r>
              <a:rPr lang="en-US" sz="2015" dirty="0" err="1">
                <a:solidFill>
                  <a:srgbClr val="000000"/>
                </a:solidFill>
                <a:latin typeface="Montserrat Classic Bold"/>
              </a:rPr>
              <a:t>Kerja</a:t>
            </a:r>
            <a:r>
              <a:rPr lang="en-US" sz="2015" dirty="0">
                <a:solidFill>
                  <a:srgbClr val="000000"/>
                </a:solidFill>
                <a:latin typeface="Montserrat Classic Bold"/>
              </a:rPr>
              <a:t> (Code of Conduct) </a:t>
            </a:r>
            <a:r>
              <a:rPr lang="en-US" sz="2015" dirty="0" err="1">
                <a:solidFill>
                  <a:srgbClr val="000000"/>
                </a:solidFill>
                <a:latin typeface="Montserrat Classic Bold"/>
              </a:rPr>
              <a:t>ini</a:t>
            </a:r>
            <a:r>
              <a:rPr lang="en-US" sz="2015" dirty="0">
                <a:solidFill>
                  <a:srgbClr val="000000"/>
                </a:solidFill>
                <a:latin typeface="Montserrat Classic Bold"/>
              </a:rPr>
              <a:t> yang </a:t>
            </a:r>
            <a:r>
              <a:rPr lang="en-US" sz="2015" dirty="0" err="1">
                <a:solidFill>
                  <a:srgbClr val="000000"/>
                </a:solidFill>
                <a:latin typeface="Montserrat Classic Bold"/>
              </a:rPr>
              <a:t>dimaksud</a:t>
            </a:r>
            <a:r>
              <a:rPr lang="en-US" sz="2015" dirty="0">
                <a:solidFill>
                  <a:srgbClr val="000000"/>
                </a:solidFill>
                <a:latin typeface="Montserrat Classic Bold"/>
              </a:rPr>
              <a:t> </a:t>
            </a:r>
            <a:r>
              <a:rPr lang="en-US" sz="2015" dirty="0" err="1">
                <a:solidFill>
                  <a:srgbClr val="000000"/>
                </a:solidFill>
                <a:latin typeface="Montserrat Classic Bold"/>
              </a:rPr>
              <a:t>dengan</a:t>
            </a:r>
            <a:r>
              <a:rPr lang="en-US" sz="2015" dirty="0">
                <a:solidFill>
                  <a:srgbClr val="000000"/>
                </a:solidFill>
                <a:latin typeface="Montserrat Classic Bold"/>
              </a:rPr>
              <a:t>:</a:t>
            </a:r>
          </a:p>
          <a:p>
            <a:pPr algn="l">
              <a:lnSpc>
                <a:spcPts val="3123"/>
              </a:lnSpc>
            </a:pPr>
            <a:endParaRPr lang="en-US" sz="2015" dirty="0">
              <a:solidFill>
                <a:srgbClr val="000000"/>
              </a:solidFill>
              <a:latin typeface="Montserrat Classic Bold"/>
            </a:endParaRPr>
          </a:p>
          <a:p>
            <a:pPr marL="342900" indent="-342900">
              <a:lnSpc>
                <a:spcPts val="3255"/>
              </a:lnSpc>
              <a:buFont typeface="Arial" panose="020B0604020202020204" pitchFamily="34" charset="0"/>
              <a:buChar char="•"/>
            </a:pPr>
            <a:r>
              <a:rPr lang="en-US" sz="2100" dirty="0">
                <a:solidFill>
                  <a:srgbClr val="000000"/>
                </a:solidFill>
                <a:latin typeface="Montserrat Classic"/>
              </a:rPr>
              <a:t>Perusahaan </a:t>
            </a:r>
            <a:r>
              <a:rPr lang="en-US" sz="2100" dirty="0" err="1">
                <a:solidFill>
                  <a:srgbClr val="000000"/>
                </a:solidFill>
                <a:latin typeface="Montserrat Classic"/>
              </a:rPr>
              <a:t>adalah</a:t>
            </a:r>
            <a:r>
              <a:rPr lang="en-US" sz="2100" dirty="0">
                <a:solidFill>
                  <a:srgbClr val="000000"/>
                </a:solidFill>
                <a:latin typeface="Montserrat Classic"/>
              </a:rPr>
              <a:t> PT Nusantara </a:t>
            </a:r>
            <a:r>
              <a:rPr lang="en-US" sz="2100" dirty="0" err="1">
                <a:solidFill>
                  <a:srgbClr val="000000"/>
                </a:solidFill>
                <a:latin typeface="Montserrat Classic"/>
              </a:rPr>
              <a:t>Sakti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disingkat</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Perusahaan</a:t>
            </a:r>
          </a:p>
          <a:p>
            <a:pPr marL="342900" indent="-342900">
              <a:lnSpc>
                <a:spcPts val="3255"/>
              </a:lnSpc>
              <a:buFont typeface="Arial" panose="020B0604020202020204" pitchFamily="34" charset="0"/>
              <a:buChar char="•"/>
            </a:pP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Organ Perusahaan yang </a:t>
            </a:r>
            <a:r>
              <a:rPr lang="en-US" sz="2100" dirty="0" err="1">
                <a:solidFill>
                  <a:srgbClr val="000000"/>
                </a:solidFill>
                <a:latin typeface="Montserrat Classic"/>
              </a:rPr>
              <a:t>bertugas</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pengawasan</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umum</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khusus</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Anggaran</a:t>
            </a:r>
            <a:r>
              <a:rPr lang="en-US" sz="2100" dirty="0">
                <a:solidFill>
                  <a:srgbClr val="000000"/>
                </a:solidFill>
                <a:latin typeface="Montserrat Classic"/>
              </a:rPr>
              <a:t> </a:t>
            </a:r>
            <a:r>
              <a:rPr lang="en-US" sz="2100" dirty="0" err="1">
                <a:solidFill>
                  <a:srgbClr val="000000"/>
                </a:solidFill>
                <a:latin typeface="Montserrat Classic"/>
              </a:rPr>
              <a:t>Dasar</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memberi</a:t>
            </a:r>
            <a:r>
              <a:rPr lang="en-US" sz="2100" dirty="0">
                <a:solidFill>
                  <a:srgbClr val="000000"/>
                </a:solidFill>
                <a:latin typeface="Montserrat Classic"/>
              </a:rPr>
              <a:t> </a:t>
            </a:r>
            <a:r>
              <a:rPr lang="en-US" sz="2100" dirty="0" err="1">
                <a:solidFill>
                  <a:srgbClr val="000000"/>
                </a:solidFill>
                <a:latin typeface="Montserrat Classic"/>
              </a:rPr>
              <a:t>nasehat</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yang </a:t>
            </a:r>
            <a:r>
              <a:rPr lang="en-US" sz="2100" dirty="0" err="1">
                <a:solidFill>
                  <a:srgbClr val="000000"/>
                </a:solidFill>
                <a:latin typeface="Montserrat Classic"/>
              </a:rPr>
              <a:t>merujuk</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individu</a:t>
            </a:r>
            <a:r>
              <a:rPr lang="en-US" sz="2100" dirty="0">
                <a:solidFill>
                  <a:srgbClr val="000000"/>
                </a:solidFill>
                <a:latin typeface="Montserrat Classic"/>
              </a:rPr>
              <a:t> (</a:t>
            </a:r>
            <a:r>
              <a:rPr lang="en-US" sz="2100" dirty="0" err="1">
                <a:solidFill>
                  <a:srgbClr val="000000"/>
                </a:solidFill>
                <a:latin typeface="Montserrat Classic"/>
              </a:rPr>
              <a:t>bukan</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Board).</a:t>
            </a:r>
          </a:p>
          <a:p>
            <a:pPr marL="342900" indent="-342900">
              <a:lnSpc>
                <a:spcPts val="3255"/>
              </a:lnSpc>
              <a:buFont typeface="Arial" panose="020B0604020202020204" pitchFamily="34" charset="0"/>
              <a:buChar char="•"/>
            </a:pP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Organ Perusahaan yang </a:t>
            </a:r>
            <a:r>
              <a:rPr lang="en-US" sz="2100" dirty="0" err="1">
                <a:solidFill>
                  <a:srgbClr val="000000"/>
                </a:solidFill>
                <a:latin typeface="Montserrat Classic"/>
              </a:rPr>
              <a:t>berwenang</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penuh</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pengurusan</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maksud</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tujuan</a:t>
            </a:r>
            <a:r>
              <a:rPr lang="en-US" sz="2100" dirty="0">
                <a:solidFill>
                  <a:srgbClr val="000000"/>
                </a:solidFill>
                <a:latin typeface="Montserrat Classic"/>
              </a:rPr>
              <a:t> Perusahaan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mewakili</a:t>
            </a:r>
            <a:r>
              <a:rPr lang="en-US" sz="2100" dirty="0">
                <a:solidFill>
                  <a:srgbClr val="000000"/>
                </a:solidFill>
                <a:latin typeface="Montserrat Classic"/>
              </a:rPr>
              <a:t> Perusahaan,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didalam</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diluar</a:t>
            </a:r>
            <a:r>
              <a:rPr lang="en-US" sz="2100" dirty="0">
                <a:solidFill>
                  <a:srgbClr val="000000"/>
                </a:solidFill>
                <a:latin typeface="Montserrat Classic"/>
              </a:rPr>
              <a:t> </a:t>
            </a:r>
            <a:r>
              <a:rPr lang="en-US" sz="2100" dirty="0" err="1">
                <a:solidFill>
                  <a:srgbClr val="000000"/>
                </a:solidFill>
                <a:latin typeface="Montserrat Classic"/>
              </a:rPr>
              <a:t>pengadilan</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a:t>
            </a:r>
            <a:r>
              <a:rPr lang="en-US" sz="2100" dirty="0" err="1">
                <a:solidFill>
                  <a:srgbClr val="000000"/>
                </a:solidFill>
                <a:latin typeface="Montserrat Classic"/>
              </a:rPr>
              <a:t>Anggaran</a:t>
            </a:r>
            <a:r>
              <a:rPr lang="en-US" sz="2100" dirty="0">
                <a:solidFill>
                  <a:srgbClr val="000000"/>
                </a:solidFill>
                <a:latin typeface="Montserrat Classic"/>
              </a:rPr>
              <a:t> </a:t>
            </a:r>
            <a:r>
              <a:rPr lang="en-US" sz="2100" dirty="0" err="1">
                <a:solidFill>
                  <a:srgbClr val="000000"/>
                </a:solidFill>
                <a:latin typeface="Montserrat Classic"/>
              </a:rPr>
              <a:t>Dasar</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yang </a:t>
            </a:r>
            <a:r>
              <a:rPr lang="en-US" sz="2100" dirty="0" err="1">
                <a:solidFill>
                  <a:srgbClr val="000000"/>
                </a:solidFill>
                <a:latin typeface="Montserrat Classic"/>
              </a:rPr>
              <a:t>merujuk</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individu</a:t>
            </a:r>
            <a:r>
              <a:rPr lang="en-US" sz="2100" dirty="0">
                <a:solidFill>
                  <a:srgbClr val="000000"/>
                </a:solidFill>
                <a:latin typeface="Montserrat Classic"/>
              </a:rPr>
              <a:t> (</a:t>
            </a:r>
            <a:r>
              <a:rPr lang="en-US" sz="2100" dirty="0" err="1">
                <a:solidFill>
                  <a:srgbClr val="000000"/>
                </a:solidFill>
                <a:latin typeface="Montserrat Classic"/>
              </a:rPr>
              <a:t>bukan</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Board). </a:t>
            </a:r>
          </a:p>
          <a:p>
            <a:pPr marL="342900" indent="-342900">
              <a:lnSpc>
                <a:spcPts val="3255"/>
              </a:lnSpc>
              <a:buFont typeface="Arial" panose="020B0604020202020204" pitchFamily="34" charset="0"/>
              <a:buChar char="•"/>
            </a:pPr>
            <a:r>
              <a:rPr lang="en-US" sz="2100" dirty="0" err="1">
                <a:solidFill>
                  <a:srgbClr val="000000"/>
                </a:solidFill>
                <a:latin typeface="Montserrat Classic"/>
              </a:rPr>
              <a:t>Jajaran</a:t>
            </a:r>
            <a:r>
              <a:rPr lang="en-US" sz="2100" dirty="0">
                <a:solidFill>
                  <a:srgbClr val="000000"/>
                </a:solidFill>
                <a:latin typeface="Montserrat Classic"/>
              </a:rPr>
              <a:t> </a:t>
            </a:r>
            <a:r>
              <a:rPr lang="en-US" sz="2100" dirty="0" err="1">
                <a:solidFill>
                  <a:srgbClr val="000000"/>
                </a:solidFill>
                <a:latin typeface="Montserrat Classic"/>
              </a:rPr>
              <a:t>Manajemen</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beserta</a:t>
            </a:r>
            <a:r>
              <a:rPr lang="en-US" sz="2100" dirty="0">
                <a:solidFill>
                  <a:srgbClr val="000000"/>
                </a:solidFill>
                <a:latin typeface="Montserrat Classic"/>
              </a:rPr>
              <a:t> </a:t>
            </a:r>
            <a:r>
              <a:rPr lang="en-US" sz="2100" dirty="0" err="1">
                <a:solidFill>
                  <a:srgbClr val="000000"/>
                </a:solidFill>
                <a:latin typeface="Montserrat Classic"/>
              </a:rPr>
              <a:t>pejabat</a:t>
            </a:r>
            <a:r>
              <a:rPr lang="en-US" sz="2100" dirty="0">
                <a:solidFill>
                  <a:srgbClr val="000000"/>
                </a:solidFill>
                <a:latin typeface="Montserrat Classic"/>
              </a:rPr>
              <a:t> </a:t>
            </a:r>
            <a:r>
              <a:rPr lang="en-US" sz="2100" dirty="0" err="1">
                <a:solidFill>
                  <a:srgbClr val="000000"/>
                </a:solidFill>
                <a:latin typeface="Montserrat Classic"/>
              </a:rPr>
              <a:t>struktural</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struktur</a:t>
            </a:r>
            <a:r>
              <a:rPr lang="en-US" sz="2100" dirty="0">
                <a:solidFill>
                  <a:srgbClr val="000000"/>
                </a:solidFill>
                <a:latin typeface="Montserrat Classic"/>
              </a:rPr>
              <a:t> </a:t>
            </a:r>
            <a:r>
              <a:rPr lang="en-US" sz="2100" dirty="0" err="1">
                <a:solidFill>
                  <a:srgbClr val="000000"/>
                </a:solidFill>
                <a:latin typeface="Montserrat Classic"/>
              </a:rPr>
              <a:t>organisasi</a:t>
            </a:r>
            <a:r>
              <a:rPr lang="en-US" sz="2100" dirty="0">
                <a:solidFill>
                  <a:srgbClr val="000000"/>
                </a:solidFill>
                <a:latin typeface="Montserrat Classic"/>
              </a:rPr>
              <a:t> yang </a:t>
            </a:r>
            <a:r>
              <a:rPr lang="en-US" sz="2100" dirty="0" err="1">
                <a:solidFill>
                  <a:srgbClr val="000000"/>
                </a:solidFill>
                <a:latin typeface="Montserrat Classic"/>
              </a:rPr>
              <a:t>fungsi</a:t>
            </a:r>
            <a:r>
              <a:rPr lang="en-US" sz="2100" dirty="0">
                <a:solidFill>
                  <a:srgbClr val="000000"/>
                </a:solidFill>
                <a:latin typeface="Montserrat Classic"/>
              </a:rPr>
              <a:t> </a:t>
            </a:r>
            <a:r>
              <a:rPr lang="en-US" sz="2100" dirty="0" err="1">
                <a:solidFill>
                  <a:srgbClr val="000000"/>
                </a:solidFill>
                <a:latin typeface="Montserrat Classic"/>
              </a:rPr>
              <a:t>kegiatannya</a:t>
            </a:r>
            <a:r>
              <a:rPr lang="en-US" sz="2100" dirty="0">
                <a:solidFill>
                  <a:srgbClr val="000000"/>
                </a:solidFill>
                <a:latin typeface="Montserrat Classic"/>
              </a:rPr>
              <a:t> </a:t>
            </a:r>
            <a:r>
              <a:rPr lang="en-US" sz="2100" dirty="0" err="1">
                <a:solidFill>
                  <a:srgbClr val="000000"/>
                </a:solidFill>
                <a:latin typeface="Montserrat Classic"/>
              </a:rPr>
              <a:t>menjalankan</a:t>
            </a:r>
            <a:r>
              <a:rPr lang="en-US" sz="2100" dirty="0">
                <a:solidFill>
                  <a:srgbClr val="000000"/>
                </a:solidFill>
                <a:latin typeface="Montserrat Classic"/>
              </a:rPr>
              <a:t> </a:t>
            </a:r>
            <a:r>
              <a:rPr lang="en-US" sz="2100" dirty="0" err="1">
                <a:solidFill>
                  <a:srgbClr val="000000"/>
                </a:solidFill>
                <a:latin typeface="Montserrat Classic"/>
              </a:rPr>
              <a:t>aktivitas</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batasan</a:t>
            </a:r>
            <a:r>
              <a:rPr lang="en-US" sz="2100" dirty="0">
                <a:solidFill>
                  <a:srgbClr val="000000"/>
                </a:solidFill>
                <a:latin typeface="Montserrat Classic"/>
              </a:rPr>
              <a:t> </a:t>
            </a:r>
            <a:r>
              <a:rPr lang="en-US" sz="2100" dirty="0" err="1">
                <a:solidFill>
                  <a:srgbClr val="000000"/>
                </a:solidFill>
                <a:latin typeface="Montserrat Classic"/>
              </a:rPr>
              <a:t>wewenang</a:t>
            </a:r>
            <a:r>
              <a:rPr lang="en-US" sz="2100" dirty="0">
                <a:solidFill>
                  <a:srgbClr val="000000"/>
                </a:solidFill>
                <a:latin typeface="Montserrat Classic"/>
              </a:rPr>
              <a:t> yang </a:t>
            </a:r>
            <a:r>
              <a:rPr lang="en-US" sz="2100" dirty="0" err="1">
                <a:solidFill>
                  <a:srgbClr val="000000"/>
                </a:solidFill>
                <a:latin typeface="Montserrat Classic"/>
              </a:rPr>
              <a:t>ditetapkan</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terdiri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Sekretaris</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semua</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di </a:t>
            </a:r>
            <a:r>
              <a:rPr lang="en-US" sz="2100" dirty="0" err="1">
                <a:solidFill>
                  <a:srgbClr val="000000"/>
                </a:solidFill>
                <a:latin typeface="Montserrat Classic"/>
              </a:rPr>
              <a:t>bawah</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Pejabat</a:t>
            </a:r>
            <a:r>
              <a:rPr lang="en-US" sz="2100" dirty="0">
                <a:solidFill>
                  <a:srgbClr val="000000"/>
                </a:solidFill>
                <a:latin typeface="Montserrat Classic"/>
              </a:rPr>
              <a:t>, </a:t>
            </a:r>
            <a:r>
              <a:rPr lang="en-US" sz="2100" dirty="0" err="1">
                <a:solidFill>
                  <a:srgbClr val="000000"/>
                </a:solidFill>
                <a:latin typeface="Montserrat Classic"/>
              </a:rPr>
              <a:t>Staf</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tenaga-tenaga</a:t>
            </a:r>
            <a:r>
              <a:rPr lang="en-US" sz="2100" dirty="0">
                <a:solidFill>
                  <a:srgbClr val="000000"/>
                </a:solidFill>
                <a:latin typeface="Montserrat Classic"/>
              </a:rPr>
              <a:t> yang </a:t>
            </a:r>
            <a:r>
              <a:rPr lang="en-US" sz="2100" dirty="0" err="1">
                <a:solidFill>
                  <a:srgbClr val="000000"/>
                </a:solidFill>
                <a:latin typeface="Montserrat Classic"/>
              </a:rPr>
              <a:t>diperbantukan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pengelolaan</a:t>
            </a:r>
            <a:r>
              <a:rPr lang="en-US" sz="2100" dirty="0">
                <a:solidFill>
                  <a:srgbClr val="000000"/>
                </a:solidFill>
                <a:latin typeface="Montserrat Classic"/>
              </a:rPr>
              <a:t> Perusahaan.</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59460"/>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H. ARTI ISTILAH </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7</a:t>
            </a:r>
            <a:endParaRPr lang="en-US" sz="3319" dirty="0">
              <a:solidFill>
                <a:srgbClr val="000000"/>
              </a:solidFill>
              <a:latin typeface="Telegraf"/>
            </a:endParaRPr>
          </a:p>
        </p:txBody>
      </p:sp>
      <p:sp>
        <p:nvSpPr>
          <p:cNvPr id="6" name="TextBox 6"/>
          <p:cNvSpPr txBox="1"/>
          <p:nvPr/>
        </p:nvSpPr>
        <p:spPr>
          <a:xfrm>
            <a:off x="1089017" y="952500"/>
            <a:ext cx="16516778" cy="7653698"/>
          </a:xfrm>
          <a:prstGeom prst="rect">
            <a:avLst/>
          </a:prstGeom>
        </p:spPr>
        <p:txBody>
          <a:bodyPr lIns="0" tIns="0" rIns="0" bIns="0" rtlCol="0" anchor="t">
            <a:spAutoFit/>
          </a:bodyPr>
          <a:lstStyle/>
          <a:p>
            <a:pPr>
              <a:lnSpc>
                <a:spcPts val="3123"/>
              </a:lnSpc>
            </a:pPr>
            <a:endParaRPr dirty="0"/>
          </a:p>
          <a:p>
            <a:pPr>
              <a:lnSpc>
                <a:spcPts val="3123"/>
              </a:lnSpc>
            </a:pPr>
            <a:endParaRPr dirty="0"/>
          </a:p>
          <a:p>
            <a:pPr marL="342900" indent="-342900">
              <a:lnSpc>
                <a:spcPts val="3123"/>
              </a:lnSpc>
              <a:buFont typeface="Arial" panose="020B0604020202020204" pitchFamily="34" charset="0"/>
              <a:buChar char="•"/>
            </a:pPr>
            <a:r>
              <a:rPr lang="en-US" sz="2000" dirty="0" err="1">
                <a:solidFill>
                  <a:srgbClr val="000000"/>
                </a:solidFill>
                <a:latin typeface="Montserrat Classic"/>
              </a:rPr>
              <a:t>Karyawan</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Pegawai</a:t>
            </a:r>
            <a:r>
              <a:rPr lang="en-US" sz="2000" dirty="0">
                <a:solidFill>
                  <a:srgbClr val="000000"/>
                </a:solidFill>
                <a:latin typeface="Montserrat Classic"/>
              </a:rPr>
              <a:t> yang </a:t>
            </a:r>
            <a:r>
              <a:rPr lang="en-US" sz="2000" dirty="0" err="1">
                <a:solidFill>
                  <a:srgbClr val="000000"/>
                </a:solidFill>
                <a:latin typeface="Montserrat Classic"/>
              </a:rPr>
              <a:t>telah</a:t>
            </a:r>
            <a:r>
              <a:rPr lang="en-US" sz="2000" dirty="0">
                <a:solidFill>
                  <a:srgbClr val="000000"/>
                </a:solidFill>
                <a:latin typeface="Montserrat Classic"/>
              </a:rPr>
              <a:t> </a:t>
            </a:r>
            <a:r>
              <a:rPr lang="en-US" sz="2000" dirty="0" err="1">
                <a:solidFill>
                  <a:srgbClr val="000000"/>
                </a:solidFill>
                <a:latin typeface="Montserrat Classic"/>
              </a:rPr>
              <a:t>memenuhi</a:t>
            </a:r>
            <a:r>
              <a:rPr lang="en-US" sz="2000" dirty="0">
                <a:solidFill>
                  <a:srgbClr val="000000"/>
                </a:solidFill>
                <a:latin typeface="Montserrat Classic"/>
              </a:rPr>
              <a:t> </a:t>
            </a:r>
            <a:r>
              <a:rPr lang="en-US" sz="2000" dirty="0" err="1">
                <a:solidFill>
                  <a:srgbClr val="000000"/>
                </a:solidFill>
                <a:latin typeface="Montserrat Classic"/>
              </a:rPr>
              <a:t>syarat-syarat</a:t>
            </a:r>
            <a:r>
              <a:rPr lang="en-US" sz="2000" dirty="0">
                <a:solidFill>
                  <a:srgbClr val="000000"/>
                </a:solidFill>
                <a:latin typeface="Montserrat Classic"/>
              </a:rPr>
              <a:t> yang </a:t>
            </a:r>
            <a:r>
              <a:rPr lang="en-US" sz="2000" dirty="0" err="1">
                <a:solidFill>
                  <a:srgbClr val="000000"/>
                </a:solidFill>
                <a:latin typeface="Montserrat Classic"/>
              </a:rPr>
              <a:t>ditentukan</a:t>
            </a:r>
            <a:r>
              <a:rPr lang="en-US" sz="2000" dirty="0">
                <a:solidFill>
                  <a:srgbClr val="000000"/>
                </a:solidFill>
                <a:latin typeface="Montserrat Classic"/>
              </a:rPr>
              <a:t>, </a:t>
            </a:r>
            <a:r>
              <a:rPr lang="en-US" sz="2000" dirty="0" err="1">
                <a:solidFill>
                  <a:srgbClr val="000000"/>
                </a:solidFill>
                <a:latin typeface="Montserrat Classic"/>
              </a:rPr>
              <a:t>diangkat</a:t>
            </a:r>
            <a:r>
              <a:rPr lang="en-US" sz="2000" dirty="0">
                <a:solidFill>
                  <a:srgbClr val="000000"/>
                </a:solidFill>
                <a:latin typeface="Montserrat Classic"/>
              </a:rPr>
              <a:t> </a:t>
            </a:r>
            <a:r>
              <a:rPr lang="en-US" sz="2000" dirty="0" err="1">
                <a:solidFill>
                  <a:srgbClr val="000000"/>
                </a:solidFill>
                <a:latin typeface="Montserrat Classic"/>
              </a:rPr>
              <a:t>sebagai</a:t>
            </a:r>
            <a:r>
              <a:rPr lang="en-US" sz="2000" dirty="0">
                <a:solidFill>
                  <a:srgbClr val="000000"/>
                </a:solidFill>
                <a:latin typeface="Montserrat Classic"/>
              </a:rPr>
              <a:t> </a:t>
            </a:r>
            <a:r>
              <a:rPr lang="en-US" sz="2000" dirty="0" err="1">
                <a:solidFill>
                  <a:srgbClr val="000000"/>
                </a:solidFill>
                <a:latin typeface="Montserrat Classic"/>
              </a:rPr>
              <a:t>Karyawan</a:t>
            </a:r>
            <a:r>
              <a:rPr lang="en-US" sz="2000" dirty="0">
                <a:solidFill>
                  <a:srgbClr val="000000"/>
                </a:solidFill>
                <a:latin typeface="Montserrat Classic"/>
              </a:rPr>
              <a:t> </a:t>
            </a:r>
            <a:r>
              <a:rPr lang="en-US" sz="2000" dirty="0" err="1">
                <a:solidFill>
                  <a:srgbClr val="000000"/>
                </a:solidFill>
                <a:latin typeface="Montserrat Classic"/>
              </a:rPr>
              <a:t>tetap</a:t>
            </a:r>
            <a:r>
              <a:rPr lang="en-US" sz="2000" dirty="0">
                <a:solidFill>
                  <a:srgbClr val="000000"/>
                </a:solidFill>
                <a:latin typeface="Montserrat Classic"/>
              </a:rPr>
              <a:t> </a:t>
            </a:r>
            <a:r>
              <a:rPr lang="en-US" sz="2000" dirty="0" err="1">
                <a:solidFill>
                  <a:srgbClr val="000000"/>
                </a:solidFill>
                <a:latin typeface="Montserrat Classic"/>
              </a:rPr>
              <a:t>dengan</a:t>
            </a:r>
            <a:r>
              <a:rPr lang="en-US" sz="2000" dirty="0">
                <a:solidFill>
                  <a:srgbClr val="000000"/>
                </a:solidFill>
                <a:latin typeface="Montserrat Classic"/>
              </a:rPr>
              <a:t> </a:t>
            </a:r>
            <a:r>
              <a:rPr lang="en-US" sz="2000" dirty="0" err="1">
                <a:solidFill>
                  <a:srgbClr val="000000"/>
                </a:solidFill>
                <a:latin typeface="Montserrat Classic"/>
              </a:rPr>
              <a:t>ketetapan</a:t>
            </a:r>
            <a:r>
              <a:rPr lang="en-US" sz="2000" dirty="0">
                <a:solidFill>
                  <a:srgbClr val="000000"/>
                </a:solidFill>
                <a:latin typeface="Montserrat Classic"/>
              </a:rPr>
              <a:t> Perusahaan yang </a:t>
            </a:r>
            <a:r>
              <a:rPr lang="en-US" sz="2000" dirty="0" err="1">
                <a:solidFill>
                  <a:srgbClr val="000000"/>
                </a:solidFill>
                <a:latin typeface="Montserrat Classic"/>
              </a:rPr>
              <a:t>diberikan</a:t>
            </a:r>
            <a:r>
              <a:rPr lang="en-US" sz="2000" dirty="0">
                <a:solidFill>
                  <a:srgbClr val="000000"/>
                </a:solidFill>
                <a:latin typeface="Montserrat Classic"/>
              </a:rPr>
              <a:t> </a:t>
            </a:r>
            <a:r>
              <a:rPr lang="en-US" sz="2000" dirty="0" err="1">
                <a:solidFill>
                  <a:srgbClr val="000000"/>
                </a:solidFill>
                <a:latin typeface="Montserrat Classic"/>
              </a:rPr>
              <a:t>hak</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kewajiban</a:t>
            </a:r>
            <a:r>
              <a:rPr lang="en-US" sz="2000" dirty="0">
                <a:solidFill>
                  <a:srgbClr val="000000"/>
                </a:solidFill>
                <a:latin typeface="Montserrat Classic"/>
              </a:rPr>
              <a:t> </a:t>
            </a:r>
            <a:r>
              <a:rPr lang="en-US" sz="2000" dirty="0" err="1">
                <a:solidFill>
                  <a:srgbClr val="000000"/>
                </a:solidFill>
                <a:latin typeface="Montserrat Classic"/>
              </a:rPr>
              <a:t>menurut</a:t>
            </a:r>
            <a:r>
              <a:rPr lang="en-US" sz="2000" dirty="0">
                <a:solidFill>
                  <a:srgbClr val="000000"/>
                </a:solidFill>
                <a:latin typeface="Montserrat Classic"/>
              </a:rPr>
              <a:t> </a:t>
            </a:r>
            <a:r>
              <a:rPr lang="en-US" sz="2000" dirty="0" err="1">
                <a:solidFill>
                  <a:srgbClr val="000000"/>
                </a:solidFill>
                <a:latin typeface="Montserrat Classic"/>
              </a:rPr>
              <a:t>ketentuan</a:t>
            </a:r>
            <a:r>
              <a:rPr lang="en-US" sz="2000" dirty="0">
                <a:solidFill>
                  <a:srgbClr val="000000"/>
                </a:solidFill>
                <a:latin typeface="Montserrat Classic"/>
              </a:rPr>
              <a:t> yang </a:t>
            </a:r>
            <a:r>
              <a:rPr lang="en-US" sz="2000" dirty="0" err="1">
                <a:solidFill>
                  <a:srgbClr val="000000"/>
                </a:solidFill>
                <a:latin typeface="Montserrat Classic"/>
              </a:rPr>
              <a:t>berlaku</a:t>
            </a:r>
            <a:r>
              <a:rPr lang="en-US" sz="2000" dirty="0">
                <a:solidFill>
                  <a:srgbClr val="000000"/>
                </a:solidFill>
                <a:latin typeface="Montserrat Classic"/>
              </a:rPr>
              <a:t> di Perusahaan.</a:t>
            </a:r>
          </a:p>
          <a:p>
            <a:pPr marL="342900" indent="-342900">
              <a:lnSpc>
                <a:spcPts val="3123"/>
              </a:lnSpc>
              <a:buFont typeface="Arial" panose="020B0604020202020204" pitchFamily="34" charset="0"/>
              <a:buChar char="•"/>
            </a:pPr>
            <a:r>
              <a:rPr lang="en-US" sz="2000" dirty="0" err="1">
                <a:solidFill>
                  <a:srgbClr val="000000"/>
                </a:solidFill>
                <a:latin typeface="Montserrat Classic"/>
              </a:rPr>
              <a:t>Kepala</a:t>
            </a:r>
            <a:r>
              <a:rPr lang="en-US" sz="2000" dirty="0">
                <a:solidFill>
                  <a:srgbClr val="000000"/>
                </a:solidFill>
                <a:latin typeface="Montserrat Classic"/>
              </a:rPr>
              <a:t> </a:t>
            </a:r>
            <a:r>
              <a:rPr lang="en-US" sz="2000" dirty="0" err="1">
                <a:solidFill>
                  <a:srgbClr val="000000"/>
                </a:solidFill>
                <a:latin typeface="Montserrat Classic"/>
              </a:rPr>
              <a:t>Divisi</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pejabat</a:t>
            </a:r>
            <a:r>
              <a:rPr lang="en-US" sz="2000" dirty="0">
                <a:solidFill>
                  <a:srgbClr val="000000"/>
                </a:solidFill>
                <a:latin typeface="Montserrat Classic"/>
              </a:rPr>
              <a:t> 1 (</a:t>
            </a:r>
            <a:r>
              <a:rPr lang="en-US" sz="2000" dirty="0" err="1">
                <a:solidFill>
                  <a:srgbClr val="000000"/>
                </a:solidFill>
                <a:latin typeface="Montserrat Classic"/>
              </a:rPr>
              <a:t>satu</a:t>
            </a:r>
            <a:r>
              <a:rPr lang="en-US" sz="2000" dirty="0">
                <a:solidFill>
                  <a:srgbClr val="000000"/>
                </a:solidFill>
                <a:latin typeface="Montserrat Classic"/>
              </a:rPr>
              <a:t>) </a:t>
            </a:r>
            <a:r>
              <a:rPr lang="en-US" sz="2000" dirty="0" err="1">
                <a:solidFill>
                  <a:srgbClr val="000000"/>
                </a:solidFill>
                <a:latin typeface="Montserrat Classic"/>
              </a:rPr>
              <a:t>tingkat</a:t>
            </a:r>
            <a:r>
              <a:rPr lang="en-US" sz="2000" dirty="0">
                <a:solidFill>
                  <a:srgbClr val="000000"/>
                </a:solidFill>
                <a:latin typeface="Montserrat Classic"/>
              </a:rPr>
              <a:t> </a:t>
            </a:r>
            <a:r>
              <a:rPr lang="en-US" sz="2000" dirty="0" err="1">
                <a:solidFill>
                  <a:srgbClr val="000000"/>
                </a:solidFill>
                <a:latin typeface="Montserrat Classic"/>
              </a:rPr>
              <a:t>dibawah</a:t>
            </a:r>
            <a:r>
              <a:rPr lang="en-US" sz="2000" dirty="0">
                <a:solidFill>
                  <a:srgbClr val="000000"/>
                </a:solidFill>
                <a:latin typeface="Montserrat Classic"/>
              </a:rPr>
              <a:t> </a:t>
            </a:r>
            <a:r>
              <a:rPr lang="en-US" sz="2000" dirty="0" err="1">
                <a:solidFill>
                  <a:srgbClr val="000000"/>
                </a:solidFill>
                <a:latin typeface="Montserrat Classic"/>
              </a:rPr>
              <a:t>Direksi</a:t>
            </a:r>
            <a:endParaRPr lang="en-US" sz="2000" dirty="0">
              <a:solidFill>
                <a:srgbClr val="000000"/>
              </a:solidFill>
              <a:latin typeface="Montserrat Classic"/>
            </a:endParaRPr>
          </a:p>
          <a:p>
            <a:pPr marL="342900" indent="-342900">
              <a:lnSpc>
                <a:spcPts val="3123"/>
              </a:lnSpc>
              <a:buFont typeface="Arial" panose="020B0604020202020204" pitchFamily="34" charset="0"/>
              <a:buChar char="•"/>
            </a:pPr>
            <a:r>
              <a:rPr lang="en-US" sz="2000" dirty="0" err="1">
                <a:solidFill>
                  <a:srgbClr val="000000"/>
                </a:solidFill>
                <a:latin typeface="Montserrat Classic"/>
              </a:rPr>
              <a:t>Atasan</a:t>
            </a:r>
            <a:r>
              <a:rPr lang="en-US" sz="2000" dirty="0">
                <a:solidFill>
                  <a:srgbClr val="000000"/>
                </a:solidFill>
                <a:latin typeface="Montserrat Classic"/>
              </a:rPr>
              <a:t> </a:t>
            </a:r>
            <a:r>
              <a:rPr lang="en-US" sz="2000" dirty="0" err="1">
                <a:solidFill>
                  <a:srgbClr val="000000"/>
                </a:solidFill>
                <a:latin typeface="Montserrat Classic"/>
              </a:rPr>
              <a:t>Langsung</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jabatan</a:t>
            </a:r>
            <a:r>
              <a:rPr lang="en-US" sz="2000" dirty="0">
                <a:solidFill>
                  <a:srgbClr val="000000"/>
                </a:solidFill>
                <a:latin typeface="Montserrat Classic"/>
              </a:rPr>
              <a:t> </a:t>
            </a:r>
            <a:r>
              <a:rPr lang="en-US" sz="2000" dirty="0" err="1">
                <a:solidFill>
                  <a:srgbClr val="000000"/>
                </a:solidFill>
                <a:latin typeface="Montserrat Classic"/>
              </a:rPr>
              <a:t>diatas</a:t>
            </a:r>
            <a:r>
              <a:rPr lang="en-US" sz="2000" dirty="0">
                <a:solidFill>
                  <a:srgbClr val="000000"/>
                </a:solidFill>
                <a:latin typeface="Montserrat Classic"/>
              </a:rPr>
              <a:t> yang </a:t>
            </a:r>
            <a:r>
              <a:rPr lang="en-US" sz="2000" dirty="0" err="1">
                <a:solidFill>
                  <a:srgbClr val="000000"/>
                </a:solidFill>
                <a:latin typeface="Montserrat Classic"/>
              </a:rPr>
              <a:t>didudukinya</a:t>
            </a:r>
            <a:r>
              <a:rPr lang="en-US" sz="2000" dirty="0">
                <a:solidFill>
                  <a:srgbClr val="000000"/>
                </a:solidFill>
                <a:latin typeface="Montserrat Classic"/>
              </a:rPr>
              <a:t> </a:t>
            </a:r>
            <a:r>
              <a:rPr lang="en-US" sz="2000" dirty="0" err="1">
                <a:solidFill>
                  <a:srgbClr val="000000"/>
                </a:solidFill>
                <a:latin typeface="Montserrat Classic"/>
              </a:rPr>
              <a:t>dalam</a:t>
            </a:r>
            <a:r>
              <a:rPr lang="en-US" sz="2000" dirty="0">
                <a:solidFill>
                  <a:srgbClr val="000000"/>
                </a:solidFill>
                <a:latin typeface="Montserrat Classic"/>
              </a:rPr>
              <a:t> </a:t>
            </a:r>
            <a:r>
              <a:rPr lang="en-US" sz="2000" dirty="0" err="1">
                <a:solidFill>
                  <a:srgbClr val="000000"/>
                </a:solidFill>
                <a:latin typeface="Montserrat Classic"/>
              </a:rPr>
              <a:t>hubungan</a:t>
            </a:r>
            <a:r>
              <a:rPr lang="en-US" sz="2000" dirty="0">
                <a:solidFill>
                  <a:srgbClr val="000000"/>
                </a:solidFill>
                <a:latin typeface="Montserrat Classic"/>
              </a:rPr>
              <a:t> </a:t>
            </a:r>
            <a:r>
              <a:rPr lang="en-US" sz="2000" dirty="0" err="1">
                <a:solidFill>
                  <a:srgbClr val="000000"/>
                </a:solidFill>
                <a:latin typeface="Montserrat Classic"/>
              </a:rPr>
              <a:t>kepada</a:t>
            </a:r>
            <a:r>
              <a:rPr lang="en-US" sz="2000" dirty="0">
                <a:solidFill>
                  <a:srgbClr val="000000"/>
                </a:solidFill>
                <a:latin typeface="Montserrat Classic"/>
              </a:rPr>
              <a:t> </a:t>
            </a:r>
            <a:r>
              <a:rPr lang="en-US" sz="2000" dirty="0" err="1">
                <a:solidFill>
                  <a:srgbClr val="000000"/>
                </a:solidFill>
                <a:latin typeface="Montserrat Classic"/>
              </a:rPr>
              <a:t>siapa</a:t>
            </a:r>
            <a:r>
              <a:rPr lang="en-US" sz="2000" dirty="0">
                <a:solidFill>
                  <a:srgbClr val="000000"/>
                </a:solidFill>
                <a:latin typeface="Montserrat Classic"/>
              </a:rPr>
              <a:t> </a:t>
            </a:r>
            <a:r>
              <a:rPr lang="en-US" sz="2000" dirty="0" err="1">
                <a:solidFill>
                  <a:srgbClr val="000000"/>
                </a:solidFill>
                <a:latin typeface="Montserrat Classic"/>
              </a:rPr>
              <a:t>ia</a:t>
            </a:r>
            <a:r>
              <a:rPr lang="en-US" sz="2000" dirty="0">
                <a:solidFill>
                  <a:srgbClr val="000000"/>
                </a:solidFill>
                <a:latin typeface="Montserrat Classic"/>
              </a:rPr>
              <a:t> </a:t>
            </a:r>
            <a:r>
              <a:rPr lang="en-US" sz="2000" dirty="0" err="1">
                <a:solidFill>
                  <a:srgbClr val="000000"/>
                </a:solidFill>
                <a:latin typeface="Montserrat Classic"/>
              </a:rPr>
              <a:t>harus</a:t>
            </a:r>
            <a:r>
              <a:rPr lang="en-US" sz="2000" dirty="0">
                <a:solidFill>
                  <a:srgbClr val="000000"/>
                </a:solidFill>
                <a:latin typeface="Montserrat Classic"/>
              </a:rPr>
              <a:t> </a:t>
            </a:r>
            <a:r>
              <a:rPr lang="en-US" sz="2000" dirty="0" err="1">
                <a:solidFill>
                  <a:srgbClr val="000000"/>
                </a:solidFill>
                <a:latin typeface="Montserrat Classic"/>
              </a:rPr>
              <a:t>bertanggung</a:t>
            </a:r>
            <a:r>
              <a:rPr lang="en-US" sz="2000" dirty="0">
                <a:solidFill>
                  <a:srgbClr val="000000"/>
                </a:solidFill>
                <a:latin typeface="Montserrat Classic"/>
              </a:rPr>
              <a:t> </a:t>
            </a:r>
            <a:r>
              <a:rPr lang="en-US" sz="2000" dirty="0" err="1">
                <a:solidFill>
                  <a:srgbClr val="000000"/>
                </a:solidFill>
                <a:latin typeface="Montserrat Classic"/>
              </a:rPr>
              <a:t>jawab</a:t>
            </a:r>
            <a:r>
              <a:rPr lang="en-US" sz="2000" dirty="0">
                <a:solidFill>
                  <a:srgbClr val="000000"/>
                </a:solidFill>
                <a:latin typeface="Montserrat Classic"/>
              </a:rPr>
              <a:t>.</a:t>
            </a:r>
          </a:p>
          <a:p>
            <a:pPr marL="342900" indent="-342900">
              <a:lnSpc>
                <a:spcPts val="3123"/>
              </a:lnSpc>
              <a:buFont typeface="Arial" panose="020B0604020202020204" pitchFamily="34" charset="0"/>
              <a:buChar char="•"/>
            </a:pPr>
            <a:r>
              <a:rPr lang="en-US" sz="2000" dirty="0">
                <a:solidFill>
                  <a:srgbClr val="000000"/>
                </a:solidFill>
                <a:latin typeface="Montserrat Classic"/>
              </a:rPr>
              <a:t>Stakeholders (</a:t>
            </a:r>
            <a:r>
              <a:rPr lang="en-US" sz="2000" dirty="0" err="1">
                <a:solidFill>
                  <a:srgbClr val="000000"/>
                </a:solidFill>
                <a:latin typeface="Montserrat Classic"/>
              </a:rPr>
              <a:t>Pemangku</a:t>
            </a:r>
            <a:r>
              <a:rPr lang="en-US" sz="2000" dirty="0">
                <a:solidFill>
                  <a:srgbClr val="000000"/>
                </a:solidFill>
                <a:latin typeface="Montserrat Classic"/>
              </a:rPr>
              <a:t> </a:t>
            </a:r>
            <a:r>
              <a:rPr lang="en-US" sz="2000" dirty="0" err="1">
                <a:solidFill>
                  <a:srgbClr val="000000"/>
                </a:solidFill>
                <a:latin typeface="Montserrat Classic"/>
              </a:rPr>
              <a:t>Kepentingan</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pihak-pihak</a:t>
            </a:r>
            <a:r>
              <a:rPr lang="en-US" sz="2000" dirty="0">
                <a:solidFill>
                  <a:srgbClr val="000000"/>
                </a:solidFill>
                <a:latin typeface="Montserrat Classic"/>
              </a:rPr>
              <a:t> yang </a:t>
            </a:r>
            <a:r>
              <a:rPr lang="en-US" sz="2000" dirty="0" err="1">
                <a:solidFill>
                  <a:srgbClr val="000000"/>
                </a:solidFill>
                <a:latin typeface="Montserrat Classic"/>
              </a:rPr>
              <a:t>berkepentingan</a:t>
            </a:r>
            <a:r>
              <a:rPr lang="en-US" sz="2000" dirty="0">
                <a:solidFill>
                  <a:srgbClr val="000000"/>
                </a:solidFill>
                <a:latin typeface="Montserrat Classic"/>
              </a:rPr>
              <a:t> </a:t>
            </a:r>
            <a:r>
              <a:rPr lang="en-US" sz="2000" dirty="0" err="1">
                <a:solidFill>
                  <a:srgbClr val="000000"/>
                </a:solidFill>
                <a:latin typeface="Montserrat Classic"/>
              </a:rPr>
              <a:t>dengan</a:t>
            </a:r>
            <a:r>
              <a:rPr lang="en-US" sz="2000" dirty="0">
                <a:solidFill>
                  <a:srgbClr val="000000"/>
                </a:solidFill>
                <a:latin typeface="Montserrat Classic"/>
              </a:rPr>
              <a:t> Perusahaan </a:t>
            </a:r>
            <a:r>
              <a:rPr lang="en-US" sz="2000" dirty="0" err="1">
                <a:solidFill>
                  <a:srgbClr val="000000"/>
                </a:solidFill>
                <a:latin typeface="Montserrat Classic"/>
              </a:rPr>
              <a:t>baik</a:t>
            </a:r>
            <a:r>
              <a:rPr lang="en-US" sz="2000" dirty="0">
                <a:solidFill>
                  <a:srgbClr val="000000"/>
                </a:solidFill>
                <a:latin typeface="Montserrat Classic"/>
              </a:rPr>
              <a:t> </a:t>
            </a:r>
            <a:r>
              <a:rPr lang="en-US" sz="2000" dirty="0" err="1">
                <a:solidFill>
                  <a:srgbClr val="000000"/>
                </a:solidFill>
                <a:latin typeface="Montserrat Classic"/>
              </a:rPr>
              <a:t>langsung</a:t>
            </a:r>
            <a:r>
              <a:rPr lang="en-US" sz="2000" dirty="0">
                <a:solidFill>
                  <a:srgbClr val="000000"/>
                </a:solidFill>
                <a:latin typeface="Montserrat Classic"/>
              </a:rPr>
              <a:t> </a:t>
            </a:r>
            <a:r>
              <a:rPr lang="en-US" sz="2000" dirty="0" err="1">
                <a:solidFill>
                  <a:srgbClr val="000000"/>
                </a:solidFill>
                <a:latin typeface="Montserrat Classic"/>
              </a:rPr>
              <a:t>maupun</a:t>
            </a:r>
            <a:r>
              <a:rPr lang="en-US" sz="2000" dirty="0">
                <a:solidFill>
                  <a:srgbClr val="000000"/>
                </a:solidFill>
                <a:latin typeface="Montserrat Classic"/>
              </a:rPr>
              <a:t> </a:t>
            </a:r>
            <a:r>
              <a:rPr lang="en-US" sz="2000" dirty="0" err="1">
                <a:solidFill>
                  <a:srgbClr val="000000"/>
                </a:solidFill>
                <a:latin typeface="Montserrat Classic"/>
              </a:rPr>
              <a:t>tidak</a:t>
            </a:r>
            <a:r>
              <a:rPr lang="en-US" sz="2000" dirty="0">
                <a:solidFill>
                  <a:srgbClr val="000000"/>
                </a:solidFill>
                <a:latin typeface="Montserrat Classic"/>
              </a:rPr>
              <a:t> </a:t>
            </a:r>
            <a:r>
              <a:rPr lang="en-US" sz="2000" dirty="0" err="1">
                <a:solidFill>
                  <a:srgbClr val="000000"/>
                </a:solidFill>
                <a:latin typeface="Montserrat Classic"/>
              </a:rPr>
              <a:t>langsung</a:t>
            </a:r>
            <a:r>
              <a:rPr lang="en-US" sz="2000" dirty="0">
                <a:solidFill>
                  <a:srgbClr val="000000"/>
                </a:solidFill>
                <a:latin typeface="Montserrat Classic"/>
              </a:rPr>
              <a:t>, </a:t>
            </a:r>
            <a:r>
              <a:rPr lang="en-US" sz="2000" dirty="0" err="1">
                <a:solidFill>
                  <a:srgbClr val="000000"/>
                </a:solidFill>
                <a:latin typeface="Montserrat Classic"/>
              </a:rPr>
              <a:t>yaitu</a:t>
            </a:r>
            <a:r>
              <a:rPr lang="en-US" sz="2000" dirty="0">
                <a:solidFill>
                  <a:srgbClr val="000000"/>
                </a:solidFill>
                <a:latin typeface="Montserrat Classic"/>
              </a:rPr>
              <a:t> </a:t>
            </a:r>
            <a:r>
              <a:rPr lang="en-US" sz="2000" dirty="0" err="1">
                <a:solidFill>
                  <a:srgbClr val="000000"/>
                </a:solidFill>
                <a:latin typeface="Montserrat Classic"/>
              </a:rPr>
              <a:t>Pemegang</a:t>
            </a:r>
            <a:r>
              <a:rPr lang="en-US" sz="2000" dirty="0">
                <a:solidFill>
                  <a:srgbClr val="000000"/>
                </a:solidFill>
                <a:latin typeface="Montserrat Classic"/>
              </a:rPr>
              <a:t> </a:t>
            </a:r>
            <a:r>
              <a:rPr lang="en-US" sz="2000" dirty="0" err="1">
                <a:solidFill>
                  <a:srgbClr val="000000"/>
                </a:solidFill>
                <a:latin typeface="Montserrat Classic"/>
              </a:rPr>
              <a:t>Saham</a:t>
            </a:r>
            <a:r>
              <a:rPr lang="en-US" sz="2000" dirty="0">
                <a:solidFill>
                  <a:srgbClr val="000000"/>
                </a:solidFill>
                <a:latin typeface="Montserrat Classic"/>
              </a:rPr>
              <a:t>, </a:t>
            </a:r>
            <a:r>
              <a:rPr lang="en-US" sz="2000" dirty="0" err="1">
                <a:solidFill>
                  <a:srgbClr val="000000"/>
                </a:solidFill>
                <a:latin typeface="Montserrat Classic"/>
              </a:rPr>
              <a:t>Karyawan</a:t>
            </a:r>
            <a:r>
              <a:rPr lang="en-US" sz="2000" dirty="0">
                <a:solidFill>
                  <a:srgbClr val="000000"/>
                </a:solidFill>
                <a:latin typeface="Montserrat Classic"/>
              </a:rPr>
              <a:t>, </a:t>
            </a:r>
            <a:r>
              <a:rPr lang="en-US" sz="2000" dirty="0" err="1">
                <a:solidFill>
                  <a:srgbClr val="000000"/>
                </a:solidFill>
                <a:latin typeface="Montserrat Classic"/>
              </a:rPr>
              <a:t>Pemerintah</a:t>
            </a:r>
            <a:r>
              <a:rPr lang="en-US" sz="2000" dirty="0">
                <a:solidFill>
                  <a:srgbClr val="000000"/>
                </a:solidFill>
                <a:latin typeface="Montserrat Classic"/>
              </a:rPr>
              <a:t>, </a:t>
            </a:r>
            <a:r>
              <a:rPr lang="en-US" sz="2000" dirty="0" err="1">
                <a:solidFill>
                  <a:srgbClr val="000000"/>
                </a:solidFill>
                <a:latin typeface="Montserrat Classic"/>
              </a:rPr>
              <a:t>Pemegang</a:t>
            </a:r>
            <a:r>
              <a:rPr lang="en-US" sz="2000" dirty="0">
                <a:solidFill>
                  <a:srgbClr val="000000"/>
                </a:solidFill>
                <a:latin typeface="Montserrat Classic"/>
              </a:rPr>
              <a:t> Polis, </a:t>
            </a:r>
            <a:r>
              <a:rPr lang="en-US" sz="2000" dirty="0" err="1">
                <a:solidFill>
                  <a:srgbClr val="000000"/>
                </a:solidFill>
                <a:latin typeface="Montserrat Classic"/>
              </a:rPr>
              <a:t>Kreditur</a:t>
            </a:r>
            <a:r>
              <a:rPr lang="en-US" sz="2000" dirty="0">
                <a:solidFill>
                  <a:srgbClr val="000000"/>
                </a:solidFill>
                <a:latin typeface="Montserrat Classic"/>
              </a:rPr>
              <a:t>, </a:t>
            </a:r>
            <a:r>
              <a:rPr lang="en-US" sz="2000" dirty="0" err="1">
                <a:solidFill>
                  <a:srgbClr val="000000"/>
                </a:solidFill>
                <a:latin typeface="Montserrat Classic"/>
              </a:rPr>
              <a:t>Penyedia</a:t>
            </a:r>
            <a:r>
              <a:rPr lang="en-US" sz="2000" dirty="0">
                <a:solidFill>
                  <a:srgbClr val="000000"/>
                </a:solidFill>
                <a:latin typeface="Montserrat Classic"/>
              </a:rPr>
              <a:t> </a:t>
            </a:r>
            <a:r>
              <a:rPr lang="en-US" sz="2000" dirty="0" err="1">
                <a:solidFill>
                  <a:srgbClr val="000000"/>
                </a:solidFill>
                <a:latin typeface="Montserrat Classic"/>
              </a:rPr>
              <a:t>Jasa</a:t>
            </a:r>
            <a:r>
              <a:rPr lang="en-US" sz="2000" dirty="0">
                <a:solidFill>
                  <a:srgbClr val="000000"/>
                </a:solidFill>
                <a:latin typeface="Montserrat Classic"/>
              </a:rPr>
              <a:t>, </a:t>
            </a:r>
            <a:r>
              <a:rPr lang="en-US" sz="2000" dirty="0" err="1">
                <a:solidFill>
                  <a:srgbClr val="000000"/>
                </a:solidFill>
                <a:latin typeface="Montserrat Classic"/>
              </a:rPr>
              <a:t>Masyarakat</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pihak</a:t>
            </a:r>
            <a:r>
              <a:rPr lang="en-US" sz="2000" dirty="0">
                <a:solidFill>
                  <a:srgbClr val="000000"/>
                </a:solidFill>
                <a:latin typeface="Montserrat Classic"/>
              </a:rPr>
              <a:t> </a:t>
            </a:r>
            <a:r>
              <a:rPr lang="en-US" sz="2000" dirty="0" err="1">
                <a:solidFill>
                  <a:srgbClr val="000000"/>
                </a:solidFill>
                <a:latin typeface="Montserrat Classic"/>
              </a:rPr>
              <a:t>berkepentingan</a:t>
            </a:r>
            <a:r>
              <a:rPr lang="en-US" sz="2000" dirty="0">
                <a:solidFill>
                  <a:srgbClr val="000000"/>
                </a:solidFill>
                <a:latin typeface="Montserrat Classic"/>
              </a:rPr>
              <a:t> </a:t>
            </a:r>
            <a:r>
              <a:rPr lang="en-US" sz="2000" dirty="0" err="1">
                <a:solidFill>
                  <a:srgbClr val="000000"/>
                </a:solidFill>
                <a:latin typeface="Montserrat Classic"/>
              </a:rPr>
              <a:t>lainnya</a:t>
            </a:r>
            <a:r>
              <a:rPr lang="en-US" sz="2000" dirty="0">
                <a:solidFill>
                  <a:srgbClr val="000000"/>
                </a:solidFill>
                <a:latin typeface="Montserrat Classic"/>
              </a:rPr>
              <a:t>.</a:t>
            </a:r>
          </a:p>
          <a:p>
            <a:pPr marL="342900" indent="-342900">
              <a:lnSpc>
                <a:spcPts val="3123"/>
              </a:lnSpc>
              <a:buFont typeface="Arial" panose="020B0604020202020204" pitchFamily="34" charset="0"/>
              <a:buChar char="•"/>
            </a:pPr>
            <a:r>
              <a:rPr lang="en-US" sz="2000" dirty="0" err="1">
                <a:solidFill>
                  <a:srgbClr val="000000"/>
                </a:solidFill>
                <a:latin typeface="Montserrat Classic"/>
              </a:rPr>
              <a:t>Penyedia</a:t>
            </a:r>
            <a:r>
              <a:rPr lang="en-US" sz="2000" dirty="0">
                <a:solidFill>
                  <a:srgbClr val="000000"/>
                </a:solidFill>
                <a:latin typeface="Montserrat Classic"/>
              </a:rPr>
              <a:t> </a:t>
            </a:r>
            <a:r>
              <a:rPr lang="en-US" sz="2000" dirty="0" err="1">
                <a:solidFill>
                  <a:srgbClr val="000000"/>
                </a:solidFill>
                <a:latin typeface="Montserrat Classic"/>
              </a:rPr>
              <a:t>Barang</a:t>
            </a:r>
            <a:r>
              <a:rPr lang="en-US" sz="2000" dirty="0">
                <a:solidFill>
                  <a:srgbClr val="000000"/>
                </a:solidFill>
                <a:latin typeface="Montserrat Classic"/>
              </a:rPr>
              <a:t>/</a:t>
            </a:r>
            <a:r>
              <a:rPr lang="en-US" sz="2000" dirty="0" err="1">
                <a:solidFill>
                  <a:srgbClr val="000000"/>
                </a:solidFill>
                <a:latin typeface="Montserrat Classic"/>
              </a:rPr>
              <a:t>Jasa</a:t>
            </a:r>
            <a:r>
              <a:rPr lang="en-US" sz="2000" dirty="0">
                <a:solidFill>
                  <a:srgbClr val="000000"/>
                </a:solidFill>
                <a:latin typeface="Montserrat Classic"/>
              </a:rPr>
              <a:t>/</a:t>
            </a:r>
            <a:r>
              <a:rPr lang="en-US" sz="2000" dirty="0" err="1">
                <a:solidFill>
                  <a:srgbClr val="000000"/>
                </a:solidFill>
                <a:latin typeface="Montserrat Classic"/>
              </a:rPr>
              <a:t>Pemasok</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mitra</a:t>
            </a:r>
            <a:r>
              <a:rPr lang="en-US" sz="2000" dirty="0">
                <a:solidFill>
                  <a:srgbClr val="000000"/>
                </a:solidFill>
                <a:latin typeface="Montserrat Classic"/>
              </a:rPr>
              <a:t> Perusahaan yang </a:t>
            </a:r>
            <a:r>
              <a:rPr lang="en-US" sz="2000" dirty="0" err="1">
                <a:solidFill>
                  <a:srgbClr val="000000"/>
                </a:solidFill>
                <a:latin typeface="Montserrat Classic"/>
              </a:rPr>
              <a:t>bergerak</a:t>
            </a:r>
            <a:r>
              <a:rPr lang="en-US" sz="2000" dirty="0">
                <a:solidFill>
                  <a:srgbClr val="000000"/>
                </a:solidFill>
                <a:latin typeface="Montserrat Classic"/>
              </a:rPr>
              <a:t> di </a:t>
            </a:r>
            <a:r>
              <a:rPr lang="en-US" sz="2000" dirty="0" err="1">
                <a:solidFill>
                  <a:srgbClr val="000000"/>
                </a:solidFill>
                <a:latin typeface="Montserrat Classic"/>
              </a:rPr>
              <a:t>bidang</a:t>
            </a:r>
            <a:r>
              <a:rPr lang="en-US" sz="2000" dirty="0">
                <a:solidFill>
                  <a:srgbClr val="000000"/>
                </a:solidFill>
                <a:latin typeface="Montserrat Classic"/>
              </a:rPr>
              <a:t> </a:t>
            </a:r>
            <a:r>
              <a:rPr lang="en-US" sz="2000" dirty="0" err="1">
                <a:solidFill>
                  <a:srgbClr val="000000"/>
                </a:solidFill>
                <a:latin typeface="Montserrat Classic"/>
              </a:rPr>
              <a:t>penyediaan</a:t>
            </a:r>
            <a:r>
              <a:rPr lang="en-US" sz="2000" dirty="0">
                <a:solidFill>
                  <a:srgbClr val="000000"/>
                </a:solidFill>
                <a:latin typeface="Montserrat Classic"/>
              </a:rPr>
              <a:t> </a:t>
            </a:r>
            <a:r>
              <a:rPr lang="en-US" sz="2000" dirty="0" err="1">
                <a:solidFill>
                  <a:srgbClr val="000000"/>
                </a:solidFill>
                <a:latin typeface="Montserrat Classic"/>
              </a:rPr>
              <a:t>barang</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jasa</a:t>
            </a:r>
            <a:r>
              <a:rPr lang="en-US" sz="2000" dirty="0">
                <a:solidFill>
                  <a:srgbClr val="000000"/>
                </a:solidFill>
                <a:latin typeface="Montserrat Classic"/>
              </a:rPr>
              <a:t> </a:t>
            </a:r>
            <a:r>
              <a:rPr lang="en-US" sz="2000" dirty="0" err="1">
                <a:solidFill>
                  <a:srgbClr val="000000"/>
                </a:solidFill>
                <a:latin typeface="Montserrat Classic"/>
              </a:rPr>
              <a:t>bagi</a:t>
            </a:r>
            <a:r>
              <a:rPr lang="en-US" sz="2000" dirty="0">
                <a:solidFill>
                  <a:srgbClr val="000000"/>
                </a:solidFill>
                <a:latin typeface="Montserrat Classic"/>
              </a:rPr>
              <a:t> Perusahaan.</a:t>
            </a:r>
          </a:p>
          <a:p>
            <a:pPr marL="342900" indent="-342900">
              <a:lnSpc>
                <a:spcPts val="3123"/>
              </a:lnSpc>
              <a:buFont typeface="Arial" panose="020B0604020202020204" pitchFamily="34" charset="0"/>
              <a:buChar char="•"/>
            </a:pPr>
            <a:r>
              <a:rPr lang="en-US" sz="2000" dirty="0" err="1">
                <a:solidFill>
                  <a:srgbClr val="000000"/>
                </a:solidFill>
                <a:latin typeface="Montserrat Classic"/>
              </a:rPr>
              <a:t>Pesaing</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Perusahaan yang </a:t>
            </a:r>
            <a:r>
              <a:rPr lang="en-US" sz="2000" dirty="0" err="1">
                <a:solidFill>
                  <a:srgbClr val="000000"/>
                </a:solidFill>
                <a:latin typeface="Montserrat Classic"/>
              </a:rPr>
              <a:t>menghasilkan</a:t>
            </a:r>
            <a:r>
              <a:rPr lang="en-US" sz="2000" dirty="0">
                <a:solidFill>
                  <a:srgbClr val="000000"/>
                </a:solidFill>
                <a:latin typeface="Montserrat Classic"/>
              </a:rPr>
              <a:t> </a:t>
            </a:r>
            <a:r>
              <a:rPr lang="en-US" sz="2000" dirty="0" err="1">
                <a:solidFill>
                  <a:srgbClr val="000000"/>
                </a:solidFill>
                <a:latin typeface="Montserrat Classic"/>
              </a:rPr>
              <a:t>atau</a:t>
            </a:r>
            <a:r>
              <a:rPr lang="en-US" sz="2000" dirty="0">
                <a:solidFill>
                  <a:srgbClr val="000000"/>
                </a:solidFill>
                <a:latin typeface="Montserrat Classic"/>
              </a:rPr>
              <a:t> </a:t>
            </a:r>
            <a:r>
              <a:rPr lang="en-US" sz="2000" dirty="0" err="1">
                <a:solidFill>
                  <a:srgbClr val="000000"/>
                </a:solidFill>
                <a:latin typeface="Montserrat Classic"/>
              </a:rPr>
              <a:t>menjual</a:t>
            </a:r>
            <a:r>
              <a:rPr lang="en-US" sz="2000" dirty="0">
                <a:solidFill>
                  <a:srgbClr val="000000"/>
                </a:solidFill>
                <a:latin typeface="Montserrat Classic"/>
              </a:rPr>
              <a:t> </a:t>
            </a:r>
            <a:r>
              <a:rPr lang="en-US" sz="2000" dirty="0" err="1">
                <a:solidFill>
                  <a:srgbClr val="000000"/>
                </a:solidFill>
                <a:latin typeface="Montserrat Classic"/>
              </a:rPr>
              <a:t>produk</a:t>
            </a:r>
            <a:r>
              <a:rPr lang="en-US" sz="2000" dirty="0">
                <a:solidFill>
                  <a:srgbClr val="000000"/>
                </a:solidFill>
                <a:latin typeface="Montserrat Classic"/>
              </a:rPr>
              <a:t>/</a:t>
            </a:r>
            <a:r>
              <a:rPr lang="en-US" sz="2000" dirty="0" err="1">
                <a:solidFill>
                  <a:srgbClr val="000000"/>
                </a:solidFill>
                <a:latin typeface="Montserrat Classic"/>
              </a:rPr>
              <a:t>jasa</a:t>
            </a:r>
            <a:r>
              <a:rPr lang="en-US" sz="2000" dirty="0">
                <a:solidFill>
                  <a:srgbClr val="000000"/>
                </a:solidFill>
                <a:latin typeface="Montserrat Classic"/>
              </a:rPr>
              <a:t> yang </a:t>
            </a:r>
            <a:r>
              <a:rPr lang="en-US" sz="2000" dirty="0" err="1">
                <a:solidFill>
                  <a:srgbClr val="000000"/>
                </a:solidFill>
                <a:latin typeface="Montserrat Classic"/>
              </a:rPr>
              <a:t>sama</a:t>
            </a:r>
            <a:r>
              <a:rPr lang="en-US" sz="2000" dirty="0">
                <a:solidFill>
                  <a:srgbClr val="000000"/>
                </a:solidFill>
                <a:latin typeface="Montserrat Classic"/>
              </a:rPr>
              <a:t>/</a:t>
            </a:r>
            <a:r>
              <a:rPr lang="en-US" sz="2000" dirty="0" err="1">
                <a:solidFill>
                  <a:srgbClr val="000000"/>
                </a:solidFill>
                <a:latin typeface="Montserrat Classic"/>
              </a:rPr>
              <a:t>sejenis</a:t>
            </a:r>
            <a:r>
              <a:rPr lang="en-US" sz="2000" dirty="0">
                <a:solidFill>
                  <a:srgbClr val="000000"/>
                </a:solidFill>
                <a:latin typeface="Montserrat Classic"/>
              </a:rPr>
              <a:t> </a:t>
            </a:r>
            <a:r>
              <a:rPr lang="en-US" sz="2000" dirty="0" err="1">
                <a:solidFill>
                  <a:srgbClr val="000000"/>
                </a:solidFill>
                <a:latin typeface="Montserrat Classic"/>
              </a:rPr>
              <a:t>dengan</a:t>
            </a:r>
            <a:r>
              <a:rPr lang="en-US" sz="2000" dirty="0">
                <a:solidFill>
                  <a:srgbClr val="000000"/>
                </a:solidFill>
                <a:latin typeface="Montserrat Classic"/>
              </a:rPr>
              <a:t> </a:t>
            </a:r>
            <a:r>
              <a:rPr lang="en-US" sz="2000" dirty="0" err="1">
                <a:solidFill>
                  <a:srgbClr val="000000"/>
                </a:solidFill>
                <a:latin typeface="Montserrat Classic"/>
              </a:rPr>
              <a:t>produk</a:t>
            </a:r>
            <a:r>
              <a:rPr lang="en-US" sz="2000" dirty="0">
                <a:solidFill>
                  <a:srgbClr val="000000"/>
                </a:solidFill>
                <a:latin typeface="Montserrat Classic"/>
              </a:rPr>
              <a:t>/</a:t>
            </a:r>
            <a:r>
              <a:rPr lang="en-US" sz="2000" dirty="0" err="1">
                <a:solidFill>
                  <a:srgbClr val="000000"/>
                </a:solidFill>
                <a:latin typeface="Montserrat Classic"/>
              </a:rPr>
              <a:t>jasa</a:t>
            </a:r>
            <a:r>
              <a:rPr lang="en-US" sz="2000" dirty="0">
                <a:solidFill>
                  <a:srgbClr val="000000"/>
                </a:solidFill>
                <a:latin typeface="Montserrat Classic"/>
              </a:rPr>
              <a:t> yang </a:t>
            </a:r>
            <a:r>
              <a:rPr lang="en-US" sz="2000" dirty="0" err="1">
                <a:solidFill>
                  <a:srgbClr val="000000"/>
                </a:solidFill>
                <a:latin typeface="Montserrat Classic"/>
              </a:rPr>
              <a:t>dihasilkan</a:t>
            </a:r>
            <a:r>
              <a:rPr lang="en-US" sz="2000" dirty="0">
                <a:solidFill>
                  <a:srgbClr val="000000"/>
                </a:solidFill>
                <a:latin typeface="Montserrat Classic"/>
              </a:rPr>
              <a:t> </a:t>
            </a:r>
            <a:r>
              <a:rPr lang="en-US" sz="2000" dirty="0" err="1">
                <a:solidFill>
                  <a:srgbClr val="000000"/>
                </a:solidFill>
                <a:latin typeface="Montserrat Classic"/>
              </a:rPr>
              <a:t>atau</a:t>
            </a:r>
            <a:r>
              <a:rPr lang="en-US" sz="2000" dirty="0">
                <a:solidFill>
                  <a:srgbClr val="000000"/>
                </a:solidFill>
                <a:latin typeface="Montserrat Classic"/>
              </a:rPr>
              <a:t> </a:t>
            </a:r>
            <a:r>
              <a:rPr lang="en-US" sz="2000" dirty="0" err="1">
                <a:solidFill>
                  <a:srgbClr val="000000"/>
                </a:solidFill>
                <a:latin typeface="Montserrat Classic"/>
              </a:rPr>
              <a:t>dijual</a:t>
            </a:r>
            <a:r>
              <a:rPr lang="en-US" sz="2000" dirty="0">
                <a:solidFill>
                  <a:srgbClr val="000000"/>
                </a:solidFill>
                <a:latin typeface="Montserrat Classic"/>
              </a:rPr>
              <a:t> Perusahaan.</a:t>
            </a:r>
          </a:p>
          <a:p>
            <a:pPr marL="342900" indent="-342900">
              <a:lnSpc>
                <a:spcPts val="3255"/>
              </a:lnSpc>
              <a:buFont typeface="Arial" panose="020B0604020202020204" pitchFamily="34" charset="0"/>
              <a:buChar char="•"/>
            </a:pPr>
            <a:r>
              <a:rPr lang="en-US" sz="2000" dirty="0" err="1">
                <a:solidFill>
                  <a:srgbClr val="000000"/>
                </a:solidFill>
                <a:latin typeface="Montserrat Classic"/>
              </a:rPr>
              <a:t>Serikat</a:t>
            </a:r>
            <a:r>
              <a:rPr lang="en-US" sz="2000" dirty="0">
                <a:solidFill>
                  <a:srgbClr val="000000"/>
                </a:solidFill>
                <a:latin typeface="Montserrat Classic"/>
              </a:rPr>
              <a:t> </a:t>
            </a:r>
            <a:r>
              <a:rPr lang="en-US" sz="2000" dirty="0" err="1">
                <a:solidFill>
                  <a:srgbClr val="000000"/>
                </a:solidFill>
                <a:latin typeface="Montserrat Classic"/>
              </a:rPr>
              <a:t>Pekerja</a:t>
            </a:r>
            <a:r>
              <a:rPr lang="en-US" sz="2000" dirty="0">
                <a:solidFill>
                  <a:srgbClr val="000000"/>
                </a:solidFill>
                <a:latin typeface="Montserrat Classic"/>
              </a:rPr>
              <a:t> </a:t>
            </a:r>
            <a:r>
              <a:rPr lang="en-US" sz="2000" dirty="0" err="1">
                <a:solidFill>
                  <a:srgbClr val="000000"/>
                </a:solidFill>
                <a:latin typeface="Montserrat Classic"/>
              </a:rPr>
              <a:t>adalah</a:t>
            </a:r>
            <a:r>
              <a:rPr lang="en-US" sz="2000" dirty="0">
                <a:solidFill>
                  <a:srgbClr val="000000"/>
                </a:solidFill>
                <a:latin typeface="Montserrat Classic"/>
              </a:rPr>
              <a:t> </a:t>
            </a:r>
            <a:r>
              <a:rPr lang="en-US" sz="2000" dirty="0" err="1">
                <a:solidFill>
                  <a:srgbClr val="000000"/>
                </a:solidFill>
                <a:latin typeface="Montserrat Classic"/>
              </a:rPr>
              <a:t>organisasi</a:t>
            </a:r>
            <a:r>
              <a:rPr lang="en-US" sz="2000" dirty="0">
                <a:solidFill>
                  <a:srgbClr val="000000"/>
                </a:solidFill>
                <a:latin typeface="Montserrat Classic"/>
              </a:rPr>
              <a:t> yang </a:t>
            </a:r>
            <a:r>
              <a:rPr lang="en-US" sz="2000" dirty="0" err="1">
                <a:solidFill>
                  <a:srgbClr val="000000"/>
                </a:solidFill>
                <a:latin typeface="Montserrat Classic"/>
              </a:rPr>
              <a:t>dibentuk</a:t>
            </a:r>
            <a:r>
              <a:rPr lang="en-US" sz="2000" dirty="0">
                <a:solidFill>
                  <a:srgbClr val="000000"/>
                </a:solidFill>
                <a:latin typeface="Montserrat Classic"/>
              </a:rPr>
              <a:t> </a:t>
            </a:r>
            <a:r>
              <a:rPr lang="en-US" sz="2000" dirty="0" err="1">
                <a:solidFill>
                  <a:srgbClr val="000000"/>
                </a:solidFill>
                <a:latin typeface="Montserrat Classic"/>
              </a:rPr>
              <a:t>dari</a:t>
            </a:r>
            <a:r>
              <a:rPr lang="en-US" sz="2000" dirty="0">
                <a:solidFill>
                  <a:srgbClr val="000000"/>
                </a:solidFill>
                <a:latin typeface="Montserrat Classic"/>
              </a:rPr>
              <a:t>, </a:t>
            </a:r>
            <a:r>
              <a:rPr lang="en-US" sz="2000" dirty="0" err="1">
                <a:solidFill>
                  <a:srgbClr val="000000"/>
                </a:solidFill>
                <a:latin typeface="Montserrat Classic"/>
              </a:rPr>
              <a:t>oleh</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untuk</a:t>
            </a:r>
            <a:r>
              <a:rPr lang="en-US" sz="2000" dirty="0">
                <a:solidFill>
                  <a:srgbClr val="000000"/>
                </a:solidFill>
                <a:latin typeface="Montserrat Classic"/>
              </a:rPr>
              <a:t> </a:t>
            </a:r>
            <a:r>
              <a:rPr lang="en-US" sz="2000" dirty="0" err="1">
                <a:solidFill>
                  <a:srgbClr val="000000"/>
                </a:solidFill>
                <a:latin typeface="Montserrat Classic"/>
              </a:rPr>
              <a:t>Karyawan</a:t>
            </a:r>
            <a:r>
              <a:rPr lang="en-US" sz="2000" dirty="0">
                <a:solidFill>
                  <a:srgbClr val="000000"/>
                </a:solidFill>
                <a:latin typeface="Montserrat Classic"/>
              </a:rPr>
              <a:t> di Perusahaan, yang </a:t>
            </a:r>
            <a:r>
              <a:rPr lang="en-US" sz="2000" dirty="0" err="1">
                <a:solidFill>
                  <a:srgbClr val="000000"/>
                </a:solidFill>
                <a:latin typeface="Montserrat Classic"/>
              </a:rPr>
              <a:t>bersifat</a:t>
            </a:r>
            <a:r>
              <a:rPr lang="en-US" sz="2000" dirty="0">
                <a:solidFill>
                  <a:srgbClr val="000000"/>
                </a:solidFill>
                <a:latin typeface="Montserrat Classic"/>
              </a:rPr>
              <a:t> </a:t>
            </a:r>
            <a:r>
              <a:rPr lang="en-US" sz="2000" dirty="0" err="1">
                <a:solidFill>
                  <a:srgbClr val="000000"/>
                </a:solidFill>
                <a:latin typeface="Montserrat Classic"/>
              </a:rPr>
              <a:t>bebas</a:t>
            </a:r>
            <a:r>
              <a:rPr lang="en-US" sz="2000" dirty="0">
                <a:solidFill>
                  <a:srgbClr val="000000"/>
                </a:solidFill>
                <a:latin typeface="Montserrat Classic"/>
              </a:rPr>
              <a:t>, </a:t>
            </a:r>
            <a:r>
              <a:rPr lang="en-US" sz="2000" dirty="0" err="1">
                <a:solidFill>
                  <a:srgbClr val="000000"/>
                </a:solidFill>
                <a:latin typeface="Montserrat Classic"/>
              </a:rPr>
              <a:t>terbuka</a:t>
            </a:r>
            <a:r>
              <a:rPr lang="en-US" sz="2000" dirty="0">
                <a:solidFill>
                  <a:srgbClr val="000000"/>
                </a:solidFill>
                <a:latin typeface="Montserrat Classic"/>
              </a:rPr>
              <a:t>, </a:t>
            </a:r>
            <a:r>
              <a:rPr lang="en-US" sz="2000" dirty="0" err="1">
                <a:solidFill>
                  <a:srgbClr val="000000"/>
                </a:solidFill>
                <a:latin typeface="Montserrat Classic"/>
              </a:rPr>
              <a:t>mandiri</a:t>
            </a:r>
            <a:r>
              <a:rPr lang="en-US" sz="2000" dirty="0">
                <a:solidFill>
                  <a:srgbClr val="000000"/>
                </a:solidFill>
                <a:latin typeface="Montserrat Classic"/>
              </a:rPr>
              <a:t>, </a:t>
            </a:r>
            <a:r>
              <a:rPr lang="en-US" sz="2000" dirty="0" err="1">
                <a:solidFill>
                  <a:srgbClr val="000000"/>
                </a:solidFill>
                <a:latin typeface="Montserrat Classic"/>
              </a:rPr>
              <a:t>demokratis</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bertanggungjawab</a:t>
            </a:r>
            <a:r>
              <a:rPr lang="en-US" sz="2000" dirty="0">
                <a:solidFill>
                  <a:srgbClr val="000000"/>
                </a:solidFill>
                <a:latin typeface="Montserrat Classic"/>
              </a:rPr>
              <a:t> </a:t>
            </a:r>
            <a:r>
              <a:rPr lang="en-US" sz="2000" dirty="0" err="1">
                <a:solidFill>
                  <a:srgbClr val="000000"/>
                </a:solidFill>
                <a:latin typeface="Montserrat Classic"/>
              </a:rPr>
              <a:t>guna</a:t>
            </a:r>
            <a:r>
              <a:rPr lang="en-US" sz="2000" dirty="0">
                <a:solidFill>
                  <a:srgbClr val="000000"/>
                </a:solidFill>
                <a:latin typeface="Montserrat Classic"/>
              </a:rPr>
              <a:t> </a:t>
            </a:r>
            <a:r>
              <a:rPr lang="en-US" sz="2000" dirty="0" err="1">
                <a:solidFill>
                  <a:srgbClr val="000000"/>
                </a:solidFill>
                <a:latin typeface="Montserrat Classic"/>
              </a:rPr>
              <a:t>memperjuangkan</a:t>
            </a:r>
            <a:r>
              <a:rPr lang="en-US" sz="2000" dirty="0">
                <a:solidFill>
                  <a:srgbClr val="000000"/>
                </a:solidFill>
                <a:latin typeface="Montserrat Classic"/>
              </a:rPr>
              <a:t>, </a:t>
            </a:r>
            <a:r>
              <a:rPr lang="en-US" sz="2000" dirty="0" err="1">
                <a:solidFill>
                  <a:srgbClr val="000000"/>
                </a:solidFill>
                <a:latin typeface="Montserrat Classic"/>
              </a:rPr>
              <a:t>membela</a:t>
            </a:r>
            <a:r>
              <a:rPr lang="en-US" sz="2000" dirty="0">
                <a:solidFill>
                  <a:srgbClr val="000000"/>
                </a:solidFill>
                <a:latin typeface="Montserrat Classic"/>
              </a:rPr>
              <a:t> </a:t>
            </a:r>
            <a:r>
              <a:rPr lang="en-US" sz="2000" dirty="0" err="1">
                <a:solidFill>
                  <a:srgbClr val="000000"/>
                </a:solidFill>
                <a:latin typeface="Montserrat Classic"/>
              </a:rPr>
              <a:t>serta</a:t>
            </a:r>
            <a:r>
              <a:rPr lang="en-US" sz="2000" dirty="0">
                <a:solidFill>
                  <a:srgbClr val="000000"/>
                </a:solidFill>
                <a:latin typeface="Montserrat Classic"/>
              </a:rPr>
              <a:t> </a:t>
            </a:r>
            <a:r>
              <a:rPr lang="en-US" sz="2000" dirty="0" err="1">
                <a:solidFill>
                  <a:srgbClr val="000000"/>
                </a:solidFill>
                <a:latin typeface="Montserrat Classic"/>
              </a:rPr>
              <a:t>melindungi</a:t>
            </a:r>
            <a:r>
              <a:rPr lang="en-US" sz="2000" dirty="0">
                <a:solidFill>
                  <a:srgbClr val="000000"/>
                </a:solidFill>
                <a:latin typeface="Montserrat Classic"/>
              </a:rPr>
              <a:t> </a:t>
            </a:r>
            <a:r>
              <a:rPr lang="en-US" sz="2000" dirty="0" err="1">
                <a:solidFill>
                  <a:srgbClr val="000000"/>
                </a:solidFill>
                <a:latin typeface="Montserrat Classic"/>
              </a:rPr>
              <a:t>hak</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kepentingan</a:t>
            </a:r>
            <a:r>
              <a:rPr lang="en-US" sz="2000" dirty="0">
                <a:solidFill>
                  <a:srgbClr val="000000"/>
                </a:solidFill>
                <a:latin typeface="Montserrat Classic"/>
              </a:rPr>
              <a:t> </a:t>
            </a:r>
            <a:r>
              <a:rPr lang="en-US" sz="2000" dirty="0" err="1">
                <a:solidFill>
                  <a:srgbClr val="000000"/>
                </a:solidFill>
                <a:latin typeface="Montserrat Classic"/>
              </a:rPr>
              <a:t>Karyawan</a:t>
            </a:r>
            <a:r>
              <a:rPr lang="en-US" sz="2000" dirty="0">
                <a:solidFill>
                  <a:srgbClr val="000000"/>
                </a:solidFill>
                <a:latin typeface="Montserrat Classic"/>
              </a:rPr>
              <a:t> </a:t>
            </a:r>
            <a:r>
              <a:rPr lang="en-US" sz="2000" dirty="0" err="1">
                <a:solidFill>
                  <a:srgbClr val="000000"/>
                </a:solidFill>
                <a:latin typeface="Montserrat Classic"/>
              </a:rPr>
              <a:t>serta</a:t>
            </a:r>
            <a:r>
              <a:rPr lang="en-US" sz="2000" dirty="0">
                <a:solidFill>
                  <a:srgbClr val="000000"/>
                </a:solidFill>
                <a:latin typeface="Montserrat Classic"/>
              </a:rPr>
              <a:t> </a:t>
            </a:r>
            <a:r>
              <a:rPr lang="en-US" sz="2000" dirty="0" err="1">
                <a:solidFill>
                  <a:srgbClr val="000000"/>
                </a:solidFill>
                <a:latin typeface="Montserrat Classic"/>
              </a:rPr>
              <a:t>meningkatkan</a:t>
            </a:r>
            <a:r>
              <a:rPr lang="en-US" sz="2000" dirty="0">
                <a:solidFill>
                  <a:srgbClr val="000000"/>
                </a:solidFill>
                <a:latin typeface="Montserrat Classic"/>
              </a:rPr>
              <a:t> </a:t>
            </a:r>
            <a:r>
              <a:rPr lang="en-US" sz="2000" dirty="0" err="1">
                <a:solidFill>
                  <a:srgbClr val="000000"/>
                </a:solidFill>
                <a:latin typeface="Montserrat Classic"/>
              </a:rPr>
              <a:t>kesejahteraan</a:t>
            </a:r>
            <a:r>
              <a:rPr lang="en-US" sz="2000" dirty="0">
                <a:solidFill>
                  <a:srgbClr val="000000"/>
                </a:solidFill>
                <a:latin typeface="Montserrat Classic"/>
              </a:rPr>
              <a:t> </a:t>
            </a:r>
            <a:r>
              <a:rPr lang="en-US" sz="2000" dirty="0" err="1">
                <a:solidFill>
                  <a:srgbClr val="000000"/>
                </a:solidFill>
                <a:latin typeface="Montserrat Classic"/>
              </a:rPr>
              <a:t>Karyawan</a:t>
            </a:r>
            <a:r>
              <a:rPr lang="en-US" sz="2000" dirty="0">
                <a:solidFill>
                  <a:srgbClr val="000000"/>
                </a:solidFill>
                <a:latin typeface="Montserrat Classic"/>
              </a:rPr>
              <a:t> </a:t>
            </a:r>
            <a:r>
              <a:rPr lang="en-US" sz="2000" dirty="0" err="1">
                <a:solidFill>
                  <a:srgbClr val="000000"/>
                </a:solidFill>
                <a:latin typeface="Montserrat Classic"/>
              </a:rPr>
              <a:t>dan</a:t>
            </a:r>
            <a:r>
              <a:rPr lang="en-US" sz="2000" dirty="0">
                <a:solidFill>
                  <a:srgbClr val="000000"/>
                </a:solidFill>
                <a:latin typeface="Montserrat Classic"/>
              </a:rPr>
              <a:t> </a:t>
            </a:r>
            <a:r>
              <a:rPr lang="en-US" sz="2000" dirty="0" err="1">
                <a:solidFill>
                  <a:srgbClr val="000000"/>
                </a:solidFill>
                <a:latin typeface="Montserrat Classic"/>
              </a:rPr>
              <a:t>keluarganya</a:t>
            </a:r>
            <a:r>
              <a:rPr lang="en-US" sz="2000" dirty="0">
                <a:solidFill>
                  <a:srgbClr val="000000"/>
                </a:solidFill>
                <a:latin typeface="Montserrat Classic"/>
              </a:rPr>
              <a:t>.</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59460"/>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H. ARTI ISTILAH </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8</a:t>
            </a:r>
            <a:endParaRPr lang="en-US" sz="3319" dirty="0">
              <a:solidFill>
                <a:srgbClr val="000000"/>
              </a:solidFill>
              <a:latin typeface="Telegraf"/>
            </a:endParaRPr>
          </a:p>
        </p:txBody>
      </p:sp>
      <p:sp>
        <p:nvSpPr>
          <p:cNvPr id="6" name="TextBox 6"/>
          <p:cNvSpPr txBox="1"/>
          <p:nvPr/>
        </p:nvSpPr>
        <p:spPr>
          <a:xfrm>
            <a:off x="1028700" y="1307465"/>
            <a:ext cx="15734960" cy="7538282"/>
          </a:xfrm>
          <a:prstGeom prst="rect">
            <a:avLst/>
          </a:prstGeom>
        </p:spPr>
        <p:txBody>
          <a:bodyPr lIns="0" tIns="0" rIns="0" bIns="0" rtlCol="0" anchor="t">
            <a:spAutoFit/>
          </a:bodyPr>
          <a:lstStyle/>
          <a:p>
            <a:pPr>
              <a:lnSpc>
                <a:spcPts val="3123"/>
              </a:lnSpc>
            </a:pPr>
            <a:endParaRPr dirty="0"/>
          </a:p>
          <a:p>
            <a:pPr marL="342900" indent="-342900">
              <a:lnSpc>
                <a:spcPts val="3255"/>
              </a:lnSpc>
              <a:buFont typeface="Arial" panose="020B0604020202020204" pitchFamily="34" charset="0"/>
              <a:buChar char="•"/>
            </a:pPr>
            <a:r>
              <a:rPr lang="en-US" sz="2100" dirty="0" err="1">
                <a:solidFill>
                  <a:srgbClr val="000000"/>
                </a:solidFill>
                <a:latin typeface="Montserrat Classic"/>
              </a:rPr>
              <a:t>Keluarga</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terdiri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Suami</a:t>
            </a:r>
            <a:r>
              <a:rPr lang="en-US" sz="2100" dirty="0">
                <a:solidFill>
                  <a:srgbClr val="000000"/>
                </a:solidFill>
                <a:latin typeface="Montserrat Classic"/>
              </a:rPr>
              <a:t>, </a:t>
            </a:r>
            <a:r>
              <a:rPr lang="en-US" sz="2100" dirty="0" err="1">
                <a:solidFill>
                  <a:srgbClr val="000000"/>
                </a:solidFill>
                <a:latin typeface="Montserrat Classic"/>
              </a:rPr>
              <a:t>Istri</a:t>
            </a:r>
            <a:r>
              <a:rPr lang="en-US" sz="2100" dirty="0">
                <a:solidFill>
                  <a:srgbClr val="000000"/>
                </a:solidFill>
                <a:latin typeface="Montserrat Classic"/>
              </a:rPr>
              <a:t>, </a:t>
            </a:r>
            <a:r>
              <a:rPr lang="en-US" sz="2100" dirty="0" err="1">
                <a:solidFill>
                  <a:srgbClr val="000000"/>
                </a:solidFill>
                <a:latin typeface="Montserrat Classic"/>
              </a:rPr>
              <a:t>Anak</a:t>
            </a:r>
            <a:r>
              <a:rPr lang="en-US" sz="2100" dirty="0">
                <a:solidFill>
                  <a:srgbClr val="000000"/>
                </a:solidFill>
                <a:latin typeface="Montserrat Classic"/>
              </a:rPr>
              <a:t>, </a:t>
            </a:r>
            <a:r>
              <a:rPr lang="en-US" sz="2100" dirty="0" err="1">
                <a:solidFill>
                  <a:srgbClr val="000000"/>
                </a:solidFill>
                <a:latin typeface="Montserrat Classic"/>
              </a:rPr>
              <a:t>Cucu</a:t>
            </a:r>
            <a:r>
              <a:rPr lang="en-US" sz="2100" dirty="0">
                <a:solidFill>
                  <a:srgbClr val="000000"/>
                </a:solidFill>
                <a:latin typeface="Montserrat Classic"/>
              </a:rPr>
              <a:t>, </a:t>
            </a:r>
            <a:r>
              <a:rPr lang="en-US" sz="2100" dirty="0" err="1">
                <a:solidFill>
                  <a:srgbClr val="000000"/>
                </a:solidFill>
                <a:latin typeface="Montserrat Classic"/>
              </a:rPr>
              <a:t>Menantu</a:t>
            </a: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Keluarga</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terdiri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Ayah, </a:t>
            </a:r>
            <a:r>
              <a:rPr lang="en-US" sz="2100" dirty="0" err="1">
                <a:solidFill>
                  <a:srgbClr val="000000"/>
                </a:solidFill>
                <a:latin typeface="Montserrat Classic"/>
              </a:rPr>
              <a:t>Ibu</a:t>
            </a:r>
            <a:r>
              <a:rPr lang="en-US" sz="2100" dirty="0">
                <a:solidFill>
                  <a:srgbClr val="000000"/>
                </a:solidFill>
                <a:latin typeface="Montserrat Classic"/>
              </a:rPr>
              <a:t>, </a:t>
            </a:r>
            <a:r>
              <a:rPr lang="en-US" sz="2100" dirty="0" err="1">
                <a:solidFill>
                  <a:srgbClr val="000000"/>
                </a:solidFill>
                <a:latin typeface="Montserrat Classic"/>
              </a:rPr>
              <a:t>Mertua</a:t>
            </a:r>
            <a:r>
              <a:rPr lang="en-US" sz="2100" dirty="0">
                <a:solidFill>
                  <a:srgbClr val="000000"/>
                </a:solidFill>
                <a:latin typeface="Montserrat Classic"/>
              </a:rPr>
              <a:t>, </a:t>
            </a:r>
            <a:r>
              <a:rPr lang="en-US" sz="2100" dirty="0" err="1">
                <a:solidFill>
                  <a:srgbClr val="000000"/>
                </a:solidFill>
                <a:latin typeface="Montserrat Classic"/>
              </a:rPr>
              <a:t>Adik</a:t>
            </a:r>
            <a:r>
              <a:rPr lang="en-US" sz="2100" dirty="0">
                <a:solidFill>
                  <a:srgbClr val="000000"/>
                </a:solidFill>
                <a:latin typeface="Montserrat Classic"/>
              </a:rPr>
              <a:t>, </a:t>
            </a:r>
            <a:r>
              <a:rPr lang="en-US" sz="2100" dirty="0" err="1">
                <a:solidFill>
                  <a:srgbClr val="000000"/>
                </a:solidFill>
                <a:latin typeface="Montserrat Classic"/>
              </a:rPr>
              <a:t>Kakak</a:t>
            </a:r>
            <a:r>
              <a:rPr lang="en-US" sz="2100" dirty="0">
                <a:solidFill>
                  <a:srgbClr val="000000"/>
                </a:solidFill>
                <a:latin typeface="Montserrat Classic"/>
              </a:rPr>
              <a:t>, </a:t>
            </a:r>
            <a:r>
              <a:rPr lang="en-US" sz="2100" dirty="0" err="1">
                <a:solidFill>
                  <a:srgbClr val="000000"/>
                </a:solidFill>
                <a:latin typeface="Montserrat Classic"/>
              </a:rPr>
              <a:t>Ipar</a:t>
            </a:r>
            <a:r>
              <a:rPr lang="en-US" sz="2100" dirty="0">
                <a:solidFill>
                  <a:srgbClr val="000000"/>
                </a:solidFill>
                <a:latin typeface="Montserrat Classic"/>
              </a:rPr>
              <a:t>, </a:t>
            </a:r>
            <a:r>
              <a:rPr lang="en-US" sz="2100" dirty="0" err="1">
                <a:solidFill>
                  <a:srgbClr val="000000"/>
                </a:solidFill>
                <a:latin typeface="Montserrat Classic"/>
              </a:rPr>
              <a:t>Keponakan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Cucu</a:t>
            </a:r>
            <a:r>
              <a:rPr lang="en-US" sz="2100" dirty="0">
                <a:solidFill>
                  <a:srgbClr val="000000"/>
                </a:solidFill>
                <a:latin typeface="Montserrat Classic"/>
              </a:rPr>
              <a:t> </a:t>
            </a:r>
            <a:r>
              <a:rPr lang="en-US" sz="2100" dirty="0" err="1">
                <a:solidFill>
                  <a:srgbClr val="000000"/>
                </a:solidFill>
                <a:latin typeface="Montserrat Classic"/>
              </a:rPr>
              <a:t>Keponakan</a:t>
            </a: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Budaya</a:t>
            </a:r>
            <a:r>
              <a:rPr lang="en-US" sz="2100" dirty="0">
                <a:solidFill>
                  <a:srgbClr val="000000"/>
                </a:solidFill>
                <a:latin typeface="Montserrat Classic"/>
              </a:rPr>
              <a:t> </a:t>
            </a:r>
            <a:r>
              <a:rPr lang="en-US" sz="2100" dirty="0" err="1">
                <a:solidFill>
                  <a:srgbClr val="000000"/>
                </a:solidFill>
                <a:latin typeface="Montserrat Classic"/>
              </a:rPr>
              <a:t>Korporasi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landasan</a:t>
            </a:r>
            <a:r>
              <a:rPr lang="en-US" sz="2100" dirty="0">
                <a:solidFill>
                  <a:srgbClr val="000000"/>
                </a:solidFill>
                <a:latin typeface="Montserrat Classic"/>
              </a:rPr>
              <a:t> moral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mencapai</a:t>
            </a:r>
            <a:r>
              <a:rPr lang="en-US" sz="2100" dirty="0">
                <a:solidFill>
                  <a:srgbClr val="000000"/>
                </a:solidFill>
                <a:latin typeface="Montserrat Classic"/>
              </a:rPr>
              <a:t> </a:t>
            </a:r>
            <a:r>
              <a:rPr lang="en-US" sz="2100" dirty="0" err="1">
                <a:solidFill>
                  <a:srgbClr val="000000"/>
                </a:solidFill>
                <a:latin typeface="Montserrat Classic"/>
              </a:rPr>
              <a:t>visi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misi</a:t>
            </a:r>
            <a:r>
              <a:rPr lang="en-US" sz="2100" dirty="0">
                <a:solidFill>
                  <a:srgbClr val="000000"/>
                </a:solidFill>
                <a:latin typeface="Montserrat Classic"/>
              </a:rPr>
              <a:t> Perusahaan.</a:t>
            </a:r>
          </a:p>
          <a:p>
            <a:pPr marL="342900" indent="-342900">
              <a:lnSpc>
                <a:spcPts val="3255"/>
              </a:lnSpc>
              <a:buFont typeface="Arial" panose="020B0604020202020204" pitchFamily="34" charset="0"/>
              <a:buChar char="•"/>
            </a:pPr>
            <a:r>
              <a:rPr lang="en-US" sz="2100" dirty="0" err="1">
                <a:solidFill>
                  <a:srgbClr val="000000"/>
                </a:solidFill>
                <a:latin typeface="Montserrat Classic"/>
              </a:rPr>
              <a:t>Benturan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keadaan</a:t>
            </a:r>
            <a:r>
              <a:rPr lang="en-US" sz="2100" dirty="0">
                <a:solidFill>
                  <a:srgbClr val="000000"/>
                </a:solidFill>
                <a:latin typeface="Montserrat Classic"/>
              </a:rPr>
              <a:t> </a:t>
            </a:r>
            <a:r>
              <a:rPr lang="en-US" sz="2100" dirty="0" err="1">
                <a:solidFill>
                  <a:srgbClr val="000000"/>
                </a:solidFill>
                <a:latin typeface="Montserrat Classic"/>
              </a:rPr>
              <a:t>dimana</a:t>
            </a:r>
            <a:r>
              <a:rPr lang="en-US" sz="2100" dirty="0">
                <a:solidFill>
                  <a:srgbClr val="000000"/>
                </a:solidFill>
                <a:latin typeface="Montserrat Classic"/>
              </a:rPr>
              <a:t> </a:t>
            </a:r>
            <a:r>
              <a:rPr lang="en-US" sz="2100" dirty="0" err="1">
                <a:solidFill>
                  <a:srgbClr val="000000"/>
                </a:solidFill>
                <a:latin typeface="Montserrat Classic"/>
              </a:rPr>
              <a:t>terdapat</a:t>
            </a:r>
            <a:r>
              <a:rPr lang="en-US" sz="2100" dirty="0">
                <a:solidFill>
                  <a:srgbClr val="000000"/>
                </a:solidFill>
                <a:latin typeface="Montserrat Classic"/>
              </a:rPr>
              <a:t> </a:t>
            </a:r>
            <a:r>
              <a:rPr lang="en-US" sz="2100" dirty="0" err="1">
                <a:solidFill>
                  <a:srgbClr val="000000"/>
                </a:solidFill>
                <a:latin typeface="Montserrat Classic"/>
              </a:rPr>
              <a:t>konflik</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ekonomis</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ekonomis</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 </a:t>
            </a:r>
            <a:r>
              <a:rPr lang="en-US" sz="2100" dirty="0" err="1">
                <a:solidFill>
                  <a:srgbClr val="000000"/>
                </a:solidFill>
                <a:latin typeface="Montserrat Classic"/>
              </a:rPr>
              <a:t>Pemegang</a:t>
            </a:r>
            <a:r>
              <a:rPr lang="en-US" sz="2100" dirty="0">
                <a:solidFill>
                  <a:srgbClr val="000000"/>
                </a:solidFill>
                <a:latin typeface="Montserrat Classic"/>
              </a:rPr>
              <a:t> </a:t>
            </a:r>
            <a:r>
              <a:rPr lang="en-US" sz="2100" dirty="0" err="1">
                <a:solidFill>
                  <a:srgbClr val="000000"/>
                </a:solidFill>
                <a:latin typeface="Montserrat Classic"/>
              </a:rPr>
              <a:t>Saham</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pegawai</a:t>
            </a:r>
            <a:r>
              <a:rPr lang="en-US" sz="2100" dirty="0">
                <a:solidFill>
                  <a:srgbClr val="000000"/>
                </a:solidFill>
                <a:latin typeface="Montserrat Classic"/>
              </a:rPr>
              <a:t> Perusahaan.</a:t>
            </a:r>
          </a:p>
          <a:p>
            <a:pPr marL="342900" indent="-342900">
              <a:lnSpc>
                <a:spcPts val="3255"/>
              </a:lnSpc>
              <a:buFont typeface="Arial" panose="020B0604020202020204" pitchFamily="34" charset="0"/>
              <a:buChar char="•"/>
            </a:pPr>
            <a:r>
              <a:rPr lang="en-US" sz="2100" dirty="0">
                <a:solidFill>
                  <a:srgbClr val="000000"/>
                </a:solidFill>
                <a:latin typeface="Montserrat Classic"/>
              </a:rPr>
              <a:t>Corporate Governance (Tata </a:t>
            </a:r>
            <a:r>
              <a:rPr lang="en-US" sz="2100" dirty="0" err="1">
                <a:solidFill>
                  <a:srgbClr val="000000"/>
                </a:solidFill>
                <a:latin typeface="Montserrat Classic"/>
              </a:rPr>
              <a:t>Kelola</a:t>
            </a:r>
            <a:r>
              <a:rPr lang="en-US" sz="2100" dirty="0">
                <a:solidFill>
                  <a:srgbClr val="000000"/>
                </a:solidFill>
                <a:latin typeface="Montserrat Classic"/>
              </a:rPr>
              <a:t> Perusahaan)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proses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struktur</a:t>
            </a:r>
            <a:r>
              <a:rPr lang="en-US" sz="2100" dirty="0">
                <a:solidFill>
                  <a:srgbClr val="000000"/>
                </a:solidFill>
                <a:latin typeface="Montserrat Classic"/>
              </a:rPr>
              <a:t> yang </a:t>
            </a:r>
            <a:r>
              <a:rPr lang="en-US" sz="2100" dirty="0" err="1">
                <a:solidFill>
                  <a:srgbClr val="000000"/>
                </a:solidFill>
                <a:latin typeface="Montserrat Classic"/>
              </a:rPr>
              <a:t>digunakan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diterapkan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organ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meningkatkan</a:t>
            </a:r>
            <a:r>
              <a:rPr lang="en-US" sz="2100" dirty="0">
                <a:solidFill>
                  <a:srgbClr val="000000"/>
                </a:solidFill>
                <a:latin typeface="Montserrat Classic"/>
              </a:rPr>
              <a:t> </a:t>
            </a:r>
            <a:r>
              <a:rPr lang="en-US" sz="2100" dirty="0" err="1">
                <a:solidFill>
                  <a:srgbClr val="000000"/>
                </a:solidFill>
                <a:latin typeface="Montserrat Classic"/>
              </a:rPr>
              <a:t>pencapaian</a:t>
            </a:r>
            <a:r>
              <a:rPr lang="en-US" sz="2100" dirty="0">
                <a:solidFill>
                  <a:srgbClr val="000000"/>
                </a:solidFill>
                <a:latin typeface="Montserrat Classic"/>
              </a:rPr>
              <a:t> </a:t>
            </a:r>
            <a:r>
              <a:rPr lang="en-US" sz="2100" dirty="0" err="1">
                <a:solidFill>
                  <a:srgbClr val="000000"/>
                </a:solidFill>
                <a:latin typeface="Montserrat Classic"/>
              </a:rPr>
              <a:t>sasaran</a:t>
            </a:r>
            <a:r>
              <a:rPr lang="en-US" sz="2100" dirty="0">
                <a:solidFill>
                  <a:srgbClr val="000000"/>
                </a:solidFill>
                <a:latin typeface="Montserrat Classic"/>
              </a:rPr>
              <a:t> </a:t>
            </a:r>
            <a:r>
              <a:rPr lang="en-US" sz="2100" dirty="0" err="1">
                <a:solidFill>
                  <a:srgbClr val="000000"/>
                </a:solidFill>
                <a:latin typeface="Montserrat Classic"/>
              </a:rPr>
              <a:t>hasil</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mengoptimalkan</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Perusahaan </a:t>
            </a:r>
            <a:r>
              <a:rPr lang="en-US" sz="2100" dirty="0" err="1">
                <a:solidFill>
                  <a:srgbClr val="000000"/>
                </a:solidFill>
                <a:latin typeface="Montserrat Classic"/>
              </a:rPr>
              <a:t>bagi</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pemangku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khususnya</a:t>
            </a:r>
            <a:r>
              <a:rPr lang="en-US" sz="2100" dirty="0">
                <a:solidFill>
                  <a:srgbClr val="000000"/>
                </a:solidFill>
                <a:latin typeface="Montserrat Classic"/>
              </a:rPr>
              <a:t> </a:t>
            </a:r>
            <a:r>
              <a:rPr lang="en-US" sz="2100" dirty="0" err="1">
                <a:solidFill>
                  <a:srgbClr val="000000"/>
                </a:solidFill>
                <a:latin typeface="Montserrat Classic"/>
              </a:rPr>
              <a:t>pemegang</a:t>
            </a:r>
            <a:r>
              <a:rPr lang="en-US" sz="2100" dirty="0">
                <a:solidFill>
                  <a:srgbClr val="000000"/>
                </a:solidFill>
                <a:latin typeface="Montserrat Classic"/>
              </a:rPr>
              <a:t> polis, customer, </a:t>
            </a:r>
            <a:r>
              <a:rPr lang="en-US" sz="2100" dirty="0" err="1">
                <a:solidFill>
                  <a:srgbClr val="000000"/>
                </a:solidFill>
                <a:latin typeface="Montserrat Classic"/>
              </a:rPr>
              <a:t>peserta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yang </a:t>
            </a:r>
            <a:r>
              <a:rPr lang="en-US" sz="2100" dirty="0" err="1">
                <a:solidFill>
                  <a:srgbClr val="000000"/>
                </a:solidFill>
                <a:latin typeface="Montserrat Classic"/>
              </a:rPr>
              <a:t>berhak</a:t>
            </a:r>
            <a:r>
              <a:rPr lang="en-US" sz="2100" dirty="0">
                <a:solidFill>
                  <a:srgbClr val="000000"/>
                </a:solidFill>
                <a:latin typeface="Montserrat Classic"/>
              </a:rPr>
              <a:t> </a:t>
            </a:r>
            <a:r>
              <a:rPr lang="en-US" sz="2100" dirty="0" err="1">
                <a:solidFill>
                  <a:srgbClr val="000000"/>
                </a:solidFill>
                <a:latin typeface="Montserrat Classic"/>
              </a:rPr>
              <a:t>memperoleh</a:t>
            </a:r>
            <a:r>
              <a:rPr lang="en-US" sz="2100" dirty="0">
                <a:solidFill>
                  <a:srgbClr val="000000"/>
                </a:solidFill>
                <a:latin typeface="Montserrat Classic"/>
              </a:rPr>
              <a:t> </a:t>
            </a:r>
            <a:r>
              <a:rPr lang="en-US" sz="2100" dirty="0" err="1">
                <a:solidFill>
                  <a:srgbClr val="000000"/>
                </a:solidFill>
                <a:latin typeface="Montserrat Classic"/>
              </a:rPr>
              <a:t>manfaat</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akuntabilitas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berlandaskan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a:t>
            </a:r>
            <a:r>
              <a:rPr lang="en-US" sz="2100" dirty="0">
                <a:solidFill>
                  <a:srgbClr val="000000"/>
                </a:solidFill>
                <a:latin typeface="Montserrat Classic"/>
              </a:rPr>
              <a:t>- </a:t>
            </a:r>
            <a:r>
              <a:rPr lang="en-US" sz="2100" dirty="0" err="1">
                <a:solidFill>
                  <a:srgbClr val="000000"/>
                </a:solidFill>
                <a:latin typeface="Montserrat Classic"/>
              </a:rPr>
              <a:t>undangan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etik</a:t>
            </a: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sekumpulan</a:t>
            </a:r>
            <a:r>
              <a:rPr lang="en-US" sz="2100" dirty="0">
                <a:solidFill>
                  <a:srgbClr val="000000"/>
                </a:solidFill>
                <a:latin typeface="Montserrat Classic"/>
              </a:rPr>
              <a:t> </a:t>
            </a:r>
            <a:r>
              <a:rPr lang="en-US" sz="2100" dirty="0" err="1">
                <a:solidFill>
                  <a:srgbClr val="000000"/>
                </a:solidFill>
                <a:latin typeface="Montserrat Classic"/>
              </a:rPr>
              <a:t>norma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yang </a:t>
            </a:r>
            <a:r>
              <a:rPr lang="en-US" sz="2100" dirty="0" err="1">
                <a:solidFill>
                  <a:srgbClr val="000000"/>
                </a:solidFill>
                <a:latin typeface="Montserrat Classic"/>
              </a:rPr>
              <a:t>diyakini</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kelompok</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perilaku</a:t>
            </a:r>
            <a:r>
              <a:rPr lang="en-US" sz="2100" dirty="0">
                <a:solidFill>
                  <a:srgbClr val="000000"/>
                </a:solidFill>
                <a:latin typeface="Montserrat Classic"/>
              </a:rPr>
              <a:t> </a:t>
            </a:r>
            <a:r>
              <a:rPr lang="en-US" sz="2100" dirty="0" err="1">
                <a:solidFill>
                  <a:srgbClr val="000000"/>
                </a:solidFill>
                <a:latin typeface="Montserrat Classic"/>
              </a:rPr>
              <a:t>kelompok</a:t>
            </a:r>
            <a:r>
              <a:rPr lang="en-US" sz="2100" dirty="0">
                <a:solidFill>
                  <a:srgbClr val="000000"/>
                </a:solidFill>
                <a:latin typeface="Montserrat Classic"/>
              </a:rPr>
              <a:t> </a:t>
            </a:r>
            <a:r>
              <a:rPr lang="en-US" sz="2100" dirty="0" err="1">
                <a:solidFill>
                  <a:srgbClr val="000000"/>
                </a:solidFill>
                <a:latin typeface="Montserrat Classic"/>
              </a:rPr>
              <a:t>tersebut</a:t>
            </a: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a:solidFill>
                  <a:srgbClr val="000000"/>
                </a:solidFill>
                <a:latin typeface="Montserrat Classic"/>
              </a:rPr>
              <a:t>Good Corporate Governance (Tata </a:t>
            </a:r>
            <a:r>
              <a:rPr lang="en-US" sz="2100" dirty="0" err="1">
                <a:solidFill>
                  <a:srgbClr val="000000"/>
                </a:solidFill>
                <a:latin typeface="Montserrat Classic"/>
              </a:rPr>
              <a:t>Kelola</a:t>
            </a:r>
            <a:r>
              <a:rPr lang="en-US" sz="2100" dirty="0">
                <a:solidFill>
                  <a:srgbClr val="000000"/>
                </a:solidFill>
                <a:latin typeface="Montserrat Classic"/>
              </a:rPr>
              <a:t> Perusahaan Yang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prinsip-prinsip</a:t>
            </a:r>
            <a:r>
              <a:rPr lang="en-US" sz="2100" dirty="0">
                <a:solidFill>
                  <a:srgbClr val="000000"/>
                </a:solidFill>
                <a:latin typeface="Montserrat Classic"/>
              </a:rPr>
              <a:t> yang </a:t>
            </a:r>
            <a:r>
              <a:rPr lang="en-US" sz="2100" dirty="0" err="1">
                <a:solidFill>
                  <a:srgbClr val="000000"/>
                </a:solidFill>
                <a:latin typeface="Montserrat Classic"/>
              </a:rPr>
              <a:t>mendasari</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proses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mekanisme</a:t>
            </a:r>
            <a:r>
              <a:rPr lang="en-US" sz="2100" dirty="0">
                <a:solidFill>
                  <a:srgbClr val="000000"/>
                </a:solidFill>
                <a:latin typeface="Montserrat Classic"/>
              </a:rPr>
              <a:t> </a:t>
            </a:r>
            <a:r>
              <a:rPr lang="en-US" sz="2100" dirty="0" err="1">
                <a:solidFill>
                  <a:srgbClr val="000000"/>
                </a:solidFill>
                <a:latin typeface="Montserrat Classic"/>
              </a:rPr>
              <a:t>pengelolaan</a:t>
            </a:r>
            <a:r>
              <a:rPr lang="en-US" sz="2100" dirty="0">
                <a:solidFill>
                  <a:srgbClr val="000000"/>
                </a:solidFill>
                <a:latin typeface="Montserrat Classic"/>
              </a:rPr>
              <a:t> </a:t>
            </a:r>
            <a:r>
              <a:rPr lang="en-US" sz="2100" dirty="0" err="1">
                <a:solidFill>
                  <a:srgbClr val="000000"/>
                </a:solidFill>
                <a:latin typeface="Montserrat Classic"/>
              </a:rPr>
              <a:t>perusahaan</a:t>
            </a:r>
            <a:r>
              <a:rPr lang="en-US" sz="2100" dirty="0">
                <a:solidFill>
                  <a:srgbClr val="000000"/>
                </a:solidFill>
                <a:latin typeface="Montserrat Classic"/>
              </a:rPr>
              <a:t> </a:t>
            </a:r>
            <a:r>
              <a:rPr lang="en-US" sz="2100" dirty="0" err="1">
                <a:solidFill>
                  <a:srgbClr val="000000"/>
                </a:solidFill>
                <a:latin typeface="Montserrat Classic"/>
              </a:rPr>
              <a:t>berlandaskan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perundang-undangan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etika</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59460"/>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H. ARTI ISTILAH </a:t>
            </a:r>
          </a:p>
        </p:txBody>
      </p:sp>
      <p:sp>
        <p:nvSpPr>
          <p:cNvPr id="5" name="TextBox 5"/>
          <p:cNvSpPr txBox="1"/>
          <p:nvPr/>
        </p:nvSpPr>
        <p:spPr>
          <a:xfrm>
            <a:off x="17056429" y="9153525"/>
            <a:ext cx="489049"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1</a:t>
            </a:r>
            <a:r>
              <a:rPr lang="id-ID" sz="3319" dirty="0" smtClean="0">
                <a:solidFill>
                  <a:srgbClr val="000000"/>
                </a:solidFill>
                <a:latin typeface="Telegraf"/>
              </a:rPr>
              <a:t>9</a:t>
            </a:r>
            <a:endParaRPr lang="en-US" sz="3319" dirty="0">
              <a:solidFill>
                <a:srgbClr val="000000"/>
              </a:solidFill>
              <a:latin typeface="Telegraf"/>
            </a:endParaRPr>
          </a:p>
        </p:txBody>
      </p:sp>
      <p:sp>
        <p:nvSpPr>
          <p:cNvPr id="6" name="TextBox 6"/>
          <p:cNvSpPr txBox="1"/>
          <p:nvPr/>
        </p:nvSpPr>
        <p:spPr>
          <a:xfrm>
            <a:off x="1028700" y="239079"/>
            <a:ext cx="15734960" cy="8015015"/>
          </a:xfrm>
          <a:prstGeom prst="rect">
            <a:avLst/>
          </a:prstGeom>
        </p:spPr>
        <p:txBody>
          <a:bodyPr lIns="0" tIns="0" rIns="0" bIns="0" rtlCol="0" anchor="t">
            <a:spAutoFit/>
          </a:bodyPr>
          <a:lstStyle/>
          <a:p>
            <a:pPr>
              <a:lnSpc>
                <a:spcPts val="3123"/>
              </a:lnSpc>
            </a:pPr>
            <a:endParaRPr dirty="0"/>
          </a:p>
          <a:p>
            <a:pPr>
              <a:lnSpc>
                <a:spcPts val="3255"/>
              </a:lnSpc>
            </a:pPr>
            <a:endParaRPr dirty="0"/>
          </a:p>
          <a:p>
            <a:pPr>
              <a:lnSpc>
                <a:spcPts val="3255"/>
              </a:lnSpc>
            </a:pPr>
            <a:endParaRPr dirty="0"/>
          </a:p>
          <a:p>
            <a:pPr>
              <a:lnSpc>
                <a:spcPts val="3255"/>
              </a:lnSpc>
            </a:pPr>
            <a:endParaRPr dirty="0"/>
          </a:p>
          <a:p>
            <a:pPr marL="342900" indent="-342900">
              <a:lnSpc>
                <a:spcPts val="3255"/>
              </a:lnSpc>
              <a:buFont typeface="Arial" panose="020B0604020202020204" pitchFamily="34" charset="0"/>
              <a:buChar char="•"/>
            </a:pPr>
            <a:r>
              <a:rPr lang="en-US" sz="2100" dirty="0" err="1">
                <a:solidFill>
                  <a:srgbClr val="000000"/>
                </a:solidFill>
                <a:latin typeface="Montserrat Classic"/>
              </a:rPr>
              <a:t>Hadiah</a:t>
            </a:r>
            <a:r>
              <a:rPr lang="en-US" sz="2100" dirty="0">
                <a:solidFill>
                  <a:srgbClr val="000000"/>
                </a:solidFill>
                <a:latin typeface="Montserrat Classic"/>
              </a:rPr>
              <a:t> / </a:t>
            </a:r>
            <a:r>
              <a:rPr lang="en-US" sz="2100" dirty="0" err="1">
                <a:solidFill>
                  <a:srgbClr val="000000"/>
                </a:solidFill>
                <a:latin typeface="Montserrat Classic"/>
              </a:rPr>
              <a:t>Cinderamata</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segala</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penerimaan</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permintaan</a:t>
            </a:r>
            <a:r>
              <a:rPr lang="en-US" sz="2100" dirty="0">
                <a:solidFill>
                  <a:srgbClr val="000000"/>
                </a:solidFill>
                <a:latin typeface="Montserrat Classic"/>
              </a:rPr>
              <a:t>, </a:t>
            </a:r>
            <a:r>
              <a:rPr lang="en-US" sz="2100" dirty="0" err="1">
                <a:solidFill>
                  <a:srgbClr val="000000"/>
                </a:solidFill>
                <a:latin typeface="Montserrat Classic"/>
              </a:rPr>
              <a:t>yaitu</a:t>
            </a:r>
            <a:r>
              <a:rPr lang="en-US" sz="2100" dirty="0">
                <a:solidFill>
                  <a:srgbClr val="000000"/>
                </a:solidFill>
                <a:latin typeface="Montserrat Classic"/>
              </a:rPr>
              <a:t> </a:t>
            </a:r>
            <a:r>
              <a:rPr lang="en-US" sz="2100" dirty="0" err="1">
                <a:solidFill>
                  <a:srgbClr val="000000"/>
                </a:solidFill>
                <a:latin typeface="Montserrat Classic"/>
              </a:rPr>
              <a:t>meliputi</a:t>
            </a:r>
            <a:r>
              <a:rPr lang="en-US" sz="2100" dirty="0">
                <a:solidFill>
                  <a:srgbClr val="000000"/>
                </a:solidFill>
                <a:latin typeface="Montserrat Classic"/>
              </a:rPr>
              <a:t> </a:t>
            </a:r>
            <a:r>
              <a:rPr lang="en-US" sz="2100" dirty="0" err="1">
                <a:solidFill>
                  <a:srgbClr val="000000"/>
                </a:solidFill>
                <a:latin typeface="Montserrat Classic"/>
              </a:rPr>
              <a:t>penerimaan</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a:t>
            </a:r>
            <a:r>
              <a:rPr lang="en-US" sz="2100" dirty="0" err="1">
                <a:solidFill>
                  <a:srgbClr val="000000"/>
                </a:solidFill>
                <a:latin typeface="Montserrat Classic"/>
              </a:rPr>
              <a:t>permintaan</a:t>
            </a:r>
            <a:r>
              <a:rPr lang="en-US" sz="2100" dirty="0">
                <a:solidFill>
                  <a:srgbClr val="000000"/>
                </a:solidFill>
                <a:latin typeface="Montserrat Classic"/>
              </a:rPr>
              <a:t> </a:t>
            </a:r>
            <a:r>
              <a:rPr lang="en-US" sz="2100" dirty="0" err="1">
                <a:solidFill>
                  <a:srgbClr val="000000"/>
                </a:solidFill>
                <a:latin typeface="Montserrat Classic"/>
              </a:rPr>
              <a:t>berupa</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 </a:t>
            </a:r>
            <a:r>
              <a:rPr lang="en-US" sz="2100" dirty="0" err="1">
                <a:solidFill>
                  <a:srgbClr val="000000"/>
                </a:solidFill>
                <a:latin typeface="Montserrat Classic"/>
              </a:rPr>
              <a:t>setara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a:t>
            </a:r>
            <a:r>
              <a:rPr lang="en-US" sz="2100" dirty="0" err="1">
                <a:solidFill>
                  <a:srgbClr val="000000"/>
                </a:solidFill>
                <a:latin typeface="Montserrat Classic"/>
              </a:rPr>
              <a:t>barang</a:t>
            </a:r>
            <a:r>
              <a:rPr lang="en-US" sz="2100" dirty="0">
                <a:solidFill>
                  <a:srgbClr val="000000"/>
                </a:solidFill>
                <a:latin typeface="Montserrat Classic"/>
              </a:rPr>
              <a:t>, </a:t>
            </a:r>
            <a:r>
              <a:rPr lang="en-US" sz="2100" dirty="0" err="1">
                <a:solidFill>
                  <a:srgbClr val="000000"/>
                </a:solidFill>
                <a:latin typeface="Montserrat Classic"/>
              </a:rPr>
              <a:t>rabat</a:t>
            </a:r>
            <a:r>
              <a:rPr lang="en-US" sz="2100" dirty="0">
                <a:solidFill>
                  <a:srgbClr val="000000"/>
                </a:solidFill>
                <a:latin typeface="Montserrat Classic"/>
              </a:rPr>
              <a:t> (discount), </a:t>
            </a:r>
            <a:r>
              <a:rPr lang="en-US" sz="2100" dirty="0" err="1">
                <a:solidFill>
                  <a:srgbClr val="000000"/>
                </a:solidFill>
                <a:latin typeface="Montserrat Classic"/>
              </a:rPr>
              <a:t>komisi</a:t>
            </a:r>
            <a:r>
              <a:rPr lang="en-US" sz="2100" dirty="0">
                <a:solidFill>
                  <a:srgbClr val="000000"/>
                </a:solidFill>
                <a:latin typeface="Montserrat Classic"/>
              </a:rPr>
              <a:t>, </a:t>
            </a:r>
            <a:r>
              <a:rPr lang="en-US" sz="2100" dirty="0" err="1">
                <a:solidFill>
                  <a:srgbClr val="000000"/>
                </a:solidFill>
                <a:latin typeface="Montserrat Classic"/>
              </a:rPr>
              <a:t>pinjaman</a:t>
            </a:r>
            <a:r>
              <a:rPr lang="en-US" sz="2100" dirty="0">
                <a:solidFill>
                  <a:srgbClr val="000000"/>
                </a:solidFill>
                <a:latin typeface="Montserrat Classic"/>
              </a:rPr>
              <a:t> </a:t>
            </a:r>
            <a:r>
              <a:rPr lang="en-US" sz="2100" dirty="0" err="1">
                <a:solidFill>
                  <a:srgbClr val="000000"/>
                </a:solidFill>
                <a:latin typeface="Montserrat Classic"/>
              </a:rPr>
              <a:t>tiket</a:t>
            </a:r>
            <a:r>
              <a:rPr lang="en-US" sz="2100" dirty="0">
                <a:solidFill>
                  <a:srgbClr val="000000"/>
                </a:solidFill>
                <a:latin typeface="Montserrat Classic"/>
              </a:rPr>
              <a:t> </a:t>
            </a:r>
            <a:r>
              <a:rPr lang="en-US" sz="2100" dirty="0" err="1">
                <a:solidFill>
                  <a:srgbClr val="000000"/>
                </a:solidFill>
                <a:latin typeface="Montserrat Classic"/>
              </a:rPr>
              <a:t>perjalanan</a:t>
            </a:r>
            <a:r>
              <a:rPr lang="en-US" sz="2100" dirty="0">
                <a:solidFill>
                  <a:srgbClr val="000000"/>
                </a:solidFill>
                <a:latin typeface="Montserrat Classic"/>
              </a:rPr>
              <a:t>, </a:t>
            </a:r>
            <a:r>
              <a:rPr lang="en-US" sz="2100" dirty="0" err="1">
                <a:solidFill>
                  <a:srgbClr val="000000"/>
                </a:solidFill>
                <a:latin typeface="Montserrat Classic"/>
              </a:rPr>
              <a:t>fasilitas</a:t>
            </a:r>
            <a:r>
              <a:rPr lang="en-US" sz="2100" dirty="0">
                <a:solidFill>
                  <a:srgbClr val="000000"/>
                </a:solidFill>
                <a:latin typeface="Montserrat Classic"/>
              </a:rPr>
              <a:t> </a:t>
            </a:r>
            <a:r>
              <a:rPr lang="en-US" sz="2100" dirty="0" err="1">
                <a:solidFill>
                  <a:srgbClr val="000000"/>
                </a:solidFill>
                <a:latin typeface="Montserrat Classic"/>
              </a:rPr>
              <a:t>penginapan</a:t>
            </a:r>
            <a:r>
              <a:rPr lang="en-US" sz="2100" dirty="0">
                <a:solidFill>
                  <a:srgbClr val="000000"/>
                </a:solidFill>
                <a:latin typeface="Montserrat Classic"/>
              </a:rPr>
              <a:t>, </a:t>
            </a:r>
            <a:r>
              <a:rPr lang="en-US" sz="2100" dirty="0" err="1">
                <a:solidFill>
                  <a:srgbClr val="000000"/>
                </a:solidFill>
                <a:latin typeface="Montserrat Classic"/>
              </a:rPr>
              <a:t>perjalanan</a:t>
            </a:r>
            <a:r>
              <a:rPr lang="en-US" sz="2100" dirty="0">
                <a:solidFill>
                  <a:srgbClr val="000000"/>
                </a:solidFill>
                <a:latin typeface="Montserrat Classic"/>
              </a:rPr>
              <a:t> </a:t>
            </a:r>
            <a:r>
              <a:rPr lang="en-US" sz="2100" dirty="0" err="1">
                <a:solidFill>
                  <a:srgbClr val="000000"/>
                </a:solidFill>
                <a:latin typeface="Montserrat Classic"/>
              </a:rPr>
              <a:t>wisata</a:t>
            </a:r>
            <a:r>
              <a:rPr lang="en-US" sz="2100" dirty="0">
                <a:solidFill>
                  <a:srgbClr val="000000"/>
                </a:solidFill>
                <a:latin typeface="Montserrat Classic"/>
              </a:rPr>
              <a:t>, </a:t>
            </a:r>
            <a:r>
              <a:rPr lang="en-US" sz="2100" dirty="0" err="1">
                <a:solidFill>
                  <a:srgbClr val="000000"/>
                </a:solidFill>
                <a:latin typeface="Montserrat Classic"/>
              </a:rPr>
              <a:t>pengobatan</a:t>
            </a:r>
            <a:r>
              <a:rPr lang="en-US" sz="2100" dirty="0">
                <a:solidFill>
                  <a:srgbClr val="000000"/>
                </a:solidFill>
                <a:latin typeface="Montserrat Classic"/>
              </a:rPr>
              <a:t> </a:t>
            </a:r>
            <a:r>
              <a:rPr lang="en-US" sz="2100" dirty="0" err="1">
                <a:solidFill>
                  <a:srgbClr val="000000"/>
                </a:solidFill>
                <a:latin typeface="Montserrat Classic"/>
              </a:rPr>
              <a:t>cuma-cuma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fasilitas</a:t>
            </a:r>
            <a:r>
              <a:rPr lang="en-US" sz="2100" dirty="0">
                <a:solidFill>
                  <a:srgbClr val="000000"/>
                </a:solidFill>
                <a:latin typeface="Montserrat Classic"/>
              </a:rPr>
              <a:t> </a:t>
            </a:r>
            <a:r>
              <a:rPr lang="en-US" sz="2100" dirty="0" err="1">
                <a:solidFill>
                  <a:srgbClr val="000000"/>
                </a:solidFill>
                <a:latin typeface="Montserrat Classic"/>
              </a:rPr>
              <a:t>lainnya</a:t>
            </a: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a:solidFill>
                  <a:srgbClr val="000000"/>
                </a:solidFill>
                <a:latin typeface="Montserrat Classic"/>
              </a:rPr>
              <a:t>Entertainment (</a:t>
            </a:r>
            <a:r>
              <a:rPr lang="en-US" sz="2100" dirty="0" err="1">
                <a:solidFill>
                  <a:srgbClr val="000000"/>
                </a:solidFill>
                <a:latin typeface="Montserrat Classic"/>
              </a:rPr>
              <a:t>Hiburan</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segala</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yang </a:t>
            </a:r>
            <a:r>
              <a:rPr lang="en-US" sz="2100" dirty="0" err="1">
                <a:solidFill>
                  <a:srgbClr val="000000"/>
                </a:solidFill>
                <a:latin typeface="Montserrat Classic"/>
              </a:rPr>
              <a:t>berbentuk</a:t>
            </a:r>
            <a:r>
              <a:rPr lang="en-US" sz="2100" dirty="0">
                <a:solidFill>
                  <a:srgbClr val="000000"/>
                </a:solidFill>
                <a:latin typeface="Montserrat Classic"/>
              </a:rPr>
              <a:t> kata-kata, </a:t>
            </a:r>
            <a:r>
              <a:rPr lang="en-US" sz="2100" dirty="0" err="1">
                <a:solidFill>
                  <a:srgbClr val="000000"/>
                </a:solidFill>
                <a:latin typeface="Montserrat Classic"/>
              </a:rPr>
              <a:t>tempat</a:t>
            </a:r>
            <a:r>
              <a:rPr lang="en-US" sz="2100" dirty="0">
                <a:solidFill>
                  <a:srgbClr val="000000"/>
                </a:solidFill>
                <a:latin typeface="Montserrat Classic"/>
              </a:rPr>
              <a:t>, </a:t>
            </a:r>
            <a:r>
              <a:rPr lang="en-US" sz="2100" dirty="0" err="1">
                <a:solidFill>
                  <a:srgbClr val="000000"/>
                </a:solidFill>
                <a:latin typeface="Montserrat Classic"/>
              </a:rPr>
              <a:t>benda</a:t>
            </a:r>
            <a:r>
              <a:rPr lang="en-US" sz="2100" dirty="0">
                <a:solidFill>
                  <a:srgbClr val="000000"/>
                </a:solidFill>
                <a:latin typeface="Montserrat Classic"/>
              </a:rPr>
              <a:t>, </a:t>
            </a:r>
            <a:r>
              <a:rPr lang="en-US" sz="2100" dirty="0" err="1">
                <a:solidFill>
                  <a:srgbClr val="000000"/>
                </a:solidFill>
                <a:latin typeface="Montserrat Classic"/>
              </a:rPr>
              <a:t>perilaku</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hiburan</a:t>
            </a:r>
            <a:r>
              <a:rPr lang="en-US" sz="2100" dirty="0">
                <a:solidFill>
                  <a:srgbClr val="000000"/>
                </a:solidFill>
                <a:latin typeface="Montserrat Classic"/>
              </a:rPr>
              <a:t>, yang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umumnya</a:t>
            </a:r>
            <a:r>
              <a:rPr lang="en-US" sz="2100" dirty="0">
                <a:solidFill>
                  <a:srgbClr val="000000"/>
                </a:solidFill>
                <a:latin typeface="Montserrat Classic"/>
              </a:rPr>
              <a:t> </a:t>
            </a:r>
            <a:r>
              <a:rPr lang="en-US" sz="2100" dirty="0" err="1">
                <a:solidFill>
                  <a:srgbClr val="000000"/>
                </a:solidFill>
                <a:latin typeface="Montserrat Classic"/>
              </a:rPr>
              <a:t>berupa</a:t>
            </a:r>
            <a:r>
              <a:rPr lang="en-US" sz="2100" dirty="0">
                <a:solidFill>
                  <a:srgbClr val="000000"/>
                </a:solidFill>
                <a:latin typeface="Montserrat Classic"/>
              </a:rPr>
              <a:t> </a:t>
            </a:r>
            <a:r>
              <a:rPr lang="en-US" sz="2100" dirty="0" err="1">
                <a:solidFill>
                  <a:srgbClr val="000000"/>
                </a:solidFill>
                <a:latin typeface="Montserrat Classic"/>
              </a:rPr>
              <a:t>undangan</a:t>
            </a:r>
            <a:r>
              <a:rPr lang="en-US" sz="2100" dirty="0">
                <a:solidFill>
                  <a:srgbClr val="000000"/>
                </a:solidFill>
                <a:latin typeface="Montserrat Classic"/>
              </a:rPr>
              <a:t> </a:t>
            </a:r>
            <a:r>
              <a:rPr lang="en-US" sz="2100" dirty="0" err="1">
                <a:solidFill>
                  <a:srgbClr val="000000"/>
                </a:solidFill>
                <a:latin typeface="Montserrat Classic"/>
              </a:rPr>
              <a:t>pertunjukan</a:t>
            </a:r>
            <a:r>
              <a:rPr lang="en-US" sz="2100" dirty="0">
                <a:solidFill>
                  <a:srgbClr val="000000"/>
                </a:solidFill>
                <a:latin typeface="Montserrat Classic"/>
              </a:rPr>
              <a:t>/</a:t>
            </a:r>
            <a:r>
              <a:rPr lang="en-US" sz="2100" dirty="0" err="1">
                <a:solidFill>
                  <a:srgbClr val="000000"/>
                </a:solidFill>
                <a:latin typeface="Montserrat Classic"/>
              </a:rPr>
              <a:t>panggung</a:t>
            </a:r>
            <a:r>
              <a:rPr lang="en-US" sz="2100" dirty="0">
                <a:solidFill>
                  <a:srgbClr val="000000"/>
                </a:solidFill>
                <a:latin typeface="Montserrat Classic"/>
              </a:rPr>
              <a:t> </a:t>
            </a:r>
            <a:r>
              <a:rPr lang="en-US" sz="2100" dirty="0" err="1">
                <a:solidFill>
                  <a:srgbClr val="000000"/>
                </a:solidFill>
                <a:latin typeface="Montserrat Classic"/>
              </a:rPr>
              <a:t>hiburan</a:t>
            </a:r>
            <a:r>
              <a:rPr lang="en-US" sz="2100" dirty="0">
                <a:solidFill>
                  <a:srgbClr val="000000"/>
                </a:solidFill>
                <a:latin typeface="Montserrat Classic"/>
              </a:rPr>
              <a:t>, opera, drama, </a:t>
            </a:r>
            <a:r>
              <a:rPr lang="en-US" sz="2100" dirty="0" err="1">
                <a:solidFill>
                  <a:srgbClr val="000000"/>
                </a:solidFill>
                <a:latin typeface="Montserrat Classic"/>
              </a:rPr>
              <a:t>musik</a:t>
            </a:r>
            <a:r>
              <a:rPr lang="en-US" sz="2100" dirty="0">
                <a:solidFill>
                  <a:srgbClr val="000000"/>
                </a:solidFill>
                <a:latin typeface="Montserrat Classic"/>
              </a:rPr>
              <a:t>, </a:t>
            </a:r>
            <a:r>
              <a:rPr lang="en-US" sz="2100" dirty="0" err="1">
                <a:solidFill>
                  <a:srgbClr val="000000"/>
                </a:solidFill>
                <a:latin typeface="Montserrat Classic"/>
              </a:rPr>
              <a:t>olah</a:t>
            </a:r>
            <a:r>
              <a:rPr lang="en-US" sz="2100" dirty="0">
                <a:solidFill>
                  <a:srgbClr val="000000"/>
                </a:solidFill>
                <a:latin typeface="Montserrat Classic"/>
              </a:rPr>
              <a:t> raga, film, </a:t>
            </a:r>
            <a:r>
              <a:rPr lang="en-US" sz="2100" dirty="0" err="1">
                <a:solidFill>
                  <a:srgbClr val="000000"/>
                </a:solidFill>
                <a:latin typeface="Montserrat Classic"/>
              </a:rPr>
              <a:t>paket</a:t>
            </a:r>
            <a:r>
              <a:rPr lang="en-US" sz="2100" dirty="0">
                <a:solidFill>
                  <a:srgbClr val="000000"/>
                </a:solidFill>
                <a:latin typeface="Montserrat Classic"/>
              </a:rPr>
              <a:t> </a:t>
            </a:r>
            <a:r>
              <a:rPr lang="en-US" sz="2100" dirty="0" err="1">
                <a:solidFill>
                  <a:srgbClr val="000000"/>
                </a:solidFill>
                <a:latin typeface="Montserrat Classic"/>
              </a:rPr>
              <a:t>wisata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jenis</a:t>
            </a:r>
            <a:r>
              <a:rPr lang="en-US" sz="2100" dirty="0">
                <a:solidFill>
                  <a:srgbClr val="000000"/>
                </a:solidFill>
                <a:latin typeface="Montserrat Classic"/>
              </a:rPr>
              <a:t> </a:t>
            </a:r>
            <a:r>
              <a:rPr lang="en-US" sz="2100" dirty="0" err="1">
                <a:solidFill>
                  <a:srgbClr val="000000"/>
                </a:solidFill>
                <a:latin typeface="Montserrat Classic"/>
              </a:rPr>
              <a:t>hiburan</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id-ID" sz="2100" dirty="0">
                <a:solidFill>
                  <a:srgbClr val="000000"/>
                </a:solidFill>
                <a:latin typeface="Montserrat Classic"/>
              </a:rPr>
              <a:t>O</a:t>
            </a:r>
            <a:r>
              <a:rPr lang="en-US" sz="2100" dirty="0" err="1">
                <a:solidFill>
                  <a:srgbClr val="000000"/>
                </a:solidFill>
                <a:latin typeface="Montserrat Classic"/>
              </a:rPr>
              <a:t>rganisasi</a:t>
            </a:r>
            <a:r>
              <a:rPr lang="en-US" sz="2100" dirty="0">
                <a:solidFill>
                  <a:srgbClr val="000000"/>
                </a:solidFill>
                <a:latin typeface="Montserrat Classic"/>
              </a:rPr>
              <a:t> </a:t>
            </a:r>
            <a:r>
              <a:rPr lang="en-US" sz="2100" dirty="0" err="1">
                <a:solidFill>
                  <a:srgbClr val="000000"/>
                </a:solidFill>
                <a:latin typeface="Montserrat Classic"/>
              </a:rPr>
              <a:t>Profesi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himpunan</a:t>
            </a:r>
            <a:r>
              <a:rPr lang="en-US" sz="2100" dirty="0">
                <a:solidFill>
                  <a:srgbClr val="000000"/>
                </a:solidFill>
                <a:latin typeface="Montserrat Classic"/>
              </a:rPr>
              <a:t> </a:t>
            </a:r>
            <a:r>
              <a:rPr lang="en-US" sz="2100" dirty="0" err="1">
                <a:solidFill>
                  <a:srgbClr val="000000"/>
                </a:solidFill>
                <a:latin typeface="Montserrat Classic"/>
              </a:rPr>
              <a:t>individu</a:t>
            </a:r>
            <a:r>
              <a:rPr lang="en-US" sz="2100" dirty="0">
                <a:solidFill>
                  <a:srgbClr val="000000"/>
                </a:solidFill>
                <a:latin typeface="Montserrat Classic"/>
              </a:rPr>
              <a:t>, </a:t>
            </a:r>
            <a:r>
              <a:rPr lang="en-US" sz="2100" dirty="0" err="1">
                <a:solidFill>
                  <a:srgbClr val="000000"/>
                </a:solidFill>
                <a:latin typeface="Montserrat Classic"/>
              </a:rPr>
              <a:t>kelompok</a:t>
            </a:r>
            <a:r>
              <a:rPr lang="en-US" sz="2100" dirty="0">
                <a:solidFill>
                  <a:srgbClr val="000000"/>
                </a:solidFill>
                <a:latin typeface="Montserrat Classic"/>
              </a:rPr>
              <a:t>, </a:t>
            </a:r>
            <a:r>
              <a:rPr lang="en-US" sz="2100" dirty="0" err="1">
                <a:solidFill>
                  <a:srgbClr val="000000"/>
                </a:solidFill>
                <a:latin typeface="Montserrat Classic"/>
              </a:rPr>
              <a:t>badan</a:t>
            </a:r>
            <a:r>
              <a:rPr lang="en-US" sz="2100" dirty="0">
                <a:solidFill>
                  <a:srgbClr val="000000"/>
                </a:solidFill>
                <a:latin typeface="Montserrat Classic"/>
              </a:rPr>
              <a:t> </a:t>
            </a:r>
            <a:r>
              <a:rPr lang="en-US" sz="2100" dirty="0" err="1">
                <a:solidFill>
                  <a:srgbClr val="000000"/>
                </a:solidFill>
                <a:latin typeface="Montserrat Classic"/>
              </a:rPr>
              <a:t>berdasarkan</a:t>
            </a:r>
            <a:r>
              <a:rPr lang="en-US" sz="2100" dirty="0">
                <a:solidFill>
                  <a:srgbClr val="000000"/>
                </a:solidFill>
                <a:latin typeface="Montserrat Classic"/>
              </a:rPr>
              <a:t> </a:t>
            </a:r>
            <a:r>
              <a:rPr lang="en-US" sz="2100" dirty="0" err="1">
                <a:solidFill>
                  <a:srgbClr val="000000"/>
                </a:solidFill>
                <a:latin typeface="Montserrat Classic"/>
              </a:rPr>
              <a:t>keahlian</a:t>
            </a:r>
            <a:r>
              <a:rPr lang="en-US" sz="2100" dirty="0">
                <a:solidFill>
                  <a:srgbClr val="000000"/>
                </a:solidFill>
                <a:latin typeface="Montserrat Classic"/>
              </a:rPr>
              <a:t> </a:t>
            </a:r>
            <a:r>
              <a:rPr lang="en-US" sz="2100" dirty="0" err="1">
                <a:solidFill>
                  <a:srgbClr val="000000"/>
                </a:solidFill>
                <a:latin typeface="Montserrat Classic"/>
              </a:rPr>
              <a:t>profesi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jenis</a:t>
            </a:r>
            <a:r>
              <a:rPr lang="en-US" sz="2100" dirty="0">
                <a:solidFill>
                  <a:srgbClr val="000000"/>
                </a:solidFill>
                <a:latin typeface="Montserrat Classic"/>
              </a:rPr>
              <a:t> </a:t>
            </a:r>
            <a:r>
              <a:rPr lang="en-US" sz="2100" dirty="0" err="1">
                <a:solidFill>
                  <a:srgbClr val="000000"/>
                </a:solidFill>
                <a:latin typeface="Montserrat Classic"/>
              </a:rPr>
              <a:t>kegiatan</a:t>
            </a:r>
            <a:r>
              <a:rPr lang="en-US" sz="2100" dirty="0">
                <a:solidFill>
                  <a:srgbClr val="000000"/>
                </a:solidFill>
                <a:latin typeface="Montserrat Classic"/>
              </a:rPr>
              <a:t>.</a:t>
            </a:r>
            <a:r>
              <a:rPr lang="id-ID"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yang </a:t>
            </a:r>
            <a:r>
              <a:rPr lang="en-US" sz="2100" dirty="0" err="1">
                <a:solidFill>
                  <a:srgbClr val="000000"/>
                </a:solidFill>
                <a:latin typeface="Montserrat Classic"/>
              </a:rPr>
              <a:t>ditetapkan</a:t>
            </a:r>
            <a:r>
              <a:rPr lang="en-US" sz="2100" dirty="0">
                <a:solidFill>
                  <a:srgbClr val="000000"/>
                </a:solidFill>
                <a:latin typeface="Montserrat Classic"/>
              </a:rPr>
              <a:t> </a:t>
            </a:r>
            <a:r>
              <a:rPr lang="en-US" sz="2100" dirty="0" err="1">
                <a:solidFill>
                  <a:srgbClr val="000000"/>
                </a:solidFill>
                <a:latin typeface="Montserrat Classic"/>
              </a:rPr>
              <a:t>melalui</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yang </a:t>
            </a:r>
            <a:r>
              <a:rPr lang="en-US" sz="2100" dirty="0" err="1">
                <a:solidFill>
                  <a:srgbClr val="000000"/>
                </a:solidFill>
                <a:latin typeface="Montserrat Classic"/>
              </a:rPr>
              <a:t>bertanggung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memantau</a:t>
            </a:r>
            <a:r>
              <a:rPr lang="en-US" sz="2100" dirty="0">
                <a:solidFill>
                  <a:srgbClr val="000000"/>
                </a:solidFill>
                <a:latin typeface="Montserrat Classic"/>
              </a:rPr>
              <a:t> </a:t>
            </a:r>
            <a:r>
              <a:rPr lang="en-US" sz="2100" dirty="0" err="1">
                <a:solidFill>
                  <a:srgbClr val="000000"/>
                </a:solidFill>
                <a:latin typeface="Montserrat Classic"/>
              </a:rPr>
              <a:t>kepatuhan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pelaksanaan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ini</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en-US" sz="2100" dirty="0">
                <a:solidFill>
                  <a:srgbClr val="000000"/>
                </a:solidFill>
                <a:latin typeface="Montserrat Classic"/>
              </a:rPr>
              <a:t>Media Massa </a:t>
            </a:r>
            <a:r>
              <a:rPr lang="en-US" sz="2100" dirty="0" err="1">
                <a:solidFill>
                  <a:srgbClr val="000000"/>
                </a:solidFill>
                <a:latin typeface="Montserrat Classic"/>
              </a:rPr>
              <a:t>adalah</a:t>
            </a:r>
            <a:r>
              <a:rPr lang="en-US" sz="2100" dirty="0">
                <a:solidFill>
                  <a:srgbClr val="000000"/>
                </a:solidFill>
                <a:latin typeface="Montserrat Classic"/>
              </a:rPr>
              <a:t> media, </a:t>
            </a:r>
            <a:r>
              <a:rPr lang="en-US" sz="2100" dirty="0" err="1">
                <a:solidFill>
                  <a:srgbClr val="000000"/>
                </a:solidFill>
                <a:latin typeface="Montserrat Classic"/>
              </a:rPr>
              <a:t>saluran</a:t>
            </a:r>
            <a:r>
              <a:rPr lang="en-US" sz="2100" dirty="0">
                <a:solidFill>
                  <a:srgbClr val="000000"/>
                </a:solidFill>
                <a:latin typeface="Montserrat Classic"/>
              </a:rPr>
              <a:t>, </a:t>
            </a:r>
            <a:r>
              <a:rPr lang="en-US" sz="2100" dirty="0" err="1">
                <a:solidFill>
                  <a:srgbClr val="000000"/>
                </a:solidFill>
                <a:latin typeface="Montserrat Classic"/>
              </a:rPr>
              <a:t>sarana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alat</a:t>
            </a:r>
            <a:r>
              <a:rPr lang="en-US" sz="2100" dirty="0">
                <a:solidFill>
                  <a:srgbClr val="000000"/>
                </a:solidFill>
                <a:latin typeface="Montserrat Classic"/>
              </a:rPr>
              <a:t> yang </a:t>
            </a:r>
            <a:r>
              <a:rPr lang="en-US" sz="2100" dirty="0" err="1">
                <a:solidFill>
                  <a:srgbClr val="000000"/>
                </a:solidFill>
                <a:latin typeface="Montserrat Classic"/>
              </a:rPr>
              <a:t>digunakan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proses </a:t>
            </a:r>
            <a:r>
              <a:rPr lang="en-US" sz="2100" dirty="0" err="1">
                <a:solidFill>
                  <a:srgbClr val="000000"/>
                </a:solidFill>
                <a:latin typeface="Montserrat Classic"/>
              </a:rPr>
              <a:t>komunikasi</a:t>
            </a:r>
            <a:r>
              <a:rPr lang="en-US" sz="2100" dirty="0">
                <a:solidFill>
                  <a:srgbClr val="000000"/>
                </a:solidFill>
                <a:latin typeface="Montserrat Classic"/>
              </a:rPr>
              <a:t> </a:t>
            </a:r>
            <a:r>
              <a:rPr lang="en-US" sz="2100" dirty="0" err="1">
                <a:solidFill>
                  <a:srgbClr val="000000"/>
                </a:solidFill>
                <a:latin typeface="Montserrat Classic"/>
              </a:rPr>
              <a:t>massa</a:t>
            </a:r>
            <a:r>
              <a:rPr lang="en-US" sz="2100" dirty="0">
                <a:solidFill>
                  <a:srgbClr val="000000"/>
                </a:solidFill>
                <a:latin typeface="Montserrat Classic"/>
              </a:rPr>
              <a:t>, </a:t>
            </a:r>
            <a:r>
              <a:rPr lang="en-US" sz="2100" dirty="0" err="1">
                <a:solidFill>
                  <a:srgbClr val="000000"/>
                </a:solidFill>
                <a:latin typeface="Montserrat Classic"/>
              </a:rPr>
              <a:t>yaitu</a:t>
            </a:r>
            <a:r>
              <a:rPr lang="en-US" sz="2100" dirty="0">
                <a:solidFill>
                  <a:srgbClr val="000000"/>
                </a:solidFill>
                <a:latin typeface="Montserrat Classic"/>
              </a:rPr>
              <a:t> </a:t>
            </a:r>
            <a:r>
              <a:rPr lang="en-US" sz="2100" dirty="0" err="1">
                <a:solidFill>
                  <a:srgbClr val="000000"/>
                </a:solidFill>
                <a:latin typeface="Montserrat Classic"/>
              </a:rPr>
              <a:t>komunikasi</a:t>
            </a:r>
            <a:r>
              <a:rPr lang="en-US" sz="2100" dirty="0">
                <a:solidFill>
                  <a:srgbClr val="000000"/>
                </a:solidFill>
                <a:latin typeface="Montserrat Classic"/>
              </a:rPr>
              <a:t> yang </a:t>
            </a:r>
            <a:r>
              <a:rPr lang="en-US" sz="2100" dirty="0" err="1">
                <a:solidFill>
                  <a:srgbClr val="000000"/>
                </a:solidFill>
                <a:latin typeface="Montserrat Classic"/>
              </a:rPr>
              <a:t>diarahkan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(orang </a:t>
            </a:r>
            <a:r>
              <a:rPr lang="en-US" sz="2100" dirty="0" err="1">
                <a:solidFill>
                  <a:srgbClr val="000000"/>
                </a:solidFill>
                <a:latin typeface="Montserrat Classic"/>
              </a:rPr>
              <a:t>banyak</a:t>
            </a:r>
            <a:r>
              <a:rPr lang="en-US" sz="2100" dirty="0">
                <a:solidFill>
                  <a:srgbClr val="000000"/>
                </a:solidFill>
                <a:latin typeface="Montserrat Classic"/>
              </a:rPr>
              <a:t>) </a:t>
            </a:r>
            <a:r>
              <a:rPr lang="en-US" sz="2100" dirty="0" err="1">
                <a:solidFill>
                  <a:srgbClr val="000000"/>
                </a:solidFill>
                <a:latin typeface="Montserrat Classic"/>
              </a:rPr>
              <a:t>melalui</a:t>
            </a:r>
            <a:r>
              <a:rPr lang="en-US" sz="2100" dirty="0">
                <a:solidFill>
                  <a:srgbClr val="000000"/>
                </a:solidFill>
                <a:latin typeface="Montserrat Classic"/>
              </a:rPr>
              <a:t> media </a:t>
            </a:r>
            <a:r>
              <a:rPr lang="en-US" sz="2100" dirty="0" err="1">
                <a:solidFill>
                  <a:srgbClr val="000000"/>
                </a:solidFill>
                <a:latin typeface="Montserrat Classic"/>
              </a:rPr>
              <a:t>cetak</a:t>
            </a:r>
            <a:r>
              <a:rPr lang="en-US" sz="2100" dirty="0">
                <a:solidFill>
                  <a:srgbClr val="000000"/>
                </a:solidFill>
                <a:latin typeface="Montserrat Classic"/>
              </a:rPr>
              <a:t>, media </a:t>
            </a:r>
            <a:r>
              <a:rPr lang="en-US" sz="2100" dirty="0" err="1">
                <a:solidFill>
                  <a:srgbClr val="000000"/>
                </a:solidFill>
                <a:latin typeface="Montserrat Classic"/>
              </a:rPr>
              <a:t>elektronik</a:t>
            </a:r>
            <a:r>
              <a:rPr lang="en-US" sz="2100" dirty="0">
                <a:solidFill>
                  <a:srgbClr val="000000"/>
                </a:solidFill>
                <a:latin typeface="Montserrat Classic"/>
              </a:rPr>
              <a:t>, media online, </a:t>
            </a:r>
            <a:r>
              <a:rPr lang="en-US" sz="2100" dirty="0" err="1">
                <a:solidFill>
                  <a:srgbClr val="000000"/>
                </a:solidFill>
                <a:latin typeface="Montserrat Classic"/>
              </a:rPr>
              <a:t>dan</a:t>
            </a:r>
            <a:r>
              <a:rPr lang="en-US" sz="2100" dirty="0">
                <a:solidFill>
                  <a:srgbClr val="000000"/>
                </a:solidFill>
                <a:latin typeface="Montserrat Classic"/>
              </a:rPr>
              <a:t> media </a:t>
            </a:r>
            <a:r>
              <a:rPr lang="en-US" sz="2100" dirty="0" err="1">
                <a:solidFill>
                  <a:srgbClr val="000000"/>
                </a:solidFill>
                <a:latin typeface="Montserrat Classic"/>
              </a:rPr>
              <a:t>lainnya</a:t>
            </a:r>
            <a:r>
              <a:rPr lang="en-US" sz="2100" dirty="0">
                <a:solidFill>
                  <a:srgbClr val="000000"/>
                </a:solidFill>
                <a:latin typeface="Montserrat Classic"/>
              </a:rPr>
              <a:t>.</a:t>
            </a:r>
          </a:p>
          <a:p>
            <a:pPr marL="342900" indent="-342900">
              <a:lnSpc>
                <a:spcPts val="3255"/>
              </a:lnSpc>
              <a:buFont typeface="Arial" panose="020B0604020202020204" pitchFamily="34" charset="0"/>
              <a:buChar char="•"/>
            </a:pPr>
            <a:r>
              <a:rPr lang="en-US" sz="2100" dirty="0" err="1">
                <a:solidFill>
                  <a:srgbClr val="000000"/>
                </a:solidFill>
                <a:latin typeface="Montserrat Classic"/>
              </a:rPr>
              <a:t>Pejabat</a:t>
            </a:r>
            <a:r>
              <a:rPr lang="en-US" sz="2100" dirty="0">
                <a:solidFill>
                  <a:srgbClr val="000000"/>
                </a:solidFill>
                <a:latin typeface="Montserrat Classic"/>
              </a:rPr>
              <a:t> yang </a:t>
            </a:r>
            <a:r>
              <a:rPr lang="en-US" sz="2100" dirty="0" err="1">
                <a:solidFill>
                  <a:srgbClr val="000000"/>
                </a:solidFill>
                <a:latin typeface="Montserrat Classic"/>
              </a:rPr>
              <a:t>bertanggung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penerapan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meliputi</a:t>
            </a:r>
            <a:r>
              <a:rPr lang="en-US" sz="2100" dirty="0">
                <a:solidFill>
                  <a:srgbClr val="000000"/>
                </a:solidFill>
                <a:latin typeface="Montserrat Classic"/>
              </a:rPr>
              <a:t> para </a:t>
            </a:r>
            <a:r>
              <a:rPr lang="en-US" sz="2100" dirty="0" err="1">
                <a:solidFill>
                  <a:srgbClr val="000000"/>
                </a:solidFill>
                <a:latin typeface="Montserrat Classic"/>
              </a:rPr>
              <a:t>Kepala</a:t>
            </a:r>
            <a:r>
              <a:rPr lang="en-US" sz="2100" dirty="0">
                <a:solidFill>
                  <a:srgbClr val="000000"/>
                </a:solidFill>
                <a:latin typeface="Montserrat Classic"/>
              </a:rPr>
              <a:t> </a:t>
            </a:r>
            <a:r>
              <a:rPr lang="en-US" sz="2100" dirty="0" err="1">
                <a:solidFill>
                  <a:srgbClr val="000000"/>
                </a:solidFill>
                <a:latin typeface="Montserrat Classic"/>
              </a:rPr>
              <a:t>Divisi</a:t>
            </a:r>
            <a:r>
              <a:rPr lang="en-US" sz="2100" dirty="0">
                <a:solidFill>
                  <a:srgbClr val="000000"/>
                </a:solidFill>
                <a:latin typeface="Montserrat Classic"/>
              </a:rPr>
              <a:t>/</a:t>
            </a:r>
            <a:r>
              <a:rPr lang="en-US" sz="2100" dirty="0" err="1">
                <a:solidFill>
                  <a:srgbClr val="000000"/>
                </a:solidFill>
                <a:latin typeface="Montserrat Classic"/>
              </a:rPr>
              <a:t>Kepala</a:t>
            </a:r>
            <a:r>
              <a:rPr lang="en-US" sz="2100" dirty="0">
                <a:solidFill>
                  <a:srgbClr val="000000"/>
                </a:solidFill>
                <a:latin typeface="Montserrat Classic"/>
              </a:rPr>
              <a:t> SPI/</a:t>
            </a:r>
            <a:r>
              <a:rPr lang="en-US" sz="2100" dirty="0" err="1">
                <a:solidFill>
                  <a:srgbClr val="000000"/>
                </a:solidFill>
                <a:latin typeface="Montserrat Classic"/>
              </a:rPr>
              <a:t>Sekretaris</a:t>
            </a:r>
            <a:r>
              <a:rPr lang="en-US" sz="2100" dirty="0">
                <a:solidFill>
                  <a:srgbClr val="000000"/>
                </a:solidFill>
                <a:latin typeface="Montserrat Classic"/>
              </a:rPr>
              <a:t> Perusahaan/</a:t>
            </a:r>
            <a:r>
              <a:rPr lang="en-US" sz="2100" dirty="0" err="1">
                <a:solidFill>
                  <a:srgbClr val="000000"/>
                </a:solidFill>
                <a:latin typeface="Montserrat Classic"/>
              </a:rPr>
              <a:t>Korwil</a:t>
            </a:r>
            <a:r>
              <a:rPr lang="en-US" sz="2100" dirty="0">
                <a:solidFill>
                  <a:srgbClr val="000000"/>
                </a:solidFill>
                <a:latin typeface="Montserrat Classic"/>
              </a:rPr>
              <a:t>, </a:t>
            </a:r>
            <a:r>
              <a:rPr lang="en-US" sz="2100" dirty="0" err="1">
                <a:solidFill>
                  <a:srgbClr val="000000"/>
                </a:solidFill>
                <a:latin typeface="Montserrat Classic"/>
              </a:rPr>
              <a:t>Kepala</a:t>
            </a:r>
            <a:r>
              <a:rPr lang="en-US" sz="2100" dirty="0">
                <a:solidFill>
                  <a:srgbClr val="000000"/>
                </a:solidFill>
                <a:latin typeface="Montserrat Classic"/>
              </a:rPr>
              <a:t> </a:t>
            </a:r>
            <a:r>
              <a:rPr lang="en-US" sz="2100" dirty="0" err="1">
                <a:solidFill>
                  <a:srgbClr val="000000"/>
                </a:solidFill>
                <a:latin typeface="Montserrat Classic"/>
              </a:rPr>
              <a:t>Bagian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pejabat</a:t>
            </a:r>
            <a:r>
              <a:rPr lang="en-US" sz="2100" dirty="0">
                <a:solidFill>
                  <a:srgbClr val="000000"/>
                </a:solidFill>
                <a:latin typeface="Montserrat Classic"/>
              </a:rPr>
              <a:t> lain </a:t>
            </a:r>
            <a:r>
              <a:rPr lang="en-US" sz="2100" dirty="0" err="1">
                <a:solidFill>
                  <a:srgbClr val="000000"/>
                </a:solidFill>
                <a:latin typeface="Montserrat Classic"/>
              </a:rPr>
              <a:t>setingkat</a:t>
            </a:r>
            <a:r>
              <a:rPr lang="en-US" sz="2100" dirty="0">
                <a:solidFill>
                  <a:srgbClr val="000000"/>
                </a:solidFill>
                <a:latin typeface="Montserrat Classic"/>
              </a:rPr>
              <a:t> </a:t>
            </a:r>
            <a:r>
              <a:rPr lang="en-US" sz="2100" dirty="0" err="1">
                <a:solidFill>
                  <a:srgbClr val="000000"/>
                </a:solidFill>
                <a:latin typeface="Montserrat Classic"/>
              </a:rPr>
              <a:t>Kepala</a:t>
            </a:r>
            <a:r>
              <a:rPr lang="en-US" sz="2100" dirty="0">
                <a:solidFill>
                  <a:srgbClr val="000000"/>
                </a:solidFill>
                <a:latin typeface="Montserrat Classic"/>
              </a:rPr>
              <a:t> </a:t>
            </a:r>
            <a:r>
              <a:rPr lang="en-US" sz="2100" dirty="0" err="1">
                <a:solidFill>
                  <a:srgbClr val="000000"/>
                </a:solidFill>
                <a:latin typeface="Montserrat Classic"/>
              </a:rPr>
              <a:t>Divisi</a:t>
            </a:r>
            <a:r>
              <a:rPr lang="en-US" sz="2100" dirty="0">
                <a:solidFill>
                  <a:srgbClr val="000000"/>
                </a:solidFill>
                <a:latin typeface="Montserrat Classic"/>
              </a:rPr>
              <a:t>/ </a:t>
            </a:r>
            <a:r>
              <a:rPr lang="en-US" sz="2100" dirty="0" err="1">
                <a:solidFill>
                  <a:srgbClr val="000000"/>
                </a:solidFill>
                <a:latin typeface="Montserrat Classic"/>
              </a:rPr>
              <a:t>Bagian</a:t>
            </a:r>
            <a:r>
              <a:rPr lang="en-US" sz="2100" dirty="0" smtClean="0">
                <a:solidFill>
                  <a:srgbClr val="000000"/>
                </a:solidFill>
                <a:latin typeface="Montserrat Classic"/>
              </a:rPr>
              <a:t>.</a:t>
            </a:r>
            <a:endParaRPr lang="en-US" sz="2100" dirty="0">
              <a:solidFill>
                <a:srgbClr val="000000"/>
              </a:solidFill>
              <a:latin typeface="Montserrat Class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4662819">
            <a:off x="8624511" y="-3249215"/>
            <a:ext cx="12794948" cy="882863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4131607" y="5666164"/>
            <a:ext cx="11300655" cy="9184351"/>
          </a:xfrm>
          <a:prstGeom prst="rect">
            <a:avLst/>
          </a:prstGeom>
        </p:spPr>
      </p:pic>
      <p:sp>
        <p:nvSpPr>
          <p:cNvPr id="4" name="TextBox 4"/>
          <p:cNvSpPr txBox="1"/>
          <p:nvPr/>
        </p:nvSpPr>
        <p:spPr>
          <a:xfrm>
            <a:off x="1028700" y="759460"/>
            <a:ext cx="17259300" cy="624205"/>
          </a:xfrm>
          <a:prstGeom prst="rect">
            <a:avLst/>
          </a:prstGeom>
        </p:spPr>
        <p:txBody>
          <a:bodyPr lIns="0" tIns="0" rIns="0" bIns="0" rtlCol="0" anchor="t">
            <a:spAutoFit/>
          </a:bodyPr>
          <a:lstStyle/>
          <a:p>
            <a:pPr>
              <a:lnSpc>
                <a:spcPts val="4700"/>
              </a:lnSpc>
            </a:pPr>
            <a:r>
              <a:rPr lang="en-US" sz="4700">
                <a:solidFill>
                  <a:srgbClr val="004AAD"/>
                </a:solidFill>
                <a:latin typeface="Montserrat Classic"/>
              </a:rPr>
              <a:t>H. ARTI ISTILAH </a:t>
            </a:r>
          </a:p>
        </p:txBody>
      </p:sp>
      <p:sp>
        <p:nvSpPr>
          <p:cNvPr id="5" name="TextBox 5"/>
          <p:cNvSpPr txBox="1"/>
          <p:nvPr/>
        </p:nvSpPr>
        <p:spPr>
          <a:xfrm>
            <a:off x="16916401" y="9153525"/>
            <a:ext cx="629078" cy="589905"/>
          </a:xfrm>
          <a:prstGeom prst="rect">
            <a:avLst/>
          </a:prstGeom>
        </p:spPr>
        <p:txBody>
          <a:bodyPr wrap="square" lIns="0" tIns="0" rIns="0" bIns="0" rtlCol="0" anchor="t">
            <a:spAutoFit/>
          </a:bodyPr>
          <a:lstStyle/>
          <a:p>
            <a:pPr algn="ctr">
              <a:lnSpc>
                <a:spcPts val="4647"/>
              </a:lnSpc>
            </a:pPr>
            <a:r>
              <a:rPr lang="id-ID" sz="3319" dirty="0">
                <a:solidFill>
                  <a:srgbClr val="000000"/>
                </a:solidFill>
                <a:latin typeface="Telegraf"/>
              </a:rPr>
              <a:t>2</a:t>
            </a:r>
            <a:r>
              <a:rPr lang="en-US" sz="3319" dirty="0" smtClean="0">
                <a:solidFill>
                  <a:srgbClr val="000000"/>
                </a:solidFill>
                <a:latin typeface="Telegraf"/>
              </a:rPr>
              <a:t>0</a:t>
            </a:r>
            <a:endParaRPr lang="en-US" sz="3319" dirty="0">
              <a:solidFill>
                <a:srgbClr val="000000"/>
              </a:solidFill>
              <a:latin typeface="Telegraf"/>
            </a:endParaRPr>
          </a:p>
        </p:txBody>
      </p:sp>
      <p:sp>
        <p:nvSpPr>
          <p:cNvPr id="6" name="TextBox 6"/>
          <p:cNvSpPr txBox="1"/>
          <p:nvPr/>
        </p:nvSpPr>
        <p:spPr>
          <a:xfrm>
            <a:off x="1028700" y="239079"/>
            <a:ext cx="15734960" cy="6691897"/>
          </a:xfrm>
          <a:prstGeom prst="rect">
            <a:avLst/>
          </a:prstGeom>
        </p:spPr>
        <p:txBody>
          <a:bodyPr lIns="0" tIns="0" rIns="0" bIns="0" rtlCol="0" anchor="t">
            <a:spAutoFit/>
          </a:bodyPr>
          <a:lstStyle/>
          <a:p>
            <a:pPr>
              <a:lnSpc>
                <a:spcPts val="3123"/>
              </a:lnSpc>
            </a:pPr>
            <a:endParaRPr dirty="0"/>
          </a:p>
          <a:p>
            <a:pPr>
              <a:lnSpc>
                <a:spcPts val="3255"/>
              </a:lnSpc>
            </a:pPr>
            <a:r>
              <a:rPr lang="en-US" sz="2100" dirty="0">
                <a:solidFill>
                  <a:srgbClr val="000000"/>
                </a:solidFill>
                <a:latin typeface="Montserrat Classic"/>
              </a:rPr>
              <a:t>.</a:t>
            </a: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Suap</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menjanjikan</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seorang</a:t>
            </a:r>
            <a:r>
              <a:rPr lang="en-US" sz="2100" dirty="0">
                <a:solidFill>
                  <a:srgbClr val="000000"/>
                </a:solidFill>
                <a:latin typeface="Montserrat Classic"/>
              </a:rPr>
              <a:t> </a:t>
            </a:r>
            <a:r>
              <a:rPr lang="en-US" sz="2100" dirty="0" err="1">
                <a:solidFill>
                  <a:srgbClr val="000000"/>
                </a:solidFill>
                <a:latin typeface="Montserrat Classic"/>
              </a:rPr>
              <a:t>Pejabat</a:t>
            </a:r>
            <a:r>
              <a:rPr lang="en-US" sz="2100" dirty="0">
                <a:solidFill>
                  <a:srgbClr val="000000"/>
                </a:solidFill>
                <a:latin typeface="Montserrat Classic"/>
              </a:rPr>
              <a:t>/</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maksud</a:t>
            </a:r>
            <a:r>
              <a:rPr lang="en-US" sz="2100" dirty="0">
                <a:solidFill>
                  <a:srgbClr val="000000"/>
                </a:solidFill>
                <a:latin typeface="Montserrat Classic"/>
              </a:rPr>
              <a:t> agar </a:t>
            </a:r>
            <a:r>
              <a:rPr lang="en-US" sz="2100" dirty="0" err="1">
                <a:solidFill>
                  <a:srgbClr val="000000"/>
                </a:solidFill>
                <a:latin typeface="Montserrat Classic"/>
              </a:rPr>
              <a:t>pejabat</a:t>
            </a:r>
            <a:r>
              <a:rPr lang="en-US" sz="2100" dirty="0">
                <a:solidFill>
                  <a:srgbClr val="000000"/>
                </a:solidFill>
                <a:latin typeface="Montserrat Classic"/>
              </a:rPr>
              <a:t> </a:t>
            </a:r>
            <a:r>
              <a:rPr lang="en-US" sz="2100" dirty="0" err="1">
                <a:solidFill>
                  <a:srgbClr val="000000"/>
                </a:solidFill>
                <a:latin typeface="Montserrat Classic"/>
              </a:rPr>
              <a:t>tersebut</a:t>
            </a:r>
            <a:r>
              <a:rPr lang="en-US" sz="2100" dirty="0">
                <a:solidFill>
                  <a:srgbClr val="000000"/>
                </a:solidFill>
                <a:latin typeface="Montserrat Classic"/>
              </a:rPr>
              <a:t> </a:t>
            </a:r>
            <a:r>
              <a:rPr lang="en-US" sz="2100" dirty="0" err="1">
                <a:solidFill>
                  <a:srgbClr val="000000"/>
                </a:solidFill>
                <a:latin typeface="Montserrat Classic"/>
              </a:rPr>
              <a:t>berbuat</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berbuat</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yang </a:t>
            </a:r>
            <a:r>
              <a:rPr lang="en-US" sz="2100" dirty="0" err="1">
                <a:solidFill>
                  <a:srgbClr val="000000"/>
                </a:solidFill>
                <a:latin typeface="Montserrat Classic"/>
              </a:rPr>
              <a:t>bertentangan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kewajibannya</a:t>
            </a:r>
            <a:endParaRPr lang="id-ID"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Korupsi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yang </a:t>
            </a:r>
            <a:r>
              <a:rPr lang="en-US" sz="2100" dirty="0" err="1">
                <a:solidFill>
                  <a:srgbClr val="000000"/>
                </a:solidFill>
                <a:latin typeface="Montserrat Classic"/>
              </a:rPr>
              <a:t>melawan</a:t>
            </a:r>
            <a:r>
              <a:rPr lang="en-US" sz="2100" dirty="0">
                <a:solidFill>
                  <a:srgbClr val="000000"/>
                </a:solidFill>
                <a:latin typeface="Montserrat Classic"/>
              </a:rPr>
              <a:t> </a:t>
            </a:r>
            <a:r>
              <a:rPr lang="en-US" sz="2100" dirty="0" err="1">
                <a:solidFill>
                  <a:srgbClr val="000000"/>
                </a:solidFill>
                <a:latin typeface="Montserrat Classic"/>
              </a:rPr>
              <a:t>hukum</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memperkaya</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sendiri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 </a:t>
            </a:r>
            <a:r>
              <a:rPr lang="en-US" sz="2100" dirty="0" err="1">
                <a:solidFill>
                  <a:srgbClr val="000000"/>
                </a:solidFill>
                <a:latin typeface="Montserrat Classic"/>
              </a:rPr>
              <a:t>atau</a:t>
            </a:r>
            <a:r>
              <a:rPr lang="en-US" sz="2100" dirty="0">
                <a:solidFill>
                  <a:srgbClr val="000000"/>
                </a:solidFill>
                <a:latin typeface="Montserrat Classic"/>
              </a:rPr>
              <a:t> orang lain </a:t>
            </a:r>
            <a:r>
              <a:rPr lang="en-US" sz="2100" dirty="0" err="1">
                <a:solidFill>
                  <a:srgbClr val="000000"/>
                </a:solidFill>
                <a:latin typeface="Montserrat Classic"/>
              </a:rPr>
              <a:t>dalam</a:t>
            </a:r>
            <a:r>
              <a:rPr lang="en-US" sz="2100" dirty="0">
                <a:solidFill>
                  <a:srgbClr val="000000"/>
                </a:solidFill>
                <a:latin typeface="Montserrat Classic"/>
              </a:rPr>
              <a:t> Perusahaan yang </a:t>
            </a:r>
            <a:r>
              <a:rPr lang="en-US" sz="2100" dirty="0" err="1">
                <a:solidFill>
                  <a:srgbClr val="000000"/>
                </a:solidFill>
                <a:latin typeface="Montserrat Classic"/>
              </a:rPr>
              <a:t>sama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sama</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menyebabkan</a:t>
            </a:r>
            <a:r>
              <a:rPr lang="en-US" sz="2100" dirty="0">
                <a:solidFill>
                  <a:srgbClr val="000000"/>
                </a:solidFill>
                <a:latin typeface="Montserrat Classic"/>
              </a:rPr>
              <a:t> </a:t>
            </a:r>
            <a:r>
              <a:rPr lang="en-US" sz="2100" dirty="0" err="1">
                <a:solidFill>
                  <a:srgbClr val="000000"/>
                </a:solidFill>
                <a:latin typeface="Montserrat Classic"/>
              </a:rPr>
              <a:t>kerugian</a:t>
            </a:r>
            <a:r>
              <a:rPr lang="en-US" sz="2100" dirty="0">
                <a:solidFill>
                  <a:srgbClr val="000000"/>
                </a:solidFill>
                <a:latin typeface="Montserrat Classic"/>
              </a:rPr>
              <a:t> </a:t>
            </a:r>
            <a:r>
              <a:rPr lang="en-US" sz="2100" dirty="0" err="1">
                <a:solidFill>
                  <a:srgbClr val="000000"/>
                </a:solidFill>
                <a:latin typeface="Montserrat Classic"/>
              </a:rPr>
              <a:t>bagi</a:t>
            </a:r>
            <a:r>
              <a:rPr lang="en-US" sz="2100" dirty="0">
                <a:solidFill>
                  <a:srgbClr val="000000"/>
                </a:solidFill>
                <a:latin typeface="Montserrat Classic"/>
              </a:rPr>
              <a:t> Negara </a:t>
            </a:r>
            <a:r>
              <a:rPr lang="en-US" sz="2100" dirty="0" err="1">
                <a:solidFill>
                  <a:srgbClr val="000000"/>
                </a:solidFill>
                <a:latin typeface="Montserrat Classic"/>
              </a:rPr>
              <a:t>dan</a:t>
            </a:r>
            <a:r>
              <a:rPr lang="en-US" sz="2100" dirty="0">
                <a:solidFill>
                  <a:srgbClr val="000000"/>
                </a:solidFill>
                <a:latin typeface="Montserrat Classic"/>
              </a:rPr>
              <a:t> /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ekonomi</a:t>
            </a:r>
            <a:r>
              <a:rPr lang="en-US" sz="2100" dirty="0">
                <a:solidFill>
                  <a:srgbClr val="000000"/>
                </a:solidFill>
                <a:latin typeface="Montserrat Classic"/>
              </a:rPr>
              <a:t> Negara</a:t>
            </a:r>
            <a:endParaRPr lang="id-ID"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Kolusi</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permufakatan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kerjasama</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melawan</a:t>
            </a:r>
            <a:r>
              <a:rPr lang="en-US" sz="2100" dirty="0">
                <a:solidFill>
                  <a:srgbClr val="000000"/>
                </a:solidFill>
                <a:latin typeface="Montserrat Classic"/>
              </a:rPr>
              <a:t> </a:t>
            </a:r>
            <a:r>
              <a:rPr lang="en-US" sz="2100" dirty="0" err="1">
                <a:solidFill>
                  <a:srgbClr val="000000"/>
                </a:solidFill>
                <a:latin typeface="Montserrat Classic"/>
              </a:rPr>
              <a:t>hukum</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a:t>
            </a:r>
            <a:r>
              <a:rPr lang="en-US" sz="2100" dirty="0" err="1">
                <a:solidFill>
                  <a:srgbClr val="000000"/>
                </a:solidFill>
                <a:latin typeface="Montserrat Classic"/>
              </a:rPr>
              <a:t>Penyelenggara</a:t>
            </a:r>
            <a:r>
              <a:rPr lang="en-US" sz="2100" dirty="0">
                <a:solidFill>
                  <a:srgbClr val="000000"/>
                </a:solidFill>
                <a:latin typeface="Montserrat Classic"/>
              </a:rPr>
              <a:t> Negara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a:t>
            </a:r>
            <a:r>
              <a:rPr lang="en-US" sz="2100" dirty="0" err="1">
                <a:solidFill>
                  <a:srgbClr val="000000"/>
                </a:solidFill>
                <a:latin typeface="Montserrat Classic"/>
              </a:rPr>
              <a:t>Penyelenggara</a:t>
            </a:r>
            <a:r>
              <a:rPr lang="en-US" sz="2100" dirty="0">
                <a:solidFill>
                  <a:srgbClr val="000000"/>
                </a:solidFill>
                <a:latin typeface="Montserrat Classic"/>
              </a:rPr>
              <a:t> Negara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yang </a:t>
            </a:r>
            <a:r>
              <a:rPr lang="en-US" sz="2100" dirty="0" err="1">
                <a:solidFill>
                  <a:srgbClr val="000000"/>
                </a:solidFill>
                <a:latin typeface="Montserrat Classic"/>
              </a:rPr>
              <a:t>merugikan</a:t>
            </a:r>
            <a:r>
              <a:rPr lang="en-US" sz="2100" dirty="0">
                <a:solidFill>
                  <a:srgbClr val="000000"/>
                </a:solidFill>
                <a:latin typeface="Montserrat Classic"/>
              </a:rPr>
              <a:t> orang lain,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 </a:t>
            </a:r>
            <a:r>
              <a:rPr lang="en-US" sz="2100" dirty="0" err="1">
                <a:solidFill>
                  <a:srgbClr val="000000"/>
                </a:solidFill>
                <a:latin typeface="Montserrat Classic"/>
              </a:rPr>
              <a:t>atau</a:t>
            </a:r>
            <a:r>
              <a:rPr lang="en-US" sz="2100" dirty="0">
                <a:solidFill>
                  <a:srgbClr val="000000"/>
                </a:solidFill>
                <a:latin typeface="Montserrat Classic"/>
              </a:rPr>
              <a:t> Negara</a:t>
            </a:r>
            <a:endParaRPr lang="id-ID" sz="2100" dirty="0">
              <a:solidFill>
                <a:srgbClr val="000000"/>
              </a:solidFill>
              <a:latin typeface="Montserrat Classic"/>
            </a:endParaRPr>
          </a:p>
          <a:p>
            <a:pPr marL="342900" indent="-342900">
              <a:lnSpc>
                <a:spcPts val="3255"/>
              </a:lnSpc>
              <a:buFont typeface="Arial" panose="020B0604020202020204" pitchFamily="34" charset="0"/>
              <a:buChar char="•"/>
            </a:pPr>
            <a:r>
              <a:rPr lang="en-US" sz="2100" dirty="0" err="1">
                <a:solidFill>
                  <a:srgbClr val="000000"/>
                </a:solidFill>
                <a:latin typeface="Montserrat Classic"/>
              </a:rPr>
              <a:t>Nepotisme</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melawan</a:t>
            </a:r>
            <a:r>
              <a:rPr lang="en-US" sz="2100" dirty="0">
                <a:solidFill>
                  <a:srgbClr val="000000"/>
                </a:solidFill>
                <a:latin typeface="Montserrat Classic"/>
              </a:rPr>
              <a:t> </a:t>
            </a:r>
            <a:r>
              <a:rPr lang="en-US" sz="2100" dirty="0" err="1">
                <a:solidFill>
                  <a:srgbClr val="000000"/>
                </a:solidFill>
                <a:latin typeface="Montserrat Classic"/>
              </a:rPr>
              <a:t>hukum</a:t>
            </a:r>
            <a:r>
              <a:rPr lang="en-US" sz="2100" dirty="0">
                <a:solidFill>
                  <a:srgbClr val="000000"/>
                </a:solidFill>
                <a:latin typeface="Montserrat Classic"/>
              </a:rPr>
              <a:t> yang </a:t>
            </a:r>
            <a:r>
              <a:rPr lang="en-US" sz="2100" dirty="0" err="1">
                <a:solidFill>
                  <a:srgbClr val="000000"/>
                </a:solidFill>
                <a:latin typeface="Montserrat Classic"/>
              </a:rPr>
              <a:t>menguntungkan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keluarganya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terdekat</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 di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bangsa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negara</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922735" y="4622173"/>
            <a:ext cx="9458068" cy="1061086"/>
          </a:xfrm>
          <a:prstGeom prst="rect">
            <a:avLst/>
          </a:prstGeom>
        </p:spPr>
        <p:txBody>
          <a:bodyPr lIns="0" tIns="0" rIns="0" bIns="0" rtlCol="0" anchor="t">
            <a:spAutoFit/>
          </a:bodyPr>
          <a:lstStyle/>
          <a:p>
            <a:pPr>
              <a:lnSpc>
                <a:spcPts val="7920"/>
              </a:lnSpc>
            </a:pPr>
            <a:r>
              <a:rPr lang="en-US" sz="8000">
                <a:solidFill>
                  <a:srgbClr val="2BB4D4"/>
                </a:solidFill>
                <a:latin typeface="Montserrat Classic"/>
              </a:rPr>
              <a:t>II. ETIKA BISNIS</a:t>
            </a:r>
          </a:p>
        </p:txBody>
      </p:sp>
      <p:sp>
        <p:nvSpPr>
          <p:cNvPr id="6"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21</a:t>
            </a:r>
            <a:endParaRPr lang="en-US" sz="3319" dirty="0">
              <a:solidFill>
                <a:srgbClr val="000000"/>
              </a:solidFill>
              <a:latin typeface="Telegraf"/>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682823" y="1935577"/>
            <a:ext cx="3862077" cy="449357"/>
          </a:xfrm>
          <a:prstGeom prst="rect">
            <a:avLst/>
          </a:prstGeom>
        </p:spPr>
        <p:txBody>
          <a:bodyPr lIns="0" tIns="0" rIns="0" bIns="0" rtlCol="0" anchor="t">
            <a:spAutoFit/>
          </a:bodyPr>
          <a:lstStyle/>
          <a:p>
            <a:pPr>
              <a:lnSpc>
                <a:spcPts val="3329"/>
              </a:lnSpc>
            </a:pPr>
            <a:r>
              <a:rPr lang="en-US" sz="3329">
                <a:solidFill>
                  <a:srgbClr val="004AAD"/>
                </a:solidFill>
                <a:latin typeface="Montserrat Classic"/>
              </a:rPr>
              <a:t>ETIKA BISNIS</a:t>
            </a:r>
          </a:p>
        </p:txBody>
      </p:sp>
      <p:sp>
        <p:nvSpPr>
          <p:cNvPr id="6" name="TextBox 6"/>
          <p:cNvSpPr txBox="1"/>
          <p:nvPr/>
        </p:nvSpPr>
        <p:spPr>
          <a:xfrm>
            <a:off x="1682823" y="2619525"/>
            <a:ext cx="14108035" cy="3037576"/>
          </a:xfrm>
          <a:prstGeom prst="rect">
            <a:avLst/>
          </a:prstGeom>
        </p:spPr>
        <p:txBody>
          <a:bodyPr lIns="0" tIns="0" rIns="0" bIns="0" rtlCol="0" anchor="t">
            <a:spAutoFit/>
          </a:bodyPr>
          <a:lstStyle/>
          <a:p>
            <a:pPr>
              <a:lnSpc>
                <a:spcPts val="3459"/>
              </a:lnSpc>
            </a:pPr>
            <a:r>
              <a:rPr lang="en-US" sz="2189">
                <a:solidFill>
                  <a:srgbClr val="000000"/>
                </a:solidFill>
                <a:latin typeface="Montserrat Classic"/>
              </a:rPr>
              <a:t>Suatu perusahaan dalam menjalankan aktivitas bisnisnya, harus memperhatikan etika baik untuk internal maupun eksternal Perusahaan. Etika merupakan suatu norma moral dan nilai yang menjadi dasar bagi seseorang atau suatu kelompok dalam mengatur tingkah lakunya. Etika bisnis Perusahaan merupakan penjelasan bagaimana suatu entitas bisnis bersikap beretika dan bertindak dalam upaya menyeimbangkan kepentingan Perusahaan dengan kepentingan segenap Stakeholders sesuai dengan prinsip-prinsip GCG dan nilai-nilai korporasi yang sehat dengan tetap menjaga profitabilitas Perusahaan.</a:t>
            </a: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22</a:t>
            </a:r>
            <a:endParaRPr lang="en-US" sz="3319" dirty="0">
              <a:solidFill>
                <a:srgbClr val="000000"/>
              </a:solidFill>
              <a:latin typeface="Telegraf"/>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431867" y="-9259971"/>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898163" y="-10091254"/>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3724596" y="-1175876"/>
            <a:ext cx="11300655" cy="9184351"/>
          </a:xfrm>
          <a:prstGeom prst="rect">
            <a:avLst/>
          </a:prstGeom>
        </p:spPr>
      </p:pic>
      <p:sp>
        <p:nvSpPr>
          <p:cNvPr id="5" name="TextBox 5"/>
          <p:cNvSpPr txBox="1"/>
          <p:nvPr/>
        </p:nvSpPr>
        <p:spPr>
          <a:xfrm>
            <a:off x="1562004" y="2122369"/>
            <a:ext cx="15507670" cy="8963159"/>
          </a:xfrm>
          <a:prstGeom prst="rect">
            <a:avLst/>
          </a:prstGeom>
        </p:spPr>
        <p:txBody>
          <a:bodyPr lIns="0" tIns="0" rIns="0" bIns="0" rtlCol="0" anchor="t">
            <a:spAutoFit/>
          </a:bodyPr>
          <a:lstStyle/>
          <a:p>
            <a:pPr>
              <a:lnSpc>
                <a:spcPts val="2659"/>
              </a:lnSpc>
              <a:spcBef>
                <a:spcPct val="0"/>
              </a:spcBef>
            </a:pPr>
            <a:r>
              <a:rPr lang="en-US" sz="1899" dirty="0" err="1">
                <a:solidFill>
                  <a:srgbClr val="000000"/>
                </a:solidFill>
                <a:latin typeface="Montserrat Classic"/>
              </a:rPr>
              <a:t>Kepatuhan</a:t>
            </a:r>
            <a:r>
              <a:rPr lang="en-US" sz="1899" dirty="0">
                <a:solidFill>
                  <a:srgbClr val="000000"/>
                </a:solidFill>
                <a:latin typeface="Montserrat Classic"/>
              </a:rPr>
              <a:t> </a:t>
            </a:r>
            <a:r>
              <a:rPr lang="en-US" sz="1899" dirty="0" err="1">
                <a:solidFill>
                  <a:srgbClr val="000000"/>
                </a:solidFill>
                <a:latin typeface="Montserrat Classic"/>
              </a:rPr>
              <a:t>terhadap</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peraturan</a:t>
            </a:r>
            <a:r>
              <a:rPr lang="en-US" sz="1899" dirty="0">
                <a:solidFill>
                  <a:srgbClr val="000000"/>
                </a:solidFill>
                <a:latin typeface="Montserrat Classic"/>
              </a:rPr>
              <a:t> </a:t>
            </a:r>
            <a:r>
              <a:rPr lang="en-US" sz="1899" dirty="0" err="1">
                <a:solidFill>
                  <a:srgbClr val="000000"/>
                </a:solidFill>
                <a:latin typeface="Montserrat Classic"/>
              </a:rPr>
              <a:t>perundang-undangan</a:t>
            </a:r>
            <a:r>
              <a:rPr lang="en-US" sz="1899" dirty="0">
                <a:solidFill>
                  <a:srgbClr val="000000"/>
                </a:solidFill>
                <a:latin typeface="Montserrat Classic"/>
              </a:rPr>
              <a:t> </a:t>
            </a:r>
            <a:r>
              <a:rPr lang="en-US" sz="1899" dirty="0" err="1">
                <a:solidFill>
                  <a:srgbClr val="000000"/>
                </a:solidFill>
                <a:latin typeface="Montserrat Classic"/>
              </a:rPr>
              <a:t>merupakan</a:t>
            </a:r>
            <a:r>
              <a:rPr lang="en-US" sz="1899" dirty="0">
                <a:solidFill>
                  <a:srgbClr val="000000"/>
                </a:solidFill>
                <a:latin typeface="Montserrat Classic"/>
              </a:rPr>
              <a:t> </a:t>
            </a:r>
            <a:r>
              <a:rPr lang="en-US" sz="1899" dirty="0" err="1">
                <a:solidFill>
                  <a:srgbClr val="000000"/>
                </a:solidFill>
                <a:latin typeface="Montserrat Classic"/>
              </a:rPr>
              <a:t>standar</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dalam</a:t>
            </a:r>
            <a:r>
              <a:rPr lang="en-US" sz="1899" dirty="0">
                <a:solidFill>
                  <a:srgbClr val="000000"/>
                </a:solidFill>
                <a:latin typeface="Montserrat Classic"/>
              </a:rPr>
              <a:t> </a:t>
            </a:r>
            <a:r>
              <a:rPr lang="en-US" sz="1899" dirty="0" err="1">
                <a:solidFill>
                  <a:srgbClr val="000000"/>
                </a:solidFill>
                <a:latin typeface="Montserrat Classic"/>
              </a:rPr>
              <a:t>menjalankan</a:t>
            </a:r>
            <a:r>
              <a:rPr lang="en-US" sz="1899" dirty="0">
                <a:solidFill>
                  <a:srgbClr val="000000"/>
                </a:solidFill>
                <a:latin typeface="Montserrat Classic"/>
              </a:rPr>
              <a:t> </a:t>
            </a:r>
            <a:r>
              <a:rPr lang="en-US" sz="1899" dirty="0" err="1">
                <a:solidFill>
                  <a:srgbClr val="000000"/>
                </a:solidFill>
                <a:latin typeface="Montserrat Classic"/>
              </a:rPr>
              <a:t>aktivitas</a:t>
            </a:r>
            <a:r>
              <a:rPr lang="en-US" sz="1899" dirty="0">
                <a:solidFill>
                  <a:srgbClr val="000000"/>
                </a:solidFill>
                <a:latin typeface="Montserrat Classic"/>
              </a:rPr>
              <a:t> </a:t>
            </a:r>
            <a:r>
              <a:rPr lang="en-US" sz="1899" dirty="0" err="1">
                <a:solidFill>
                  <a:srgbClr val="000000"/>
                </a:solidFill>
                <a:latin typeface="Montserrat Classic"/>
              </a:rPr>
              <a:t>bisnisnya</a:t>
            </a:r>
            <a:r>
              <a:rPr lang="en-US" sz="1899" dirty="0">
                <a:solidFill>
                  <a:srgbClr val="000000"/>
                </a:solidFill>
                <a:latin typeface="Montserrat Classic"/>
              </a:rPr>
              <a:t>. </a:t>
            </a:r>
            <a:r>
              <a:rPr lang="en-US" sz="1899" dirty="0" err="1">
                <a:solidFill>
                  <a:srgbClr val="000000"/>
                </a:solidFill>
                <a:latin typeface="Montserrat Classic"/>
              </a:rPr>
              <a:t>Memahami</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peraturan</a:t>
            </a:r>
            <a:r>
              <a:rPr lang="en-US" sz="1899" dirty="0">
                <a:solidFill>
                  <a:srgbClr val="000000"/>
                </a:solidFill>
                <a:latin typeface="Montserrat Classic"/>
              </a:rPr>
              <a:t> yang </a:t>
            </a:r>
            <a:r>
              <a:rPr lang="en-US" sz="1899" dirty="0" err="1">
                <a:solidFill>
                  <a:srgbClr val="000000"/>
                </a:solidFill>
                <a:latin typeface="Montserrat Classic"/>
              </a:rPr>
              <a:t>berlaku</a:t>
            </a:r>
            <a:r>
              <a:rPr lang="en-US" sz="1899" dirty="0">
                <a:solidFill>
                  <a:srgbClr val="000000"/>
                </a:solidFill>
                <a:latin typeface="Montserrat Classic"/>
              </a:rPr>
              <a:t> di </a:t>
            </a:r>
            <a:r>
              <a:rPr lang="en-US" sz="1899" dirty="0" err="1">
                <a:solidFill>
                  <a:srgbClr val="000000"/>
                </a:solidFill>
                <a:latin typeface="Montserrat Classic"/>
              </a:rPr>
              <a:t>segala</a:t>
            </a:r>
            <a:r>
              <a:rPr lang="en-US" sz="1899" dirty="0">
                <a:solidFill>
                  <a:srgbClr val="000000"/>
                </a:solidFill>
                <a:latin typeface="Montserrat Classic"/>
              </a:rPr>
              <a:t> </a:t>
            </a:r>
            <a:r>
              <a:rPr lang="en-US" sz="1899" dirty="0" err="1">
                <a:solidFill>
                  <a:srgbClr val="000000"/>
                </a:solidFill>
                <a:latin typeface="Montserrat Classic"/>
              </a:rPr>
              <a:t>aktivitas</a:t>
            </a:r>
            <a:r>
              <a:rPr lang="en-US" sz="1899" dirty="0">
                <a:solidFill>
                  <a:srgbClr val="000000"/>
                </a:solidFill>
                <a:latin typeface="Montserrat Classic"/>
              </a:rPr>
              <a:t> </a:t>
            </a:r>
            <a:r>
              <a:rPr lang="en-US" sz="1899" dirty="0" err="1">
                <a:solidFill>
                  <a:srgbClr val="000000"/>
                </a:solidFill>
                <a:latin typeface="Montserrat Classic"/>
              </a:rPr>
              <a:t>harus</a:t>
            </a:r>
            <a:r>
              <a:rPr lang="en-US" sz="1899" dirty="0">
                <a:solidFill>
                  <a:srgbClr val="000000"/>
                </a:solidFill>
                <a:latin typeface="Montserrat Classic"/>
              </a:rPr>
              <a:t> </a:t>
            </a:r>
            <a:r>
              <a:rPr lang="en-US" sz="1899" dirty="0" err="1">
                <a:solidFill>
                  <a:srgbClr val="000000"/>
                </a:solidFill>
                <a:latin typeface="Montserrat Classic"/>
              </a:rPr>
              <a:t>dihayati</a:t>
            </a:r>
            <a:r>
              <a:rPr lang="en-US" sz="1899" dirty="0">
                <a:solidFill>
                  <a:srgbClr val="000000"/>
                </a:solidFill>
                <a:latin typeface="Montserrat Classic"/>
              </a:rPr>
              <a:t> </a:t>
            </a:r>
            <a:r>
              <a:rPr lang="en-US" sz="1899" dirty="0" err="1">
                <a:solidFill>
                  <a:srgbClr val="000000"/>
                </a:solidFill>
                <a:latin typeface="Montserrat Classic"/>
              </a:rPr>
              <a:t>oleh</a:t>
            </a:r>
            <a:r>
              <a:rPr lang="en-US" sz="1899" dirty="0">
                <a:solidFill>
                  <a:srgbClr val="000000"/>
                </a:solidFill>
                <a:latin typeface="Montserrat Classic"/>
              </a:rPr>
              <a:t> </a:t>
            </a:r>
            <a:r>
              <a:rPr lang="en-US" sz="1899" dirty="0" err="1">
                <a:solidFill>
                  <a:srgbClr val="000000"/>
                </a:solidFill>
                <a:latin typeface="Montserrat Classic"/>
              </a:rPr>
              <a:t>Insan</a:t>
            </a:r>
            <a:r>
              <a:rPr lang="en-US" sz="1899" dirty="0">
                <a:solidFill>
                  <a:srgbClr val="000000"/>
                </a:solidFill>
                <a:latin typeface="Montserrat Classic"/>
              </a:rPr>
              <a:t> Perusahaan </a:t>
            </a:r>
            <a:r>
              <a:rPr lang="en-US" sz="1899" dirty="0" err="1">
                <a:solidFill>
                  <a:srgbClr val="000000"/>
                </a:solidFill>
                <a:latin typeface="Montserrat Classic"/>
              </a:rPr>
              <a:t>dalam</a:t>
            </a:r>
            <a:r>
              <a:rPr lang="en-US" sz="1899" dirty="0">
                <a:solidFill>
                  <a:srgbClr val="000000"/>
                </a:solidFill>
                <a:latin typeface="Montserrat Classic"/>
              </a:rPr>
              <a:t> </a:t>
            </a:r>
            <a:r>
              <a:rPr lang="en-US" sz="1899" dirty="0" err="1">
                <a:solidFill>
                  <a:srgbClr val="000000"/>
                </a:solidFill>
                <a:latin typeface="Montserrat Classic"/>
              </a:rPr>
              <a:t>setiap</a:t>
            </a:r>
            <a:r>
              <a:rPr lang="en-US" sz="1899" dirty="0">
                <a:solidFill>
                  <a:srgbClr val="000000"/>
                </a:solidFill>
                <a:latin typeface="Montserrat Classic"/>
              </a:rPr>
              <a:t> </a:t>
            </a:r>
            <a:r>
              <a:rPr lang="en-US" sz="1899" dirty="0" err="1">
                <a:solidFill>
                  <a:srgbClr val="000000"/>
                </a:solidFill>
                <a:latin typeface="Montserrat Classic"/>
              </a:rPr>
              <a:t>kegiatan</a:t>
            </a:r>
            <a:r>
              <a:rPr lang="en-US" sz="1899" dirty="0">
                <a:solidFill>
                  <a:srgbClr val="000000"/>
                </a:solidFill>
                <a:latin typeface="Montserrat Classic"/>
              </a:rPr>
              <a:t> </a:t>
            </a:r>
            <a:r>
              <a:rPr lang="en-US" sz="1899" dirty="0" err="1">
                <a:solidFill>
                  <a:srgbClr val="000000"/>
                </a:solidFill>
                <a:latin typeface="Montserrat Classic"/>
              </a:rPr>
              <a:t>bisnis</a:t>
            </a:r>
            <a:r>
              <a:rPr lang="en-US" sz="1899" dirty="0">
                <a:solidFill>
                  <a:srgbClr val="000000"/>
                </a:solidFill>
                <a:latin typeface="Montserrat Classic"/>
              </a:rPr>
              <a:t> </a:t>
            </a:r>
            <a:r>
              <a:rPr lang="en-US" sz="1899" dirty="0" err="1">
                <a:solidFill>
                  <a:srgbClr val="000000"/>
                </a:solidFill>
                <a:latin typeface="Montserrat Classic"/>
              </a:rPr>
              <a:t>melalui</a:t>
            </a:r>
            <a:r>
              <a:rPr lang="en-US" sz="1899" dirty="0">
                <a:solidFill>
                  <a:srgbClr val="000000"/>
                </a:solidFill>
                <a:latin typeface="Montserrat Classic"/>
              </a:rPr>
              <a:t> </a:t>
            </a:r>
            <a:r>
              <a:rPr lang="en-US" sz="1899" dirty="0" err="1">
                <a:solidFill>
                  <a:srgbClr val="000000"/>
                </a:solidFill>
                <a:latin typeface="Montserrat Classic"/>
              </a:rPr>
              <a:t>komitmen</a:t>
            </a:r>
            <a:r>
              <a:rPr lang="en-US" sz="1899" dirty="0">
                <a:solidFill>
                  <a:srgbClr val="000000"/>
                </a:solidFill>
                <a:latin typeface="Montserrat Classic"/>
              </a:rPr>
              <a:t> </a:t>
            </a:r>
            <a:r>
              <a:rPr lang="en-US" sz="1899" dirty="0" err="1">
                <a:solidFill>
                  <a:srgbClr val="000000"/>
                </a:solidFill>
                <a:latin typeface="Montserrat Classic"/>
              </a:rPr>
              <a:t>sebagai</a:t>
            </a:r>
            <a:r>
              <a:rPr lang="en-US" sz="1899" dirty="0">
                <a:solidFill>
                  <a:srgbClr val="000000"/>
                </a:solidFill>
                <a:latin typeface="Montserrat Classic"/>
              </a:rPr>
              <a:t> </a:t>
            </a:r>
            <a:r>
              <a:rPr lang="en-US" sz="1899" dirty="0" err="1">
                <a:solidFill>
                  <a:srgbClr val="000000"/>
                </a:solidFill>
                <a:latin typeface="Montserrat Classic"/>
              </a:rPr>
              <a:t>berikut</a:t>
            </a:r>
            <a:r>
              <a:rPr lang="en-US" sz="1899" dirty="0">
                <a:solidFill>
                  <a:srgbClr val="000000"/>
                </a:solidFill>
                <a:latin typeface="Montserrat Classic"/>
              </a:rPr>
              <a:t> :</a:t>
            </a:r>
          </a:p>
          <a:p>
            <a:pPr>
              <a:lnSpc>
                <a:spcPts val="2659"/>
              </a:lnSpc>
              <a:spcBef>
                <a:spcPct val="0"/>
              </a:spcBef>
            </a:pPr>
            <a:endParaRPr lang="en-US" sz="1899" dirty="0">
              <a:solidFill>
                <a:srgbClr val="000000"/>
              </a:solidFill>
              <a:latin typeface="Montserrat Classic"/>
            </a:endParaRPr>
          </a:p>
          <a:p>
            <a:pPr marL="457200" indent="-457200">
              <a:lnSpc>
                <a:spcPts val="2659"/>
              </a:lnSpc>
              <a:spcBef>
                <a:spcPct val="0"/>
              </a:spcBef>
              <a:buFont typeface="+mj-lt"/>
              <a:buAutoNum type="arabicPeriod"/>
            </a:pPr>
            <a:r>
              <a:rPr lang="en-US" sz="1899" dirty="0" err="1">
                <a:solidFill>
                  <a:srgbClr val="000000"/>
                </a:solidFill>
                <a:latin typeface="Montserrat Classic"/>
              </a:rPr>
              <a:t>Seluruh</a:t>
            </a:r>
            <a:r>
              <a:rPr lang="en-US" sz="1899" dirty="0">
                <a:solidFill>
                  <a:srgbClr val="000000"/>
                </a:solidFill>
                <a:latin typeface="Montserrat Classic"/>
              </a:rPr>
              <a:t> </a:t>
            </a:r>
            <a:r>
              <a:rPr lang="en-US" sz="1899" dirty="0" err="1">
                <a:solidFill>
                  <a:srgbClr val="000000"/>
                </a:solidFill>
                <a:latin typeface="Montserrat Classic"/>
              </a:rPr>
              <a:t>insan</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berkewajiban</a:t>
            </a:r>
            <a:r>
              <a:rPr lang="en-US" sz="1899" dirty="0">
                <a:solidFill>
                  <a:srgbClr val="000000"/>
                </a:solidFill>
                <a:latin typeface="Montserrat Classic"/>
              </a:rPr>
              <a:t> </a:t>
            </a:r>
            <a:r>
              <a:rPr lang="en-US" sz="1899" dirty="0" err="1">
                <a:solidFill>
                  <a:srgbClr val="000000"/>
                </a:solidFill>
                <a:latin typeface="Montserrat Classic"/>
              </a:rPr>
              <a:t>untuk</a:t>
            </a:r>
            <a:r>
              <a:rPr lang="en-US" sz="1899" dirty="0">
                <a:solidFill>
                  <a:srgbClr val="000000"/>
                </a:solidFill>
                <a:latin typeface="Montserrat Classic"/>
              </a:rPr>
              <a:t> </a:t>
            </a:r>
            <a:r>
              <a:rPr lang="en-US" sz="1899" dirty="0" err="1">
                <a:solidFill>
                  <a:srgbClr val="000000"/>
                </a:solidFill>
                <a:latin typeface="Montserrat Classic"/>
              </a:rPr>
              <a:t>memahami</a:t>
            </a:r>
            <a:r>
              <a:rPr lang="en-US" sz="1899" dirty="0">
                <a:solidFill>
                  <a:srgbClr val="000000"/>
                </a:solidFill>
                <a:latin typeface="Montserrat Classic"/>
              </a:rPr>
              <a:t>, </a:t>
            </a:r>
            <a:r>
              <a:rPr lang="en-US" sz="1899" dirty="0" err="1">
                <a:solidFill>
                  <a:srgbClr val="000000"/>
                </a:solidFill>
                <a:latin typeface="Montserrat Classic"/>
              </a:rPr>
              <a:t>mematuhi</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melaksanakan</a:t>
            </a:r>
            <a:r>
              <a:rPr lang="en-US" sz="1899" dirty="0">
                <a:solidFill>
                  <a:srgbClr val="000000"/>
                </a:solidFill>
                <a:latin typeface="Montserrat Classic"/>
              </a:rPr>
              <a:t> </a:t>
            </a:r>
            <a:r>
              <a:rPr lang="en-US" sz="1899" dirty="0" err="1">
                <a:solidFill>
                  <a:srgbClr val="000000"/>
                </a:solidFill>
                <a:latin typeface="Montserrat Classic"/>
              </a:rPr>
              <a:t>kebijakan</a:t>
            </a:r>
            <a:r>
              <a:rPr lang="en-US" sz="1899" dirty="0">
                <a:solidFill>
                  <a:srgbClr val="000000"/>
                </a:solidFill>
                <a:latin typeface="Montserrat Classic"/>
              </a:rPr>
              <a:t>/</a:t>
            </a:r>
            <a:r>
              <a:rPr lang="en-US" sz="1899" dirty="0" err="1">
                <a:solidFill>
                  <a:srgbClr val="000000"/>
                </a:solidFill>
                <a:latin typeface="Montserrat Classic"/>
              </a:rPr>
              <a:t>peraturan</a:t>
            </a:r>
            <a:r>
              <a:rPr lang="en-US" sz="1899" dirty="0">
                <a:solidFill>
                  <a:srgbClr val="000000"/>
                </a:solidFill>
                <a:latin typeface="Montserrat Classic"/>
              </a:rPr>
              <a:t> yang </a:t>
            </a:r>
            <a:r>
              <a:rPr lang="en-US" sz="1899" dirty="0" err="1">
                <a:solidFill>
                  <a:srgbClr val="000000"/>
                </a:solidFill>
                <a:latin typeface="Montserrat Classic"/>
              </a:rPr>
              <a:t>diterbitkan</a:t>
            </a:r>
            <a:r>
              <a:rPr lang="en-US" sz="1899" dirty="0">
                <a:solidFill>
                  <a:srgbClr val="000000"/>
                </a:solidFill>
                <a:latin typeface="Montserrat Classic"/>
              </a:rPr>
              <a:t> </a:t>
            </a:r>
            <a:r>
              <a:rPr lang="en-US" sz="1899" dirty="0" err="1">
                <a:solidFill>
                  <a:srgbClr val="000000"/>
                </a:solidFill>
                <a:latin typeface="Montserrat Classic"/>
              </a:rPr>
              <a:t>oleh</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peraturan</a:t>
            </a:r>
            <a:r>
              <a:rPr lang="en-US" sz="1899" dirty="0">
                <a:solidFill>
                  <a:srgbClr val="000000"/>
                </a:solidFill>
                <a:latin typeface="Montserrat Classic"/>
              </a:rPr>
              <a:t> </a:t>
            </a:r>
            <a:r>
              <a:rPr lang="en-US" sz="1899" dirty="0" err="1">
                <a:solidFill>
                  <a:srgbClr val="000000"/>
                </a:solidFill>
                <a:latin typeface="Montserrat Classic"/>
              </a:rPr>
              <a:t>perundang-undangan</a:t>
            </a:r>
            <a:r>
              <a:rPr lang="en-US" sz="1899" dirty="0">
                <a:solidFill>
                  <a:srgbClr val="000000"/>
                </a:solidFill>
                <a:latin typeface="Montserrat Classic"/>
              </a:rPr>
              <a:t> </a:t>
            </a:r>
            <a:r>
              <a:rPr lang="en-US" sz="1899" dirty="0" err="1">
                <a:solidFill>
                  <a:srgbClr val="000000"/>
                </a:solidFill>
                <a:latin typeface="Montserrat Classic"/>
              </a:rPr>
              <a:t>secara</a:t>
            </a:r>
            <a:r>
              <a:rPr lang="en-US" sz="1899" dirty="0">
                <a:solidFill>
                  <a:srgbClr val="000000"/>
                </a:solidFill>
                <a:latin typeface="Montserrat Classic"/>
              </a:rPr>
              <a:t> </a:t>
            </a:r>
            <a:r>
              <a:rPr lang="en-US" sz="1899" dirty="0" err="1">
                <a:solidFill>
                  <a:srgbClr val="000000"/>
                </a:solidFill>
                <a:latin typeface="Montserrat Classic"/>
              </a:rPr>
              <a:t>konsisten</a:t>
            </a:r>
            <a:r>
              <a:rPr lang="en-US" sz="1899" dirty="0">
                <a:solidFill>
                  <a:srgbClr val="000000"/>
                </a:solidFill>
                <a:latin typeface="Montserrat Classic"/>
              </a:rPr>
              <a:t>.</a:t>
            </a:r>
          </a:p>
          <a:p>
            <a:pPr>
              <a:lnSpc>
                <a:spcPts val="2659"/>
              </a:lnSpc>
              <a:spcBef>
                <a:spcPct val="0"/>
              </a:spcBef>
            </a:pPr>
            <a:endParaRPr lang="en-US" sz="1899" dirty="0">
              <a:solidFill>
                <a:srgbClr val="000000"/>
              </a:solidFill>
              <a:latin typeface="Montserrat Classic"/>
            </a:endParaRPr>
          </a:p>
          <a:p>
            <a:pPr marL="457200" indent="-457200">
              <a:lnSpc>
                <a:spcPts val="2659"/>
              </a:lnSpc>
              <a:spcBef>
                <a:spcPct val="0"/>
              </a:spcBef>
              <a:buFont typeface="+mj-lt"/>
              <a:buAutoNum type="arabicPeriod" startAt="2"/>
            </a:pPr>
            <a:r>
              <a:rPr lang="en-US" sz="1899" dirty="0" err="1">
                <a:solidFill>
                  <a:srgbClr val="000000"/>
                </a:solidFill>
                <a:latin typeface="Montserrat Classic"/>
              </a:rPr>
              <a:t>Setiap</a:t>
            </a:r>
            <a:r>
              <a:rPr lang="en-US" sz="1899" dirty="0">
                <a:solidFill>
                  <a:srgbClr val="000000"/>
                </a:solidFill>
                <a:latin typeface="Montserrat Classic"/>
              </a:rPr>
              <a:t> </a:t>
            </a:r>
            <a:r>
              <a:rPr lang="en-US" sz="1899" dirty="0" err="1">
                <a:solidFill>
                  <a:srgbClr val="000000"/>
                </a:solidFill>
                <a:latin typeface="Montserrat Classic"/>
              </a:rPr>
              <a:t>insan</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harus</a:t>
            </a:r>
            <a:r>
              <a:rPr lang="en-US" sz="1899" dirty="0">
                <a:solidFill>
                  <a:srgbClr val="000000"/>
                </a:solidFill>
                <a:latin typeface="Montserrat Classic"/>
              </a:rPr>
              <a:t> </a:t>
            </a:r>
            <a:r>
              <a:rPr lang="en-US" sz="1899" dirty="0" err="1">
                <a:solidFill>
                  <a:srgbClr val="000000"/>
                </a:solidFill>
                <a:latin typeface="Montserrat Classic"/>
              </a:rPr>
              <a:t>menghindari</a:t>
            </a:r>
            <a:r>
              <a:rPr lang="en-US" sz="1899" dirty="0">
                <a:solidFill>
                  <a:srgbClr val="000000"/>
                </a:solidFill>
                <a:latin typeface="Montserrat Classic"/>
              </a:rPr>
              <a:t> </a:t>
            </a:r>
            <a:r>
              <a:rPr lang="en-US" sz="1899" dirty="0" err="1">
                <a:solidFill>
                  <a:srgbClr val="000000"/>
                </a:solidFill>
                <a:latin typeface="Montserrat Classic"/>
              </a:rPr>
              <a:t>setiap</a:t>
            </a:r>
            <a:r>
              <a:rPr lang="en-US" sz="1899" dirty="0">
                <a:solidFill>
                  <a:srgbClr val="000000"/>
                </a:solidFill>
                <a:latin typeface="Montserrat Classic"/>
              </a:rPr>
              <a:t> </a:t>
            </a:r>
            <a:r>
              <a:rPr lang="en-US" sz="1899" dirty="0" err="1">
                <a:solidFill>
                  <a:srgbClr val="000000"/>
                </a:solidFill>
                <a:latin typeface="Montserrat Classic"/>
              </a:rPr>
              <a:t>tindakan</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perilaku</a:t>
            </a:r>
            <a:r>
              <a:rPr lang="en-US" sz="1899" dirty="0">
                <a:solidFill>
                  <a:srgbClr val="000000"/>
                </a:solidFill>
                <a:latin typeface="Montserrat Classic"/>
              </a:rPr>
              <a:t> yang </a:t>
            </a:r>
            <a:r>
              <a:rPr lang="en-US" sz="1899" dirty="0" err="1">
                <a:solidFill>
                  <a:srgbClr val="000000"/>
                </a:solidFill>
                <a:latin typeface="Montserrat Classic"/>
              </a:rPr>
              <a:t>dapat</a:t>
            </a:r>
            <a:r>
              <a:rPr lang="en-US" sz="1899" dirty="0">
                <a:solidFill>
                  <a:srgbClr val="000000"/>
                </a:solidFill>
                <a:latin typeface="Montserrat Classic"/>
              </a:rPr>
              <a:t> </a:t>
            </a:r>
            <a:r>
              <a:rPr lang="en-US" sz="1899" dirty="0" err="1">
                <a:solidFill>
                  <a:srgbClr val="000000"/>
                </a:solidFill>
                <a:latin typeface="Montserrat Classic"/>
              </a:rPr>
              <a:t>menimbulkan</a:t>
            </a:r>
            <a:r>
              <a:rPr lang="en-US" sz="1899" dirty="0">
                <a:solidFill>
                  <a:srgbClr val="000000"/>
                </a:solidFill>
                <a:latin typeface="Montserrat Classic"/>
              </a:rPr>
              <a:t> </a:t>
            </a:r>
            <a:r>
              <a:rPr lang="en-US" sz="1899" dirty="0" err="1">
                <a:solidFill>
                  <a:srgbClr val="000000"/>
                </a:solidFill>
                <a:latin typeface="Montserrat Classic"/>
              </a:rPr>
              <a:t>pelanggaran</a:t>
            </a:r>
            <a:r>
              <a:rPr lang="en-US" sz="1899" dirty="0">
                <a:solidFill>
                  <a:srgbClr val="000000"/>
                </a:solidFill>
                <a:latin typeface="Montserrat Classic"/>
              </a:rPr>
              <a:t> </a:t>
            </a:r>
            <a:r>
              <a:rPr lang="en-US" sz="1899" dirty="0" err="1">
                <a:solidFill>
                  <a:srgbClr val="000000"/>
                </a:solidFill>
                <a:latin typeface="Montserrat Classic"/>
              </a:rPr>
              <a:t>terhadap</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perundang-undangan</a:t>
            </a:r>
            <a:r>
              <a:rPr lang="en-US" sz="1899" dirty="0">
                <a:solidFill>
                  <a:srgbClr val="000000"/>
                </a:solidFill>
                <a:latin typeface="Montserrat Classic"/>
              </a:rPr>
              <a:t>.</a:t>
            </a:r>
          </a:p>
          <a:p>
            <a:pPr>
              <a:lnSpc>
                <a:spcPts val="2659"/>
              </a:lnSpc>
              <a:spcBef>
                <a:spcPct val="0"/>
              </a:spcBef>
            </a:pPr>
            <a:endParaRPr lang="en-US" sz="1899" dirty="0">
              <a:solidFill>
                <a:srgbClr val="000000"/>
              </a:solidFill>
              <a:latin typeface="Montserrat Classic"/>
            </a:endParaRPr>
          </a:p>
          <a:p>
            <a:pPr marL="457200" indent="-457200">
              <a:lnSpc>
                <a:spcPts val="2659"/>
              </a:lnSpc>
              <a:spcBef>
                <a:spcPct val="0"/>
              </a:spcBef>
              <a:buFont typeface="+mj-lt"/>
              <a:buAutoNum type="arabicPeriod" startAt="3"/>
            </a:pPr>
            <a:r>
              <a:rPr lang="en-US" sz="1899" dirty="0" err="1">
                <a:solidFill>
                  <a:srgbClr val="000000"/>
                </a:solidFill>
                <a:latin typeface="Montserrat Classic"/>
              </a:rPr>
              <a:t>Segala</a:t>
            </a:r>
            <a:r>
              <a:rPr lang="en-US" sz="1899" dirty="0">
                <a:solidFill>
                  <a:srgbClr val="000000"/>
                </a:solidFill>
                <a:latin typeface="Montserrat Classic"/>
              </a:rPr>
              <a:t> </a:t>
            </a:r>
            <a:r>
              <a:rPr lang="en-US" sz="1899" dirty="0" err="1">
                <a:solidFill>
                  <a:srgbClr val="000000"/>
                </a:solidFill>
                <a:latin typeface="Montserrat Classic"/>
              </a:rPr>
              <a:t>bentuk</a:t>
            </a:r>
            <a:r>
              <a:rPr lang="en-US" sz="1899" dirty="0">
                <a:solidFill>
                  <a:srgbClr val="000000"/>
                </a:solidFill>
                <a:latin typeface="Montserrat Classic"/>
              </a:rPr>
              <a:t> </a:t>
            </a:r>
            <a:r>
              <a:rPr lang="en-US" sz="1899" dirty="0" err="1">
                <a:solidFill>
                  <a:srgbClr val="000000"/>
                </a:solidFill>
                <a:latin typeface="Montserrat Classic"/>
              </a:rPr>
              <a:t>ketidakpatuhan</a:t>
            </a:r>
            <a:r>
              <a:rPr lang="en-US" sz="1899" dirty="0">
                <a:solidFill>
                  <a:srgbClr val="000000"/>
                </a:solidFill>
                <a:latin typeface="Montserrat Classic"/>
              </a:rPr>
              <a:t> yang </a:t>
            </a:r>
            <a:r>
              <a:rPr lang="en-US" sz="1899" dirty="0" err="1">
                <a:solidFill>
                  <a:srgbClr val="000000"/>
                </a:solidFill>
                <a:latin typeface="Montserrat Classic"/>
              </a:rPr>
              <a:t>dilakukan</a:t>
            </a:r>
            <a:r>
              <a:rPr lang="en-US" sz="1899" dirty="0">
                <a:solidFill>
                  <a:srgbClr val="000000"/>
                </a:solidFill>
                <a:latin typeface="Montserrat Classic"/>
              </a:rPr>
              <a:t> </a:t>
            </a:r>
            <a:r>
              <a:rPr lang="en-US" sz="1899" dirty="0" err="1">
                <a:solidFill>
                  <a:srgbClr val="000000"/>
                </a:solidFill>
                <a:latin typeface="Montserrat Classic"/>
              </a:rPr>
              <a:t>insan</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terhadap</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perundang-undangan</a:t>
            </a:r>
            <a:r>
              <a:rPr lang="en-US" sz="1899" dirty="0">
                <a:solidFill>
                  <a:srgbClr val="000000"/>
                </a:solidFill>
                <a:latin typeface="Montserrat Classic"/>
              </a:rPr>
              <a:t> </a:t>
            </a:r>
            <a:r>
              <a:rPr lang="en-US" sz="1899" dirty="0" err="1">
                <a:solidFill>
                  <a:srgbClr val="000000"/>
                </a:solidFill>
                <a:latin typeface="Montserrat Classic"/>
              </a:rPr>
              <a:t>tidak</a:t>
            </a:r>
            <a:r>
              <a:rPr lang="en-US" sz="1899" dirty="0">
                <a:solidFill>
                  <a:srgbClr val="000000"/>
                </a:solidFill>
                <a:latin typeface="Montserrat Classic"/>
              </a:rPr>
              <a:t> </a:t>
            </a:r>
            <a:r>
              <a:rPr lang="en-US" sz="1899" dirty="0" err="1">
                <a:solidFill>
                  <a:srgbClr val="000000"/>
                </a:solidFill>
                <a:latin typeface="Montserrat Classic"/>
              </a:rPr>
              <a:t>dapat</a:t>
            </a:r>
            <a:r>
              <a:rPr lang="en-US" sz="1899" dirty="0">
                <a:solidFill>
                  <a:srgbClr val="000000"/>
                </a:solidFill>
                <a:latin typeface="Montserrat Classic"/>
              </a:rPr>
              <a:t> </a:t>
            </a:r>
            <a:r>
              <a:rPr lang="en-US" sz="1899" dirty="0" err="1">
                <a:solidFill>
                  <a:srgbClr val="000000"/>
                </a:solidFill>
                <a:latin typeface="Montserrat Classic"/>
              </a:rPr>
              <a:t>ditolerir</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akan</a:t>
            </a:r>
            <a:r>
              <a:rPr lang="en-US" sz="1899" dirty="0">
                <a:solidFill>
                  <a:srgbClr val="000000"/>
                </a:solidFill>
                <a:latin typeface="Montserrat Classic"/>
              </a:rPr>
              <a:t> </a:t>
            </a:r>
            <a:r>
              <a:rPr lang="en-US" sz="1899" dirty="0" err="1">
                <a:solidFill>
                  <a:srgbClr val="000000"/>
                </a:solidFill>
                <a:latin typeface="Montserrat Classic"/>
              </a:rPr>
              <a:t>dikenakan</a:t>
            </a:r>
            <a:r>
              <a:rPr lang="en-US" sz="1899" dirty="0">
                <a:solidFill>
                  <a:srgbClr val="000000"/>
                </a:solidFill>
                <a:latin typeface="Montserrat Classic"/>
              </a:rPr>
              <a:t> </a:t>
            </a:r>
            <a:r>
              <a:rPr lang="en-US" sz="1899" dirty="0" err="1">
                <a:solidFill>
                  <a:srgbClr val="000000"/>
                </a:solidFill>
                <a:latin typeface="Montserrat Classic"/>
              </a:rPr>
              <a:t>sanksi</a:t>
            </a:r>
            <a:r>
              <a:rPr lang="en-US" sz="1899" dirty="0">
                <a:solidFill>
                  <a:srgbClr val="000000"/>
                </a:solidFill>
                <a:latin typeface="Montserrat Classic"/>
              </a:rPr>
              <a:t> </a:t>
            </a:r>
            <a:r>
              <a:rPr lang="en-US" sz="1899" dirty="0" err="1">
                <a:solidFill>
                  <a:srgbClr val="000000"/>
                </a:solidFill>
                <a:latin typeface="Montserrat Classic"/>
              </a:rPr>
              <a:t>sesuai</a:t>
            </a:r>
            <a:r>
              <a:rPr lang="en-US" sz="1899" dirty="0">
                <a:solidFill>
                  <a:srgbClr val="000000"/>
                </a:solidFill>
                <a:latin typeface="Montserrat Classic"/>
              </a:rPr>
              <a:t> </a:t>
            </a:r>
            <a:r>
              <a:rPr lang="en-US" sz="1899" dirty="0" err="1">
                <a:solidFill>
                  <a:srgbClr val="000000"/>
                </a:solidFill>
                <a:latin typeface="Montserrat Classic"/>
              </a:rPr>
              <a:t>dengan</a:t>
            </a:r>
            <a:r>
              <a:rPr lang="en-US" sz="1899" dirty="0">
                <a:solidFill>
                  <a:srgbClr val="000000"/>
                </a:solidFill>
                <a:latin typeface="Montserrat Classic"/>
              </a:rPr>
              <a:t> </a:t>
            </a:r>
            <a:r>
              <a:rPr lang="en-US" sz="1899" dirty="0" err="1">
                <a:solidFill>
                  <a:srgbClr val="000000"/>
                </a:solidFill>
                <a:latin typeface="Montserrat Classic"/>
              </a:rPr>
              <a:t>tingkat</a:t>
            </a:r>
            <a:r>
              <a:rPr lang="en-US" sz="1899" dirty="0">
                <a:solidFill>
                  <a:srgbClr val="000000"/>
                </a:solidFill>
                <a:latin typeface="Montserrat Classic"/>
              </a:rPr>
              <a:t> </a:t>
            </a:r>
            <a:r>
              <a:rPr lang="en-US" sz="1899" dirty="0" err="1">
                <a:solidFill>
                  <a:srgbClr val="000000"/>
                </a:solidFill>
                <a:latin typeface="Montserrat Classic"/>
              </a:rPr>
              <a:t>ketidakpatuhannya</a:t>
            </a:r>
            <a:endParaRPr lang="en-US" sz="1899" dirty="0">
              <a:solidFill>
                <a:srgbClr val="000000"/>
              </a:solidFill>
              <a:latin typeface="Montserrat Classic"/>
            </a:endParaRPr>
          </a:p>
          <a:p>
            <a:pPr>
              <a:lnSpc>
                <a:spcPts val="2659"/>
              </a:lnSpc>
              <a:spcBef>
                <a:spcPct val="0"/>
              </a:spcBef>
            </a:pPr>
            <a:endParaRPr lang="en-US" sz="1899" dirty="0">
              <a:solidFill>
                <a:srgbClr val="000000"/>
              </a:solidFill>
              <a:latin typeface="Montserrat Classic"/>
            </a:endParaRPr>
          </a:p>
          <a:p>
            <a:pPr marL="457200" indent="-457200">
              <a:lnSpc>
                <a:spcPts val="2659"/>
              </a:lnSpc>
              <a:spcBef>
                <a:spcPct val="0"/>
              </a:spcBef>
              <a:buFont typeface="+mj-lt"/>
              <a:buAutoNum type="arabicPeriod" startAt="4"/>
            </a:pPr>
            <a:r>
              <a:rPr lang="en-US" sz="1899" dirty="0" err="1">
                <a:solidFill>
                  <a:srgbClr val="000000"/>
                </a:solidFill>
                <a:latin typeface="Montserrat Classic"/>
              </a:rPr>
              <a:t>Setiap</a:t>
            </a:r>
            <a:r>
              <a:rPr lang="en-US" sz="1899" dirty="0">
                <a:solidFill>
                  <a:srgbClr val="000000"/>
                </a:solidFill>
                <a:latin typeface="Montserrat Classic"/>
              </a:rPr>
              <a:t> </a:t>
            </a:r>
            <a:r>
              <a:rPr lang="en-US" sz="1899" dirty="0" err="1">
                <a:solidFill>
                  <a:srgbClr val="000000"/>
                </a:solidFill>
                <a:latin typeface="Montserrat Classic"/>
              </a:rPr>
              <a:t>insan</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tidak</a:t>
            </a:r>
            <a:r>
              <a:rPr lang="en-US" sz="1899" dirty="0">
                <a:solidFill>
                  <a:srgbClr val="000000"/>
                </a:solidFill>
                <a:latin typeface="Montserrat Classic"/>
              </a:rPr>
              <a:t> </a:t>
            </a:r>
            <a:r>
              <a:rPr lang="en-US" sz="1899" dirty="0" err="1">
                <a:solidFill>
                  <a:srgbClr val="000000"/>
                </a:solidFill>
                <a:latin typeface="Montserrat Classic"/>
              </a:rPr>
              <a:t>melakukan</a:t>
            </a:r>
            <a:r>
              <a:rPr lang="en-US" sz="1899" dirty="0">
                <a:solidFill>
                  <a:srgbClr val="000000"/>
                </a:solidFill>
                <a:latin typeface="Montserrat Classic"/>
              </a:rPr>
              <a:t> </a:t>
            </a:r>
            <a:r>
              <a:rPr lang="en-US" sz="1899" dirty="0" err="1">
                <a:solidFill>
                  <a:srgbClr val="000000"/>
                </a:solidFill>
                <a:latin typeface="Montserrat Classic"/>
              </a:rPr>
              <a:t>tindakan</a:t>
            </a:r>
            <a:r>
              <a:rPr lang="en-US" sz="1899" dirty="0">
                <a:solidFill>
                  <a:srgbClr val="000000"/>
                </a:solidFill>
                <a:latin typeface="Montserrat Classic"/>
              </a:rPr>
              <a:t> yang </a:t>
            </a:r>
            <a:r>
              <a:rPr lang="en-US" sz="1899" dirty="0" err="1">
                <a:solidFill>
                  <a:srgbClr val="000000"/>
                </a:solidFill>
                <a:latin typeface="Montserrat Classic"/>
              </a:rPr>
              <a:t>melawan</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dengan</a:t>
            </a:r>
            <a:r>
              <a:rPr lang="en-US" sz="1899" dirty="0">
                <a:solidFill>
                  <a:srgbClr val="000000"/>
                </a:solidFill>
                <a:latin typeface="Montserrat Classic"/>
              </a:rPr>
              <a:t> </a:t>
            </a:r>
            <a:r>
              <a:rPr lang="en-US" sz="1899" dirty="0" err="1">
                <a:solidFill>
                  <a:srgbClr val="000000"/>
                </a:solidFill>
                <a:latin typeface="Montserrat Classic"/>
              </a:rPr>
              <a:t>pihak</a:t>
            </a:r>
            <a:r>
              <a:rPr lang="en-US" sz="1899" dirty="0">
                <a:solidFill>
                  <a:srgbClr val="000000"/>
                </a:solidFill>
                <a:latin typeface="Montserrat Classic"/>
              </a:rPr>
              <a:t> lain yang </a:t>
            </a:r>
            <a:r>
              <a:rPr lang="en-US" sz="1899" dirty="0" err="1">
                <a:solidFill>
                  <a:srgbClr val="000000"/>
                </a:solidFill>
                <a:latin typeface="Montserrat Classic"/>
              </a:rPr>
              <a:t>merugikan</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 </a:t>
            </a:r>
            <a:r>
              <a:rPr lang="en-US" sz="1899" dirty="0" err="1">
                <a:solidFill>
                  <a:srgbClr val="000000"/>
                </a:solidFill>
                <a:latin typeface="Montserrat Classic"/>
              </a:rPr>
              <a:t>baik</a:t>
            </a:r>
            <a:r>
              <a:rPr lang="en-US" sz="1899" dirty="0">
                <a:solidFill>
                  <a:srgbClr val="000000"/>
                </a:solidFill>
                <a:latin typeface="Montserrat Classic"/>
              </a:rPr>
              <a:t> </a:t>
            </a:r>
            <a:r>
              <a:rPr lang="en-US" sz="1899" dirty="0" err="1">
                <a:solidFill>
                  <a:srgbClr val="000000"/>
                </a:solidFill>
                <a:latin typeface="Montserrat Classic"/>
              </a:rPr>
              <a:t>secara</a:t>
            </a:r>
            <a:r>
              <a:rPr lang="en-US" sz="1899" dirty="0">
                <a:solidFill>
                  <a:srgbClr val="000000"/>
                </a:solidFill>
                <a:latin typeface="Montserrat Classic"/>
              </a:rPr>
              <a:t> </a:t>
            </a:r>
            <a:r>
              <a:rPr lang="en-US" sz="1899" dirty="0" err="1">
                <a:solidFill>
                  <a:srgbClr val="000000"/>
                </a:solidFill>
                <a:latin typeface="Montserrat Classic"/>
              </a:rPr>
              <a:t>sendiri-sendiri</a:t>
            </a:r>
            <a:r>
              <a:rPr lang="en-US" sz="1899" dirty="0">
                <a:solidFill>
                  <a:srgbClr val="000000"/>
                </a:solidFill>
                <a:latin typeface="Montserrat Classic"/>
              </a:rPr>
              <a:t> </a:t>
            </a:r>
            <a:r>
              <a:rPr lang="en-US" sz="1899" dirty="0" err="1">
                <a:solidFill>
                  <a:srgbClr val="000000"/>
                </a:solidFill>
                <a:latin typeface="Montserrat Classic"/>
              </a:rPr>
              <a:t>maupun</a:t>
            </a:r>
            <a:r>
              <a:rPr lang="en-US" sz="1899" dirty="0">
                <a:solidFill>
                  <a:srgbClr val="000000"/>
                </a:solidFill>
                <a:latin typeface="Montserrat Classic"/>
              </a:rPr>
              <a:t> </a:t>
            </a:r>
            <a:r>
              <a:rPr lang="en-US" sz="1899" dirty="0" err="1">
                <a:solidFill>
                  <a:srgbClr val="000000"/>
                </a:solidFill>
                <a:latin typeface="Montserrat Classic"/>
              </a:rPr>
              <a:t>bekerjasama</a:t>
            </a:r>
            <a:r>
              <a:rPr lang="en-US" sz="1899" dirty="0">
                <a:solidFill>
                  <a:srgbClr val="000000"/>
                </a:solidFill>
                <a:latin typeface="Montserrat Classic"/>
              </a:rPr>
              <a:t> </a:t>
            </a:r>
            <a:r>
              <a:rPr lang="en-US" sz="1899" dirty="0" err="1">
                <a:solidFill>
                  <a:srgbClr val="000000"/>
                </a:solidFill>
                <a:latin typeface="Montserrat Classic"/>
              </a:rPr>
              <a:t>dengan</a:t>
            </a:r>
            <a:r>
              <a:rPr lang="en-US" sz="1899" dirty="0">
                <a:solidFill>
                  <a:srgbClr val="000000"/>
                </a:solidFill>
                <a:latin typeface="Montserrat Classic"/>
              </a:rPr>
              <a:t> </a:t>
            </a:r>
            <a:r>
              <a:rPr lang="en-US" sz="1899" dirty="0" err="1">
                <a:solidFill>
                  <a:srgbClr val="000000"/>
                </a:solidFill>
                <a:latin typeface="Montserrat Classic"/>
              </a:rPr>
              <a:t>pihak</a:t>
            </a:r>
            <a:r>
              <a:rPr lang="en-US" sz="1899" dirty="0">
                <a:solidFill>
                  <a:srgbClr val="000000"/>
                </a:solidFill>
                <a:latin typeface="Montserrat Classic"/>
              </a:rPr>
              <a:t> lain</a:t>
            </a:r>
          </a:p>
          <a:p>
            <a:pPr>
              <a:lnSpc>
                <a:spcPts val="2659"/>
              </a:lnSpc>
              <a:spcBef>
                <a:spcPct val="0"/>
              </a:spcBef>
            </a:pPr>
            <a:endParaRPr lang="en-US" sz="1899" dirty="0">
              <a:solidFill>
                <a:srgbClr val="000000"/>
              </a:solidFill>
              <a:latin typeface="Montserrat Classic"/>
            </a:endParaRPr>
          </a:p>
          <a:p>
            <a:pPr marL="457200" indent="-457200">
              <a:lnSpc>
                <a:spcPts val="2659"/>
              </a:lnSpc>
              <a:spcBef>
                <a:spcPct val="0"/>
              </a:spcBef>
              <a:buFont typeface="+mj-lt"/>
              <a:buAutoNum type="arabicPeriod" startAt="5"/>
            </a:pPr>
            <a:r>
              <a:rPr lang="en-US" sz="1899" dirty="0" err="1">
                <a:solidFill>
                  <a:srgbClr val="000000"/>
                </a:solidFill>
                <a:latin typeface="Montserrat Classic"/>
              </a:rPr>
              <a:t>Mengedepankan</a:t>
            </a:r>
            <a:r>
              <a:rPr lang="en-US" sz="1899" dirty="0">
                <a:solidFill>
                  <a:srgbClr val="000000"/>
                </a:solidFill>
                <a:latin typeface="Montserrat Classic"/>
              </a:rPr>
              <a:t> </a:t>
            </a:r>
            <a:r>
              <a:rPr lang="en-US" sz="1899" dirty="0" err="1">
                <a:solidFill>
                  <a:srgbClr val="000000"/>
                </a:solidFill>
                <a:latin typeface="Montserrat Classic"/>
              </a:rPr>
              <a:t>penyelesaian</a:t>
            </a:r>
            <a:r>
              <a:rPr lang="en-US" sz="1899" dirty="0">
                <a:solidFill>
                  <a:srgbClr val="000000"/>
                </a:solidFill>
                <a:latin typeface="Montserrat Classic"/>
              </a:rPr>
              <a:t> </a:t>
            </a:r>
            <a:r>
              <a:rPr lang="en-US" sz="1899" dirty="0" err="1">
                <a:solidFill>
                  <a:srgbClr val="000000"/>
                </a:solidFill>
                <a:latin typeface="Montserrat Classic"/>
              </a:rPr>
              <a:t>dengan</a:t>
            </a:r>
            <a:r>
              <a:rPr lang="en-US" sz="1899" dirty="0">
                <a:solidFill>
                  <a:srgbClr val="000000"/>
                </a:solidFill>
                <a:latin typeface="Montserrat Classic"/>
              </a:rPr>
              <a:t> </a:t>
            </a:r>
            <a:r>
              <a:rPr lang="en-US" sz="1899" dirty="0" err="1">
                <a:solidFill>
                  <a:srgbClr val="000000"/>
                </a:solidFill>
                <a:latin typeface="Montserrat Classic"/>
              </a:rPr>
              <a:t>jalur</a:t>
            </a:r>
            <a:r>
              <a:rPr lang="en-US" sz="1899" dirty="0">
                <a:solidFill>
                  <a:srgbClr val="000000"/>
                </a:solidFill>
                <a:latin typeface="Montserrat Classic"/>
              </a:rPr>
              <a:t> </a:t>
            </a:r>
            <a:r>
              <a:rPr lang="en-US" sz="1899" dirty="0" err="1">
                <a:solidFill>
                  <a:srgbClr val="000000"/>
                </a:solidFill>
                <a:latin typeface="Montserrat Classic"/>
              </a:rPr>
              <a:t>musyawarah</a:t>
            </a:r>
            <a:r>
              <a:rPr lang="en-US" sz="1899" dirty="0">
                <a:solidFill>
                  <a:srgbClr val="000000"/>
                </a:solidFill>
                <a:latin typeface="Montserrat Classic"/>
              </a:rPr>
              <a:t> </a:t>
            </a:r>
            <a:r>
              <a:rPr lang="en-US" sz="1899" dirty="0" err="1">
                <a:solidFill>
                  <a:srgbClr val="000000"/>
                </a:solidFill>
                <a:latin typeface="Montserrat Classic"/>
              </a:rPr>
              <a:t>mufakat</a:t>
            </a:r>
            <a:r>
              <a:rPr lang="en-US" sz="1899" dirty="0">
                <a:solidFill>
                  <a:srgbClr val="000000"/>
                </a:solidFill>
                <a:latin typeface="Montserrat Classic"/>
              </a:rPr>
              <a:t> </a:t>
            </a:r>
            <a:r>
              <a:rPr lang="en-US" sz="1899" dirty="0" err="1">
                <a:solidFill>
                  <a:srgbClr val="000000"/>
                </a:solidFill>
                <a:latin typeface="Montserrat Classic"/>
              </a:rPr>
              <a:t>dalam</a:t>
            </a:r>
            <a:r>
              <a:rPr lang="en-US" sz="1899" dirty="0">
                <a:solidFill>
                  <a:srgbClr val="000000"/>
                </a:solidFill>
                <a:latin typeface="Montserrat Classic"/>
              </a:rPr>
              <a:t> </a:t>
            </a:r>
            <a:r>
              <a:rPr lang="en-US" sz="1899" dirty="0" err="1">
                <a:solidFill>
                  <a:srgbClr val="000000"/>
                </a:solidFill>
                <a:latin typeface="Montserrat Classic"/>
              </a:rPr>
              <a:t>setiap</a:t>
            </a:r>
            <a:r>
              <a:rPr lang="en-US" sz="1899" dirty="0">
                <a:solidFill>
                  <a:srgbClr val="000000"/>
                </a:solidFill>
                <a:latin typeface="Montserrat Classic"/>
              </a:rPr>
              <a:t> </a:t>
            </a:r>
            <a:r>
              <a:rPr lang="en-US" sz="1899" dirty="0" err="1">
                <a:solidFill>
                  <a:srgbClr val="000000"/>
                </a:solidFill>
                <a:latin typeface="Montserrat Classic"/>
              </a:rPr>
              <a:t>permasalahan</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apabila</a:t>
            </a:r>
            <a:r>
              <a:rPr lang="en-US" sz="1899" dirty="0">
                <a:solidFill>
                  <a:srgbClr val="000000"/>
                </a:solidFill>
                <a:latin typeface="Montserrat Classic"/>
              </a:rPr>
              <a:t> </a:t>
            </a:r>
            <a:r>
              <a:rPr lang="en-US" sz="1899" dirty="0" err="1">
                <a:solidFill>
                  <a:srgbClr val="000000"/>
                </a:solidFill>
                <a:latin typeface="Montserrat Classic"/>
              </a:rPr>
              <a:t>tidak</a:t>
            </a:r>
            <a:r>
              <a:rPr lang="en-US" sz="1899" dirty="0">
                <a:solidFill>
                  <a:srgbClr val="000000"/>
                </a:solidFill>
                <a:latin typeface="Montserrat Classic"/>
              </a:rPr>
              <a:t> </a:t>
            </a:r>
            <a:r>
              <a:rPr lang="en-US" sz="1899" dirty="0" err="1">
                <a:solidFill>
                  <a:srgbClr val="000000"/>
                </a:solidFill>
                <a:latin typeface="Montserrat Classic"/>
              </a:rPr>
              <a:t>tercapai</a:t>
            </a:r>
            <a:r>
              <a:rPr lang="en-US" sz="1899" dirty="0">
                <a:solidFill>
                  <a:srgbClr val="000000"/>
                </a:solidFill>
                <a:latin typeface="Montserrat Classic"/>
              </a:rPr>
              <a:t> </a:t>
            </a:r>
            <a:r>
              <a:rPr lang="en-US" sz="1899" dirty="0" err="1">
                <a:solidFill>
                  <a:srgbClr val="000000"/>
                </a:solidFill>
                <a:latin typeface="Montserrat Classic"/>
              </a:rPr>
              <a:t>kesepakatan</a:t>
            </a:r>
            <a:r>
              <a:rPr lang="en-US" sz="1899" dirty="0">
                <a:solidFill>
                  <a:srgbClr val="000000"/>
                </a:solidFill>
                <a:latin typeface="Montserrat Classic"/>
              </a:rPr>
              <a:t> </a:t>
            </a:r>
            <a:r>
              <a:rPr lang="en-US" sz="1899" dirty="0" err="1">
                <a:solidFill>
                  <a:srgbClr val="000000"/>
                </a:solidFill>
                <a:latin typeface="Montserrat Classic"/>
              </a:rPr>
              <a:t>maka</a:t>
            </a:r>
            <a:r>
              <a:rPr lang="en-US" sz="1899" dirty="0">
                <a:solidFill>
                  <a:srgbClr val="000000"/>
                </a:solidFill>
                <a:latin typeface="Montserrat Classic"/>
              </a:rPr>
              <a:t> </a:t>
            </a:r>
            <a:r>
              <a:rPr lang="en-US" sz="1899" dirty="0" err="1">
                <a:solidFill>
                  <a:srgbClr val="000000"/>
                </a:solidFill>
                <a:latin typeface="Montserrat Classic"/>
              </a:rPr>
              <a:t>digunakan</a:t>
            </a:r>
            <a:r>
              <a:rPr lang="en-US" sz="1899" dirty="0">
                <a:solidFill>
                  <a:srgbClr val="000000"/>
                </a:solidFill>
                <a:latin typeface="Montserrat Classic"/>
              </a:rPr>
              <a:t> </a:t>
            </a:r>
            <a:r>
              <a:rPr lang="en-US" sz="1899" dirty="0" err="1">
                <a:solidFill>
                  <a:srgbClr val="000000"/>
                </a:solidFill>
                <a:latin typeface="Montserrat Classic"/>
              </a:rPr>
              <a:t>jalur</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menghormati</a:t>
            </a:r>
            <a:r>
              <a:rPr lang="en-US" sz="1899" dirty="0">
                <a:solidFill>
                  <a:srgbClr val="000000"/>
                </a:solidFill>
                <a:latin typeface="Montserrat Classic"/>
              </a:rPr>
              <a:t> proses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keputusan</a:t>
            </a:r>
            <a:r>
              <a:rPr lang="en-US" sz="1899" dirty="0">
                <a:solidFill>
                  <a:srgbClr val="000000"/>
                </a:solidFill>
                <a:latin typeface="Montserrat Classic"/>
              </a:rPr>
              <a:t> yang </a:t>
            </a:r>
            <a:r>
              <a:rPr lang="en-US" sz="1899" dirty="0" err="1">
                <a:solidFill>
                  <a:srgbClr val="000000"/>
                </a:solidFill>
                <a:latin typeface="Montserrat Classic"/>
              </a:rPr>
              <a:t>dihasilkan</a:t>
            </a:r>
            <a:r>
              <a:rPr lang="en-US" sz="1899" dirty="0">
                <a:solidFill>
                  <a:srgbClr val="000000"/>
                </a:solidFill>
                <a:latin typeface="Montserrat Classic"/>
              </a:rPr>
              <a:t>.</a:t>
            </a:r>
          </a:p>
          <a:p>
            <a:pPr>
              <a:lnSpc>
                <a:spcPts val="2659"/>
              </a:lnSpc>
              <a:spcBef>
                <a:spcPct val="0"/>
              </a:spcBef>
            </a:pPr>
            <a:endParaRPr lang="en-US" sz="1899" dirty="0">
              <a:solidFill>
                <a:srgbClr val="000000"/>
              </a:solidFill>
              <a:latin typeface="Montserrat Classic"/>
            </a:endParaRPr>
          </a:p>
          <a:p>
            <a:pPr>
              <a:lnSpc>
                <a:spcPts val="2659"/>
              </a:lnSpc>
              <a:spcBef>
                <a:spcPct val="0"/>
              </a:spcBef>
            </a:pPr>
            <a:r>
              <a:rPr lang="en-US" sz="1899" dirty="0">
                <a:solidFill>
                  <a:srgbClr val="000000"/>
                </a:solidFill>
                <a:latin typeface="Montserrat Classic"/>
              </a:rPr>
              <a:t>Hal-</a:t>
            </a:r>
            <a:r>
              <a:rPr lang="en-US" sz="1899" dirty="0" err="1">
                <a:solidFill>
                  <a:srgbClr val="000000"/>
                </a:solidFill>
                <a:latin typeface="Montserrat Classic"/>
              </a:rPr>
              <a:t>hal</a:t>
            </a:r>
            <a:r>
              <a:rPr lang="en-US" sz="1899" dirty="0">
                <a:solidFill>
                  <a:srgbClr val="000000"/>
                </a:solidFill>
                <a:latin typeface="Montserrat Classic"/>
              </a:rPr>
              <a:t> yang </a:t>
            </a:r>
            <a:r>
              <a:rPr lang="en-US" sz="1899" dirty="0" err="1">
                <a:solidFill>
                  <a:srgbClr val="000000"/>
                </a:solidFill>
                <a:latin typeface="Montserrat Classic"/>
              </a:rPr>
              <a:t>perlu</a:t>
            </a:r>
            <a:r>
              <a:rPr lang="en-US" sz="1899" dirty="0">
                <a:solidFill>
                  <a:srgbClr val="000000"/>
                </a:solidFill>
                <a:latin typeface="Montserrat Classic"/>
              </a:rPr>
              <a:t> </a:t>
            </a:r>
            <a:r>
              <a:rPr lang="en-US" sz="1899" dirty="0" err="1">
                <a:solidFill>
                  <a:srgbClr val="000000"/>
                </a:solidFill>
                <a:latin typeface="Montserrat Classic"/>
              </a:rPr>
              <a:t>mendapat</a:t>
            </a:r>
            <a:r>
              <a:rPr lang="en-US" sz="1899" dirty="0">
                <a:solidFill>
                  <a:srgbClr val="000000"/>
                </a:solidFill>
                <a:latin typeface="Montserrat Classic"/>
              </a:rPr>
              <a:t> </a:t>
            </a:r>
            <a:r>
              <a:rPr lang="en-US" sz="1899" dirty="0" err="1">
                <a:solidFill>
                  <a:srgbClr val="000000"/>
                </a:solidFill>
                <a:latin typeface="Montserrat Classic"/>
              </a:rPr>
              <a:t>ketegasan</a:t>
            </a:r>
            <a:r>
              <a:rPr lang="en-US" sz="1899" dirty="0">
                <a:solidFill>
                  <a:srgbClr val="000000"/>
                </a:solidFill>
                <a:latin typeface="Montserrat Classic"/>
              </a:rPr>
              <a:t> </a:t>
            </a:r>
            <a:r>
              <a:rPr lang="en-US" sz="1899" dirty="0" err="1">
                <a:solidFill>
                  <a:srgbClr val="000000"/>
                </a:solidFill>
                <a:latin typeface="Montserrat Classic"/>
              </a:rPr>
              <a:t>terkait</a:t>
            </a:r>
            <a:r>
              <a:rPr lang="en-US" sz="1899" dirty="0">
                <a:solidFill>
                  <a:srgbClr val="000000"/>
                </a:solidFill>
                <a:latin typeface="Montserrat Classic"/>
              </a:rPr>
              <a:t> </a:t>
            </a:r>
            <a:r>
              <a:rPr lang="en-US" sz="1899" dirty="0" err="1">
                <a:solidFill>
                  <a:srgbClr val="000000"/>
                </a:solidFill>
                <a:latin typeface="Montserrat Classic"/>
              </a:rPr>
              <a:t>permasalahan</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perundangundangan</a:t>
            </a:r>
            <a:r>
              <a:rPr lang="en-US" sz="1899" dirty="0">
                <a:solidFill>
                  <a:srgbClr val="000000"/>
                </a:solidFill>
                <a:latin typeface="Montserrat Classic"/>
              </a:rPr>
              <a:t> agar </a:t>
            </a:r>
            <a:r>
              <a:rPr lang="en-US" sz="1899" dirty="0" err="1">
                <a:solidFill>
                  <a:srgbClr val="000000"/>
                </a:solidFill>
                <a:latin typeface="Montserrat Classic"/>
              </a:rPr>
              <a:t>dikonsultasikan</a:t>
            </a:r>
            <a:r>
              <a:rPr lang="en-US" sz="1899" dirty="0">
                <a:solidFill>
                  <a:srgbClr val="000000"/>
                </a:solidFill>
                <a:latin typeface="Montserrat Classic"/>
              </a:rPr>
              <a:t> </a:t>
            </a:r>
            <a:r>
              <a:rPr lang="en-US" sz="1899" dirty="0" err="1">
                <a:solidFill>
                  <a:srgbClr val="000000"/>
                </a:solidFill>
                <a:latin typeface="Montserrat Classic"/>
              </a:rPr>
              <a:t>dengan</a:t>
            </a:r>
            <a:r>
              <a:rPr lang="en-US" sz="1899" dirty="0">
                <a:solidFill>
                  <a:srgbClr val="000000"/>
                </a:solidFill>
                <a:latin typeface="Montserrat Classic"/>
              </a:rPr>
              <a:t> unit </a:t>
            </a:r>
            <a:r>
              <a:rPr lang="en-US" sz="1899" dirty="0" err="1">
                <a:solidFill>
                  <a:srgbClr val="000000"/>
                </a:solidFill>
                <a:latin typeface="Montserrat Classic"/>
              </a:rPr>
              <a:t>kerja</a:t>
            </a:r>
            <a:r>
              <a:rPr lang="en-US" sz="1899" dirty="0">
                <a:solidFill>
                  <a:srgbClr val="000000"/>
                </a:solidFill>
                <a:latin typeface="Montserrat Classic"/>
              </a:rPr>
              <a:t> </a:t>
            </a:r>
            <a:r>
              <a:rPr lang="en-US" sz="1899" dirty="0" err="1">
                <a:solidFill>
                  <a:srgbClr val="000000"/>
                </a:solidFill>
                <a:latin typeface="Montserrat Classic"/>
              </a:rPr>
              <a:t>terkait</a:t>
            </a:r>
            <a:r>
              <a:rPr lang="en-US" sz="1899" dirty="0">
                <a:solidFill>
                  <a:srgbClr val="000000"/>
                </a:solidFill>
                <a:latin typeface="Montserrat Classic"/>
              </a:rPr>
              <a:t> </a:t>
            </a:r>
            <a:r>
              <a:rPr lang="en-US" sz="1899" dirty="0" err="1">
                <a:solidFill>
                  <a:srgbClr val="000000"/>
                </a:solidFill>
                <a:latin typeface="Montserrat Classic"/>
              </a:rPr>
              <a:t>yaitu</a:t>
            </a:r>
            <a:r>
              <a:rPr lang="en-US" sz="1899" dirty="0">
                <a:solidFill>
                  <a:srgbClr val="000000"/>
                </a:solidFill>
                <a:latin typeface="Montserrat Classic"/>
              </a:rPr>
              <a:t> </a:t>
            </a:r>
            <a:r>
              <a:rPr lang="en-US" sz="1899" dirty="0" err="1">
                <a:solidFill>
                  <a:srgbClr val="000000"/>
                </a:solidFill>
                <a:latin typeface="Montserrat Classic"/>
              </a:rPr>
              <a:t>Divisi</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Pemulihan</a:t>
            </a:r>
            <a:r>
              <a:rPr lang="en-US" sz="1899" dirty="0">
                <a:solidFill>
                  <a:srgbClr val="000000"/>
                </a:solidFill>
                <a:latin typeface="Montserrat Classic"/>
              </a:rPr>
              <a:t> Asset </a:t>
            </a:r>
            <a:r>
              <a:rPr lang="en-US" sz="1899" dirty="0" err="1">
                <a:solidFill>
                  <a:srgbClr val="000000"/>
                </a:solidFill>
                <a:latin typeface="Montserrat Classic"/>
              </a:rPr>
              <a:t>dan</a:t>
            </a:r>
            <a:r>
              <a:rPr lang="en-US" sz="1899" dirty="0">
                <a:solidFill>
                  <a:srgbClr val="000000"/>
                </a:solidFill>
                <a:latin typeface="Montserrat Classic"/>
              </a:rPr>
              <a:t> </a:t>
            </a:r>
            <a:r>
              <a:rPr lang="en-US" sz="1899" dirty="0" err="1">
                <a:solidFill>
                  <a:srgbClr val="000000"/>
                </a:solidFill>
                <a:latin typeface="Montserrat Classic"/>
              </a:rPr>
              <a:t>dalam</a:t>
            </a:r>
            <a:r>
              <a:rPr lang="en-US" sz="1899" dirty="0">
                <a:solidFill>
                  <a:srgbClr val="000000"/>
                </a:solidFill>
                <a:latin typeface="Montserrat Classic"/>
              </a:rPr>
              <a:t> </a:t>
            </a:r>
            <a:r>
              <a:rPr lang="en-US" sz="1899" dirty="0" err="1">
                <a:solidFill>
                  <a:srgbClr val="000000"/>
                </a:solidFill>
                <a:latin typeface="Montserrat Classic"/>
              </a:rPr>
              <a:t>hal</a:t>
            </a:r>
            <a:r>
              <a:rPr lang="en-US" sz="1899" dirty="0">
                <a:solidFill>
                  <a:srgbClr val="000000"/>
                </a:solidFill>
                <a:latin typeface="Montserrat Classic"/>
              </a:rPr>
              <a:t> </a:t>
            </a:r>
            <a:r>
              <a:rPr lang="en-US" sz="1899" dirty="0" err="1">
                <a:solidFill>
                  <a:srgbClr val="000000"/>
                </a:solidFill>
                <a:latin typeface="Montserrat Classic"/>
              </a:rPr>
              <a:t>diperlukan</a:t>
            </a:r>
            <a:r>
              <a:rPr lang="en-US" sz="1899" dirty="0">
                <a:solidFill>
                  <a:srgbClr val="000000"/>
                </a:solidFill>
                <a:latin typeface="Montserrat Classic"/>
              </a:rPr>
              <a:t> </a:t>
            </a:r>
            <a:r>
              <a:rPr lang="en-US" sz="1899" dirty="0" err="1">
                <a:solidFill>
                  <a:srgbClr val="000000"/>
                </a:solidFill>
                <a:latin typeface="Montserrat Classic"/>
              </a:rPr>
              <a:t>dapat</a:t>
            </a:r>
            <a:r>
              <a:rPr lang="en-US" sz="1899" dirty="0">
                <a:solidFill>
                  <a:srgbClr val="000000"/>
                </a:solidFill>
                <a:latin typeface="Montserrat Classic"/>
              </a:rPr>
              <a:t> </a:t>
            </a:r>
            <a:r>
              <a:rPr lang="en-US" sz="1899" dirty="0" err="1">
                <a:solidFill>
                  <a:srgbClr val="000000"/>
                </a:solidFill>
                <a:latin typeface="Montserrat Classic"/>
              </a:rPr>
              <a:t>meminta</a:t>
            </a:r>
            <a:r>
              <a:rPr lang="en-US" sz="1899" dirty="0">
                <a:solidFill>
                  <a:srgbClr val="000000"/>
                </a:solidFill>
                <a:latin typeface="Montserrat Classic"/>
              </a:rPr>
              <a:t> </a:t>
            </a:r>
            <a:r>
              <a:rPr lang="en-US" sz="1899" dirty="0" err="1">
                <a:solidFill>
                  <a:srgbClr val="000000"/>
                </a:solidFill>
                <a:latin typeface="Montserrat Classic"/>
              </a:rPr>
              <a:t>pihak</a:t>
            </a:r>
            <a:r>
              <a:rPr lang="en-US" sz="1899" dirty="0">
                <a:solidFill>
                  <a:srgbClr val="000000"/>
                </a:solidFill>
                <a:latin typeface="Montserrat Classic"/>
              </a:rPr>
              <a:t> </a:t>
            </a:r>
            <a:r>
              <a:rPr lang="en-US" sz="1899" dirty="0" err="1">
                <a:solidFill>
                  <a:srgbClr val="000000"/>
                </a:solidFill>
                <a:latin typeface="Montserrat Classic"/>
              </a:rPr>
              <a:t>konsultan</a:t>
            </a:r>
            <a:r>
              <a:rPr lang="en-US" sz="1899" dirty="0">
                <a:solidFill>
                  <a:srgbClr val="000000"/>
                </a:solidFill>
                <a:latin typeface="Montserrat Classic"/>
              </a:rPr>
              <a:t> </a:t>
            </a:r>
            <a:r>
              <a:rPr lang="en-US" sz="1899" dirty="0" err="1">
                <a:solidFill>
                  <a:srgbClr val="000000"/>
                </a:solidFill>
                <a:latin typeface="Montserrat Classic"/>
              </a:rPr>
              <a:t>hukum</a:t>
            </a:r>
            <a:r>
              <a:rPr lang="en-US" sz="1899" dirty="0">
                <a:solidFill>
                  <a:srgbClr val="000000"/>
                </a:solidFill>
                <a:latin typeface="Montserrat Classic"/>
              </a:rPr>
              <a:t> </a:t>
            </a:r>
            <a:r>
              <a:rPr lang="en-US" sz="1899" dirty="0" err="1">
                <a:solidFill>
                  <a:srgbClr val="000000"/>
                </a:solidFill>
                <a:latin typeface="Montserrat Classic"/>
              </a:rPr>
              <a:t>independen</a:t>
            </a:r>
            <a:r>
              <a:rPr lang="en-US" sz="1899" dirty="0">
                <a:solidFill>
                  <a:srgbClr val="000000"/>
                </a:solidFill>
                <a:latin typeface="Montserrat Classic"/>
              </a:rPr>
              <a:t> </a:t>
            </a:r>
            <a:r>
              <a:rPr lang="en-US" sz="1899" dirty="0" err="1">
                <a:solidFill>
                  <a:srgbClr val="000000"/>
                </a:solidFill>
                <a:latin typeface="Montserrat Classic"/>
              </a:rPr>
              <a:t>diluar</a:t>
            </a:r>
            <a:r>
              <a:rPr lang="en-US" sz="1899" dirty="0">
                <a:solidFill>
                  <a:srgbClr val="000000"/>
                </a:solidFill>
                <a:latin typeface="Montserrat Classic"/>
              </a:rPr>
              <a:t> </a:t>
            </a:r>
            <a:r>
              <a:rPr lang="en-US" sz="1899" dirty="0" err="1">
                <a:solidFill>
                  <a:srgbClr val="000000"/>
                </a:solidFill>
                <a:latin typeface="Montserrat Classic"/>
              </a:rPr>
              <a:t>perusahaan</a:t>
            </a:r>
            <a:r>
              <a:rPr lang="en-US" sz="1899" dirty="0">
                <a:solidFill>
                  <a:srgbClr val="000000"/>
                </a:solidFill>
                <a:latin typeface="Montserrat Classic"/>
              </a:rPr>
              <a:t>.</a:t>
            </a:r>
          </a:p>
          <a:p>
            <a:pPr>
              <a:lnSpc>
                <a:spcPts val="2659"/>
              </a:lnSpc>
              <a:spcBef>
                <a:spcPct val="0"/>
              </a:spcBef>
            </a:pPr>
            <a:endParaRPr lang="en-US" sz="1899" dirty="0">
              <a:solidFill>
                <a:srgbClr val="000000"/>
              </a:solidFill>
              <a:latin typeface="Montserrat Classic"/>
            </a:endParaRPr>
          </a:p>
          <a:p>
            <a:pPr>
              <a:lnSpc>
                <a:spcPts val="2659"/>
              </a:lnSpc>
              <a:spcBef>
                <a:spcPct val="0"/>
              </a:spcBef>
            </a:pPr>
            <a:endParaRPr lang="en-US" sz="1899" dirty="0">
              <a:solidFill>
                <a:srgbClr val="000000"/>
              </a:solidFill>
              <a:latin typeface="Montserrat Classic"/>
            </a:endParaRPr>
          </a:p>
          <a:p>
            <a:pPr>
              <a:lnSpc>
                <a:spcPts val="2659"/>
              </a:lnSpc>
              <a:spcBef>
                <a:spcPct val="0"/>
              </a:spcBef>
            </a:pPr>
            <a:endParaRPr lang="en-US" sz="1899" dirty="0">
              <a:solidFill>
                <a:srgbClr val="000000"/>
              </a:solidFill>
              <a:latin typeface="Montserrat Classic"/>
            </a:endParaRPr>
          </a:p>
          <a:p>
            <a:pPr>
              <a:lnSpc>
                <a:spcPts val="2659"/>
              </a:lnSpc>
              <a:spcBef>
                <a:spcPct val="0"/>
              </a:spcBef>
            </a:pPr>
            <a:endParaRPr lang="en-US" sz="1899" dirty="0">
              <a:solidFill>
                <a:srgbClr val="000000"/>
              </a:solidFill>
              <a:latin typeface="Montserrat Classic"/>
            </a:endParaRPr>
          </a:p>
        </p:txBody>
      </p:sp>
      <p:sp>
        <p:nvSpPr>
          <p:cNvPr id="6" name="TextBox 6"/>
          <p:cNvSpPr txBox="1"/>
          <p:nvPr/>
        </p:nvSpPr>
        <p:spPr>
          <a:xfrm>
            <a:off x="1562004" y="1276848"/>
            <a:ext cx="14805386" cy="541020"/>
          </a:xfrm>
          <a:prstGeom prst="rect">
            <a:avLst/>
          </a:prstGeom>
        </p:spPr>
        <p:txBody>
          <a:bodyPr lIns="0" tIns="0" rIns="0" bIns="0" rtlCol="0" anchor="t">
            <a:spAutoFit/>
          </a:bodyPr>
          <a:lstStyle/>
          <a:p>
            <a:pPr>
              <a:lnSpc>
                <a:spcPts val="4095"/>
              </a:lnSpc>
            </a:pPr>
            <a:r>
              <a:rPr lang="en-US" sz="3900" dirty="0">
                <a:solidFill>
                  <a:srgbClr val="000000"/>
                </a:solidFill>
                <a:latin typeface="Kollektif Bold"/>
              </a:rPr>
              <a:t>A. </a:t>
            </a:r>
            <a:r>
              <a:rPr lang="en-US" sz="3900" dirty="0" err="1">
                <a:solidFill>
                  <a:srgbClr val="000000"/>
                </a:solidFill>
                <a:latin typeface="Kollektif Bold"/>
              </a:rPr>
              <a:t>Kepatuhan</a:t>
            </a:r>
            <a:r>
              <a:rPr lang="en-US" sz="3900" dirty="0">
                <a:solidFill>
                  <a:srgbClr val="000000"/>
                </a:solidFill>
                <a:latin typeface="Kollektif Bold"/>
              </a:rPr>
              <a:t> </a:t>
            </a:r>
            <a:r>
              <a:rPr lang="en-US" sz="3900" dirty="0" err="1">
                <a:solidFill>
                  <a:srgbClr val="000000"/>
                </a:solidFill>
                <a:latin typeface="Kollektif Bold"/>
              </a:rPr>
              <a:t>terhadap</a:t>
            </a:r>
            <a:r>
              <a:rPr lang="en-US" sz="3900" dirty="0">
                <a:solidFill>
                  <a:srgbClr val="000000"/>
                </a:solidFill>
                <a:latin typeface="Kollektif Bold"/>
              </a:rPr>
              <a:t> </a:t>
            </a:r>
            <a:r>
              <a:rPr lang="en-US" sz="3900" dirty="0" err="1">
                <a:solidFill>
                  <a:srgbClr val="000000"/>
                </a:solidFill>
                <a:latin typeface="Kollektif Bold"/>
              </a:rPr>
              <a:t>peraturan</a:t>
            </a:r>
            <a:r>
              <a:rPr lang="en-US" sz="3900" dirty="0">
                <a:solidFill>
                  <a:srgbClr val="000000"/>
                </a:solidFill>
                <a:latin typeface="Kollektif Bold"/>
              </a:rPr>
              <a:t> </a:t>
            </a:r>
            <a:r>
              <a:rPr lang="en-US" sz="3900" dirty="0" err="1">
                <a:solidFill>
                  <a:srgbClr val="000000"/>
                </a:solidFill>
                <a:latin typeface="Kollektif Bold"/>
              </a:rPr>
              <a:t>perundang</a:t>
            </a:r>
            <a:r>
              <a:rPr lang="en-US" sz="3900" dirty="0">
                <a:solidFill>
                  <a:srgbClr val="000000"/>
                </a:solidFill>
                <a:latin typeface="Kollektif Bold"/>
              </a:rPr>
              <a:t> - </a:t>
            </a:r>
            <a:r>
              <a:rPr lang="en-US" sz="3900" dirty="0" err="1">
                <a:solidFill>
                  <a:srgbClr val="000000"/>
                </a:solidFill>
                <a:latin typeface="Kollektif Bold"/>
              </a:rPr>
              <a:t>undangan</a:t>
            </a:r>
            <a:r>
              <a:rPr lang="en-US" sz="3900" dirty="0">
                <a:solidFill>
                  <a:srgbClr val="000000"/>
                </a:solidFill>
                <a:latin typeface="Kollektif Bold"/>
              </a:rPr>
              <a:t> </a:t>
            </a: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23</a:t>
            </a:r>
            <a:endParaRPr lang="en-US" sz="3319" dirty="0">
              <a:solidFill>
                <a:srgbClr val="000000"/>
              </a:solidFill>
              <a:latin typeface="Telegraf"/>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431867" y="-9259971"/>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898163" y="-10091254"/>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3724596" y="-1175876"/>
            <a:ext cx="11300655" cy="9184351"/>
          </a:xfrm>
          <a:prstGeom prst="rect">
            <a:avLst/>
          </a:prstGeom>
        </p:spPr>
      </p:pic>
      <p:sp>
        <p:nvSpPr>
          <p:cNvPr id="6" name="TextBox 6"/>
          <p:cNvSpPr txBox="1"/>
          <p:nvPr/>
        </p:nvSpPr>
        <p:spPr>
          <a:xfrm>
            <a:off x="1600519" y="2463864"/>
            <a:ext cx="14842480" cy="7042785"/>
          </a:xfrm>
          <a:prstGeom prst="rect">
            <a:avLst/>
          </a:prstGeom>
        </p:spPr>
        <p:txBody>
          <a:bodyPr lIns="0" tIns="0" rIns="0" bIns="0" rtlCol="0" anchor="t">
            <a:spAutoFit/>
          </a:bodyPr>
          <a:lstStyle/>
          <a:p>
            <a:pPr>
              <a:lnSpc>
                <a:spcPts val="2940"/>
              </a:lnSpc>
              <a:spcBef>
                <a:spcPct val="0"/>
              </a:spcBef>
            </a:pPr>
            <a:endParaRPr/>
          </a:p>
          <a:p>
            <a:pPr>
              <a:lnSpc>
                <a:spcPts val="2940"/>
              </a:lnSpc>
              <a:spcBef>
                <a:spcPct val="0"/>
              </a:spcBef>
            </a:pPr>
            <a:r>
              <a:rPr lang="en-US" sz="2100">
                <a:solidFill>
                  <a:srgbClr val="000000"/>
                </a:solidFill>
                <a:latin typeface="Montserrat Classic"/>
              </a:rPr>
              <a:t>Visi K3LH Perusahaan adalah mewujudkan tenaga kerja yang sehat, selamat, produktif, mandiri, efektif, dan efisien dalam segala aspek aktivitas Perusahaan.</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Pengelolaan K3LH sangat penting untuk keberhasilan aktivitas usaha Perusahaan. Menerapkan dan memelihara perilaku yang dapat mewujud kan K3LH merupakan tanggung jawab bersama dari seluruh Insan Perusahaan.</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Oleh karena itu bagi Insan Perusahaan harus:</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Mematuhi ketentuan perundangan mengenai Keselamatan dan Kesehatan Kerja yang berlaku.</a:t>
            </a:r>
          </a:p>
          <a:p>
            <a:pPr>
              <a:lnSpc>
                <a:spcPts val="2940"/>
              </a:lnSpc>
              <a:spcBef>
                <a:spcPct val="0"/>
              </a:spcBef>
            </a:pPr>
            <a:r>
              <a:rPr lang="en-US" sz="2100">
                <a:solidFill>
                  <a:srgbClr val="000000"/>
                </a:solidFill>
                <a:latin typeface="Montserrat Classic"/>
              </a:rPr>
              <a:t>Menciptakan dan menjaga lingkungan kerja yang aman serta mengutamakan tindakan pencegahan yaitu yang bersifat menghindari terjadinya kecelakaan</a:t>
            </a:r>
          </a:p>
          <a:p>
            <a:pPr>
              <a:lnSpc>
                <a:spcPts val="2940"/>
              </a:lnSpc>
              <a:spcBef>
                <a:spcPct val="0"/>
              </a:spcBef>
            </a:pPr>
            <a:endParaRPr lang="en-US" sz="2100">
              <a:solidFill>
                <a:srgbClr val="000000"/>
              </a:solidFill>
              <a:latin typeface="Montserrat Classic"/>
            </a:endParaRPr>
          </a:p>
          <a:p>
            <a:pPr>
              <a:lnSpc>
                <a:spcPts val="2940"/>
              </a:lnSpc>
              <a:spcBef>
                <a:spcPct val="0"/>
              </a:spcBef>
            </a:pPr>
            <a:r>
              <a:rPr lang="en-US" sz="2100">
                <a:solidFill>
                  <a:srgbClr val="000000"/>
                </a:solidFill>
                <a:latin typeface="Montserrat Classic"/>
              </a:rPr>
              <a:t>Menangani masalah pencemaran lingkungan hidup yang terjadi dengan efektif dan efisien.</a:t>
            </a:r>
          </a:p>
          <a:p>
            <a:pPr>
              <a:lnSpc>
                <a:spcPts val="2940"/>
              </a:lnSpc>
              <a:spcBef>
                <a:spcPct val="0"/>
              </a:spcBef>
            </a:pPr>
            <a:r>
              <a:rPr lang="en-US" sz="2100">
                <a:solidFill>
                  <a:srgbClr val="000000"/>
                </a:solidFill>
                <a:latin typeface="Montserrat Classic"/>
              </a:rPr>
              <a:t>Memahami dan mematuhi seluruh prosedur Keselamatan dan kesehatan Kerja yang telah ditetapkan.</a:t>
            </a:r>
          </a:p>
          <a:p>
            <a:pPr>
              <a:lnSpc>
                <a:spcPts val="2940"/>
              </a:lnSpc>
              <a:spcBef>
                <a:spcPct val="0"/>
              </a:spcBef>
            </a:pPr>
            <a:endParaRPr lang="en-US" sz="2100">
              <a:solidFill>
                <a:srgbClr val="000000"/>
              </a:solidFill>
              <a:latin typeface="Montserrat Classic"/>
            </a:endParaRPr>
          </a:p>
          <a:p>
            <a:pPr>
              <a:lnSpc>
                <a:spcPts val="2940"/>
              </a:lnSpc>
              <a:spcBef>
                <a:spcPct val="0"/>
              </a:spcBef>
            </a:pPr>
            <a:endParaRPr lang="en-US" sz="2100">
              <a:solidFill>
                <a:srgbClr val="000000"/>
              </a:solidFill>
              <a:latin typeface="Montserrat Classic"/>
            </a:endParaRPr>
          </a:p>
          <a:p>
            <a:pPr>
              <a:lnSpc>
                <a:spcPts val="2940"/>
              </a:lnSpc>
              <a:spcBef>
                <a:spcPct val="0"/>
              </a:spcBef>
            </a:pPr>
            <a:endParaRPr lang="en-US" sz="2100">
              <a:solidFill>
                <a:srgbClr val="000000"/>
              </a:solidFill>
              <a:latin typeface="Montserrat Classic"/>
            </a:endParaRPr>
          </a:p>
        </p:txBody>
      </p:sp>
      <p:sp>
        <p:nvSpPr>
          <p:cNvPr id="7" name="TextBox 7"/>
          <p:cNvSpPr txBox="1"/>
          <p:nvPr/>
        </p:nvSpPr>
        <p:spPr>
          <a:xfrm>
            <a:off x="1604236" y="1254845"/>
            <a:ext cx="15125700" cy="1055370"/>
          </a:xfrm>
          <a:prstGeom prst="rect">
            <a:avLst/>
          </a:prstGeom>
        </p:spPr>
        <p:txBody>
          <a:bodyPr wrap="square" lIns="0" tIns="0" rIns="0" bIns="0" rtlCol="0" anchor="t">
            <a:spAutoFit/>
          </a:bodyPr>
          <a:lstStyle/>
          <a:p>
            <a:pPr>
              <a:lnSpc>
                <a:spcPts val="4095"/>
              </a:lnSpc>
            </a:pPr>
            <a:r>
              <a:rPr lang="en-US" sz="3900" dirty="0">
                <a:solidFill>
                  <a:srgbClr val="000000"/>
                </a:solidFill>
                <a:latin typeface="Kollektif Bold"/>
              </a:rPr>
              <a:t>B. </a:t>
            </a:r>
            <a:r>
              <a:rPr lang="en-US" sz="3900" dirty="0" err="1">
                <a:solidFill>
                  <a:srgbClr val="000000"/>
                </a:solidFill>
                <a:latin typeface="Kollektif Bold"/>
              </a:rPr>
              <a:t>Keperdulian</a:t>
            </a:r>
            <a:r>
              <a:rPr lang="en-US" sz="3900" dirty="0">
                <a:solidFill>
                  <a:srgbClr val="000000"/>
                </a:solidFill>
                <a:latin typeface="Kollektif Bold"/>
              </a:rPr>
              <a:t> </a:t>
            </a:r>
            <a:r>
              <a:rPr lang="en-US" sz="3900" dirty="0" err="1">
                <a:solidFill>
                  <a:srgbClr val="000000"/>
                </a:solidFill>
                <a:latin typeface="Kollektif Bold"/>
              </a:rPr>
              <a:t>Terhadap</a:t>
            </a:r>
            <a:r>
              <a:rPr lang="en-US" sz="3900" dirty="0">
                <a:solidFill>
                  <a:srgbClr val="000000"/>
                </a:solidFill>
                <a:latin typeface="Kollektif Bold"/>
              </a:rPr>
              <a:t> </a:t>
            </a:r>
            <a:r>
              <a:rPr lang="en-US" sz="3900" dirty="0" err="1">
                <a:solidFill>
                  <a:srgbClr val="000000"/>
                </a:solidFill>
                <a:latin typeface="Kollektif Bold"/>
              </a:rPr>
              <a:t>Kesehatan</a:t>
            </a:r>
            <a:r>
              <a:rPr lang="en-US" sz="3900" dirty="0">
                <a:solidFill>
                  <a:srgbClr val="000000"/>
                </a:solidFill>
                <a:latin typeface="Kollektif Bold"/>
              </a:rPr>
              <a:t> </a:t>
            </a:r>
            <a:r>
              <a:rPr lang="en-US" sz="3900" dirty="0" err="1">
                <a:solidFill>
                  <a:srgbClr val="000000"/>
                </a:solidFill>
                <a:latin typeface="Kollektif Bold"/>
              </a:rPr>
              <a:t>dan</a:t>
            </a:r>
            <a:r>
              <a:rPr lang="en-US" sz="3900" dirty="0">
                <a:solidFill>
                  <a:srgbClr val="000000"/>
                </a:solidFill>
                <a:latin typeface="Kollektif Bold"/>
              </a:rPr>
              <a:t> </a:t>
            </a:r>
            <a:r>
              <a:rPr lang="en-US" sz="3900" dirty="0" err="1">
                <a:solidFill>
                  <a:srgbClr val="000000"/>
                </a:solidFill>
                <a:latin typeface="Kollektif Bold"/>
              </a:rPr>
              <a:t>Keselamatan</a:t>
            </a:r>
            <a:r>
              <a:rPr lang="en-US" sz="3900" dirty="0">
                <a:solidFill>
                  <a:srgbClr val="000000"/>
                </a:solidFill>
                <a:latin typeface="Kollektif Bold"/>
              </a:rPr>
              <a:t> </a:t>
            </a:r>
            <a:r>
              <a:rPr lang="en-US" sz="3900" dirty="0" err="1">
                <a:solidFill>
                  <a:srgbClr val="000000"/>
                </a:solidFill>
                <a:latin typeface="Kollektif Bold"/>
              </a:rPr>
              <a:t>Kerja</a:t>
            </a:r>
            <a:r>
              <a:rPr lang="en-US" sz="3900" dirty="0">
                <a:solidFill>
                  <a:srgbClr val="000000"/>
                </a:solidFill>
                <a:latin typeface="Kollektif Bold"/>
              </a:rPr>
              <a:t> </a:t>
            </a:r>
          </a:p>
          <a:p>
            <a:pPr>
              <a:lnSpc>
                <a:spcPts val="4095"/>
              </a:lnSpc>
            </a:pPr>
            <a:r>
              <a:rPr lang="en-US" sz="3900" dirty="0" err="1" smtClean="0">
                <a:solidFill>
                  <a:srgbClr val="000000"/>
                </a:solidFill>
                <a:latin typeface="Kollektif Bold"/>
              </a:rPr>
              <a:t>Lingkungan</a:t>
            </a:r>
            <a:r>
              <a:rPr lang="en-US" sz="3900" dirty="0" smtClean="0">
                <a:solidFill>
                  <a:srgbClr val="000000"/>
                </a:solidFill>
                <a:latin typeface="Kollektif Bold"/>
              </a:rPr>
              <a:t> </a:t>
            </a:r>
            <a:r>
              <a:rPr lang="en-US" sz="3900" dirty="0" err="1">
                <a:solidFill>
                  <a:srgbClr val="000000"/>
                </a:solidFill>
                <a:latin typeface="Kollektif Bold"/>
              </a:rPr>
              <a:t>Hidup</a:t>
            </a:r>
            <a:r>
              <a:rPr lang="en-US" sz="3900" dirty="0">
                <a:solidFill>
                  <a:srgbClr val="000000"/>
                </a:solidFill>
                <a:latin typeface="Kollektif Bold"/>
              </a:rPr>
              <a:t> (K3LH)</a:t>
            </a: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24</a:t>
            </a:r>
            <a:endParaRPr lang="en-US" sz="3319" dirty="0">
              <a:solidFill>
                <a:srgbClr val="000000"/>
              </a:solidFill>
              <a:latin typeface="Telegraf"/>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431867" y="-9259971"/>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898163" y="-10091254"/>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3724596" y="-1175876"/>
            <a:ext cx="11300655" cy="9184351"/>
          </a:xfrm>
          <a:prstGeom prst="rect">
            <a:avLst/>
          </a:prstGeom>
        </p:spPr>
      </p:pic>
      <p:sp>
        <p:nvSpPr>
          <p:cNvPr id="6" name="TextBox 6"/>
          <p:cNvSpPr txBox="1"/>
          <p:nvPr/>
        </p:nvSpPr>
        <p:spPr>
          <a:xfrm>
            <a:off x="1636146" y="2586990"/>
            <a:ext cx="15015709" cy="5537734"/>
          </a:xfrm>
          <a:prstGeom prst="rect">
            <a:avLst/>
          </a:prstGeom>
        </p:spPr>
        <p:txBody>
          <a:bodyPr lIns="0" tIns="0" rIns="0" bIns="0" rtlCol="0" anchor="t">
            <a:spAutoFit/>
          </a:bodyPr>
          <a:lstStyle/>
          <a:p>
            <a:pPr>
              <a:lnSpc>
                <a:spcPts val="2940"/>
              </a:lnSpc>
              <a:spcBef>
                <a:spcPct val="0"/>
              </a:spcBef>
            </a:pPr>
            <a:endParaRPr dirty="0"/>
          </a:p>
          <a:p>
            <a:pPr marL="457200" indent="-457200">
              <a:lnSpc>
                <a:spcPts val="2940"/>
              </a:lnSpc>
              <a:spcBef>
                <a:spcPct val="0"/>
              </a:spcBef>
              <a:buFont typeface="+mj-lt"/>
              <a:buAutoNum type="arabicPeriod"/>
            </a:pPr>
            <a:r>
              <a:rPr lang="en-US" sz="2100" dirty="0" err="1">
                <a:solidFill>
                  <a:srgbClr val="000000"/>
                </a:solidFill>
                <a:latin typeface="Montserrat Classic"/>
              </a:rPr>
              <a:t>Menjunjung</a:t>
            </a:r>
            <a:r>
              <a:rPr lang="en-US" sz="2100" dirty="0">
                <a:solidFill>
                  <a:srgbClr val="000000"/>
                </a:solidFill>
                <a:latin typeface="Montserrat Classic"/>
              </a:rPr>
              <a:t> </a:t>
            </a:r>
            <a:r>
              <a:rPr lang="en-US" sz="2100" dirty="0" err="1">
                <a:solidFill>
                  <a:srgbClr val="000000"/>
                </a:solidFill>
                <a:latin typeface="Montserrat Classic"/>
              </a:rPr>
              <a:t>tinggi</a:t>
            </a:r>
            <a:r>
              <a:rPr lang="en-US" sz="2100" dirty="0">
                <a:solidFill>
                  <a:srgbClr val="000000"/>
                </a:solidFill>
                <a:latin typeface="Montserrat Classic"/>
              </a:rPr>
              <a:t> </a:t>
            </a:r>
            <a:r>
              <a:rPr lang="en-US" sz="2100" dirty="0" err="1">
                <a:solidFill>
                  <a:srgbClr val="000000"/>
                </a:solidFill>
                <a:latin typeface="Montserrat Classic"/>
              </a:rPr>
              <a:t>prinsip</a:t>
            </a:r>
            <a:r>
              <a:rPr lang="en-US" sz="2100" dirty="0">
                <a:solidFill>
                  <a:srgbClr val="000000"/>
                </a:solidFill>
                <a:latin typeface="Montserrat Classic"/>
              </a:rPr>
              <a:t> </a:t>
            </a:r>
            <a:r>
              <a:rPr lang="en-US" sz="2100" dirty="0" err="1">
                <a:solidFill>
                  <a:srgbClr val="000000"/>
                </a:solidFill>
                <a:latin typeface="Montserrat Classic"/>
              </a:rPr>
              <a:t>keadilan</a:t>
            </a:r>
            <a:r>
              <a:rPr lang="en-US" sz="2100" dirty="0">
                <a:solidFill>
                  <a:srgbClr val="000000"/>
                </a:solidFill>
                <a:latin typeface="Montserrat Classic"/>
              </a:rPr>
              <a:t>, </a:t>
            </a:r>
            <a:r>
              <a:rPr lang="en-US" sz="2100" dirty="0" err="1">
                <a:solidFill>
                  <a:srgbClr val="000000"/>
                </a:solidFill>
                <a:latin typeface="Montserrat Classic"/>
              </a:rPr>
              <a:t>kesetaraan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tanpa</a:t>
            </a:r>
            <a:r>
              <a:rPr lang="en-US" sz="2100" dirty="0">
                <a:solidFill>
                  <a:srgbClr val="000000"/>
                </a:solidFill>
                <a:latin typeface="Montserrat Classic"/>
              </a:rPr>
              <a:t> </a:t>
            </a:r>
            <a:r>
              <a:rPr lang="en-US" sz="2100" dirty="0" err="1">
                <a:solidFill>
                  <a:srgbClr val="000000"/>
                </a:solidFill>
                <a:latin typeface="Montserrat Classic"/>
              </a:rPr>
              <a:t>diskriminasi</a:t>
            </a:r>
            <a:r>
              <a:rPr lang="en-US" sz="2100" dirty="0">
                <a:solidFill>
                  <a:srgbClr val="000000"/>
                </a:solidFill>
                <a:latin typeface="Montserrat Classic"/>
              </a:rPr>
              <a:t> (</a:t>
            </a:r>
            <a:r>
              <a:rPr lang="en-US" sz="2100" dirty="0" err="1">
                <a:solidFill>
                  <a:srgbClr val="000000"/>
                </a:solidFill>
                <a:latin typeface="Montserrat Classic"/>
              </a:rPr>
              <a:t>tanpa</a:t>
            </a:r>
            <a:r>
              <a:rPr lang="en-US" sz="2100" dirty="0">
                <a:solidFill>
                  <a:srgbClr val="000000"/>
                </a:solidFill>
                <a:latin typeface="Montserrat Classic"/>
              </a:rPr>
              <a:t> </a:t>
            </a:r>
            <a:r>
              <a:rPr lang="en-US" sz="2100" dirty="0" err="1">
                <a:solidFill>
                  <a:srgbClr val="000000"/>
                </a:solidFill>
                <a:latin typeface="Montserrat Classic"/>
              </a:rPr>
              <a:t>memandang</a:t>
            </a:r>
            <a:r>
              <a:rPr lang="en-US" sz="2100" dirty="0">
                <a:solidFill>
                  <a:srgbClr val="000000"/>
                </a:solidFill>
                <a:latin typeface="Montserrat Classic"/>
              </a:rPr>
              <a:t> </a:t>
            </a:r>
            <a:r>
              <a:rPr lang="en-US" sz="2100" dirty="0" err="1">
                <a:solidFill>
                  <a:srgbClr val="000000"/>
                </a:solidFill>
                <a:latin typeface="Montserrat Classic"/>
              </a:rPr>
              <a:t>latar</a:t>
            </a:r>
            <a:r>
              <a:rPr lang="en-US" sz="2100" dirty="0">
                <a:solidFill>
                  <a:srgbClr val="000000"/>
                </a:solidFill>
                <a:latin typeface="Montserrat Classic"/>
              </a:rPr>
              <a:t> </a:t>
            </a:r>
            <a:r>
              <a:rPr lang="en-US" sz="2100" dirty="0" err="1">
                <a:solidFill>
                  <a:srgbClr val="000000"/>
                </a:solidFill>
                <a:latin typeface="Montserrat Classic"/>
              </a:rPr>
              <a:t>belakang</a:t>
            </a:r>
            <a:r>
              <a:rPr lang="en-US" sz="2100" dirty="0">
                <a:solidFill>
                  <a:srgbClr val="000000"/>
                </a:solidFill>
                <a:latin typeface="Montserrat Classic"/>
              </a:rPr>
              <a:t> agama/</a:t>
            </a:r>
            <a:r>
              <a:rPr lang="en-US" sz="2100" dirty="0" err="1">
                <a:solidFill>
                  <a:srgbClr val="000000"/>
                </a:solidFill>
                <a:latin typeface="Montserrat Classic"/>
              </a:rPr>
              <a:t>kepercayaan</a:t>
            </a:r>
            <a:r>
              <a:rPr lang="en-US" sz="2100" dirty="0">
                <a:solidFill>
                  <a:srgbClr val="000000"/>
                </a:solidFill>
                <a:latin typeface="Montserrat Classic"/>
              </a:rPr>
              <a:t>, </a:t>
            </a:r>
            <a:r>
              <a:rPr lang="en-US" sz="2100" dirty="0" err="1">
                <a:solidFill>
                  <a:srgbClr val="000000"/>
                </a:solidFill>
                <a:latin typeface="Montserrat Classic"/>
              </a:rPr>
              <a:t>ras</a:t>
            </a:r>
            <a:r>
              <a:rPr lang="en-US" sz="2100" dirty="0">
                <a:solidFill>
                  <a:srgbClr val="000000"/>
                </a:solidFill>
                <a:latin typeface="Montserrat Classic"/>
              </a:rPr>
              <a:t>/</a:t>
            </a:r>
            <a:r>
              <a:rPr lang="en-US" sz="2100" dirty="0" err="1">
                <a:solidFill>
                  <a:srgbClr val="000000"/>
                </a:solidFill>
                <a:latin typeface="Montserrat Classic"/>
              </a:rPr>
              <a:t>suku</a:t>
            </a:r>
            <a:r>
              <a:rPr lang="en-US" sz="2100" dirty="0">
                <a:solidFill>
                  <a:srgbClr val="000000"/>
                </a:solidFill>
                <a:latin typeface="Montserrat Classic"/>
              </a:rPr>
              <a:t>, </a:t>
            </a:r>
            <a:r>
              <a:rPr lang="en-US" sz="2100" dirty="0" err="1">
                <a:solidFill>
                  <a:srgbClr val="000000"/>
                </a:solidFill>
                <a:latin typeface="Montserrat Classic"/>
              </a:rPr>
              <a:t>bangsa</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 (</a:t>
            </a:r>
            <a:r>
              <a:rPr lang="en-US" sz="2100" dirty="0" err="1">
                <a:solidFill>
                  <a:srgbClr val="000000"/>
                </a:solidFill>
                <a:latin typeface="Montserrat Classic"/>
              </a:rPr>
              <a:t>pertemanan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kekerabatan</a:t>
            </a:r>
            <a:r>
              <a:rPr lang="en-US" sz="2100" dirty="0">
                <a:solidFill>
                  <a:srgbClr val="000000"/>
                </a:solidFill>
                <a:latin typeface="Montserrat Classic"/>
              </a:rPr>
              <a:t>), </a:t>
            </a:r>
            <a:r>
              <a:rPr lang="en-US" sz="2100" dirty="0" err="1">
                <a:solidFill>
                  <a:srgbClr val="000000"/>
                </a:solidFill>
                <a:latin typeface="Montserrat Classic"/>
              </a:rPr>
              <a:t>warna</a:t>
            </a:r>
            <a:r>
              <a:rPr lang="en-US" sz="2100" dirty="0">
                <a:solidFill>
                  <a:srgbClr val="000000"/>
                </a:solidFill>
                <a:latin typeface="Montserrat Classic"/>
              </a:rPr>
              <a:t> </a:t>
            </a:r>
            <a:r>
              <a:rPr lang="en-US" sz="2100" dirty="0" err="1">
                <a:solidFill>
                  <a:srgbClr val="000000"/>
                </a:solidFill>
                <a:latin typeface="Montserrat Classic"/>
              </a:rPr>
              <a:t>kulit</a:t>
            </a:r>
            <a:r>
              <a:rPr lang="en-US" sz="2100" dirty="0">
                <a:solidFill>
                  <a:srgbClr val="000000"/>
                </a:solidFill>
                <a:latin typeface="Montserrat Classic"/>
              </a:rPr>
              <a:t>, </a:t>
            </a:r>
            <a:r>
              <a:rPr lang="en-US" sz="2100" dirty="0" err="1">
                <a:solidFill>
                  <a:srgbClr val="000000"/>
                </a:solidFill>
                <a:latin typeface="Montserrat Classic"/>
              </a:rPr>
              <a:t>kewarganegaraan</a:t>
            </a:r>
            <a:r>
              <a:rPr lang="en-US" sz="2100" dirty="0">
                <a:solidFill>
                  <a:srgbClr val="000000"/>
                </a:solidFill>
                <a:latin typeface="Montserrat Classic"/>
              </a:rPr>
              <a:t>, </a:t>
            </a:r>
            <a:r>
              <a:rPr lang="en-US" sz="2100" dirty="0" err="1">
                <a:solidFill>
                  <a:srgbClr val="000000"/>
                </a:solidFill>
                <a:latin typeface="Montserrat Classic"/>
              </a:rPr>
              <a:t>jenis</a:t>
            </a:r>
            <a:r>
              <a:rPr lang="en-US" sz="2100" dirty="0">
                <a:solidFill>
                  <a:srgbClr val="000000"/>
                </a:solidFill>
                <a:latin typeface="Montserrat Classic"/>
              </a:rPr>
              <a:t> </a:t>
            </a:r>
            <a:r>
              <a:rPr lang="en-US" sz="2100" dirty="0" err="1">
                <a:solidFill>
                  <a:srgbClr val="000000"/>
                </a:solidFill>
                <a:latin typeface="Montserrat Classic"/>
              </a:rPr>
              <a:t>kelamin</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a:t>
            </a:r>
            <a:r>
              <a:rPr lang="en-US" sz="2100" dirty="0" err="1">
                <a:solidFill>
                  <a:srgbClr val="000000"/>
                </a:solidFill>
                <a:latin typeface="Montserrat Classic"/>
              </a:rPr>
              <a:t>kehamilan</a:t>
            </a:r>
            <a:r>
              <a:rPr lang="en-US" sz="2100" dirty="0">
                <a:solidFill>
                  <a:srgbClr val="000000"/>
                </a:solidFill>
                <a:latin typeface="Montserrat Classic"/>
              </a:rPr>
              <a:t>), </a:t>
            </a:r>
            <a:r>
              <a:rPr lang="en-US" sz="2100" dirty="0" err="1">
                <a:solidFill>
                  <a:srgbClr val="000000"/>
                </a:solidFill>
                <a:latin typeface="Montserrat Classic"/>
              </a:rPr>
              <a:t>preferensi</a:t>
            </a:r>
            <a:r>
              <a:rPr lang="en-US" sz="2100" dirty="0">
                <a:solidFill>
                  <a:srgbClr val="000000"/>
                </a:solidFill>
                <a:latin typeface="Montserrat Classic"/>
              </a:rPr>
              <a:t> </a:t>
            </a:r>
            <a:r>
              <a:rPr lang="en-US" sz="2100" dirty="0" err="1">
                <a:solidFill>
                  <a:srgbClr val="000000"/>
                </a:solidFill>
                <a:latin typeface="Montserrat Classic"/>
              </a:rPr>
              <a:t>seksual</a:t>
            </a:r>
            <a:r>
              <a:rPr lang="en-US" sz="2100" dirty="0">
                <a:solidFill>
                  <a:srgbClr val="000000"/>
                </a:solidFill>
                <a:latin typeface="Montserrat Classic"/>
              </a:rPr>
              <a:t>, </a:t>
            </a:r>
            <a:r>
              <a:rPr lang="en-US" sz="2100" dirty="0" err="1">
                <a:solidFill>
                  <a:srgbClr val="000000"/>
                </a:solidFill>
                <a:latin typeface="Montserrat Classic"/>
              </a:rPr>
              <a:t>umur</a:t>
            </a:r>
            <a:r>
              <a:rPr lang="en-US" sz="2100" dirty="0">
                <a:solidFill>
                  <a:srgbClr val="000000"/>
                </a:solidFill>
                <a:latin typeface="Montserrat Classic"/>
              </a:rPr>
              <a:t>, </a:t>
            </a:r>
            <a:r>
              <a:rPr lang="en-US" sz="2100" dirty="0" err="1">
                <a:solidFill>
                  <a:srgbClr val="000000"/>
                </a:solidFill>
                <a:latin typeface="Montserrat Classic"/>
              </a:rPr>
              <a:t>cacat</a:t>
            </a:r>
            <a:r>
              <a:rPr lang="en-US" sz="2100" dirty="0">
                <a:solidFill>
                  <a:srgbClr val="000000"/>
                </a:solidFill>
                <a:latin typeface="Montserrat Classic"/>
              </a:rPr>
              <a:t>, status veteran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karakteristik</a:t>
            </a:r>
            <a:r>
              <a:rPr lang="en-US" sz="2100" dirty="0">
                <a:solidFill>
                  <a:srgbClr val="000000"/>
                </a:solidFill>
                <a:latin typeface="Montserrat Classic"/>
              </a:rPr>
              <a:t> lain yang </a:t>
            </a:r>
            <a:r>
              <a:rPr lang="en-US" sz="2100" dirty="0" err="1">
                <a:solidFill>
                  <a:srgbClr val="000000"/>
                </a:solidFill>
                <a:latin typeface="Montserrat Classic"/>
              </a:rPr>
              <a:t>dilindungi</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hukum</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memperlakukan</a:t>
            </a:r>
            <a:r>
              <a:rPr lang="en-US" sz="2100" dirty="0">
                <a:solidFill>
                  <a:srgbClr val="000000"/>
                </a:solidFill>
                <a:latin typeface="Montserrat Classic"/>
              </a:rPr>
              <a:t> </a:t>
            </a:r>
            <a:r>
              <a:rPr lang="en-US" sz="2100" dirty="0" err="1">
                <a:solidFill>
                  <a:srgbClr val="000000"/>
                </a:solidFill>
                <a:latin typeface="Montserrat Classic"/>
              </a:rPr>
              <a:t>calon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mendapatkan</a:t>
            </a:r>
            <a:r>
              <a:rPr lang="en-US" sz="2100" dirty="0">
                <a:solidFill>
                  <a:srgbClr val="000000"/>
                </a:solidFill>
                <a:latin typeface="Montserrat Classic"/>
              </a:rPr>
              <a:t> </a:t>
            </a:r>
            <a:r>
              <a:rPr lang="en-US" sz="2100" dirty="0" err="1">
                <a:solidFill>
                  <a:srgbClr val="000000"/>
                </a:solidFill>
                <a:latin typeface="Montserrat Classic"/>
              </a:rPr>
              <a:t>pekerjaan</a:t>
            </a:r>
            <a:r>
              <a:rPr lang="en-US" sz="2100" dirty="0">
                <a:solidFill>
                  <a:srgbClr val="000000"/>
                </a:solidFill>
                <a:latin typeface="Montserrat Classic"/>
              </a:rPr>
              <a:t>, </a:t>
            </a:r>
            <a:r>
              <a:rPr lang="en-US" sz="2100" dirty="0" err="1">
                <a:solidFill>
                  <a:srgbClr val="000000"/>
                </a:solidFill>
                <a:latin typeface="Montserrat Classic"/>
              </a:rPr>
              <a:t>pendidikan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pelatihan</a:t>
            </a:r>
            <a:r>
              <a:rPr lang="en-US" sz="2100" dirty="0">
                <a:solidFill>
                  <a:srgbClr val="000000"/>
                </a:solidFill>
                <a:latin typeface="Montserrat Classic"/>
              </a:rPr>
              <a:t>, </a:t>
            </a:r>
            <a:r>
              <a:rPr lang="en-US" sz="2100" dirty="0" err="1">
                <a:solidFill>
                  <a:srgbClr val="000000"/>
                </a:solidFill>
                <a:latin typeface="Montserrat Classic"/>
              </a:rPr>
              <a:t>kompensasi</a:t>
            </a:r>
            <a:r>
              <a:rPr lang="en-US" sz="2100" dirty="0">
                <a:solidFill>
                  <a:srgbClr val="000000"/>
                </a:solidFill>
                <a:latin typeface="Montserrat Classic"/>
              </a:rPr>
              <a:t>, </a:t>
            </a:r>
            <a:r>
              <a:rPr lang="en-US" sz="2100" dirty="0" err="1">
                <a:solidFill>
                  <a:srgbClr val="000000"/>
                </a:solidFill>
                <a:latin typeface="Montserrat Classic"/>
              </a:rPr>
              <a:t>promosi</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masa</a:t>
            </a:r>
            <a:r>
              <a:rPr lang="en-US" sz="2100" dirty="0">
                <a:solidFill>
                  <a:srgbClr val="000000"/>
                </a:solidFill>
                <a:latin typeface="Montserrat Classic"/>
              </a:rPr>
              <a:t> </a:t>
            </a:r>
            <a:r>
              <a:rPr lang="en-US" sz="2100" dirty="0" err="1">
                <a:solidFill>
                  <a:srgbClr val="000000"/>
                </a:solidFill>
                <a:latin typeface="Montserrat Classic"/>
              </a:rPr>
              <a:t>pensiun</a:t>
            </a:r>
            <a:r>
              <a:rPr lang="en-US" sz="2100" dirty="0">
                <a:solidFill>
                  <a:srgbClr val="000000"/>
                </a:solidFill>
                <a:latin typeface="Montserrat Classic"/>
              </a:rPr>
              <a:t> yang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yang </a:t>
            </a:r>
            <a:r>
              <a:rPr lang="en-US" sz="2100" dirty="0" err="1">
                <a:solidFill>
                  <a:srgbClr val="000000"/>
                </a:solidFill>
                <a:latin typeface="Montserrat Classic"/>
              </a:rPr>
              <a:t>berlaku</a:t>
            </a:r>
            <a:r>
              <a:rPr lang="id-ID" sz="2100" dirty="0">
                <a:solidFill>
                  <a:srgbClr val="000000"/>
                </a:solidFill>
                <a:latin typeface="Montserrat Classic"/>
              </a:rPr>
              <a:t>.</a:t>
            </a:r>
          </a:p>
          <a:p>
            <a:pPr marL="457200" indent="-457200">
              <a:lnSpc>
                <a:spcPts val="2940"/>
              </a:lnSpc>
              <a:spcBef>
                <a:spcPct val="0"/>
              </a:spcBef>
              <a:buFont typeface="+mj-lt"/>
              <a:buAutoNum type="arabicPeriod"/>
            </a:pPr>
            <a:r>
              <a:rPr lang="sv-SE" sz="2100" dirty="0">
                <a:solidFill>
                  <a:srgbClr val="000000"/>
                </a:solidFill>
                <a:latin typeface="Montserrat Classic"/>
              </a:rPr>
              <a:t>Menegakkan hukum dan peraturan Perusahaan dengan konsisten tanpa membedakan ras, gender, agama dan jabatan.</a:t>
            </a:r>
            <a:endParaRPr lang="id-ID" sz="2100" dirty="0">
              <a:solidFill>
                <a:srgbClr val="000000"/>
              </a:solidFill>
              <a:latin typeface="Montserrat Classic"/>
            </a:endParaRPr>
          </a:p>
          <a:p>
            <a:pPr marL="457200" indent="-457200">
              <a:lnSpc>
                <a:spcPts val="2940"/>
              </a:lnSpc>
              <a:spcBef>
                <a:spcPct val="0"/>
              </a:spcBef>
              <a:buFont typeface="+mj-lt"/>
              <a:buAutoNum type="arabicPeriod"/>
            </a:pPr>
            <a:r>
              <a:rPr lang="en-US" sz="2100" dirty="0" err="1">
                <a:solidFill>
                  <a:srgbClr val="000000"/>
                </a:solidFill>
                <a:latin typeface="Montserrat Classic"/>
              </a:rPr>
              <a:t>Mentaati</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ketenagakerjaan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a:t>
            </a:r>
            <a:r>
              <a:rPr lang="en-US" sz="2100" dirty="0" err="1">
                <a:solidFill>
                  <a:srgbClr val="000000"/>
                </a:solidFill>
                <a:latin typeface="Montserrat Classic"/>
              </a:rPr>
              <a:t>didalam</a:t>
            </a:r>
            <a:r>
              <a:rPr lang="en-US" sz="2100" dirty="0">
                <a:solidFill>
                  <a:srgbClr val="000000"/>
                </a:solidFill>
                <a:latin typeface="Montserrat Classic"/>
              </a:rPr>
              <a:t> </a:t>
            </a:r>
            <a:r>
              <a:rPr lang="en-US" sz="2100" dirty="0" err="1">
                <a:solidFill>
                  <a:srgbClr val="000000"/>
                </a:solidFill>
                <a:latin typeface="Montserrat Classic"/>
              </a:rPr>
              <a:t>nya</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yang </a:t>
            </a:r>
            <a:r>
              <a:rPr lang="en-US" sz="2100" dirty="0" err="1">
                <a:solidFill>
                  <a:srgbClr val="000000"/>
                </a:solidFill>
                <a:latin typeface="Montserrat Classic"/>
              </a:rPr>
              <a:t>mengatur</a:t>
            </a:r>
            <a:r>
              <a:rPr lang="en-US" sz="2100" dirty="0">
                <a:solidFill>
                  <a:srgbClr val="000000"/>
                </a:solidFill>
                <a:latin typeface="Montserrat Classic"/>
              </a:rPr>
              <a:t> </a:t>
            </a:r>
            <a:r>
              <a:rPr lang="en-US" sz="2100" dirty="0" err="1">
                <a:solidFill>
                  <a:srgbClr val="000000"/>
                </a:solidFill>
                <a:latin typeface="Montserrat Classic"/>
              </a:rPr>
              <a:t>kebebasan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berserikat</a:t>
            </a:r>
            <a:r>
              <a:rPr lang="en-US" sz="2100" dirty="0">
                <a:solidFill>
                  <a:srgbClr val="000000"/>
                </a:solidFill>
                <a:latin typeface="Montserrat Classic"/>
              </a:rPr>
              <a:t>, </a:t>
            </a:r>
            <a:r>
              <a:rPr lang="en-US" sz="2100" dirty="0" err="1">
                <a:solidFill>
                  <a:srgbClr val="000000"/>
                </a:solidFill>
                <a:latin typeface="Montserrat Classic"/>
              </a:rPr>
              <a:t>berkumpul</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mengemukakan</a:t>
            </a:r>
            <a:r>
              <a:rPr lang="en-US" sz="2100" dirty="0">
                <a:solidFill>
                  <a:srgbClr val="000000"/>
                </a:solidFill>
                <a:latin typeface="Montserrat Classic"/>
              </a:rPr>
              <a:t> </a:t>
            </a:r>
            <a:r>
              <a:rPr lang="en-US" sz="2100" dirty="0" err="1">
                <a:solidFill>
                  <a:srgbClr val="000000"/>
                </a:solidFill>
                <a:latin typeface="Montserrat Classic"/>
              </a:rPr>
              <a:t>pendapat</a:t>
            </a:r>
            <a:r>
              <a:rPr lang="id-ID" sz="2100" dirty="0">
                <a:solidFill>
                  <a:srgbClr val="000000"/>
                </a:solidFill>
                <a:latin typeface="Montserrat Classic"/>
              </a:rPr>
              <a:t>.</a:t>
            </a:r>
            <a:endParaRPr lang="en-US" sz="2100" dirty="0">
              <a:solidFill>
                <a:srgbClr val="000000"/>
              </a:solidFill>
              <a:latin typeface="Montserrat Classic"/>
            </a:endParaRPr>
          </a:p>
          <a:p>
            <a:pPr>
              <a:lnSpc>
                <a:spcPts val="2940"/>
              </a:lnSpc>
              <a:spcBef>
                <a:spcPct val="0"/>
              </a:spcBef>
            </a:pPr>
            <a:endParaRPr lang="en-US" sz="2100" dirty="0">
              <a:solidFill>
                <a:srgbClr val="000000"/>
              </a:solidFill>
              <a:latin typeface="Montserrat Classic"/>
            </a:endParaRPr>
          </a:p>
          <a:p>
            <a:pPr>
              <a:lnSpc>
                <a:spcPts val="2940"/>
              </a:lnSpc>
              <a:spcBef>
                <a:spcPct val="0"/>
              </a:spcBef>
            </a:pPr>
            <a:endParaRPr lang="en-US" sz="2100" dirty="0">
              <a:solidFill>
                <a:srgbClr val="000000"/>
              </a:solidFill>
              <a:latin typeface="Montserrat Classic"/>
            </a:endParaRPr>
          </a:p>
          <a:p>
            <a:pPr>
              <a:lnSpc>
                <a:spcPts val="2940"/>
              </a:lnSpc>
              <a:spcBef>
                <a:spcPct val="0"/>
              </a:spcBef>
            </a:pPr>
            <a:endParaRPr lang="en-US" sz="2100" dirty="0">
              <a:solidFill>
                <a:srgbClr val="000000"/>
              </a:solidFill>
              <a:latin typeface="Montserrat Classic"/>
            </a:endParaRPr>
          </a:p>
          <a:p>
            <a:pPr>
              <a:lnSpc>
                <a:spcPts val="2940"/>
              </a:lnSpc>
              <a:spcBef>
                <a:spcPct val="0"/>
              </a:spcBef>
            </a:pPr>
            <a:endParaRPr lang="en-US" sz="2100" dirty="0">
              <a:solidFill>
                <a:srgbClr val="000000"/>
              </a:solidFill>
              <a:latin typeface="Montserrat Classic"/>
            </a:endParaRPr>
          </a:p>
        </p:txBody>
      </p:sp>
      <p:sp>
        <p:nvSpPr>
          <p:cNvPr id="7" name="TextBox 7"/>
          <p:cNvSpPr txBox="1"/>
          <p:nvPr/>
        </p:nvSpPr>
        <p:spPr>
          <a:xfrm>
            <a:off x="1636146" y="1421922"/>
            <a:ext cx="15354300" cy="1051570"/>
          </a:xfrm>
          <a:prstGeom prst="rect">
            <a:avLst/>
          </a:prstGeom>
        </p:spPr>
        <p:txBody>
          <a:bodyPr wrap="square" lIns="0" tIns="0" rIns="0" bIns="0" rtlCol="0" anchor="t">
            <a:spAutoFit/>
          </a:bodyPr>
          <a:lstStyle/>
          <a:p>
            <a:pPr>
              <a:lnSpc>
                <a:spcPts val="4095"/>
              </a:lnSpc>
            </a:pPr>
            <a:r>
              <a:rPr lang="en-US" sz="3900" dirty="0">
                <a:solidFill>
                  <a:srgbClr val="000000"/>
                </a:solidFill>
                <a:latin typeface="Kollektif Bold"/>
              </a:rPr>
              <a:t>C. </a:t>
            </a:r>
            <a:r>
              <a:rPr lang="en-US" sz="3900" dirty="0" err="1">
                <a:solidFill>
                  <a:srgbClr val="000000"/>
                </a:solidFill>
                <a:latin typeface="Kollektif Bold"/>
              </a:rPr>
              <a:t>Pemberian</a:t>
            </a:r>
            <a:r>
              <a:rPr lang="en-US" sz="3900" dirty="0">
                <a:solidFill>
                  <a:srgbClr val="000000"/>
                </a:solidFill>
                <a:latin typeface="Kollektif Bold"/>
              </a:rPr>
              <a:t> </a:t>
            </a:r>
            <a:r>
              <a:rPr lang="en-US" sz="3900" dirty="0" err="1">
                <a:solidFill>
                  <a:srgbClr val="000000"/>
                </a:solidFill>
                <a:latin typeface="Kollektif Bold"/>
              </a:rPr>
              <a:t>Kesempatan</a:t>
            </a:r>
            <a:r>
              <a:rPr lang="en-US" sz="3900" dirty="0">
                <a:solidFill>
                  <a:srgbClr val="000000"/>
                </a:solidFill>
                <a:latin typeface="Kollektif Bold"/>
              </a:rPr>
              <a:t> Yang </a:t>
            </a:r>
            <a:r>
              <a:rPr lang="en-US" sz="3900" dirty="0" err="1">
                <a:solidFill>
                  <a:srgbClr val="000000"/>
                </a:solidFill>
                <a:latin typeface="Kollektif Bold"/>
              </a:rPr>
              <a:t>Sama</a:t>
            </a:r>
            <a:r>
              <a:rPr lang="en-US" sz="3900" dirty="0">
                <a:solidFill>
                  <a:srgbClr val="000000"/>
                </a:solidFill>
                <a:latin typeface="Kollektif Bold"/>
              </a:rPr>
              <a:t> </a:t>
            </a:r>
            <a:r>
              <a:rPr lang="en-US" sz="3900" dirty="0" err="1">
                <a:solidFill>
                  <a:srgbClr val="000000"/>
                </a:solidFill>
                <a:latin typeface="Kollektif Bold"/>
              </a:rPr>
              <a:t>Kepada</a:t>
            </a:r>
            <a:r>
              <a:rPr lang="en-US" sz="3900" dirty="0">
                <a:solidFill>
                  <a:srgbClr val="000000"/>
                </a:solidFill>
                <a:latin typeface="Kollektif Bold"/>
              </a:rPr>
              <a:t> </a:t>
            </a:r>
            <a:r>
              <a:rPr lang="en-US" sz="3900" dirty="0" err="1">
                <a:solidFill>
                  <a:srgbClr val="000000"/>
                </a:solidFill>
                <a:latin typeface="Kollektif Bold"/>
              </a:rPr>
              <a:t>Karyawan</a:t>
            </a:r>
            <a:r>
              <a:rPr lang="en-US" sz="3900" dirty="0">
                <a:solidFill>
                  <a:srgbClr val="000000"/>
                </a:solidFill>
                <a:latin typeface="Kollektif Bold"/>
              </a:rPr>
              <a:t> </a:t>
            </a:r>
            <a:r>
              <a:rPr lang="en-US" sz="3900" dirty="0" err="1">
                <a:solidFill>
                  <a:srgbClr val="000000"/>
                </a:solidFill>
                <a:latin typeface="Kollektif Bold"/>
              </a:rPr>
              <a:t>Untuk</a:t>
            </a:r>
            <a:r>
              <a:rPr lang="en-US" sz="3900" dirty="0">
                <a:solidFill>
                  <a:srgbClr val="000000"/>
                </a:solidFill>
                <a:latin typeface="Kollektif Bold"/>
              </a:rPr>
              <a:t> </a:t>
            </a:r>
          </a:p>
          <a:p>
            <a:pPr>
              <a:lnSpc>
                <a:spcPts val="4095"/>
              </a:lnSpc>
            </a:pPr>
            <a:r>
              <a:rPr lang="en-US" sz="3900" dirty="0" err="1">
                <a:solidFill>
                  <a:srgbClr val="000000"/>
                </a:solidFill>
                <a:latin typeface="Kollektif Bold"/>
              </a:rPr>
              <a:t>Mendapatkan</a:t>
            </a:r>
            <a:r>
              <a:rPr lang="en-US" sz="3900" dirty="0">
                <a:solidFill>
                  <a:srgbClr val="000000"/>
                </a:solidFill>
                <a:latin typeface="Kollektif Bold"/>
              </a:rPr>
              <a:t> </a:t>
            </a:r>
            <a:r>
              <a:rPr lang="en-US" sz="3900" dirty="0" err="1">
                <a:solidFill>
                  <a:srgbClr val="000000"/>
                </a:solidFill>
                <a:latin typeface="Kollektif Bold"/>
              </a:rPr>
              <a:t>Pekerjaan</a:t>
            </a:r>
            <a:r>
              <a:rPr lang="en-US" sz="3900" dirty="0">
                <a:solidFill>
                  <a:srgbClr val="000000"/>
                </a:solidFill>
                <a:latin typeface="Kollektif Bold"/>
              </a:rPr>
              <a:t>, </a:t>
            </a:r>
            <a:r>
              <a:rPr lang="en-US" sz="3900" dirty="0" err="1">
                <a:solidFill>
                  <a:srgbClr val="000000"/>
                </a:solidFill>
                <a:latin typeface="Kollektif Bold"/>
              </a:rPr>
              <a:t>Promosi</a:t>
            </a:r>
            <a:r>
              <a:rPr lang="en-US" sz="3900" dirty="0">
                <a:solidFill>
                  <a:srgbClr val="000000"/>
                </a:solidFill>
                <a:latin typeface="Kollektif Bold"/>
              </a:rPr>
              <a:t> </a:t>
            </a:r>
            <a:r>
              <a:rPr lang="en-US" sz="3900" dirty="0" err="1">
                <a:solidFill>
                  <a:srgbClr val="000000"/>
                </a:solidFill>
                <a:latin typeface="Kollektif Bold"/>
              </a:rPr>
              <a:t>dan</a:t>
            </a:r>
            <a:r>
              <a:rPr lang="en-US" sz="3900" dirty="0">
                <a:solidFill>
                  <a:srgbClr val="000000"/>
                </a:solidFill>
                <a:latin typeface="Kollektif Bold"/>
              </a:rPr>
              <a:t> </a:t>
            </a:r>
            <a:r>
              <a:rPr lang="en-US" sz="3900" dirty="0" err="1">
                <a:solidFill>
                  <a:srgbClr val="000000"/>
                </a:solidFill>
                <a:latin typeface="Kollektif Bold"/>
              </a:rPr>
              <a:t>Pemberhentian</a:t>
            </a:r>
            <a:r>
              <a:rPr lang="en-US" sz="3900" dirty="0">
                <a:solidFill>
                  <a:srgbClr val="000000"/>
                </a:solidFill>
                <a:latin typeface="Kollektif Bold"/>
              </a:rPr>
              <a:t> </a:t>
            </a:r>
            <a:r>
              <a:rPr lang="en-US" sz="3900" dirty="0" err="1" smtClean="0">
                <a:solidFill>
                  <a:srgbClr val="000000"/>
                </a:solidFill>
                <a:latin typeface="Kollektif Bold"/>
              </a:rPr>
              <a:t>Kerja</a:t>
            </a:r>
            <a:endParaRPr lang="en-US" sz="3900" dirty="0">
              <a:solidFill>
                <a:srgbClr val="000000"/>
              </a:solidFill>
              <a:latin typeface="Kollektif Bold"/>
            </a:endParaRP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25</a:t>
            </a:r>
            <a:endParaRPr lang="en-US" sz="3319" dirty="0">
              <a:solidFill>
                <a:srgbClr val="000000"/>
              </a:solidFill>
              <a:latin typeface="Telegraf"/>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15094199" y="-12781907"/>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3469830" y="-5818025"/>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47324" y="6074235"/>
            <a:ext cx="11300655" cy="9184351"/>
          </a:xfrm>
          <a:prstGeom prst="rect">
            <a:avLst/>
          </a:prstGeom>
        </p:spPr>
      </p:pic>
      <p:sp>
        <p:nvSpPr>
          <p:cNvPr id="5" name="TextBox 5"/>
          <p:cNvSpPr txBox="1"/>
          <p:nvPr/>
        </p:nvSpPr>
        <p:spPr>
          <a:xfrm>
            <a:off x="1922735" y="4622173"/>
            <a:ext cx="9458068" cy="1061086"/>
          </a:xfrm>
          <a:prstGeom prst="rect">
            <a:avLst/>
          </a:prstGeom>
        </p:spPr>
        <p:txBody>
          <a:bodyPr lIns="0" tIns="0" rIns="0" bIns="0" rtlCol="0" anchor="t">
            <a:spAutoFit/>
          </a:bodyPr>
          <a:lstStyle/>
          <a:p>
            <a:pPr>
              <a:lnSpc>
                <a:spcPts val="7920"/>
              </a:lnSpc>
            </a:pPr>
            <a:r>
              <a:rPr lang="en-US" sz="8000">
                <a:solidFill>
                  <a:srgbClr val="2BB4D4"/>
                </a:solidFill>
                <a:latin typeface="Montserrat Classic"/>
              </a:rPr>
              <a:t>III. ETIKA KERJA</a:t>
            </a:r>
          </a:p>
        </p:txBody>
      </p:sp>
      <p:sp>
        <p:nvSpPr>
          <p:cNvPr id="7"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26</a:t>
            </a:r>
            <a:endParaRPr lang="en-US" sz="3319" dirty="0">
              <a:solidFill>
                <a:srgbClr val="000000"/>
              </a:solidFill>
              <a:latin typeface="Telegraf"/>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15094199" y="-12781907"/>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3469830" y="-5818025"/>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28700" y="1547157"/>
            <a:ext cx="15682973" cy="7963719"/>
          </a:xfrm>
          <a:prstGeom prst="rect">
            <a:avLst/>
          </a:prstGeom>
        </p:spPr>
        <p:txBody>
          <a:bodyPr lIns="0" tIns="0" rIns="0" bIns="0" rtlCol="0" anchor="t">
            <a:spAutoFit/>
          </a:bodyPr>
          <a:lstStyle/>
          <a:p>
            <a:pPr>
              <a:lnSpc>
                <a:spcPts val="3359"/>
              </a:lnSpc>
              <a:spcBef>
                <a:spcPct val="0"/>
              </a:spcBef>
            </a:pPr>
            <a:r>
              <a:rPr lang="en-US" sz="2400" dirty="0">
                <a:solidFill>
                  <a:srgbClr val="000000"/>
                </a:solidFill>
                <a:latin typeface="Montserrat Classic Bold"/>
              </a:rPr>
              <a:t>A. </a:t>
            </a:r>
            <a:r>
              <a:rPr lang="en-US" sz="2400" dirty="0" err="1">
                <a:solidFill>
                  <a:srgbClr val="000000"/>
                </a:solidFill>
                <a:latin typeface="Montserrat Classic Bold"/>
              </a:rPr>
              <a:t>Komitmen</a:t>
            </a:r>
            <a:r>
              <a:rPr lang="en-US" sz="2400" dirty="0">
                <a:solidFill>
                  <a:srgbClr val="000000"/>
                </a:solidFill>
                <a:latin typeface="Montserrat Classic Bold"/>
              </a:rPr>
              <a:t> </a:t>
            </a:r>
            <a:r>
              <a:rPr lang="en-US" sz="2400" dirty="0" err="1">
                <a:solidFill>
                  <a:srgbClr val="000000"/>
                </a:solidFill>
                <a:latin typeface="Montserrat Classic Bold"/>
              </a:rPr>
              <a:t>Insan</a:t>
            </a:r>
            <a:r>
              <a:rPr lang="en-US" sz="2400" dirty="0">
                <a:solidFill>
                  <a:srgbClr val="000000"/>
                </a:solidFill>
                <a:latin typeface="Montserrat Classic Bold"/>
              </a:rPr>
              <a:t> Perusahaan </a:t>
            </a:r>
          </a:p>
          <a:p>
            <a:pPr>
              <a:lnSpc>
                <a:spcPts val="2660"/>
              </a:lnSpc>
              <a:spcBef>
                <a:spcPct val="0"/>
              </a:spcBef>
            </a:pPr>
            <a:endParaRPr lang="en-US" sz="24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rangka</a:t>
            </a:r>
            <a:r>
              <a:rPr lang="en-US" sz="2100" dirty="0">
                <a:solidFill>
                  <a:srgbClr val="000000"/>
                </a:solidFill>
                <a:latin typeface="Montserrat Classic"/>
              </a:rPr>
              <a:t> </a:t>
            </a:r>
            <a:r>
              <a:rPr lang="en-US" sz="2100" dirty="0" err="1">
                <a:solidFill>
                  <a:srgbClr val="000000"/>
                </a:solidFill>
                <a:latin typeface="Montserrat Classic"/>
              </a:rPr>
              <a:t>mewujudkan</a:t>
            </a:r>
            <a:r>
              <a:rPr lang="en-US" sz="2100" dirty="0">
                <a:solidFill>
                  <a:srgbClr val="000000"/>
                </a:solidFill>
                <a:latin typeface="Montserrat Classic"/>
              </a:rPr>
              <a:t> </a:t>
            </a:r>
            <a:r>
              <a:rPr lang="en-US" sz="2100" dirty="0" err="1">
                <a:solidFill>
                  <a:srgbClr val="000000"/>
                </a:solidFill>
                <a:latin typeface="Montserrat Classic"/>
              </a:rPr>
              <a:t>komitmen</a:t>
            </a:r>
            <a:r>
              <a:rPr lang="en-US" sz="2100" dirty="0">
                <a:solidFill>
                  <a:srgbClr val="000000"/>
                </a:solidFill>
                <a:latin typeface="Montserrat Classic"/>
              </a:rPr>
              <a:t> Perusahaan </a:t>
            </a:r>
            <a:r>
              <a:rPr lang="en-US" sz="2100" dirty="0" err="1">
                <a:solidFill>
                  <a:srgbClr val="000000"/>
                </a:solidFill>
                <a:latin typeface="Montserrat Classic"/>
              </a:rPr>
              <a:t>terhadap</a:t>
            </a:r>
            <a:r>
              <a:rPr lang="en-US" sz="2100" dirty="0">
                <a:solidFill>
                  <a:srgbClr val="000000"/>
                </a:solidFill>
                <a:latin typeface="Montserrat Classic"/>
              </a:rPr>
              <a:t> para </a:t>
            </a:r>
            <a:r>
              <a:rPr lang="en-US" sz="2100" dirty="0" err="1">
                <a:solidFill>
                  <a:srgbClr val="000000"/>
                </a:solidFill>
                <a:latin typeface="Montserrat Classic"/>
              </a:rPr>
              <a:t>pemangku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(Stakeholders),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komitmen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Berpikir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berperilaku</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korporasi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mengutamakan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 di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kelompok</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yang </a:t>
            </a:r>
            <a:r>
              <a:rPr lang="en-US" sz="2100" dirty="0" err="1">
                <a:solidFill>
                  <a:srgbClr val="000000"/>
                </a:solidFill>
                <a:latin typeface="Montserrat Classic"/>
              </a:rPr>
              <a:t>terbaik</a:t>
            </a:r>
            <a:r>
              <a:rPr lang="en-US" sz="2100" dirty="0">
                <a:solidFill>
                  <a:srgbClr val="000000"/>
                </a:solidFill>
                <a:latin typeface="Montserrat Classic"/>
              </a:rPr>
              <a:t> </a:t>
            </a:r>
            <a:r>
              <a:rPr lang="en-US" sz="2100" dirty="0" err="1">
                <a:solidFill>
                  <a:srgbClr val="000000"/>
                </a:solidFill>
                <a:latin typeface="Montserrat Classic"/>
              </a:rPr>
              <a:t>bagi</a:t>
            </a:r>
            <a:r>
              <a:rPr lang="en-US" sz="2100" dirty="0">
                <a:solidFill>
                  <a:srgbClr val="000000"/>
                </a:solidFill>
                <a:latin typeface="Montserrat Classic"/>
              </a:rPr>
              <a:t> Perusahaan.</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Melaksanakan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profesional</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penuh</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menjunjung</a:t>
            </a:r>
            <a:r>
              <a:rPr lang="en-US" sz="2100" dirty="0">
                <a:solidFill>
                  <a:srgbClr val="000000"/>
                </a:solidFill>
                <a:latin typeface="Montserrat Classic"/>
              </a:rPr>
              <a:t> </a:t>
            </a:r>
            <a:r>
              <a:rPr lang="en-US" sz="2100" dirty="0" err="1">
                <a:solidFill>
                  <a:srgbClr val="000000"/>
                </a:solidFill>
                <a:latin typeface="Montserrat Classic"/>
              </a:rPr>
              <a:t>tinggi</a:t>
            </a:r>
            <a:r>
              <a:rPr lang="en-US" sz="2100" dirty="0">
                <a:solidFill>
                  <a:srgbClr val="000000"/>
                </a:solidFill>
                <a:latin typeface="Montserrat Classic"/>
              </a:rPr>
              <a:t> </a:t>
            </a:r>
            <a:r>
              <a:rPr lang="en-US" sz="2100" dirty="0" err="1">
                <a:solidFill>
                  <a:srgbClr val="000000"/>
                </a:solidFill>
                <a:latin typeface="Montserrat Classic"/>
              </a:rPr>
              <a:t>integritas</a:t>
            </a:r>
            <a:r>
              <a:rPr lang="en-US" sz="2100" dirty="0">
                <a:solidFill>
                  <a:srgbClr val="000000"/>
                </a:solidFill>
                <a:latin typeface="Montserrat Classic"/>
              </a:rPr>
              <a:t>, </a:t>
            </a:r>
            <a:r>
              <a:rPr lang="en-US" sz="2100" dirty="0" err="1">
                <a:solidFill>
                  <a:srgbClr val="000000"/>
                </a:solidFill>
                <a:latin typeface="Montserrat Classic"/>
              </a:rPr>
              <a:t>kejujuran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semangat</a:t>
            </a:r>
            <a:r>
              <a:rPr lang="en-US" sz="2100" dirty="0">
                <a:solidFill>
                  <a:srgbClr val="000000"/>
                </a:solidFill>
                <a:latin typeface="Montserrat Classic"/>
              </a:rPr>
              <a:t> </a:t>
            </a:r>
            <a:r>
              <a:rPr lang="en-US" sz="2100" dirty="0" err="1">
                <a:solidFill>
                  <a:srgbClr val="000000"/>
                </a:solidFill>
                <a:latin typeface="Montserrat Classic"/>
              </a:rPr>
              <a:t>kebersamaan</a:t>
            </a:r>
            <a:r>
              <a:rPr lang="en-US" sz="2100" dirty="0">
                <a:solidFill>
                  <a:srgbClr val="000000"/>
                </a:solidFill>
                <a:latin typeface="Montserrat Classic"/>
              </a:rPr>
              <a:t>.</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Peduli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tanggap</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keluhan</a:t>
            </a:r>
            <a:r>
              <a:rPr lang="en-US" sz="2100" dirty="0">
                <a:solidFill>
                  <a:srgbClr val="000000"/>
                </a:solidFill>
                <a:latin typeface="Montserrat Classic"/>
              </a:rPr>
              <a:t>/</a:t>
            </a:r>
            <a:r>
              <a:rPr lang="en-US" sz="2100" dirty="0" err="1">
                <a:solidFill>
                  <a:srgbClr val="000000"/>
                </a:solidFill>
                <a:latin typeface="Montserrat Classic"/>
              </a:rPr>
              <a:t>masukan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segera</a:t>
            </a:r>
            <a:r>
              <a:rPr lang="en-US" sz="2100" dirty="0">
                <a:solidFill>
                  <a:srgbClr val="000000"/>
                </a:solidFill>
                <a:latin typeface="Montserrat Classic"/>
              </a:rPr>
              <a:t> </a:t>
            </a:r>
            <a:r>
              <a:rPr lang="en-US" sz="2100" dirty="0" err="1">
                <a:solidFill>
                  <a:srgbClr val="000000"/>
                </a:solidFill>
                <a:latin typeface="Montserrat Classic"/>
              </a:rPr>
              <a:t>menindaklanjutinya</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Membuat</a:t>
            </a:r>
            <a:r>
              <a:rPr lang="en-US" sz="2100" dirty="0">
                <a:solidFill>
                  <a:srgbClr val="000000"/>
                </a:solidFill>
                <a:latin typeface="Montserrat Classic"/>
              </a:rPr>
              <a:t> </a:t>
            </a:r>
            <a:r>
              <a:rPr lang="en-US" sz="2100" dirty="0" err="1">
                <a:solidFill>
                  <a:srgbClr val="000000"/>
                </a:solidFill>
                <a:latin typeface="Montserrat Classic"/>
              </a:rPr>
              <a:t>rencana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ruang</a:t>
            </a:r>
            <a:r>
              <a:rPr lang="en-US" sz="2100" dirty="0">
                <a:solidFill>
                  <a:srgbClr val="000000"/>
                </a:solidFill>
                <a:latin typeface="Montserrat Classic"/>
              </a:rPr>
              <a:t> </a:t>
            </a:r>
            <a:r>
              <a:rPr lang="en-US" sz="2100" dirty="0" err="1">
                <a:solidFill>
                  <a:srgbClr val="000000"/>
                </a:solidFill>
                <a:latin typeface="Montserrat Classic"/>
              </a:rPr>
              <a:t>lingkup</a:t>
            </a:r>
            <a:r>
              <a:rPr lang="en-US" sz="2100" dirty="0">
                <a:solidFill>
                  <a:srgbClr val="000000"/>
                </a:solidFill>
                <a:latin typeface="Montserrat Classic"/>
              </a:rPr>
              <a:t> </a:t>
            </a:r>
            <a:r>
              <a:rPr lang="en-US" sz="2100" dirty="0" err="1">
                <a:solidFill>
                  <a:srgbClr val="000000"/>
                </a:solidFill>
                <a:latin typeface="Montserrat Classic"/>
              </a:rPr>
              <a:t>tugasnya</a:t>
            </a:r>
            <a:r>
              <a:rPr lang="en-US" sz="2100" dirty="0">
                <a:solidFill>
                  <a:srgbClr val="000000"/>
                </a:solidFill>
                <a:latin typeface="Montserrat Classic"/>
              </a:rPr>
              <a:t>.</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Memahami</a:t>
            </a:r>
            <a:r>
              <a:rPr lang="en-US" sz="2100" dirty="0">
                <a:solidFill>
                  <a:srgbClr val="000000"/>
                </a:solidFill>
                <a:latin typeface="Montserrat Classic"/>
              </a:rPr>
              <a:t> </a:t>
            </a:r>
            <a:r>
              <a:rPr lang="en-US" sz="2100" dirty="0" err="1">
                <a:solidFill>
                  <a:srgbClr val="000000"/>
                </a:solidFill>
                <a:latin typeface="Montserrat Classic"/>
              </a:rPr>
              <a:t>sasaran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beserta</a:t>
            </a:r>
            <a:r>
              <a:rPr lang="en-US" sz="2100" dirty="0">
                <a:solidFill>
                  <a:srgbClr val="000000"/>
                </a:solidFill>
                <a:latin typeface="Montserrat Classic"/>
              </a:rPr>
              <a:t> </a:t>
            </a:r>
            <a:r>
              <a:rPr lang="en-US" sz="2100" dirty="0" err="1">
                <a:solidFill>
                  <a:srgbClr val="000000"/>
                </a:solidFill>
                <a:latin typeface="Montserrat Classic"/>
              </a:rPr>
              <a:t>ukuran</a:t>
            </a:r>
            <a:r>
              <a:rPr lang="en-US" sz="2100" dirty="0">
                <a:solidFill>
                  <a:srgbClr val="000000"/>
                </a:solidFill>
                <a:latin typeface="Montserrat Classic"/>
              </a:rPr>
              <a:t> </a:t>
            </a:r>
            <a:r>
              <a:rPr lang="en-US" sz="2100" dirty="0" err="1">
                <a:solidFill>
                  <a:srgbClr val="000000"/>
                </a:solidFill>
                <a:latin typeface="Montserrat Classic"/>
              </a:rPr>
              <a:t>keberhasilannya</a:t>
            </a:r>
            <a:r>
              <a:rPr lang="en-US" sz="2100" dirty="0">
                <a:solidFill>
                  <a:srgbClr val="000000"/>
                </a:solidFill>
                <a:latin typeface="Montserrat Classic"/>
              </a:rPr>
              <a:t>.</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Bekerja</a:t>
            </a:r>
            <a:r>
              <a:rPr lang="en-US" sz="2100" dirty="0">
                <a:solidFill>
                  <a:srgbClr val="000000"/>
                </a:solidFill>
                <a:latin typeface="Montserrat Classic"/>
              </a:rPr>
              <a:t> </a:t>
            </a:r>
            <a:r>
              <a:rPr lang="en-US" sz="2100" dirty="0" err="1">
                <a:solidFill>
                  <a:srgbClr val="000000"/>
                </a:solidFill>
                <a:latin typeface="Montserrat Classic"/>
              </a:rPr>
              <a:t>keras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berusaha</a:t>
            </a:r>
            <a:r>
              <a:rPr lang="en-US" sz="2100" dirty="0">
                <a:solidFill>
                  <a:srgbClr val="000000"/>
                </a:solidFill>
                <a:latin typeface="Montserrat Classic"/>
              </a:rPr>
              <a:t> </a:t>
            </a:r>
            <a:r>
              <a:rPr lang="en-US" sz="2100" dirty="0" err="1">
                <a:solidFill>
                  <a:srgbClr val="000000"/>
                </a:solidFill>
                <a:latin typeface="Montserrat Classic"/>
              </a:rPr>
              <a:t>mencari</a:t>
            </a:r>
            <a:r>
              <a:rPr lang="en-US" sz="2100" dirty="0">
                <a:solidFill>
                  <a:srgbClr val="000000"/>
                </a:solidFill>
                <a:latin typeface="Montserrat Classic"/>
              </a:rPr>
              <a:t> </a:t>
            </a:r>
            <a:r>
              <a:rPr lang="en-US" sz="2100" dirty="0" err="1">
                <a:solidFill>
                  <a:srgbClr val="000000"/>
                </a:solidFill>
                <a:latin typeface="Montserrat Classic"/>
              </a:rPr>
              <a:t>cara</a:t>
            </a:r>
            <a:r>
              <a:rPr lang="en-US" sz="2100" dirty="0">
                <a:solidFill>
                  <a:srgbClr val="000000"/>
                </a:solidFill>
                <a:latin typeface="Montserrat Classic"/>
              </a:rPr>
              <a:t> yang </a:t>
            </a:r>
            <a:r>
              <a:rPr lang="en-US" sz="2100" dirty="0" err="1">
                <a:solidFill>
                  <a:srgbClr val="000000"/>
                </a:solidFill>
                <a:latin typeface="Montserrat Classic"/>
              </a:rPr>
              <a:t>terbaik</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menyelesaikan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efektif</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efisien</a:t>
            </a:r>
            <a:r>
              <a:rPr lang="en-US" sz="2100" dirty="0">
                <a:solidFill>
                  <a:srgbClr val="000000"/>
                </a:solidFill>
                <a:latin typeface="Montserrat Classic"/>
              </a:rPr>
              <a:t>.</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motivasi</a:t>
            </a:r>
            <a:r>
              <a:rPr lang="en-US" sz="2100" dirty="0">
                <a:solidFill>
                  <a:srgbClr val="000000"/>
                </a:solidFill>
                <a:latin typeface="Montserrat Classic"/>
              </a:rPr>
              <a:t> yang </a:t>
            </a:r>
            <a:r>
              <a:rPr lang="en-US" sz="2100" dirty="0" err="1">
                <a:solidFill>
                  <a:srgbClr val="000000"/>
                </a:solidFill>
                <a:latin typeface="Montserrat Classic"/>
              </a:rPr>
              <a:t>kuat</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mengembangkan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memperluas</a:t>
            </a:r>
            <a:r>
              <a:rPr lang="en-US" sz="2100" dirty="0">
                <a:solidFill>
                  <a:srgbClr val="000000"/>
                </a:solidFill>
                <a:latin typeface="Montserrat Classic"/>
              </a:rPr>
              <a:t> </a:t>
            </a:r>
            <a:r>
              <a:rPr lang="en-US" sz="2100" dirty="0" err="1">
                <a:solidFill>
                  <a:srgbClr val="000000"/>
                </a:solidFill>
                <a:latin typeface="Montserrat Classic"/>
              </a:rPr>
              <a:t>pengetahuan</a:t>
            </a:r>
            <a:r>
              <a:rPr lang="en-US" sz="2100" dirty="0">
                <a:solidFill>
                  <a:srgbClr val="000000"/>
                </a:solidFill>
                <a:latin typeface="Montserrat Classic"/>
              </a:rPr>
              <a:t>.</a:t>
            </a:r>
            <a:endParaRPr lang="id-ID" sz="2100" dirty="0">
              <a:solidFill>
                <a:srgbClr val="000000"/>
              </a:solidFill>
              <a:latin typeface="Montserrat Classic"/>
            </a:endParaRPr>
          </a:p>
          <a:p>
            <a:pPr marL="457200" indent="-457200" algn="just">
              <a:lnSpc>
                <a:spcPts val="4305"/>
              </a:lnSpc>
              <a:buFont typeface="+mj-lt"/>
              <a:buAutoNum type="arabicPeriod"/>
            </a:pPr>
            <a:r>
              <a:rPr lang="en-US" sz="2100" dirty="0" err="1">
                <a:solidFill>
                  <a:srgbClr val="000000"/>
                </a:solidFill>
                <a:latin typeface="Montserrat Classic"/>
              </a:rPr>
              <a:t>Mematuhi</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a:t>
            </a:r>
            <a:r>
              <a:rPr lang="en-US" sz="2100" dirty="0" err="1">
                <a:solidFill>
                  <a:srgbClr val="000000"/>
                </a:solidFill>
                <a:latin typeface="Montserrat Classic"/>
              </a:rPr>
              <a:t>Budaya</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mempertahankan</a:t>
            </a:r>
            <a:r>
              <a:rPr lang="en-US" sz="2100" dirty="0">
                <a:solidFill>
                  <a:srgbClr val="000000"/>
                </a:solidFill>
                <a:latin typeface="Montserrat Classic"/>
              </a:rPr>
              <a:t> </a:t>
            </a:r>
            <a:r>
              <a:rPr lang="en-US" sz="2100" dirty="0" err="1">
                <a:solidFill>
                  <a:srgbClr val="000000"/>
                </a:solidFill>
                <a:latin typeface="Montserrat Classic"/>
              </a:rPr>
              <a:t>reputasi</a:t>
            </a:r>
            <a:r>
              <a:rPr lang="en-US" sz="2100" dirty="0">
                <a:solidFill>
                  <a:srgbClr val="000000"/>
                </a:solidFill>
                <a:latin typeface="Montserrat Classic"/>
              </a:rPr>
              <a:t> Perusahaan.</a:t>
            </a:r>
            <a:endParaRPr lang="en-US" sz="2100" dirty="0">
              <a:solidFill>
                <a:srgbClr val="000000"/>
              </a:solidFill>
              <a:latin typeface="Montserrat Classic"/>
            </a:endParaRPr>
          </a:p>
        </p:txBody>
      </p:sp>
      <p:sp>
        <p:nvSpPr>
          <p:cNvPr id="7"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27</a:t>
            </a:r>
            <a:endParaRPr lang="en-US" sz="3319" dirty="0">
              <a:solidFill>
                <a:srgbClr val="000000"/>
              </a:solidFill>
              <a:latin typeface="Telegraf"/>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9728976" y="-4663884"/>
            <a:ext cx="11300655" cy="9184351"/>
          </a:xfrm>
          <a:prstGeom prst="rect">
            <a:avLst/>
          </a:prstGeom>
        </p:spPr>
      </p:pic>
      <p:sp>
        <p:nvSpPr>
          <p:cNvPr id="5" name="TextBox 5"/>
          <p:cNvSpPr txBox="1"/>
          <p:nvPr/>
        </p:nvSpPr>
        <p:spPr>
          <a:xfrm>
            <a:off x="1085850" y="1544208"/>
            <a:ext cx="16116300" cy="7207101"/>
          </a:xfrm>
          <a:prstGeom prst="rect">
            <a:avLst/>
          </a:prstGeom>
        </p:spPr>
        <p:txBody>
          <a:bodyPr lIns="0" tIns="0" rIns="0" bIns="0" rtlCol="0" anchor="t">
            <a:spAutoFit/>
          </a:bodyPr>
          <a:lstStyle/>
          <a:p>
            <a:pPr>
              <a:lnSpc>
                <a:spcPts val="3359"/>
              </a:lnSpc>
              <a:spcBef>
                <a:spcPct val="0"/>
              </a:spcBef>
            </a:pPr>
            <a:r>
              <a:rPr lang="en-US" sz="2400" dirty="0">
                <a:solidFill>
                  <a:srgbClr val="000000"/>
                </a:solidFill>
                <a:latin typeface="Montserrat Classic Bold"/>
              </a:rPr>
              <a:t>B. </a:t>
            </a:r>
            <a:r>
              <a:rPr lang="en-US" sz="2400" dirty="0" err="1">
                <a:solidFill>
                  <a:srgbClr val="000000"/>
                </a:solidFill>
                <a:latin typeface="Montserrat Classic Bold"/>
              </a:rPr>
              <a:t>Etika</a:t>
            </a:r>
            <a:r>
              <a:rPr lang="en-US" sz="2400" dirty="0">
                <a:solidFill>
                  <a:srgbClr val="000000"/>
                </a:solidFill>
                <a:latin typeface="Montserrat Classic Bold"/>
              </a:rPr>
              <a:t> </a:t>
            </a:r>
            <a:r>
              <a:rPr lang="en-US" sz="2400" dirty="0" err="1">
                <a:solidFill>
                  <a:srgbClr val="000000"/>
                </a:solidFill>
                <a:latin typeface="Montserrat Classic Bold"/>
              </a:rPr>
              <a:t>Menjaga</a:t>
            </a:r>
            <a:r>
              <a:rPr lang="en-US" sz="2400" dirty="0">
                <a:solidFill>
                  <a:srgbClr val="000000"/>
                </a:solidFill>
                <a:latin typeface="Montserrat Classic Bold"/>
              </a:rPr>
              <a:t> </a:t>
            </a:r>
            <a:r>
              <a:rPr lang="en-US" sz="2400" dirty="0" err="1">
                <a:solidFill>
                  <a:srgbClr val="000000"/>
                </a:solidFill>
                <a:latin typeface="Montserrat Classic Bold"/>
              </a:rPr>
              <a:t>Nama</a:t>
            </a:r>
            <a:r>
              <a:rPr lang="en-US" sz="2400" dirty="0">
                <a:solidFill>
                  <a:srgbClr val="000000"/>
                </a:solidFill>
                <a:latin typeface="Montserrat Classic Bold"/>
              </a:rPr>
              <a:t> </a:t>
            </a:r>
            <a:r>
              <a:rPr lang="en-US" sz="2400" dirty="0" err="1">
                <a:solidFill>
                  <a:srgbClr val="000000"/>
                </a:solidFill>
                <a:latin typeface="Montserrat Classic Bold"/>
              </a:rPr>
              <a:t>Baik</a:t>
            </a:r>
            <a:r>
              <a:rPr lang="en-US" sz="2400" dirty="0">
                <a:solidFill>
                  <a:srgbClr val="000000"/>
                </a:solidFill>
                <a:latin typeface="Montserrat Classic Bold"/>
              </a:rPr>
              <a:t> Perusahaan</a:t>
            </a:r>
          </a:p>
          <a:p>
            <a:pPr>
              <a:lnSpc>
                <a:spcPts val="3499"/>
              </a:lnSpc>
              <a:spcBef>
                <a:spcPct val="0"/>
              </a:spcBef>
            </a:pPr>
            <a:endParaRPr lang="en-US" sz="24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nama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perusahaan</a:t>
            </a:r>
            <a:r>
              <a:rPr lang="en-US" sz="2100" dirty="0">
                <a:solidFill>
                  <a:srgbClr val="000000"/>
                </a:solidFill>
                <a:latin typeface="Montserrat Classic"/>
              </a:rPr>
              <a:t>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kewajiban</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sikap</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perilaku</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berinteraksi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komunitas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pihak-pihak</a:t>
            </a:r>
            <a:r>
              <a:rPr lang="en-US" sz="2100" dirty="0">
                <a:solidFill>
                  <a:srgbClr val="000000"/>
                </a:solidFill>
                <a:latin typeface="Montserrat Classic"/>
              </a:rPr>
              <a:t> lain di </a:t>
            </a:r>
            <a:r>
              <a:rPr lang="en-US" sz="2100" dirty="0" err="1">
                <a:solidFill>
                  <a:srgbClr val="000000"/>
                </a:solidFill>
                <a:latin typeface="Montserrat Classic"/>
              </a:rPr>
              <a:t>luar</a:t>
            </a:r>
            <a:r>
              <a:rPr lang="en-US" sz="2100" dirty="0">
                <a:solidFill>
                  <a:srgbClr val="000000"/>
                </a:solidFill>
                <a:latin typeface="Montserrat Classic"/>
              </a:rPr>
              <a:t> Perusahaan </a:t>
            </a:r>
            <a:r>
              <a:rPr lang="en-US" sz="2100" dirty="0" err="1">
                <a:solidFill>
                  <a:srgbClr val="000000"/>
                </a:solidFill>
                <a:latin typeface="Montserrat Classic"/>
              </a:rPr>
              <a:t>dinilai</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cerminan</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budaya</a:t>
            </a:r>
            <a:r>
              <a:rPr lang="en-US" sz="2100" dirty="0">
                <a:solidFill>
                  <a:srgbClr val="000000"/>
                </a:solidFill>
                <a:latin typeface="Montserrat Classic"/>
              </a:rPr>
              <a:t> Perusahaan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tolok</a:t>
            </a:r>
            <a:r>
              <a:rPr lang="en-US" sz="2100" dirty="0">
                <a:solidFill>
                  <a:srgbClr val="000000"/>
                </a:solidFill>
                <a:latin typeface="Montserrat Classic"/>
              </a:rPr>
              <a:t> </a:t>
            </a:r>
            <a:r>
              <a:rPr lang="en-US" sz="2100" dirty="0" err="1">
                <a:solidFill>
                  <a:srgbClr val="000000"/>
                </a:solidFill>
                <a:latin typeface="Montserrat Classic"/>
              </a:rPr>
              <a:t>ukur</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menilai</a:t>
            </a:r>
            <a:r>
              <a:rPr lang="en-US" sz="2100" dirty="0">
                <a:solidFill>
                  <a:srgbClr val="000000"/>
                </a:solidFill>
                <a:latin typeface="Montserrat Classic"/>
              </a:rPr>
              <a:t> </a:t>
            </a:r>
            <a:r>
              <a:rPr lang="en-US" sz="2100" dirty="0" err="1">
                <a:solidFill>
                  <a:srgbClr val="000000"/>
                </a:solidFill>
                <a:latin typeface="Montserrat Classic"/>
              </a:rPr>
              <a:t>citra</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segenap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selalu</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nSpc>
                <a:spcPts val="2940"/>
              </a:lnSpc>
              <a:buFont typeface="+mj-lt"/>
              <a:buAutoNum type="arabicPeriod"/>
            </a:pPr>
            <a:r>
              <a:rPr lang="en-US" sz="2100" dirty="0" err="1">
                <a:solidFill>
                  <a:srgbClr val="000000"/>
                </a:solidFill>
                <a:latin typeface="Montserrat Classic"/>
              </a:rPr>
              <a:t>Bersikap</a:t>
            </a:r>
            <a:r>
              <a:rPr lang="en-US" sz="2100" dirty="0">
                <a:solidFill>
                  <a:srgbClr val="000000"/>
                </a:solidFill>
                <a:latin typeface="Montserrat Classic"/>
              </a:rPr>
              <a:t> </a:t>
            </a:r>
            <a:r>
              <a:rPr lang="en-US" sz="2100" dirty="0" err="1">
                <a:solidFill>
                  <a:srgbClr val="000000"/>
                </a:solidFill>
                <a:latin typeface="Montserrat Classic"/>
              </a:rPr>
              <a:t>jujur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terbuka</a:t>
            </a:r>
            <a:r>
              <a:rPr lang="en-US" sz="2100" dirty="0">
                <a:solidFill>
                  <a:srgbClr val="000000"/>
                </a:solidFill>
                <a:latin typeface="Montserrat Classic"/>
              </a:rPr>
              <a:t>, </a:t>
            </a:r>
            <a:r>
              <a:rPr lang="en-US" sz="2100" dirty="0" err="1">
                <a:solidFill>
                  <a:srgbClr val="000000"/>
                </a:solidFill>
                <a:latin typeface="Montserrat Classic"/>
              </a:rPr>
              <a:t>berpijak</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a:t>
            </a:r>
            <a:r>
              <a:rPr lang="en-US" sz="2100" dirty="0" err="1">
                <a:solidFill>
                  <a:srgbClr val="000000"/>
                </a:solidFill>
                <a:latin typeface="Montserrat Classic"/>
              </a:rPr>
              <a:t>budaya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mentaati</a:t>
            </a:r>
            <a:r>
              <a:rPr lang="en-US" sz="2100" dirty="0">
                <a:solidFill>
                  <a:srgbClr val="000000"/>
                </a:solidFill>
                <a:latin typeface="Montserrat Classic"/>
              </a:rPr>
              <a:t> </a:t>
            </a:r>
            <a:r>
              <a:rPr lang="en-US" sz="2100" dirty="0" err="1">
                <a:solidFill>
                  <a:srgbClr val="000000"/>
                </a:solidFill>
                <a:latin typeface="Montserrat Classic"/>
              </a:rPr>
              <a:t>sistem</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prosedur</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konsisten</a:t>
            </a:r>
            <a:r>
              <a:rPr lang="en-US" sz="2100" dirty="0">
                <a:solidFill>
                  <a:srgbClr val="000000"/>
                </a:solidFill>
                <a:latin typeface="Montserrat Classic"/>
              </a:rPr>
              <a:t>, </a:t>
            </a:r>
            <a:r>
              <a:rPr lang="en-US" sz="2100" dirty="0" err="1">
                <a:solidFill>
                  <a:srgbClr val="000000"/>
                </a:solidFill>
                <a:latin typeface="Montserrat Classic"/>
              </a:rPr>
              <a:t>mematuhi</a:t>
            </a:r>
            <a:r>
              <a:rPr lang="en-US" sz="2100" dirty="0">
                <a:solidFill>
                  <a:srgbClr val="000000"/>
                </a:solidFill>
                <a:latin typeface="Montserrat Classic"/>
              </a:rPr>
              <a:t> </a:t>
            </a:r>
            <a:r>
              <a:rPr lang="en-US" sz="2100" dirty="0" err="1">
                <a:solidFill>
                  <a:srgbClr val="000000"/>
                </a:solidFill>
                <a:latin typeface="Montserrat Classic"/>
              </a:rPr>
              <a:t>norma-norma</a:t>
            </a:r>
            <a:r>
              <a:rPr lang="en-US" sz="2100" dirty="0">
                <a:solidFill>
                  <a:srgbClr val="000000"/>
                </a:solidFill>
                <a:latin typeface="Montserrat Classic"/>
              </a:rPr>
              <a:t> </a:t>
            </a:r>
            <a:r>
              <a:rPr lang="en-US" sz="2100" dirty="0" err="1">
                <a:solidFill>
                  <a:srgbClr val="000000"/>
                </a:solidFill>
                <a:latin typeface="Montserrat Classic"/>
              </a:rPr>
              <a:t>masyarakat</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mematuhi</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perundang-undangan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2"/>
            </a:pPr>
            <a:r>
              <a:rPr lang="en-US" sz="2100" dirty="0" err="1">
                <a:solidFill>
                  <a:srgbClr val="000000"/>
                </a:solidFill>
                <a:latin typeface="Montserrat Classic"/>
              </a:rPr>
              <a:t>Mempunyai</a:t>
            </a:r>
            <a:r>
              <a:rPr lang="en-US" sz="2100" dirty="0">
                <a:solidFill>
                  <a:srgbClr val="000000"/>
                </a:solidFill>
                <a:latin typeface="Montserrat Classic"/>
              </a:rPr>
              <a:t> rasa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kewajiban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selalu</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nama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dimana</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berada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selalu</a:t>
            </a:r>
            <a:r>
              <a:rPr lang="en-US" sz="2100" dirty="0">
                <a:solidFill>
                  <a:srgbClr val="000000"/>
                </a:solidFill>
                <a:latin typeface="Montserrat Classic"/>
              </a:rPr>
              <a:t> </a:t>
            </a:r>
            <a:r>
              <a:rPr lang="en-US" sz="2100" dirty="0" err="1">
                <a:solidFill>
                  <a:srgbClr val="000000"/>
                </a:solidFill>
                <a:latin typeface="Montserrat Classic"/>
              </a:rPr>
              <a:t>mempertimbangkan</a:t>
            </a:r>
            <a:r>
              <a:rPr lang="en-US" sz="2100" dirty="0">
                <a:solidFill>
                  <a:srgbClr val="000000"/>
                </a:solidFill>
                <a:latin typeface="Montserrat Classic"/>
              </a:rPr>
              <a:t> </a:t>
            </a:r>
            <a:r>
              <a:rPr lang="en-US" sz="2100" dirty="0" err="1">
                <a:solidFill>
                  <a:srgbClr val="000000"/>
                </a:solidFill>
                <a:latin typeface="Montserrat Classic"/>
              </a:rPr>
              <a:t>dampak</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ataupun</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citra</a:t>
            </a:r>
            <a:r>
              <a:rPr lang="en-US" sz="2100" dirty="0">
                <a:solidFill>
                  <a:srgbClr val="000000"/>
                </a:solidFill>
                <a:latin typeface="Montserrat Classic"/>
              </a:rPr>
              <a:t> Perusahaan.</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3"/>
            </a:pPr>
            <a:r>
              <a:rPr lang="en-US" sz="2100" dirty="0" err="1">
                <a:solidFill>
                  <a:srgbClr val="000000"/>
                </a:solidFill>
                <a:latin typeface="Montserrat Classic"/>
              </a:rPr>
              <a:t>Menghindarkan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hal</a:t>
            </a:r>
            <a:r>
              <a:rPr lang="en-US" sz="2100" dirty="0">
                <a:solidFill>
                  <a:srgbClr val="000000"/>
                </a:solidFill>
                <a:latin typeface="Montserrat Classic"/>
              </a:rPr>
              <a:t> </a:t>
            </a:r>
            <a:r>
              <a:rPr lang="en-US" sz="2100" dirty="0" err="1">
                <a:solidFill>
                  <a:srgbClr val="000000"/>
                </a:solidFill>
                <a:latin typeface="Montserrat Classic"/>
              </a:rPr>
              <a:t>hal</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mencemarkan</a:t>
            </a:r>
            <a:r>
              <a:rPr lang="en-US" sz="2100" dirty="0">
                <a:solidFill>
                  <a:srgbClr val="000000"/>
                </a:solidFill>
                <a:latin typeface="Montserrat Classic"/>
              </a:rPr>
              <a:t> </a:t>
            </a:r>
            <a:r>
              <a:rPr lang="en-US" sz="2100" dirty="0" err="1">
                <a:solidFill>
                  <a:srgbClr val="000000"/>
                </a:solidFill>
                <a:latin typeface="Montserrat Classic"/>
              </a:rPr>
              <a:t>nama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menurunkan</a:t>
            </a:r>
            <a:r>
              <a:rPr lang="en-US" sz="2100" dirty="0">
                <a:solidFill>
                  <a:srgbClr val="000000"/>
                </a:solidFill>
                <a:latin typeface="Montserrat Classic"/>
              </a:rPr>
              <a:t> </a:t>
            </a:r>
            <a:r>
              <a:rPr lang="en-US" sz="2100" dirty="0" err="1">
                <a:solidFill>
                  <a:srgbClr val="000000"/>
                </a:solidFill>
                <a:latin typeface="Montserrat Classic"/>
              </a:rPr>
              <a:t>citra</a:t>
            </a:r>
            <a:r>
              <a:rPr lang="en-US" sz="2100" dirty="0">
                <a:solidFill>
                  <a:srgbClr val="000000"/>
                </a:solidFill>
                <a:latin typeface="Montserrat Classic"/>
              </a:rPr>
              <a:t> Perusahaan</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4"/>
            </a:pPr>
            <a:r>
              <a:rPr lang="en-US" sz="2100" dirty="0" err="1">
                <a:solidFill>
                  <a:srgbClr val="000000"/>
                </a:solidFill>
                <a:latin typeface="Montserrat Classic"/>
              </a:rPr>
              <a:t>Senantiasa</a:t>
            </a:r>
            <a:r>
              <a:rPr lang="en-US" sz="2100" dirty="0">
                <a:solidFill>
                  <a:srgbClr val="000000"/>
                </a:solidFill>
                <a:latin typeface="Montserrat Classic"/>
              </a:rPr>
              <a:t> </a:t>
            </a:r>
            <a:r>
              <a:rPr lang="en-US" sz="2100" dirty="0" err="1">
                <a:solidFill>
                  <a:srgbClr val="000000"/>
                </a:solidFill>
                <a:latin typeface="Montserrat Classic"/>
              </a:rPr>
              <a:t>berupaya</a:t>
            </a:r>
            <a:r>
              <a:rPr lang="en-US" sz="2100" dirty="0">
                <a:solidFill>
                  <a:srgbClr val="000000"/>
                </a:solidFill>
                <a:latin typeface="Montserrat Classic"/>
              </a:rPr>
              <a:t> </a:t>
            </a:r>
            <a:r>
              <a:rPr lang="en-US" sz="2100" dirty="0" err="1">
                <a:solidFill>
                  <a:srgbClr val="000000"/>
                </a:solidFill>
                <a:latin typeface="Montserrat Classic"/>
              </a:rPr>
              <a:t>meningkatkan</a:t>
            </a:r>
            <a:r>
              <a:rPr lang="en-US" sz="2100" dirty="0">
                <a:solidFill>
                  <a:srgbClr val="000000"/>
                </a:solidFill>
                <a:latin typeface="Montserrat Classic"/>
              </a:rPr>
              <a:t> </a:t>
            </a:r>
            <a:r>
              <a:rPr lang="en-US" sz="2100" dirty="0" err="1">
                <a:solidFill>
                  <a:srgbClr val="000000"/>
                </a:solidFill>
                <a:latin typeface="Montserrat Classic"/>
              </a:rPr>
              <a:t>kompetensi</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sejalan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perkembangan</a:t>
            </a:r>
            <a:r>
              <a:rPr lang="en-US" sz="2100" dirty="0">
                <a:solidFill>
                  <a:srgbClr val="000000"/>
                </a:solidFill>
                <a:latin typeface="Montserrat Classic"/>
              </a:rPr>
              <a:t> yang </a:t>
            </a:r>
            <a:r>
              <a:rPr lang="en-US" sz="2100" dirty="0" err="1">
                <a:solidFill>
                  <a:srgbClr val="000000"/>
                </a:solidFill>
                <a:latin typeface="Montserrat Classic"/>
              </a:rPr>
              <a:t>terjadi</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p:txBody>
      </p:sp>
      <p:sp>
        <p:nvSpPr>
          <p:cNvPr id="7"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28</a:t>
            </a:r>
            <a:endParaRPr lang="en-US" sz="3319" dirty="0">
              <a:solidFill>
                <a:srgbClr val="000000"/>
              </a:solidFill>
              <a:latin typeface="Telegraf"/>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12133163" y="-886708"/>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85850" y="1490980"/>
            <a:ext cx="16116300" cy="9281795"/>
          </a:xfrm>
          <a:prstGeom prst="rect">
            <a:avLst/>
          </a:prstGeom>
        </p:spPr>
        <p:txBody>
          <a:bodyPr lIns="0" tIns="0" rIns="0" bIns="0" rtlCol="0" anchor="t">
            <a:spAutoFit/>
          </a:bodyPr>
          <a:lstStyle/>
          <a:p>
            <a:pPr algn="just">
              <a:lnSpc>
                <a:spcPts val="3359"/>
              </a:lnSpc>
            </a:pPr>
            <a:r>
              <a:rPr lang="en-US" sz="2400" dirty="0">
                <a:solidFill>
                  <a:srgbClr val="000000"/>
                </a:solidFill>
                <a:latin typeface="Montserrat Classic Bold"/>
              </a:rPr>
              <a:t>C. </a:t>
            </a:r>
            <a:r>
              <a:rPr lang="en-US" sz="2400" dirty="0" err="1">
                <a:solidFill>
                  <a:srgbClr val="000000"/>
                </a:solidFill>
                <a:latin typeface="Montserrat Classic Bold"/>
              </a:rPr>
              <a:t>Etika</a:t>
            </a:r>
            <a:r>
              <a:rPr lang="en-US" sz="2400" dirty="0">
                <a:solidFill>
                  <a:srgbClr val="000000"/>
                </a:solidFill>
                <a:latin typeface="Montserrat Classic Bold"/>
              </a:rPr>
              <a:t> </a:t>
            </a:r>
            <a:r>
              <a:rPr lang="en-US" sz="2400" dirty="0" err="1">
                <a:solidFill>
                  <a:srgbClr val="000000"/>
                </a:solidFill>
                <a:latin typeface="Montserrat Classic Bold"/>
              </a:rPr>
              <a:t>Menjaga</a:t>
            </a:r>
            <a:r>
              <a:rPr lang="en-US" sz="2400" dirty="0">
                <a:solidFill>
                  <a:srgbClr val="000000"/>
                </a:solidFill>
                <a:latin typeface="Montserrat Classic Bold"/>
              </a:rPr>
              <a:t> </a:t>
            </a:r>
            <a:r>
              <a:rPr lang="en-US" sz="2400" dirty="0" err="1">
                <a:solidFill>
                  <a:srgbClr val="000000"/>
                </a:solidFill>
                <a:latin typeface="Montserrat Classic Bold"/>
              </a:rPr>
              <a:t>Hubungan</a:t>
            </a:r>
            <a:r>
              <a:rPr lang="en-US" sz="2400" dirty="0">
                <a:solidFill>
                  <a:srgbClr val="000000"/>
                </a:solidFill>
                <a:latin typeface="Montserrat Classic Bold"/>
              </a:rPr>
              <a:t> </a:t>
            </a:r>
            <a:r>
              <a:rPr lang="en-US" sz="2400" dirty="0" err="1">
                <a:solidFill>
                  <a:srgbClr val="000000"/>
                </a:solidFill>
                <a:latin typeface="Montserrat Classic Bold"/>
              </a:rPr>
              <a:t>Baik</a:t>
            </a:r>
            <a:r>
              <a:rPr lang="en-US" sz="2400" dirty="0">
                <a:solidFill>
                  <a:srgbClr val="000000"/>
                </a:solidFill>
                <a:latin typeface="Montserrat Classic Bold"/>
              </a:rPr>
              <a:t> </a:t>
            </a:r>
            <a:r>
              <a:rPr lang="en-US" sz="2400" dirty="0" err="1">
                <a:solidFill>
                  <a:srgbClr val="000000"/>
                </a:solidFill>
                <a:latin typeface="Montserrat Classic Bold"/>
              </a:rPr>
              <a:t>Antar</a:t>
            </a:r>
            <a:r>
              <a:rPr lang="en-US" sz="2400" dirty="0">
                <a:solidFill>
                  <a:srgbClr val="000000"/>
                </a:solidFill>
                <a:latin typeface="Montserrat Classic Bold"/>
              </a:rPr>
              <a:t> </a:t>
            </a:r>
            <a:r>
              <a:rPr lang="en-US" sz="2400" dirty="0" err="1">
                <a:solidFill>
                  <a:srgbClr val="000000"/>
                </a:solidFill>
                <a:latin typeface="Montserrat Classic Bold"/>
              </a:rPr>
              <a:t>Karyawan</a:t>
            </a:r>
            <a:r>
              <a:rPr lang="en-US" sz="2400" dirty="0">
                <a:solidFill>
                  <a:srgbClr val="000000"/>
                </a:solidFill>
                <a:latin typeface="Montserrat Classic Bold"/>
              </a:rPr>
              <a:t> </a:t>
            </a:r>
          </a:p>
          <a:p>
            <a:pPr algn="just">
              <a:lnSpc>
                <a:spcPts val="2940"/>
              </a:lnSpc>
            </a:pPr>
            <a:endParaRPr lang="en-US" sz="2400" dirty="0">
              <a:solidFill>
                <a:srgbClr val="000000"/>
              </a:solidFill>
              <a:latin typeface="Montserrat Classic Bold"/>
            </a:endParaRPr>
          </a:p>
          <a:p>
            <a:pPr algn="just">
              <a:lnSpc>
                <a:spcPts val="2940"/>
              </a:lnSpc>
            </a:pP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yang </a:t>
            </a:r>
            <a:r>
              <a:rPr lang="en-US" sz="2100" dirty="0" err="1">
                <a:solidFill>
                  <a:srgbClr val="000000"/>
                </a:solidFill>
                <a:latin typeface="Montserrat Classic"/>
              </a:rPr>
              <a:t>terjalin</a:t>
            </a:r>
            <a:r>
              <a:rPr lang="en-US" sz="2100" dirty="0">
                <a:solidFill>
                  <a:srgbClr val="000000"/>
                </a:solidFill>
                <a:latin typeface="Montserrat Classic"/>
              </a:rPr>
              <a:t> </a:t>
            </a:r>
            <a:r>
              <a:rPr lang="en-US" sz="2100" dirty="0" err="1">
                <a:solidFill>
                  <a:srgbClr val="000000"/>
                </a:solidFill>
                <a:latin typeface="Montserrat Classic"/>
              </a:rPr>
              <a:t>antar</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menciptakan</a:t>
            </a:r>
            <a:r>
              <a:rPr lang="en-US" sz="2100" dirty="0">
                <a:solidFill>
                  <a:srgbClr val="000000"/>
                </a:solidFill>
                <a:latin typeface="Montserrat Classic"/>
              </a:rPr>
              <a:t> </a:t>
            </a:r>
            <a:r>
              <a:rPr lang="en-US" sz="2100" dirty="0" err="1">
                <a:solidFill>
                  <a:srgbClr val="000000"/>
                </a:solidFill>
                <a:latin typeface="Montserrat Classic"/>
              </a:rPr>
              <a:t>suasana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positif</a:t>
            </a:r>
            <a:r>
              <a:rPr lang="en-US" sz="2100" dirty="0">
                <a:solidFill>
                  <a:srgbClr val="000000"/>
                </a:solidFill>
                <a:latin typeface="Montserrat Classic"/>
              </a:rPr>
              <a:t>, </a:t>
            </a:r>
            <a:r>
              <a:rPr lang="en-US" sz="2100" dirty="0" err="1">
                <a:solidFill>
                  <a:srgbClr val="000000"/>
                </a:solidFill>
                <a:latin typeface="Montserrat Classic"/>
              </a:rPr>
              <a:t>harmonis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dinamis</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karena</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segenap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selalu</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saling</a:t>
            </a:r>
            <a:r>
              <a:rPr lang="en-US" sz="2100" dirty="0">
                <a:solidFill>
                  <a:srgbClr val="000000"/>
                </a:solidFill>
                <a:latin typeface="Montserrat Classic"/>
              </a:rPr>
              <a:t> </a:t>
            </a:r>
            <a:r>
              <a:rPr lang="en-US" sz="2100" dirty="0" err="1">
                <a:solidFill>
                  <a:srgbClr val="000000"/>
                </a:solidFill>
                <a:latin typeface="Montserrat Classic"/>
              </a:rPr>
              <a:t>menghormati</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tercipta</a:t>
            </a:r>
            <a:r>
              <a:rPr lang="en-US" sz="2100" dirty="0">
                <a:solidFill>
                  <a:srgbClr val="000000"/>
                </a:solidFill>
                <a:latin typeface="Montserrat Classic"/>
              </a:rPr>
              <a:t> </a:t>
            </a:r>
            <a:r>
              <a:rPr lang="en-US" sz="2100" dirty="0" err="1">
                <a:solidFill>
                  <a:srgbClr val="000000"/>
                </a:solidFill>
                <a:latin typeface="Montserrat Classic"/>
              </a:rPr>
              <a:t>suasana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saling</a:t>
            </a:r>
            <a:r>
              <a:rPr lang="en-US" sz="2100" dirty="0">
                <a:solidFill>
                  <a:srgbClr val="000000"/>
                </a:solidFill>
                <a:latin typeface="Montserrat Classic"/>
              </a:rPr>
              <a:t> </a:t>
            </a:r>
            <a:r>
              <a:rPr lang="en-US" sz="2100" dirty="0" err="1">
                <a:solidFill>
                  <a:srgbClr val="000000"/>
                </a:solidFill>
                <a:latin typeface="Montserrat Classic"/>
              </a:rPr>
              <a:t>mendukung</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menumbuhkan</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tim</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kuat</a:t>
            </a:r>
            <a:r>
              <a:rPr lang="en-US" sz="2100" dirty="0">
                <a:solidFill>
                  <a:srgbClr val="000000"/>
                </a:solidFill>
                <a:latin typeface="Montserrat Classic"/>
              </a:rPr>
              <a:t> </a:t>
            </a:r>
            <a:r>
              <a:rPr lang="en-US" sz="2100" dirty="0" err="1">
                <a:solidFill>
                  <a:srgbClr val="000000"/>
                </a:solidFill>
                <a:latin typeface="Montserrat Classic"/>
              </a:rPr>
              <a:t>guna</a:t>
            </a:r>
            <a:r>
              <a:rPr lang="en-US" sz="2100" dirty="0">
                <a:solidFill>
                  <a:srgbClr val="000000"/>
                </a:solidFill>
                <a:latin typeface="Montserrat Classic"/>
              </a:rPr>
              <a:t> </a:t>
            </a:r>
            <a:r>
              <a:rPr lang="en-US" sz="2100" dirty="0" err="1">
                <a:solidFill>
                  <a:srgbClr val="000000"/>
                </a:solidFill>
                <a:latin typeface="Montserrat Classic"/>
              </a:rPr>
              <a:t>mendukung</a:t>
            </a:r>
            <a:r>
              <a:rPr lang="en-US" sz="2100" dirty="0">
                <a:solidFill>
                  <a:srgbClr val="000000"/>
                </a:solidFill>
                <a:latin typeface="Montserrat Classic"/>
              </a:rPr>
              <a:t> </a:t>
            </a:r>
            <a:r>
              <a:rPr lang="en-US" sz="2100" dirty="0" err="1">
                <a:solidFill>
                  <a:srgbClr val="000000"/>
                </a:solidFill>
                <a:latin typeface="Montserrat Classic"/>
              </a:rPr>
              <a:t>produktifitas</a:t>
            </a:r>
            <a:r>
              <a:rPr lang="en-US" sz="2100" dirty="0">
                <a:solidFill>
                  <a:srgbClr val="000000"/>
                </a:solidFill>
                <a:latin typeface="Montserrat Classic"/>
              </a:rPr>
              <a:t> Perusahaan.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antar</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mencakup</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bawahan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sesama</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a:t>
            </a:r>
            <a:r>
              <a:rPr lang="en-US" sz="2100" dirty="0" err="1">
                <a:solidFill>
                  <a:srgbClr val="000000"/>
                </a:solidFill>
                <a:latin typeface="Montserrat Classic"/>
              </a:rPr>
              <a:t>Jajaran</a:t>
            </a:r>
            <a:r>
              <a:rPr lang="en-US" sz="2100" dirty="0">
                <a:solidFill>
                  <a:srgbClr val="000000"/>
                </a:solidFill>
                <a:latin typeface="Montserrat Classic"/>
              </a:rPr>
              <a:t> </a:t>
            </a:r>
            <a:r>
              <a:rPr lang="en-US" sz="2100" dirty="0" err="1">
                <a:solidFill>
                  <a:srgbClr val="000000"/>
                </a:solidFill>
                <a:latin typeface="Montserrat Classic"/>
              </a:rPr>
              <a:t>Manajemen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dijelaskan</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bagian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nSpc>
                <a:spcPts val="2940"/>
              </a:lnSpc>
            </a:pP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ini</a:t>
            </a:r>
            <a:r>
              <a:rPr lang="en-US" sz="2100" dirty="0">
                <a:solidFill>
                  <a:srgbClr val="000000"/>
                </a:solidFill>
                <a:latin typeface="Montserrat Classic"/>
              </a:rPr>
              <a:t>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menjauhkan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mencegah</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berikut</a:t>
            </a:r>
            <a:r>
              <a:rPr lang="en-US" sz="2100" dirty="0">
                <a:solidFill>
                  <a:srgbClr val="000000"/>
                </a:solidFill>
                <a:latin typeface="Montserrat Classic"/>
              </a:rPr>
              <a:t> :</a:t>
            </a:r>
          </a:p>
          <a:p>
            <a:pPr>
              <a:lnSpc>
                <a:spcPts val="2940"/>
              </a:lnSpc>
            </a:pPr>
            <a:endParaRPr lang="en-US" sz="2100" dirty="0">
              <a:solidFill>
                <a:srgbClr val="000000"/>
              </a:solidFill>
              <a:latin typeface="Montserrat Classic"/>
            </a:endParaRPr>
          </a:p>
          <a:p>
            <a:pPr marL="457200" indent="-457200">
              <a:lnSpc>
                <a:spcPts val="2940"/>
              </a:lnSpc>
              <a:buFont typeface="+mj-lt"/>
              <a:buAutoNum type="arabicPeriod"/>
            </a:pPr>
            <a:r>
              <a:rPr lang="en-US" sz="2100" dirty="0" err="1" smtClean="0">
                <a:solidFill>
                  <a:srgbClr val="000000"/>
                </a:solidFill>
                <a:latin typeface="Montserrat Classic Bold"/>
              </a:rPr>
              <a:t>Penekanan</a:t>
            </a:r>
            <a:r>
              <a:rPr lang="en-US" sz="2100" dirty="0" smtClean="0">
                <a:solidFill>
                  <a:srgbClr val="000000"/>
                </a:solidFill>
                <a:latin typeface="Montserrat Classic Bold"/>
              </a:rPr>
              <a:t> </a:t>
            </a:r>
            <a:r>
              <a:rPr lang="en-US" sz="2100" dirty="0">
                <a:solidFill>
                  <a:srgbClr val="000000"/>
                </a:solidFill>
                <a:latin typeface="Montserrat Classic Bold"/>
              </a:rPr>
              <a:t>/ </a:t>
            </a:r>
            <a:r>
              <a:rPr lang="en-US" sz="2100" dirty="0" err="1">
                <a:solidFill>
                  <a:srgbClr val="000000"/>
                </a:solidFill>
                <a:latin typeface="Montserrat Classic Bold"/>
              </a:rPr>
              <a:t>Intimidasi</a:t>
            </a:r>
            <a:endParaRPr lang="en-US" sz="2100" dirty="0">
              <a:solidFill>
                <a:srgbClr val="000000"/>
              </a:solidFill>
              <a:latin typeface="Montserrat Classic Bold"/>
            </a:endParaRPr>
          </a:p>
          <a:p>
            <a:pPr>
              <a:lnSpc>
                <a:spcPts val="2940"/>
              </a:lnSpc>
            </a:pPr>
            <a:r>
              <a:rPr lang="en-US" sz="2100" dirty="0" err="1">
                <a:solidFill>
                  <a:srgbClr val="000000"/>
                </a:solidFill>
                <a:latin typeface="Montserrat Classic"/>
              </a:rPr>
              <a:t>Melaksanakan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fungsinya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penekanan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intimidasi</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sesama</a:t>
            </a:r>
            <a:r>
              <a:rPr lang="en-US" sz="2100" dirty="0">
                <a:solidFill>
                  <a:srgbClr val="000000"/>
                </a:solidFill>
                <a:latin typeface="Montserrat Classic"/>
              </a:rPr>
              <a:t> </a:t>
            </a:r>
            <a:r>
              <a:rPr lang="en-US" sz="2100" dirty="0" err="1">
                <a:solidFill>
                  <a:srgbClr val="000000"/>
                </a:solidFill>
                <a:latin typeface="Montserrat Classic"/>
              </a:rPr>
              <a:t>rekan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bawahan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internal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eksternal</a:t>
            </a:r>
            <a:r>
              <a:rPr lang="en-US" sz="2100" dirty="0">
                <a:solidFill>
                  <a:srgbClr val="000000"/>
                </a:solidFill>
                <a:latin typeface="Montserrat Classic"/>
              </a:rPr>
              <a:t>.</a:t>
            </a:r>
          </a:p>
          <a:p>
            <a:pPr>
              <a:lnSpc>
                <a:spcPts val="2940"/>
              </a:lnSpc>
            </a:pPr>
            <a:endParaRPr lang="en-US" sz="2100" dirty="0">
              <a:solidFill>
                <a:srgbClr val="000000"/>
              </a:solidFill>
              <a:latin typeface="Montserrat Classic"/>
            </a:endParaRPr>
          </a:p>
          <a:p>
            <a:pPr marL="457200" indent="-457200">
              <a:lnSpc>
                <a:spcPts val="2940"/>
              </a:lnSpc>
              <a:buFont typeface="+mj-lt"/>
              <a:buAutoNum type="arabicPeriod" startAt="2"/>
            </a:pPr>
            <a:r>
              <a:rPr lang="en-US" sz="2100" dirty="0" err="1" smtClean="0">
                <a:solidFill>
                  <a:srgbClr val="000000"/>
                </a:solidFill>
                <a:latin typeface="Montserrat Classic Bold"/>
              </a:rPr>
              <a:t>Penghinaan</a:t>
            </a:r>
            <a:endParaRPr lang="en-US" sz="2100" dirty="0">
              <a:solidFill>
                <a:srgbClr val="000000"/>
              </a:solidFill>
              <a:latin typeface="Montserrat Classic Bold"/>
            </a:endParaRPr>
          </a:p>
          <a:p>
            <a:pPr>
              <a:lnSpc>
                <a:spcPts val="2940"/>
              </a:lnSpc>
            </a:pPr>
            <a:r>
              <a:rPr lang="en-US" sz="2100" dirty="0" err="1">
                <a:solidFill>
                  <a:srgbClr val="000000"/>
                </a:solidFill>
                <a:latin typeface="Montserrat Classic"/>
              </a:rPr>
              <a:t>Melaksanakan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fungsinya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menggunakan</a:t>
            </a:r>
            <a:r>
              <a:rPr lang="en-US" sz="2100" dirty="0">
                <a:solidFill>
                  <a:srgbClr val="000000"/>
                </a:solidFill>
                <a:latin typeface="Montserrat Classic"/>
              </a:rPr>
              <a:t> kata-kata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diartikan</a:t>
            </a:r>
            <a:r>
              <a:rPr lang="en-US" sz="2100" dirty="0">
                <a:solidFill>
                  <a:srgbClr val="000000"/>
                </a:solidFill>
                <a:latin typeface="Montserrat Classic"/>
              </a:rPr>
              <a:t> </a:t>
            </a:r>
            <a:r>
              <a:rPr lang="en-US" sz="2100" dirty="0" err="1">
                <a:solidFill>
                  <a:srgbClr val="000000"/>
                </a:solidFill>
                <a:latin typeface="Montserrat Classic"/>
              </a:rPr>
              <a:t>penghinaan</a:t>
            </a:r>
            <a:r>
              <a:rPr lang="en-US" sz="2100" dirty="0">
                <a:solidFill>
                  <a:srgbClr val="000000"/>
                </a:solidFill>
                <a:latin typeface="Montserrat Classic"/>
              </a:rPr>
              <a:t>, kata- kata </a:t>
            </a:r>
            <a:r>
              <a:rPr lang="en-US" sz="2100" dirty="0" err="1">
                <a:solidFill>
                  <a:srgbClr val="000000"/>
                </a:solidFill>
                <a:latin typeface="Montserrat Classic"/>
              </a:rPr>
              <a:t>kasar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senonoh</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rekan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bawahan</a:t>
            </a:r>
            <a:r>
              <a:rPr lang="en-US" sz="2100" dirty="0">
                <a:solidFill>
                  <a:srgbClr val="000000"/>
                </a:solidFill>
                <a:latin typeface="Montserrat Classic"/>
              </a:rPr>
              <a:t>.</a:t>
            </a:r>
          </a:p>
          <a:p>
            <a:pPr>
              <a:lnSpc>
                <a:spcPts val="3499"/>
              </a:lnSpc>
            </a:pPr>
            <a:endParaRPr lang="en-US" sz="2100" dirty="0">
              <a:solidFill>
                <a:srgbClr val="000000"/>
              </a:solidFill>
              <a:latin typeface="Montserrat Classic"/>
            </a:endParaRPr>
          </a:p>
          <a:p>
            <a:pPr>
              <a:lnSpc>
                <a:spcPts val="3499"/>
              </a:lnSpc>
            </a:pPr>
            <a:endParaRPr lang="en-US" sz="2100" dirty="0">
              <a:solidFill>
                <a:srgbClr val="000000"/>
              </a:solidFill>
              <a:latin typeface="Montserrat Classic"/>
            </a:endParaRPr>
          </a:p>
          <a:p>
            <a:pPr>
              <a:lnSpc>
                <a:spcPts val="3499"/>
              </a:lnSpc>
              <a:spcBef>
                <a:spcPct val="0"/>
              </a:spcBef>
            </a:pPr>
            <a:endParaRPr lang="en-US" sz="2100" dirty="0">
              <a:solidFill>
                <a:srgbClr val="000000"/>
              </a:solidFill>
              <a:latin typeface="Montserrat Classic"/>
            </a:endParaRPr>
          </a:p>
          <a:p>
            <a:pPr>
              <a:lnSpc>
                <a:spcPts val="3499"/>
              </a:lnSpc>
              <a:spcBef>
                <a:spcPct val="0"/>
              </a:spcBef>
            </a:pPr>
            <a:endParaRPr lang="en-US" sz="2100" dirty="0">
              <a:solidFill>
                <a:srgbClr val="000000"/>
              </a:solidFill>
              <a:latin typeface="Montserrat Classic"/>
            </a:endParaRPr>
          </a:p>
          <a:p>
            <a:pPr>
              <a:lnSpc>
                <a:spcPts val="3499"/>
              </a:lnSpc>
              <a:spcBef>
                <a:spcPct val="0"/>
              </a:spcBef>
            </a:pPr>
            <a:endParaRPr lang="en-US" sz="2100" dirty="0">
              <a:solidFill>
                <a:srgbClr val="000000"/>
              </a:solidFill>
              <a:latin typeface="Montserrat Classic"/>
            </a:endParaRPr>
          </a:p>
        </p:txBody>
      </p:sp>
      <p:sp>
        <p:nvSpPr>
          <p:cNvPr id="7"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29</a:t>
            </a:r>
            <a:endParaRPr lang="en-US" sz="3319" dirty="0">
              <a:solidFill>
                <a:srgbClr val="000000"/>
              </a:solidFill>
              <a:latin typeface="Telegraf"/>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1788887" y="-8680103"/>
            <a:ext cx="11300655" cy="9184351"/>
          </a:xfrm>
          <a:prstGeom prst="rect">
            <a:avLst/>
          </a:prstGeom>
        </p:spPr>
      </p:pic>
      <p:sp>
        <p:nvSpPr>
          <p:cNvPr id="5" name="TextBox 5"/>
          <p:cNvSpPr txBox="1"/>
          <p:nvPr/>
        </p:nvSpPr>
        <p:spPr>
          <a:xfrm>
            <a:off x="1097340" y="1535073"/>
            <a:ext cx="15497993" cy="9783445"/>
          </a:xfrm>
          <a:prstGeom prst="rect">
            <a:avLst/>
          </a:prstGeom>
        </p:spPr>
        <p:txBody>
          <a:bodyPr lIns="0" tIns="0" rIns="0" bIns="0" rtlCol="0" anchor="t">
            <a:spAutoFit/>
          </a:bodyPr>
          <a:lstStyle/>
          <a:p>
            <a:pPr marL="457200" indent="-457200">
              <a:lnSpc>
                <a:spcPts val="2940"/>
              </a:lnSpc>
              <a:spcBef>
                <a:spcPct val="0"/>
              </a:spcBef>
              <a:buFont typeface="+mj-lt"/>
              <a:buAutoNum type="arabicPeriod" startAt="3"/>
            </a:pPr>
            <a:r>
              <a:rPr lang="en-US" sz="2100" dirty="0" err="1">
                <a:solidFill>
                  <a:srgbClr val="000000"/>
                </a:solidFill>
                <a:latin typeface="Montserrat Classic Bold"/>
              </a:rPr>
              <a:t>Pelecehan</a:t>
            </a:r>
            <a:endParaRPr lang="en-US" sz="21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ucapan</a:t>
            </a:r>
            <a:r>
              <a:rPr lang="en-US" sz="2100" dirty="0">
                <a:solidFill>
                  <a:srgbClr val="000000"/>
                </a:solidFill>
                <a:latin typeface="Montserrat Classic"/>
              </a:rPr>
              <a:t> yang </a:t>
            </a:r>
            <a:r>
              <a:rPr lang="en-US" sz="2100" dirty="0" err="1">
                <a:solidFill>
                  <a:srgbClr val="000000"/>
                </a:solidFill>
                <a:latin typeface="Montserrat Classic"/>
              </a:rPr>
              <a:t>mengandung</a:t>
            </a:r>
            <a:r>
              <a:rPr lang="en-US" sz="2100" dirty="0">
                <a:solidFill>
                  <a:srgbClr val="000000"/>
                </a:solidFill>
                <a:latin typeface="Montserrat Classic"/>
              </a:rPr>
              <a:t> </a:t>
            </a:r>
            <a:r>
              <a:rPr lang="en-US" sz="2100" dirty="0" err="1">
                <a:solidFill>
                  <a:srgbClr val="000000"/>
                </a:solidFill>
                <a:latin typeface="Montserrat Classic"/>
              </a:rPr>
              <a:t>unsur</a:t>
            </a:r>
            <a:r>
              <a:rPr lang="en-US" sz="2100" dirty="0">
                <a:solidFill>
                  <a:srgbClr val="000000"/>
                </a:solidFill>
                <a:latin typeface="Montserrat Classic"/>
              </a:rPr>
              <a:t> </a:t>
            </a:r>
            <a:r>
              <a:rPr lang="en-US" sz="2100" dirty="0" err="1">
                <a:solidFill>
                  <a:srgbClr val="000000"/>
                </a:solidFill>
                <a:latin typeface="Montserrat Classic"/>
              </a:rPr>
              <a:t>pelecehan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yang </a:t>
            </a:r>
            <a:r>
              <a:rPr lang="en-US" sz="2100" dirty="0" err="1">
                <a:solidFill>
                  <a:srgbClr val="000000"/>
                </a:solidFill>
                <a:latin typeface="Montserrat Classic"/>
              </a:rPr>
              <a:t>berhubungan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latar</a:t>
            </a:r>
            <a:r>
              <a:rPr lang="en-US" sz="2100" dirty="0">
                <a:solidFill>
                  <a:srgbClr val="000000"/>
                </a:solidFill>
                <a:latin typeface="Montserrat Classic"/>
              </a:rPr>
              <a:t> </a:t>
            </a:r>
            <a:r>
              <a:rPr lang="en-US" sz="2100" dirty="0" err="1">
                <a:solidFill>
                  <a:srgbClr val="000000"/>
                </a:solidFill>
                <a:latin typeface="Montserrat Classic"/>
              </a:rPr>
              <a:t>belakang</a:t>
            </a:r>
            <a:r>
              <a:rPr lang="en-US" sz="2100" dirty="0">
                <a:solidFill>
                  <a:srgbClr val="000000"/>
                </a:solidFill>
                <a:latin typeface="Montserrat Classic"/>
              </a:rPr>
              <a:t>, </a:t>
            </a:r>
            <a:r>
              <a:rPr lang="en-US" sz="2100" dirty="0" err="1">
                <a:solidFill>
                  <a:srgbClr val="000000"/>
                </a:solidFill>
                <a:latin typeface="Montserrat Classic"/>
              </a:rPr>
              <a:t>suku</a:t>
            </a:r>
            <a:r>
              <a:rPr lang="en-US" sz="2100" dirty="0">
                <a:solidFill>
                  <a:srgbClr val="000000"/>
                </a:solidFill>
                <a:latin typeface="Montserrat Classic"/>
              </a:rPr>
              <a:t>, agama, </a:t>
            </a:r>
            <a:r>
              <a:rPr lang="en-US" sz="2100" dirty="0" err="1">
                <a:solidFill>
                  <a:srgbClr val="000000"/>
                </a:solidFill>
                <a:latin typeface="Montserrat Classic"/>
              </a:rPr>
              <a:t>ras</a:t>
            </a:r>
            <a:r>
              <a:rPr lang="en-US" sz="2100" dirty="0">
                <a:solidFill>
                  <a:srgbClr val="000000"/>
                </a:solidFill>
                <a:latin typeface="Montserrat Classic"/>
              </a:rPr>
              <a:t>, </a:t>
            </a:r>
            <a:r>
              <a:rPr lang="en-US" sz="2100" dirty="0" err="1">
                <a:solidFill>
                  <a:srgbClr val="000000"/>
                </a:solidFill>
                <a:latin typeface="Montserrat Classic"/>
              </a:rPr>
              <a:t>adat</a:t>
            </a:r>
            <a:r>
              <a:rPr lang="en-US" sz="2100" dirty="0">
                <a:solidFill>
                  <a:srgbClr val="000000"/>
                </a:solidFill>
                <a:latin typeface="Montserrat Classic"/>
              </a:rPr>
              <a:t> </a:t>
            </a:r>
            <a:r>
              <a:rPr lang="en-US" sz="2100" dirty="0" err="1">
                <a:solidFill>
                  <a:srgbClr val="000000"/>
                </a:solidFill>
                <a:latin typeface="Montserrat Classic"/>
              </a:rPr>
              <a:t>istiadat</a:t>
            </a:r>
            <a:r>
              <a:rPr lang="en-US" sz="2100" dirty="0">
                <a:solidFill>
                  <a:srgbClr val="000000"/>
                </a:solidFill>
                <a:latin typeface="Montserrat Classic"/>
              </a:rPr>
              <a:t>, </a:t>
            </a:r>
            <a:r>
              <a:rPr lang="en-US" sz="2100" dirty="0" err="1">
                <a:solidFill>
                  <a:srgbClr val="000000"/>
                </a:solidFill>
                <a:latin typeface="Montserrat Classic"/>
              </a:rPr>
              <a:t>jenis</a:t>
            </a:r>
            <a:r>
              <a:rPr lang="en-US" sz="2100" dirty="0">
                <a:solidFill>
                  <a:srgbClr val="000000"/>
                </a:solidFill>
                <a:latin typeface="Montserrat Classic"/>
              </a:rPr>
              <a:t> </a:t>
            </a:r>
            <a:r>
              <a:rPr lang="en-US" sz="2100" dirty="0" err="1">
                <a:solidFill>
                  <a:srgbClr val="000000"/>
                </a:solidFill>
                <a:latin typeface="Montserrat Classic"/>
              </a:rPr>
              <a:t>kelamin</a:t>
            </a:r>
            <a:r>
              <a:rPr lang="en-US" sz="2100" dirty="0">
                <a:solidFill>
                  <a:srgbClr val="000000"/>
                </a:solidFill>
                <a:latin typeface="Montserrat Classic"/>
              </a:rPr>
              <a:t> (gender)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lain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norma</a:t>
            </a:r>
            <a:r>
              <a:rPr lang="en-US" sz="2100" dirty="0">
                <a:solidFill>
                  <a:srgbClr val="000000"/>
                </a:solidFill>
                <a:latin typeface="Montserrat Classic"/>
              </a:rPr>
              <a:t> </a:t>
            </a:r>
            <a:r>
              <a:rPr lang="en-US" sz="2100" dirty="0" err="1">
                <a:solidFill>
                  <a:srgbClr val="000000"/>
                </a:solidFill>
                <a:latin typeface="Montserrat Classic"/>
              </a:rPr>
              <a:t>kesusilaan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kesopanan</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4"/>
            </a:pPr>
            <a:r>
              <a:rPr lang="en-US" sz="2100" dirty="0" err="1">
                <a:solidFill>
                  <a:srgbClr val="000000"/>
                </a:solidFill>
                <a:latin typeface="Montserrat Classic Bold"/>
              </a:rPr>
              <a:t>Provokasi</a:t>
            </a:r>
            <a:r>
              <a:rPr lang="en-US" sz="2100" dirty="0">
                <a:solidFill>
                  <a:srgbClr val="000000"/>
                </a:solidFill>
                <a:latin typeface="Montserrat Classic Bold"/>
              </a:rPr>
              <a:t> </a:t>
            </a:r>
          </a:p>
          <a:p>
            <a:pPr>
              <a:lnSpc>
                <a:spcPts val="2940"/>
              </a:lnSpc>
              <a:spcBef>
                <a:spcPct val="0"/>
              </a:spcBef>
            </a:pPr>
            <a:r>
              <a:rPr lang="en-US" sz="2100" dirty="0" err="1">
                <a:solidFill>
                  <a:srgbClr val="000000"/>
                </a:solidFill>
                <a:latin typeface="Montserrat Classic"/>
              </a:rPr>
              <a:t>Memanfaatkan</a:t>
            </a:r>
            <a:r>
              <a:rPr lang="en-US" sz="2100" dirty="0">
                <a:solidFill>
                  <a:srgbClr val="000000"/>
                </a:solidFill>
                <a:latin typeface="Montserrat Classic"/>
              </a:rPr>
              <a:t> </a:t>
            </a:r>
            <a:r>
              <a:rPr lang="en-US" sz="2100" dirty="0" err="1">
                <a:solidFill>
                  <a:srgbClr val="000000"/>
                </a:solidFill>
                <a:latin typeface="Montserrat Classic"/>
              </a:rPr>
              <a:t>posisi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jabatan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memaksa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memprovokasi</a:t>
            </a:r>
            <a:r>
              <a:rPr lang="en-US" sz="2100" dirty="0">
                <a:solidFill>
                  <a:srgbClr val="000000"/>
                </a:solidFill>
                <a:latin typeface="Montserrat Classic"/>
              </a:rPr>
              <a:t> </a:t>
            </a:r>
            <a:r>
              <a:rPr lang="en-US" sz="2100" dirty="0" err="1">
                <a:solidFill>
                  <a:srgbClr val="000000"/>
                </a:solidFill>
                <a:latin typeface="Montserrat Classic"/>
              </a:rPr>
              <a:t>rekan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bawahan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lain </a:t>
            </a:r>
            <a:r>
              <a:rPr lang="en-US" sz="2100" dirty="0" err="1">
                <a:solidFill>
                  <a:srgbClr val="000000"/>
                </a:solidFill>
                <a:latin typeface="Montserrat Classic"/>
              </a:rPr>
              <a:t>sejenis</a:t>
            </a:r>
            <a:r>
              <a:rPr lang="en-US" sz="2100" dirty="0">
                <a:solidFill>
                  <a:srgbClr val="000000"/>
                </a:solidFill>
                <a:latin typeface="Montserrat Classic"/>
              </a:rPr>
              <a:t> yang </a:t>
            </a:r>
            <a:r>
              <a:rPr lang="en-US" sz="2100" dirty="0" err="1">
                <a:solidFill>
                  <a:srgbClr val="000000"/>
                </a:solidFill>
                <a:latin typeface="Montserrat Classic"/>
              </a:rPr>
              <a:t>diyakini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dianggap</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membahayakan</a:t>
            </a:r>
            <a:r>
              <a:rPr lang="en-US" sz="2100" dirty="0">
                <a:solidFill>
                  <a:srgbClr val="000000"/>
                </a:solidFill>
                <a:latin typeface="Montserrat Classic"/>
              </a:rPr>
              <a:t> Perusahaan. </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5"/>
            </a:pPr>
            <a:r>
              <a:rPr lang="en-US" sz="2100" dirty="0" err="1">
                <a:solidFill>
                  <a:srgbClr val="000000"/>
                </a:solidFill>
                <a:latin typeface="Montserrat Classic Bold"/>
              </a:rPr>
              <a:t>Persaingan</a:t>
            </a:r>
            <a:r>
              <a:rPr lang="en-US" sz="2100" dirty="0">
                <a:solidFill>
                  <a:srgbClr val="000000"/>
                </a:solidFill>
                <a:latin typeface="Montserrat Classic Bold"/>
              </a:rPr>
              <a:t> </a:t>
            </a:r>
            <a:r>
              <a:rPr lang="en-US" sz="2100" dirty="0" err="1">
                <a:solidFill>
                  <a:srgbClr val="000000"/>
                </a:solidFill>
                <a:latin typeface="Montserrat Classic Bold"/>
              </a:rPr>
              <a:t>tidak</a:t>
            </a:r>
            <a:r>
              <a:rPr lang="en-US" sz="2100" dirty="0">
                <a:solidFill>
                  <a:srgbClr val="000000"/>
                </a:solidFill>
                <a:latin typeface="Montserrat Classic Bold"/>
              </a:rPr>
              <a:t> </a:t>
            </a:r>
            <a:r>
              <a:rPr lang="en-US" sz="2100" dirty="0" err="1">
                <a:solidFill>
                  <a:srgbClr val="000000"/>
                </a:solidFill>
                <a:latin typeface="Montserrat Classic Bold"/>
              </a:rPr>
              <a:t>sehat</a:t>
            </a:r>
            <a:endParaRPr lang="en-US" sz="2100" dirty="0">
              <a:solidFill>
                <a:srgbClr val="000000"/>
              </a:solidFill>
              <a:latin typeface="Montserrat Classic Bold"/>
            </a:endParaRPr>
          </a:p>
          <a:p>
            <a:pPr>
              <a:lnSpc>
                <a:spcPts val="2940"/>
              </a:lnSpc>
              <a:spcBef>
                <a:spcPct val="0"/>
              </a:spcBef>
            </a:pPr>
            <a:r>
              <a:rPr lang="en-US" sz="2100" dirty="0" err="1">
                <a:solidFill>
                  <a:srgbClr val="000000"/>
                </a:solidFill>
                <a:latin typeface="Montserrat Classic"/>
              </a:rPr>
              <a:t>Segenap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mengembangkan</a:t>
            </a:r>
            <a:r>
              <a:rPr lang="en-US" sz="2100" dirty="0">
                <a:solidFill>
                  <a:srgbClr val="000000"/>
                </a:solidFill>
                <a:latin typeface="Montserrat Classic"/>
              </a:rPr>
              <a:t> </a:t>
            </a:r>
            <a:r>
              <a:rPr lang="en-US" sz="2100" dirty="0" err="1">
                <a:solidFill>
                  <a:srgbClr val="000000"/>
                </a:solidFill>
                <a:latin typeface="Montserrat Classic"/>
              </a:rPr>
              <a:t>karirnya</a:t>
            </a:r>
            <a:r>
              <a:rPr lang="en-US" sz="2100" dirty="0">
                <a:solidFill>
                  <a:srgbClr val="000000"/>
                </a:solidFill>
                <a:latin typeface="Montserrat Classic"/>
              </a:rPr>
              <a:t> </a:t>
            </a:r>
            <a:r>
              <a:rPr lang="en-US" sz="2100" dirty="0" err="1">
                <a:solidFill>
                  <a:srgbClr val="000000"/>
                </a:solidFill>
                <a:latin typeface="Montserrat Classic"/>
              </a:rPr>
              <a:t>menjauhi</a:t>
            </a:r>
            <a:r>
              <a:rPr lang="en-US" sz="2100" dirty="0">
                <a:solidFill>
                  <a:srgbClr val="000000"/>
                </a:solidFill>
                <a:latin typeface="Montserrat Classic"/>
              </a:rPr>
              <a:t>, </a:t>
            </a:r>
            <a:r>
              <a:rPr lang="en-US" sz="2100" dirty="0" err="1">
                <a:solidFill>
                  <a:srgbClr val="000000"/>
                </a:solidFill>
                <a:latin typeface="Montserrat Classic"/>
              </a:rPr>
              <a:t>menghindari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mencegah</a:t>
            </a:r>
            <a:r>
              <a:rPr lang="en-US" sz="2100" dirty="0">
                <a:solidFill>
                  <a:srgbClr val="000000"/>
                </a:solidFill>
                <a:latin typeface="Montserrat Classic"/>
              </a:rPr>
              <a:t> </a:t>
            </a:r>
            <a:r>
              <a:rPr lang="en-US" sz="2100" dirty="0" err="1">
                <a:solidFill>
                  <a:srgbClr val="000000"/>
                </a:solidFill>
                <a:latin typeface="Montserrat Classic"/>
              </a:rPr>
              <a:t>cara-cara</a:t>
            </a:r>
            <a:r>
              <a:rPr lang="en-US" sz="2100" dirty="0">
                <a:solidFill>
                  <a:srgbClr val="000000"/>
                </a:solidFill>
                <a:latin typeface="Montserrat Classic"/>
              </a:rPr>
              <a:t> </a:t>
            </a:r>
            <a:r>
              <a:rPr lang="en-US" sz="2100" dirty="0" err="1">
                <a:solidFill>
                  <a:srgbClr val="000000"/>
                </a:solidFill>
                <a:latin typeface="Montserrat Classic"/>
              </a:rPr>
              <a:t>persaingan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sehat</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nSpc>
                <a:spcPts val="3045"/>
              </a:lnSpc>
              <a:buFont typeface="+mj-lt"/>
              <a:buAutoNum type="arabicPeriod" startAt="6"/>
            </a:pPr>
            <a:r>
              <a:rPr lang="en-US" sz="2100" dirty="0" err="1">
                <a:solidFill>
                  <a:srgbClr val="000000"/>
                </a:solidFill>
                <a:latin typeface="Montserrat Classic Bold"/>
              </a:rPr>
              <a:t>Pernyataan</a:t>
            </a:r>
            <a:r>
              <a:rPr lang="en-US" sz="2100" dirty="0">
                <a:solidFill>
                  <a:srgbClr val="000000"/>
                </a:solidFill>
                <a:latin typeface="Montserrat Classic Bold"/>
              </a:rPr>
              <a:t> </a:t>
            </a:r>
            <a:r>
              <a:rPr lang="en-US" sz="2100" dirty="0" err="1">
                <a:solidFill>
                  <a:srgbClr val="000000"/>
                </a:solidFill>
                <a:latin typeface="Montserrat Classic Bold"/>
              </a:rPr>
              <a:t>palsu</a:t>
            </a:r>
            <a:r>
              <a:rPr lang="en-US" sz="2100" dirty="0">
                <a:solidFill>
                  <a:srgbClr val="000000"/>
                </a:solidFill>
                <a:latin typeface="Montserrat Classic Bold"/>
              </a:rPr>
              <a:t> </a:t>
            </a:r>
          </a:p>
          <a:p>
            <a:pPr>
              <a:lnSpc>
                <a:spcPts val="3045"/>
              </a:lnSpc>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bertanggung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pernyataan</a:t>
            </a:r>
            <a:r>
              <a:rPr lang="en-US" sz="2100" dirty="0">
                <a:solidFill>
                  <a:srgbClr val="000000"/>
                </a:solidFill>
                <a:latin typeface="Montserrat Classic"/>
              </a:rPr>
              <a:t> yang </a:t>
            </a:r>
            <a:r>
              <a:rPr lang="en-US" sz="2100" dirty="0" err="1">
                <a:solidFill>
                  <a:srgbClr val="000000"/>
                </a:solidFill>
                <a:latin typeface="Montserrat Classic"/>
              </a:rPr>
              <a:t>dikeluarkan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dibuatnya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di </a:t>
            </a:r>
            <a:r>
              <a:rPr lang="en-US" sz="2100" dirty="0" err="1">
                <a:solidFill>
                  <a:srgbClr val="000000"/>
                </a:solidFill>
                <a:latin typeface="Montserrat Classic"/>
              </a:rPr>
              <a:t>dalam</a:t>
            </a:r>
            <a:r>
              <a:rPr lang="en-US" sz="2100" dirty="0">
                <a:solidFill>
                  <a:srgbClr val="000000"/>
                </a:solidFill>
                <a:latin typeface="Montserrat Classic"/>
              </a:rPr>
              <a:t> Perusahaan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di </a:t>
            </a:r>
            <a:r>
              <a:rPr lang="en-US" sz="2100" dirty="0" err="1">
                <a:solidFill>
                  <a:srgbClr val="000000"/>
                </a:solidFill>
                <a:latin typeface="Montserrat Classic"/>
              </a:rPr>
              <a:t>luar</a:t>
            </a:r>
            <a:r>
              <a:rPr lang="en-US" sz="2100" dirty="0">
                <a:solidFill>
                  <a:srgbClr val="000000"/>
                </a:solidFill>
                <a:latin typeface="Montserrat Classic"/>
              </a:rPr>
              <a:t> Perusahaan.</a:t>
            </a:r>
          </a:p>
          <a:p>
            <a:pPr>
              <a:lnSpc>
                <a:spcPts val="2940"/>
              </a:lnSpc>
              <a:spcBef>
                <a:spcPct val="0"/>
              </a:spcBef>
            </a:pPr>
            <a:endParaRPr lang="en-US" sz="2100" dirty="0">
              <a:solidFill>
                <a:srgbClr val="000000"/>
              </a:solidFill>
              <a:latin typeface="Montserrat Classic"/>
            </a:endParaRPr>
          </a:p>
          <a:p>
            <a:pPr>
              <a:lnSpc>
                <a:spcPts val="2940"/>
              </a:lnSpc>
              <a:spcBef>
                <a:spcPct val="0"/>
              </a:spcBef>
            </a:pPr>
            <a:r>
              <a:rPr lang="en-US" sz="2100" dirty="0" err="1">
                <a:solidFill>
                  <a:srgbClr val="000000"/>
                </a:solidFill>
                <a:latin typeface="Montserrat Classic"/>
              </a:rPr>
              <a:t>Pernyataan</a:t>
            </a:r>
            <a:r>
              <a:rPr lang="en-US" sz="2100" dirty="0">
                <a:solidFill>
                  <a:srgbClr val="000000"/>
                </a:solidFill>
                <a:latin typeface="Montserrat Classic"/>
              </a:rPr>
              <a:t> yang </a:t>
            </a:r>
            <a:r>
              <a:rPr lang="en-US" sz="2100" dirty="0" err="1">
                <a:solidFill>
                  <a:srgbClr val="000000"/>
                </a:solidFill>
                <a:latin typeface="Montserrat Classic"/>
              </a:rPr>
              <a:t>dimaksud</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pernyataan</a:t>
            </a:r>
            <a:r>
              <a:rPr lang="en-US" sz="2100" dirty="0">
                <a:solidFill>
                  <a:srgbClr val="000000"/>
                </a:solidFill>
                <a:latin typeface="Montserrat Classic"/>
              </a:rPr>
              <a:t> </a:t>
            </a:r>
            <a:r>
              <a:rPr lang="en-US" sz="2100" dirty="0" err="1">
                <a:solidFill>
                  <a:srgbClr val="000000"/>
                </a:solidFill>
                <a:latin typeface="Montserrat Classic"/>
              </a:rPr>
              <a:t>lisan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tertulis</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a:lnSpc>
                <a:spcPts val="2940"/>
              </a:lnSpc>
              <a:spcBef>
                <a:spcPct val="0"/>
              </a:spcBef>
            </a:pP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bertanggungjawab</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pernyataan</a:t>
            </a:r>
            <a:r>
              <a:rPr lang="en-US" sz="2100" dirty="0">
                <a:solidFill>
                  <a:srgbClr val="000000"/>
                </a:solidFill>
                <a:latin typeface="Montserrat Classic"/>
              </a:rPr>
              <a:t> yang </a:t>
            </a:r>
            <a:r>
              <a:rPr lang="en-US" sz="2100" dirty="0" err="1">
                <a:solidFill>
                  <a:srgbClr val="000000"/>
                </a:solidFill>
                <a:latin typeface="Montserrat Classic"/>
              </a:rPr>
              <a:t>akurat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benar</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di </a:t>
            </a:r>
            <a:r>
              <a:rPr lang="en-US" sz="2100" dirty="0" err="1">
                <a:solidFill>
                  <a:srgbClr val="000000"/>
                </a:solidFill>
                <a:latin typeface="Montserrat Classic"/>
              </a:rPr>
              <a:t>luar</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di </a:t>
            </a:r>
            <a:r>
              <a:rPr lang="en-US" sz="2100" dirty="0" err="1">
                <a:solidFill>
                  <a:srgbClr val="000000"/>
                </a:solidFill>
                <a:latin typeface="Montserrat Classic"/>
              </a:rPr>
              <a:t>dalam</a:t>
            </a:r>
            <a:r>
              <a:rPr lang="en-US" sz="2100" dirty="0">
                <a:solidFill>
                  <a:srgbClr val="000000"/>
                </a:solidFill>
                <a:latin typeface="Montserrat Classic"/>
              </a:rPr>
              <a:t> Perusahaan.</a:t>
            </a:r>
          </a:p>
          <a:p>
            <a:pPr>
              <a:lnSpc>
                <a:spcPts val="3219"/>
              </a:lnSpc>
              <a:spcBef>
                <a:spcPct val="0"/>
              </a:spcBef>
            </a:pPr>
            <a:endParaRPr lang="en-US" sz="2100" dirty="0">
              <a:solidFill>
                <a:srgbClr val="000000"/>
              </a:solidFill>
              <a:latin typeface="Montserrat Classic"/>
            </a:endParaRPr>
          </a:p>
          <a:p>
            <a:pPr>
              <a:lnSpc>
                <a:spcPts val="3219"/>
              </a:lnSpc>
              <a:spcBef>
                <a:spcPct val="0"/>
              </a:spcBef>
            </a:pPr>
            <a:r>
              <a:rPr lang="en-US" sz="2299" dirty="0">
                <a:solidFill>
                  <a:srgbClr val="000000"/>
                </a:solidFill>
                <a:latin typeface="Montserrat Classic"/>
              </a:rPr>
              <a:t> </a:t>
            </a:r>
          </a:p>
          <a:p>
            <a:pPr>
              <a:lnSpc>
                <a:spcPts val="3219"/>
              </a:lnSpc>
              <a:spcBef>
                <a:spcPct val="0"/>
              </a:spcBef>
            </a:pPr>
            <a:endParaRPr lang="en-US" sz="2299" dirty="0">
              <a:solidFill>
                <a:srgbClr val="000000"/>
              </a:solidFill>
              <a:latin typeface="Montserrat Classic"/>
            </a:endParaRPr>
          </a:p>
          <a:p>
            <a:pPr>
              <a:lnSpc>
                <a:spcPts val="3219"/>
              </a:lnSpc>
              <a:spcBef>
                <a:spcPct val="0"/>
              </a:spcBef>
            </a:pPr>
            <a:endParaRPr lang="en-US" sz="2299" dirty="0">
              <a:solidFill>
                <a:srgbClr val="000000"/>
              </a:solidFill>
              <a:latin typeface="Montserrat Classic"/>
            </a:endParaRPr>
          </a:p>
        </p:txBody>
      </p:sp>
      <p:sp>
        <p:nvSpPr>
          <p:cNvPr id="6" name="TextBox 6"/>
          <p:cNvSpPr txBox="1"/>
          <p:nvPr/>
        </p:nvSpPr>
        <p:spPr>
          <a:xfrm>
            <a:off x="1028700" y="802005"/>
            <a:ext cx="7704088" cy="405765"/>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Montserrat Classic Bold"/>
              </a:rPr>
              <a:t>C. Etika Menjaga Hubungan Baik Antar Karyawan </a:t>
            </a: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a:solidFill>
                  <a:srgbClr val="000000"/>
                </a:solidFill>
                <a:latin typeface="Telegraf"/>
              </a:rPr>
              <a:t>3</a:t>
            </a:r>
            <a:r>
              <a:rPr lang="en-US" sz="3319" dirty="0" smtClean="0">
                <a:solidFill>
                  <a:srgbClr val="000000"/>
                </a:solidFill>
                <a:latin typeface="Telegraf"/>
              </a:rPr>
              <a:t>0</a:t>
            </a:r>
            <a:endParaRPr lang="en-US" sz="3319" dirty="0">
              <a:solidFill>
                <a:srgbClr val="000000"/>
              </a:solidFill>
              <a:latin typeface="Telegraf"/>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58562" y="1765300"/>
            <a:ext cx="15919296" cy="6354445"/>
          </a:xfrm>
          <a:prstGeom prst="rect">
            <a:avLst/>
          </a:prstGeom>
        </p:spPr>
        <p:txBody>
          <a:bodyPr lIns="0" tIns="0" rIns="0" bIns="0" rtlCol="0" anchor="t">
            <a:spAutoFit/>
          </a:bodyPr>
          <a:lstStyle/>
          <a:p>
            <a:pPr>
              <a:lnSpc>
                <a:spcPts val="2940"/>
              </a:lnSpc>
              <a:spcBef>
                <a:spcPct val="0"/>
              </a:spcBef>
            </a:pP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kerahasiaan</a:t>
            </a:r>
            <a:r>
              <a:rPr lang="en-US" sz="2100" dirty="0">
                <a:solidFill>
                  <a:srgbClr val="000000"/>
                </a:solidFill>
                <a:latin typeface="Montserrat Classic"/>
              </a:rPr>
              <a:t> data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Perusahaan.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ini</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terbatas</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data yang </a:t>
            </a:r>
            <a:r>
              <a:rPr lang="en-US" sz="2100" dirty="0" err="1">
                <a:solidFill>
                  <a:srgbClr val="000000"/>
                </a:solidFill>
                <a:latin typeface="Montserrat Classic"/>
              </a:rPr>
              <a:t>berasal</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Perusahaan </a:t>
            </a:r>
            <a:r>
              <a:rPr lang="en-US" sz="2100" dirty="0" err="1">
                <a:solidFill>
                  <a:srgbClr val="000000"/>
                </a:solidFill>
                <a:latin typeface="Montserrat Classic"/>
              </a:rPr>
              <a:t>saja</a:t>
            </a:r>
            <a:r>
              <a:rPr lang="en-US" sz="2100" dirty="0">
                <a:solidFill>
                  <a:srgbClr val="000000"/>
                </a:solidFill>
                <a:latin typeface="Montserrat Classic"/>
              </a:rPr>
              <a:t>, </a:t>
            </a:r>
            <a:r>
              <a:rPr lang="en-US" sz="2100" dirty="0" err="1">
                <a:solidFill>
                  <a:srgbClr val="000000"/>
                </a:solidFill>
                <a:latin typeface="Montserrat Classic"/>
              </a:rPr>
              <a:t>namun</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data yang </a:t>
            </a:r>
            <a:r>
              <a:rPr lang="en-US" sz="2100" dirty="0" err="1">
                <a:solidFill>
                  <a:srgbClr val="000000"/>
                </a:solidFill>
                <a:latin typeface="Montserrat Classic"/>
              </a:rPr>
              <a:t>berasal</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luar</a:t>
            </a:r>
            <a:r>
              <a:rPr lang="en-US" sz="2100" dirty="0">
                <a:solidFill>
                  <a:srgbClr val="000000"/>
                </a:solidFill>
                <a:latin typeface="Montserrat Classic"/>
              </a:rPr>
              <a:t> </a:t>
            </a:r>
            <a:r>
              <a:rPr lang="en-US" sz="2100" dirty="0" err="1">
                <a:solidFill>
                  <a:srgbClr val="000000"/>
                </a:solidFill>
                <a:latin typeface="Montserrat Classic"/>
              </a:rPr>
              <a:t>seperti</a:t>
            </a:r>
            <a:r>
              <a:rPr lang="en-US" sz="2100" dirty="0">
                <a:solidFill>
                  <a:srgbClr val="000000"/>
                </a:solidFill>
                <a:latin typeface="Montserrat Classic"/>
              </a:rPr>
              <a:t> customer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penyedia</a:t>
            </a:r>
            <a:r>
              <a:rPr lang="en-US" sz="2100" dirty="0">
                <a:solidFill>
                  <a:srgbClr val="000000"/>
                </a:solidFill>
                <a:latin typeface="Montserrat Classic"/>
              </a:rPr>
              <a:t> </a:t>
            </a:r>
            <a:r>
              <a:rPr lang="en-US" sz="2100" dirty="0" err="1">
                <a:solidFill>
                  <a:srgbClr val="000000"/>
                </a:solidFill>
                <a:latin typeface="Montserrat Classic"/>
              </a:rPr>
              <a:t>barang</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jasa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segenap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berikut</a:t>
            </a:r>
            <a:r>
              <a:rPr lang="en-US" sz="2100" dirty="0">
                <a:solidFill>
                  <a:srgbClr val="000000"/>
                </a:solidFill>
                <a:latin typeface="Montserrat Classic"/>
              </a:rPr>
              <a:t>:</a:t>
            </a:r>
          </a:p>
          <a:p>
            <a:pPr>
              <a:lnSpc>
                <a:spcPts val="2940"/>
              </a:lnSpc>
              <a:spcBef>
                <a:spcPct val="0"/>
              </a:spcBef>
            </a:pPr>
            <a:r>
              <a:rPr lang="en-US" sz="2100" dirty="0">
                <a:solidFill>
                  <a:srgbClr val="000000"/>
                </a:solidFill>
                <a:latin typeface="Montserrat Classic"/>
              </a:rPr>
              <a:t> </a:t>
            </a:r>
          </a:p>
          <a:p>
            <a:pPr marL="457200" indent="-457200">
              <a:lnSpc>
                <a:spcPts val="2940"/>
              </a:lnSpc>
              <a:spcBef>
                <a:spcPct val="0"/>
              </a:spcBef>
              <a:buFont typeface="+mj-lt"/>
              <a:buAutoNum type="arabicPeriod"/>
            </a:pPr>
            <a:r>
              <a:rPr lang="en-US" sz="2100" dirty="0" err="1">
                <a:solidFill>
                  <a:srgbClr val="000000"/>
                </a:solidFill>
                <a:latin typeface="Montserrat Classic"/>
              </a:rPr>
              <a:t>Mengelola</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a:t>
            </a:r>
            <a:r>
              <a:rPr lang="en-US" sz="2100" dirty="0" err="1">
                <a:solidFill>
                  <a:srgbClr val="000000"/>
                </a:solidFill>
                <a:latin typeface="Montserrat Classic"/>
              </a:rPr>
              <a:t>berdasarkan</a:t>
            </a:r>
            <a:r>
              <a:rPr lang="en-US" sz="2100" dirty="0">
                <a:solidFill>
                  <a:srgbClr val="000000"/>
                </a:solidFill>
                <a:latin typeface="Montserrat Classic"/>
              </a:rPr>
              <a:t> </a:t>
            </a:r>
            <a:r>
              <a:rPr lang="en-US" sz="2100" dirty="0" err="1">
                <a:solidFill>
                  <a:srgbClr val="000000"/>
                </a:solidFill>
                <a:latin typeface="Montserrat Classic"/>
              </a:rPr>
              <a:t>tingkat</a:t>
            </a:r>
            <a:r>
              <a:rPr lang="en-US" sz="2100" dirty="0">
                <a:solidFill>
                  <a:srgbClr val="000000"/>
                </a:solidFill>
                <a:latin typeface="Montserrat Classic"/>
              </a:rPr>
              <a:t> </a:t>
            </a:r>
            <a:r>
              <a:rPr lang="en-US" sz="2100" dirty="0" err="1">
                <a:solidFill>
                  <a:srgbClr val="000000"/>
                </a:solidFill>
                <a:latin typeface="Montserrat Classic"/>
              </a:rPr>
              <a:t>kerahasiaan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mengamankan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salah</a:t>
            </a:r>
            <a:r>
              <a:rPr lang="en-US" sz="2100" dirty="0">
                <a:solidFill>
                  <a:srgbClr val="000000"/>
                </a:solidFill>
                <a:latin typeface="Montserrat Classic"/>
              </a:rPr>
              <a:t> </a:t>
            </a:r>
            <a:r>
              <a:rPr lang="en-US" sz="2100" dirty="0" err="1">
                <a:solidFill>
                  <a:srgbClr val="000000"/>
                </a:solidFill>
                <a:latin typeface="Montserrat Classic"/>
              </a:rPr>
              <a:t>satu</a:t>
            </a:r>
            <a:r>
              <a:rPr lang="en-US" sz="2100" dirty="0">
                <a:solidFill>
                  <a:srgbClr val="000000"/>
                </a:solidFill>
                <a:latin typeface="Montserrat Classic"/>
              </a:rPr>
              <a:t> </a:t>
            </a:r>
            <a:r>
              <a:rPr lang="en-US" sz="2100" dirty="0" err="1">
                <a:solidFill>
                  <a:srgbClr val="000000"/>
                </a:solidFill>
                <a:latin typeface="Montserrat Classic"/>
              </a:rPr>
              <a:t>sumber</a:t>
            </a:r>
            <a:r>
              <a:rPr lang="en-US" sz="2100" dirty="0">
                <a:solidFill>
                  <a:srgbClr val="000000"/>
                </a:solidFill>
                <a:latin typeface="Montserrat Classic"/>
              </a:rPr>
              <a:t> </a:t>
            </a:r>
            <a:r>
              <a:rPr lang="en-US" sz="2100" dirty="0" err="1">
                <a:solidFill>
                  <a:srgbClr val="000000"/>
                </a:solidFill>
                <a:latin typeface="Montserrat Classic"/>
              </a:rPr>
              <a:t>daya</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meningkatkan</a:t>
            </a:r>
            <a:r>
              <a:rPr lang="en-US" sz="2100" dirty="0">
                <a:solidFill>
                  <a:srgbClr val="000000"/>
                </a:solidFill>
                <a:latin typeface="Montserrat Classic"/>
              </a:rPr>
              <a:t> </a:t>
            </a:r>
            <a:r>
              <a:rPr lang="en-US" sz="2100" dirty="0" err="1">
                <a:solidFill>
                  <a:srgbClr val="000000"/>
                </a:solidFill>
                <a:latin typeface="Montserrat Classic"/>
              </a:rPr>
              <a:t>daya</a:t>
            </a:r>
            <a:r>
              <a:rPr lang="en-US" sz="2100" dirty="0">
                <a:solidFill>
                  <a:srgbClr val="000000"/>
                </a:solidFill>
                <a:latin typeface="Montserrat Classic"/>
              </a:rPr>
              <a:t> </a:t>
            </a:r>
            <a:r>
              <a:rPr lang="en-US" sz="2100" dirty="0" err="1">
                <a:solidFill>
                  <a:srgbClr val="000000"/>
                </a:solidFill>
                <a:latin typeface="Montserrat Classic"/>
              </a:rPr>
              <a:t>saing</a:t>
            </a:r>
            <a:r>
              <a:rPr lang="en-US" sz="2100" dirty="0">
                <a:solidFill>
                  <a:srgbClr val="000000"/>
                </a:solidFill>
                <a:latin typeface="Montserrat Classic"/>
              </a:rPr>
              <a:t> Perusahaan.</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2"/>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yang </a:t>
            </a:r>
            <a:r>
              <a:rPr lang="en-US" sz="2100" dirty="0" err="1">
                <a:solidFill>
                  <a:srgbClr val="000000"/>
                </a:solidFill>
                <a:latin typeface="Montserrat Classic"/>
              </a:rPr>
              <a:t>relevan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proporsional</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stakeholders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tetap</a:t>
            </a:r>
            <a:r>
              <a:rPr lang="en-US" sz="2100" dirty="0">
                <a:solidFill>
                  <a:srgbClr val="000000"/>
                </a:solidFill>
                <a:latin typeface="Montserrat Classic"/>
              </a:rPr>
              <a:t> </a:t>
            </a:r>
            <a:r>
              <a:rPr lang="en-US" sz="2100" dirty="0" err="1">
                <a:solidFill>
                  <a:srgbClr val="000000"/>
                </a:solidFill>
                <a:latin typeface="Montserrat Classic"/>
              </a:rPr>
              <a:t>mempertimbangkan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3"/>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jaminan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luar</a:t>
            </a:r>
            <a:r>
              <a:rPr lang="en-US" sz="2100" dirty="0">
                <a:solidFill>
                  <a:srgbClr val="000000"/>
                </a:solidFill>
                <a:latin typeface="Montserrat Classic"/>
              </a:rPr>
              <a:t> </a:t>
            </a:r>
            <a:r>
              <a:rPr lang="en-US" sz="2100" dirty="0" err="1">
                <a:solidFill>
                  <a:srgbClr val="000000"/>
                </a:solidFill>
                <a:latin typeface="Montserrat Classic"/>
              </a:rPr>
              <a:t>khususnya</a:t>
            </a:r>
            <a:r>
              <a:rPr lang="en-US" sz="2100" dirty="0">
                <a:solidFill>
                  <a:srgbClr val="000000"/>
                </a:solidFill>
                <a:latin typeface="Montserrat Classic"/>
              </a:rPr>
              <a:t> customer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pemasok</a:t>
            </a:r>
            <a:r>
              <a:rPr lang="en-US" sz="2100" dirty="0">
                <a:solidFill>
                  <a:srgbClr val="000000"/>
                </a:solidFill>
                <a:latin typeface="Montserrat Classic"/>
              </a:rPr>
              <a:t> </a:t>
            </a:r>
            <a:r>
              <a:rPr lang="en-US" sz="2100" dirty="0" err="1">
                <a:solidFill>
                  <a:srgbClr val="000000"/>
                </a:solidFill>
                <a:latin typeface="Montserrat Classic"/>
              </a:rPr>
              <a:t>bahwa</a:t>
            </a:r>
            <a:r>
              <a:rPr lang="en-US" sz="2100" dirty="0">
                <a:solidFill>
                  <a:srgbClr val="000000"/>
                </a:solidFill>
                <a:latin typeface="Montserrat Classic"/>
              </a:rPr>
              <a:t> </a:t>
            </a:r>
            <a:r>
              <a:rPr lang="en-US" sz="2100" dirty="0" err="1">
                <a:solidFill>
                  <a:srgbClr val="000000"/>
                </a:solidFill>
                <a:latin typeface="Montserrat Classic"/>
              </a:rPr>
              <a:t>semua</a:t>
            </a:r>
            <a:r>
              <a:rPr lang="en-US" sz="2100" dirty="0">
                <a:solidFill>
                  <a:srgbClr val="000000"/>
                </a:solidFill>
                <a:latin typeface="Montserrat Classic"/>
              </a:rPr>
              <a:t> data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customer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pemasok</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dijaga</a:t>
            </a:r>
            <a:r>
              <a:rPr lang="en-US" sz="2100" dirty="0">
                <a:solidFill>
                  <a:srgbClr val="000000"/>
                </a:solidFill>
                <a:latin typeface="Montserrat Classic"/>
              </a:rPr>
              <a:t> </a:t>
            </a:r>
            <a:r>
              <a:rPr lang="en-US" sz="2100" dirty="0" err="1">
                <a:solidFill>
                  <a:srgbClr val="000000"/>
                </a:solidFill>
                <a:latin typeface="Montserrat Classic"/>
              </a:rPr>
              <a:t>kerahasiaannya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pemanfaatannya</a:t>
            </a:r>
            <a:r>
              <a:rPr lang="en-US" sz="2100" dirty="0">
                <a:solidFill>
                  <a:srgbClr val="000000"/>
                </a:solidFill>
                <a:latin typeface="Montserrat Classic"/>
              </a:rPr>
              <a:t> </a:t>
            </a:r>
            <a:r>
              <a:rPr lang="en-US" sz="2100" dirty="0" err="1">
                <a:solidFill>
                  <a:srgbClr val="000000"/>
                </a:solidFill>
                <a:latin typeface="Montserrat Classic"/>
              </a:rPr>
              <a:t>hanya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tujuan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diberikan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berwenang</a:t>
            </a:r>
            <a:r>
              <a:rPr lang="en-US" sz="2100" dirty="0">
                <a:solidFill>
                  <a:srgbClr val="000000"/>
                </a:solidFill>
                <a:latin typeface="Montserrat Classic"/>
              </a:rPr>
              <a:t> </a:t>
            </a:r>
            <a:r>
              <a:rPr lang="en-US" sz="2100" dirty="0" err="1">
                <a:solidFill>
                  <a:srgbClr val="000000"/>
                </a:solidFill>
                <a:latin typeface="Montserrat Classic"/>
              </a:rPr>
              <a:t>kecuali</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persetujuan</a:t>
            </a:r>
            <a:r>
              <a:rPr lang="en-US" sz="2100" dirty="0">
                <a:solidFill>
                  <a:srgbClr val="000000"/>
                </a:solidFill>
                <a:latin typeface="Montserrat Classic"/>
              </a:rPr>
              <a:t> </a:t>
            </a:r>
            <a:r>
              <a:rPr lang="en-US" sz="2100" dirty="0" err="1">
                <a:solidFill>
                  <a:srgbClr val="000000"/>
                </a:solidFill>
                <a:latin typeface="Montserrat Classic"/>
              </a:rPr>
              <a:t>tertulis</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yang </a:t>
            </a:r>
            <a:r>
              <a:rPr lang="en-US" sz="2100" dirty="0" err="1">
                <a:solidFill>
                  <a:srgbClr val="000000"/>
                </a:solidFill>
                <a:latin typeface="Montserrat Classic"/>
              </a:rPr>
              <a:t>mengeluarkan</a:t>
            </a:r>
            <a:r>
              <a:rPr lang="en-US" sz="2100" dirty="0">
                <a:solidFill>
                  <a:srgbClr val="000000"/>
                </a:solidFill>
                <a:latin typeface="Montserrat Classic"/>
              </a:rPr>
              <a:t> data</a:t>
            </a:r>
            <a:r>
              <a:rPr lang="id-ID" sz="2100" dirty="0">
                <a:solidFill>
                  <a:srgbClr val="000000"/>
                </a:solidFill>
                <a:latin typeface="Montserrat Classic"/>
              </a:rPr>
              <a:t>.</a:t>
            </a:r>
            <a:endParaRPr lang="en-US" sz="2100" dirty="0">
              <a:solidFill>
                <a:srgbClr val="000000"/>
              </a:solidFill>
              <a:latin typeface="Montserrat Classic"/>
            </a:endParaRPr>
          </a:p>
          <a:p>
            <a:pPr>
              <a:lnSpc>
                <a:spcPts val="3220"/>
              </a:lnSpc>
              <a:spcBef>
                <a:spcPct val="0"/>
              </a:spcBef>
            </a:pPr>
            <a:endParaRPr lang="en-US" sz="2100" dirty="0">
              <a:solidFill>
                <a:srgbClr val="000000"/>
              </a:solidFill>
              <a:latin typeface="Montserrat Classic"/>
            </a:endParaRPr>
          </a:p>
          <a:p>
            <a:pPr>
              <a:lnSpc>
                <a:spcPts val="3220"/>
              </a:lnSpc>
              <a:spcBef>
                <a:spcPct val="0"/>
              </a:spcBef>
            </a:pPr>
            <a:endParaRPr lang="en-US" sz="2100" dirty="0">
              <a:solidFill>
                <a:srgbClr val="000000"/>
              </a:solidFill>
              <a:latin typeface="Montserrat Classic"/>
            </a:endParaRPr>
          </a:p>
        </p:txBody>
      </p:sp>
      <p:sp>
        <p:nvSpPr>
          <p:cNvPr id="6" name="TextBox 6"/>
          <p:cNvSpPr txBox="1"/>
          <p:nvPr/>
        </p:nvSpPr>
        <p:spPr>
          <a:xfrm>
            <a:off x="1028700" y="981075"/>
            <a:ext cx="16116300" cy="824865"/>
          </a:xfrm>
          <a:prstGeom prst="rect">
            <a:avLst/>
          </a:prstGeom>
        </p:spPr>
        <p:txBody>
          <a:bodyPr lIns="0" tIns="0" rIns="0" bIns="0" rtlCol="0" anchor="t">
            <a:spAutoFit/>
          </a:bodyPr>
          <a:lstStyle/>
          <a:p>
            <a:pPr algn="just">
              <a:lnSpc>
                <a:spcPts val="3359"/>
              </a:lnSpc>
              <a:spcBef>
                <a:spcPct val="0"/>
              </a:spcBef>
            </a:pPr>
            <a:r>
              <a:rPr lang="en-US" sz="2400">
                <a:solidFill>
                  <a:srgbClr val="000000"/>
                </a:solidFill>
                <a:latin typeface="Montserrat Classic Bold"/>
              </a:rPr>
              <a:t>D. Etika Menjaga Kerahasiaan Data dan Informasi Perusahaan </a:t>
            </a:r>
          </a:p>
          <a:p>
            <a:pPr>
              <a:lnSpc>
                <a:spcPts val="3359"/>
              </a:lnSpc>
              <a:spcBef>
                <a:spcPct val="0"/>
              </a:spcBef>
            </a:pPr>
            <a:endParaRPr lang="en-US" sz="2400">
              <a:solidFill>
                <a:srgbClr val="000000"/>
              </a:solidFill>
              <a:latin typeface="Montserrat Classic Bold"/>
            </a:endParaRPr>
          </a:p>
        </p:txBody>
      </p:sp>
      <p:sp>
        <p:nvSpPr>
          <p:cNvPr id="8"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31</a:t>
            </a:r>
            <a:endParaRPr lang="en-US" sz="3319" dirty="0">
              <a:solidFill>
                <a:srgbClr val="000000"/>
              </a:solidFill>
              <a:latin typeface="Telegraf"/>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28700" y="1345337"/>
            <a:ext cx="15467467" cy="5065489"/>
          </a:xfrm>
          <a:prstGeom prst="rect">
            <a:avLst/>
          </a:prstGeom>
        </p:spPr>
        <p:txBody>
          <a:bodyPr lIns="0" tIns="0" rIns="0" bIns="0" rtlCol="0" anchor="t">
            <a:spAutoFit/>
          </a:bodyPr>
          <a:lstStyle/>
          <a:p>
            <a:pPr>
              <a:lnSpc>
                <a:spcPts val="3220"/>
              </a:lnSpc>
              <a:spcBef>
                <a:spcPct val="0"/>
              </a:spcBef>
            </a:pPr>
            <a:endParaRPr dirty="0"/>
          </a:p>
          <a:p>
            <a:pPr>
              <a:lnSpc>
                <a:spcPts val="3220"/>
              </a:lnSpc>
              <a:spcBef>
                <a:spcPct val="0"/>
              </a:spcBef>
            </a:pPr>
            <a:endParaRPr dirty="0"/>
          </a:p>
          <a:p>
            <a:pPr marL="457200" indent="-457200">
              <a:lnSpc>
                <a:spcPts val="2940"/>
              </a:lnSpc>
              <a:spcBef>
                <a:spcPct val="0"/>
              </a:spcBef>
              <a:buFont typeface="+mj-lt"/>
              <a:buAutoNum type="arabicPeriod" startAt="4"/>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jaminan</a:t>
            </a:r>
            <a:r>
              <a:rPr lang="en-US" sz="2100" dirty="0">
                <a:solidFill>
                  <a:srgbClr val="000000"/>
                </a:solidFill>
                <a:latin typeface="Montserrat Classic"/>
              </a:rPr>
              <a:t> </a:t>
            </a:r>
            <a:r>
              <a:rPr lang="en-US" sz="2100" dirty="0" err="1">
                <a:solidFill>
                  <a:srgbClr val="000000"/>
                </a:solidFill>
                <a:latin typeface="Montserrat Classic"/>
              </a:rPr>
              <a:t>bahwa</a:t>
            </a:r>
            <a:r>
              <a:rPr lang="en-US" sz="2100" dirty="0">
                <a:solidFill>
                  <a:srgbClr val="000000"/>
                </a:solidFill>
                <a:latin typeface="Montserrat Classic"/>
              </a:rPr>
              <a:t> </a:t>
            </a:r>
            <a:r>
              <a:rPr lang="en-US" sz="2100" dirty="0" err="1">
                <a:solidFill>
                  <a:srgbClr val="000000"/>
                </a:solidFill>
                <a:latin typeface="Montserrat Classic"/>
              </a:rPr>
              <a:t>semua</a:t>
            </a:r>
            <a:r>
              <a:rPr lang="en-US" sz="2100" dirty="0">
                <a:solidFill>
                  <a:srgbClr val="000000"/>
                </a:solidFill>
                <a:latin typeface="Montserrat Classic"/>
              </a:rPr>
              <a:t> data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yang </a:t>
            </a:r>
            <a:r>
              <a:rPr lang="en-US" sz="2100" dirty="0" err="1">
                <a:solidFill>
                  <a:srgbClr val="000000"/>
                </a:solidFill>
                <a:latin typeface="Montserrat Classic"/>
              </a:rPr>
              <a:t>diperoleh</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luar</a:t>
            </a:r>
            <a:r>
              <a:rPr lang="en-US" sz="2100" dirty="0">
                <a:solidFill>
                  <a:srgbClr val="000000"/>
                </a:solidFill>
                <a:latin typeface="Montserrat Classic"/>
              </a:rPr>
              <a:t> </a:t>
            </a:r>
            <a:r>
              <a:rPr lang="en-US" sz="2100" dirty="0" err="1">
                <a:solidFill>
                  <a:srgbClr val="000000"/>
                </a:solidFill>
                <a:latin typeface="Montserrat Classic"/>
              </a:rPr>
              <a:t>dimana</a:t>
            </a:r>
            <a:r>
              <a:rPr lang="en-US" sz="2100" dirty="0">
                <a:solidFill>
                  <a:srgbClr val="000000"/>
                </a:solidFill>
                <a:latin typeface="Montserrat Classic"/>
              </a:rPr>
              <a:t> Perusahaan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hanya</a:t>
            </a:r>
            <a:r>
              <a:rPr lang="en-US" sz="2100" dirty="0">
                <a:solidFill>
                  <a:srgbClr val="000000"/>
                </a:solidFill>
                <a:latin typeface="Montserrat Classic"/>
              </a:rPr>
              <a:t> </a:t>
            </a:r>
            <a:r>
              <a:rPr lang="en-US" sz="2100" dirty="0" err="1">
                <a:solidFill>
                  <a:srgbClr val="000000"/>
                </a:solidFill>
                <a:latin typeface="Montserrat Classic"/>
              </a:rPr>
              <a:t>dipergunakan</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tujuan</a:t>
            </a:r>
            <a:r>
              <a:rPr lang="en-US" sz="2100" dirty="0">
                <a:solidFill>
                  <a:srgbClr val="000000"/>
                </a:solidFill>
                <a:latin typeface="Montserrat Classic"/>
              </a:rPr>
              <a:t>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ditentukan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menyalahgunakan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a:t>
            </a:r>
          </a:p>
          <a:p>
            <a:pPr>
              <a:lnSpc>
                <a:spcPts val="2940"/>
              </a:lnSpc>
              <a:spcBef>
                <a:spcPct val="0"/>
              </a:spcBef>
            </a:pPr>
            <a:endParaRPr lang="en-US" sz="2100" dirty="0">
              <a:solidFill>
                <a:srgbClr val="000000"/>
              </a:solidFill>
              <a:latin typeface="Montserrat Classic"/>
            </a:endParaRPr>
          </a:p>
          <a:p>
            <a:pPr marL="457200" indent="-457200">
              <a:lnSpc>
                <a:spcPts val="2940"/>
              </a:lnSpc>
              <a:spcBef>
                <a:spcPct val="0"/>
              </a:spcBef>
              <a:buFont typeface="+mj-lt"/>
              <a:buAutoNum type="arabicPeriod" startAt="5"/>
            </a:pP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hal</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ketika</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berhenti</a:t>
            </a:r>
            <a:r>
              <a:rPr lang="en-US" sz="2100" dirty="0">
                <a:solidFill>
                  <a:srgbClr val="000000"/>
                </a:solidFill>
                <a:latin typeface="Montserrat Classic"/>
              </a:rPr>
              <a:t> </a:t>
            </a:r>
            <a:r>
              <a:rPr lang="en-US" sz="2100" dirty="0" err="1">
                <a:solidFill>
                  <a:srgbClr val="000000"/>
                </a:solidFill>
                <a:latin typeface="Montserrat Classic"/>
              </a:rPr>
              <a:t>bekerja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meninggalkan</a:t>
            </a:r>
            <a:r>
              <a:rPr lang="en-US" sz="2100" dirty="0">
                <a:solidFill>
                  <a:srgbClr val="000000"/>
                </a:solidFill>
                <a:latin typeface="Montserrat Classic"/>
              </a:rPr>
              <a:t> Perusahaan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kemauan</a:t>
            </a:r>
            <a:r>
              <a:rPr lang="en-US" sz="2100" dirty="0">
                <a:solidFill>
                  <a:srgbClr val="000000"/>
                </a:solidFill>
                <a:latin typeface="Montserrat Classic"/>
              </a:rPr>
              <a:t> </a:t>
            </a:r>
            <a:r>
              <a:rPr lang="en-US" sz="2100" dirty="0" err="1">
                <a:solidFill>
                  <a:srgbClr val="000000"/>
                </a:solidFill>
                <a:latin typeface="Montserrat Classic"/>
              </a:rPr>
              <a:t>sendiri</a:t>
            </a:r>
            <a:r>
              <a:rPr lang="en-US" sz="2100" dirty="0">
                <a:solidFill>
                  <a:srgbClr val="000000"/>
                </a:solidFill>
                <a:latin typeface="Montserrat Classic"/>
              </a:rPr>
              <a:t>,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dokumen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catatan</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softcopy yang </a:t>
            </a:r>
            <a:r>
              <a:rPr lang="en-US" sz="2100" dirty="0" err="1">
                <a:solidFill>
                  <a:srgbClr val="000000"/>
                </a:solidFill>
                <a:latin typeface="Montserrat Classic"/>
              </a:rPr>
              <a:t>didapat</a:t>
            </a:r>
            <a:r>
              <a:rPr lang="en-US" sz="2100" dirty="0">
                <a:solidFill>
                  <a:srgbClr val="000000"/>
                </a:solidFill>
                <a:latin typeface="Montserrat Classic"/>
              </a:rPr>
              <a:t> </a:t>
            </a:r>
            <a:r>
              <a:rPr lang="en-US" sz="2100" dirty="0" err="1">
                <a:solidFill>
                  <a:srgbClr val="000000"/>
                </a:solidFill>
                <a:latin typeface="Montserrat Classic"/>
              </a:rPr>
              <a:t>selama</a:t>
            </a:r>
            <a:r>
              <a:rPr lang="en-US" sz="2100" dirty="0">
                <a:solidFill>
                  <a:srgbClr val="000000"/>
                </a:solidFill>
                <a:latin typeface="Montserrat Classic"/>
              </a:rPr>
              <a:t> </a:t>
            </a:r>
            <a:r>
              <a:rPr lang="en-US" sz="2100" dirty="0" err="1">
                <a:solidFill>
                  <a:srgbClr val="000000"/>
                </a:solidFill>
                <a:latin typeface="Montserrat Classic"/>
              </a:rPr>
              <a:t>bekerja</a:t>
            </a:r>
            <a:r>
              <a:rPr lang="en-US" sz="2100" dirty="0">
                <a:solidFill>
                  <a:srgbClr val="000000"/>
                </a:solidFill>
                <a:latin typeface="Montserrat Classic"/>
              </a:rPr>
              <a:t> di Perusahaan </a:t>
            </a:r>
            <a:r>
              <a:rPr lang="en-US" sz="2100" dirty="0" err="1">
                <a:solidFill>
                  <a:srgbClr val="000000"/>
                </a:solidFill>
                <a:latin typeface="Montserrat Classic"/>
              </a:rPr>
              <a:t>tetap</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milik</a:t>
            </a:r>
            <a:r>
              <a:rPr lang="en-US" sz="2100" dirty="0">
                <a:solidFill>
                  <a:srgbClr val="000000"/>
                </a:solidFill>
                <a:latin typeface="Montserrat Classic"/>
              </a:rPr>
              <a:t> Perusahaan.</a:t>
            </a:r>
          </a:p>
          <a:p>
            <a:pPr>
              <a:lnSpc>
                <a:spcPts val="3220"/>
              </a:lnSpc>
              <a:spcBef>
                <a:spcPct val="0"/>
              </a:spcBef>
            </a:pPr>
            <a:endParaRPr lang="id-ID" sz="2100" dirty="0">
              <a:solidFill>
                <a:srgbClr val="000000"/>
              </a:solidFill>
              <a:latin typeface="Montserrat Classic"/>
            </a:endParaRPr>
          </a:p>
          <a:p>
            <a:pPr marL="457200" indent="-457200">
              <a:lnSpc>
                <a:spcPts val="3220"/>
              </a:lnSpc>
              <a:spcBef>
                <a:spcPct val="0"/>
              </a:spcBef>
              <a:buFont typeface="+mj-lt"/>
              <a:buAutoNum type="arabicPeriod" startAt="6"/>
            </a:pP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kerahasiaan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ketiga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Perusahaan </a:t>
            </a:r>
            <a:r>
              <a:rPr lang="en-US" sz="2100" dirty="0" err="1">
                <a:solidFill>
                  <a:srgbClr val="000000"/>
                </a:solidFill>
                <a:latin typeface="Montserrat Classic"/>
              </a:rPr>
              <a:t>tetap</a:t>
            </a:r>
            <a:r>
              <a:rPr lang="en-US" sz="2100" dirty="0">
                <a:solidFill>
                  <a:srgbClr val="000000"/>
                </a:solidFill>
                <a:latin typeface="Montserrat Classic"/>
              </a:rPr>
              <a:t> </a:t>
            </a:r>
            <a:r>
              <a:rPr lang="en-US" sz="2100" dirty="0" err="1">
                <a:solidFill>
                  <a:srgbClr val="000000"/>
                </a:solidFill>
                <a:latin typeface="Montserrat Classic"/>
              </a:rPr>
              <a:t>melekat</a:t>
            </a:r>
            <a:r>
              <a:rPr lang="en-US" sz="2100" dirty="0">
                <a:solidFill>
                  <a:srgbClr val="000000"/>
                </a:solidFill>
                <a:latin typeface="Montserrat Classic"/>
              </a:rPr>
              <a:t> </a:t>
            </a:r>
            <a:r>
              <a:rPr lang="en-US" sz="2100" dirty="0" err="1">
                <a:solidFill>
                  <a:srgbClr val="000000"/>
                </a:solidFill>
                <a:latin typeface="Montserrat Classic"/>
              </a:rPr>
              <a:t>meskipun</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sudah</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lagi</a:t>
            </a:r>
            <a:r>
              <a:rPr lang="en-US" sz="2100" dirty="0">
                <a:solidFill>
                  <a:srgbClr val="000000"/>
                </a:solidFill>
                <a:latin typeface="Montserrat Classic"/>
              </a:rPr>
              <a:t> </a:t>
            </a:r>
            <a:r>
              <a:rPr lang="en-US" sz="2100" dirty="0" err="1">
                <a:solidFill>
                  <a:srgbClr val="000000"/>
                </a:solidFill>
                <a:latin typeface="Montserrat Classic"/>
              </a:rPr>
              <a:t>bekerja</a:t>
            </a:r>
            <a:r>
              <a:rPr lang="en-US" sz="2100" dirty="0">
                <a:solidFill>
                  <a:srgbClr val="000000"/>
                </a:solidFill>
                <a:latin typeface="Montserrat Classic"/>
              </a:rPr>
              <a:t> di Perusahaan.</a:t>
            </a:r>
          </a:p>
          <a:p>
            <a:pPr>
              <a:lnSpc>
                <a:spcPts val="3220"/>
              </a:lnSpc>
              <a:spcBef>
                <a:spcPct val="0"/>
              </a:spcBef>
            </a:pPr>
            <a:endParaRPr lang="en-US" sz="2100" dirty="0">
              <a:solidFill>
                <a:srgbClr val="000000"/>
              </a:solidFill>
              <a:latin typeface="Montserrat Classic"/>
            </a:endParaRPr>
          </a:p>
        </p:txBody>
      </p:sp>
      <p:sp>
        <p:nvSpPr>
          <p:cNvPr id="6" name="TextBox 6"/>
          <p:cNvSpPr txBox="1"/>
          <p:nvPr/>
        </p:nvSpPr>
        <p:spPr>
          <a:xfrm>
            <a:off x="1028700" y="1147669"/>
            <a:ext cx="16116300" cy="824865"/>
          </a:xfrm>
          <a:prstGeom prst="rect">
            <a:avLst/>
          </a:prstGeom>
        </p:spPr>
        <p:txBody>
          <a:bodyPr lIns="0" tIns="0" rIns="0" bIns="0" rtlCol="0" anchor="t">
            <a:spAutoFit/>
          </a:bodyPr>
          <a:lstStyle/>
          <a:p>
            <a:pPr algn="just">
              <a:lnSpc>
                <a:spcPts val="3359"/>
              </a:lnSpc>
              <a:spcBef>
                <a:spcPct val="0"/>
              </a:spcBef>
            </a:pPr>
            <a:r>
              <a:rPr lang="en-US" sz="2400">
                <a:solidFill>
                  <a:srgbClr val="000000"/>
                </a:solidFill>
                <a:latin typeface="Montserrat Classic Bold"/>
              </a:rPr>
              <a:t>D. Etika Menjaga Kerahasiaan Data dan Informasi Perusahaan </a:t>
            </a:r>
          </a:p>
          <a:p>
            <a:pPr>
              <a:lnSpc>
                <a:spcPts val="3359"/>
              </a:lnSpc>
              <a:spcBef>
                <a:spcPct val="0"/>
              </a:spcBef>
            </a:pPr>
            <a:endParaRPr lang="en-US" sz="2400">
              <a:solidFill>
                <a:srgbClr val="000000"/>
              </a:solidFill>
              <a:latin typeface="Montserrat Classic Bold"/>
            </a:endParaRPr>
          </a:p>
        </p:txBody>
      </p:sp>
      <p:sp>
        <p:nvSpPr>
          <p:cNvPr id="9" name="TextBox 5"/>
          <p:cNvSpPr txBox="1"/>
          <p:nvPr/>
        </p:nvSpPr>
        <p:spPr>
          <a:xfrm>
            <a:off x="16916401" y="9153525"/>
            <a:ext cx="629078" cy="554767"/>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32</a:t>
            </a:r>
            <a:endParaRPr lang="en-US" sz="3319" dirty="0">
              <a:solidFill>
                <a:srgbClr val="000000"/>
              </a:solidFill>
              <a:latin typeface="Telegraf"/>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192590" y="1685554"/>
            <a:ext cx="15543911" cy="7131660"/>
          </a:xfrm>
          <a:prstGeom prst="rect">
            <a:avLst/>
          </a:prstGeom>
        </p:spPr>
        <p:txBody>
          <a:bodyPr lIns="0" tIns="0" rIns="0" bIns="0" rtlCol="0" anchor="t">
            <a:spAutoFit/>
          </a:bodyPr>
          <a:lstStyle/>
          <a:p>
            <a:pPr>
              <a:lnSpc>
                <a:spcPts val="3291"/>
              </a:lnSpc>
              <a:spcBef>
                <a:spcPct val="0"/>
              </a:spcBef>
            </a:pPr>
            <a:endParaRPr/>
          </a:p>
          <a:p>
            <a:pPr>
              <a:lnSpc>
                <a:spcPts val="2940"/>
              </a:lnSpc>
              <a:spcBef>
                <a:spcPct val="0"/>
              </a:spcBef>
            </a:pPr>
            <a:r>
              <a:rPr lang="en-US" sz="2100">
                <a:solidFill>
                  <a:srgbClr val="000000"/>
                </a:solidFill>
                <a:latin typeface="Montserrat Classic"/>
              </a:rPr>
              <a:t>Harta benda Perusahaan harus dikelola dengan baik dan benar serta digunakan untuk kepentingan tujuan bisnis. Untuk itu setiap Insan Perusahaan bertanggung jawab menjaga dan memelihara keutuhan serta keselamatan harta dan kekayaan Perusahaan sesuai dengan fungsi, tugas, dan tanggung jawab masing-masing berdasarkan aturan dan kebijakan Perusahaan. Selain untuk kepentingan dan tujuan bisnis, setiap Insan Perusahaan dilarang melakukan hal-hal sebagai berikut :</a:t>
            </a:r>
          </a:p>
          <a:p>
            <a:pPr>
              <a:lnSpc>
                <a:spcPts val="2940"/>
              </a:lnSpc>
              <a:spcBef>
                <a:spcPct val="0"/>
              </a:spcBef>
            </a:pPr>
            <a:endParaRPr lang="en-US" sz="2100">
              <a:solidFill>
                <a:srgbClr val="000000"/>
              </a:solidFill>
              <a:latin typeface="Montserrat Classic"/>
            </a:endParaRPr>
          </a:p>
          <a:p>
            <a:pPr>
              <a:lnSpc>
                <a:spcPts val="3297"/>
              </a:lnSpc>
            </a:pPr>
            <a:r>
              <a:rPr lang="en-US" sz="2100">
                <a:solidFill>
                  <a:srgbClr val="000000"/>
                </a:solidFill>
                <a:latin typeface="Montserrat Classic"/>
              </a:rPr>
              <a:t>1.Menggunakan dan memanfaatkan harta benda Perusahaan untuk kepentingan pribadi.</a:t>
            </a:r>
          </a:p>
          <a:p>
            <a:pPr>
              <a:lnSpc>
                <a:spcPts val="3297"/>
              </a:lnSpc>
            </a:pPr>
            <a:endParaRPr lang="en-US" sz="2100">
              <a:solidFill>
                <a:srgbClr val="000000"/>
              </a:solidFill>
              <a:latin typeface="Montserrat Classic"/>
            </a:endParaRPr>
          </a:p>
          <a:p>
            <a:pPr>
              <a:lnSpc>
                <a:spcPts val="3297"/>
              </a:lnSpc>
            </a:pPr>
            <a:r>
              <a:rPr lang="en-US" sz="2100">
                <a:solidFill>
                  <a:srgbClr val="000000"/>
                </a:solidFill>
                <a:latin typeface="Montserrat Classic"/>
              </a:rPr>
              <a:t>2.Menggunakan dan memanfaatkan harta benda Perusahaan untuk kepentingan dan aktivitas politik serta pihak ketiga lainnya.</a:t>
            </a:r>
          </a:p>
          <a:p>
            <a:pPr>
              <a:lnSpc>
                <a:spcPts val="3297"/>
              </a:lnSpc>
            </a:pPr>
            <a:endParaRPr lang="en-US" sz="2100">
              <a:solidFill>
                <a:srgbClr val="000000"/>
              </a:solidFill>
              <a:latin typeface="Montserrat Classic"/>
            </a:endParaRPr>
          </a:p>
          <a:p>
            <a:pPr>
              <a:lnSpc>
                <a:spcPts val="3297"/>
              </a:lnSpc>
            </a:pPr>
            <a:r>
              <a:rPr lang="en-US" sz="2100">
                <a:solidFill>
                  <a:srgbClr val="000000"/>
                </a:solidFill>
                <a:latin typeface="Montserrat Classic"/>
              </a:rPr>
              <a:t>3.Menggunakan dan memanfaatkan harta benda Perusahaan untuk kegiatan dan atau tujuan yang melanggar hukum dan etika.</a:t>
            </a:r>
          </a:p>
          <a:p>
            <a:pPr>
              <a:lnSpc>
                <a:spcPts val="3297"/>
              </a:lnSpc>
            </a:pPr>
            <a:endParaRPr lang="en-US" sz="2100">
              <a:solidFill>
                <a:srgbClr val="000000"/>
              </a:solidFill>
              <a:latin typeface="Montserrat Classic"/>
            </a:endParaRPr>
          </a:p>
          <a:p>
            <a:pPr>
              <a:lnSpc>
                <a:spcPts val="3297"/>
              </a:lnSpc>
            </a:pPr>
            <a:r>
              <a:rPr lang="en-US" sz="2100">
                <a:solidFill>
                  <a:srgbClr val="000000"/>
                </a:solidFill>
                <a:latin typeface="Montserrat Classic"/>
              </a:rPr>
              <a:t>4.Atas kewenangannya berusaha memiliki, menjual, menggadaikan dan menyewakan harta benda Perusahaan kepada pihak lain.</a:t>
            </a:r>
          </a:p>
          <a:p>
            <a:pPr>
              <a:lnSpc>
                <a:spcPts val="3291"/>
              </a:lnSpc>
              <a:spcBef>
                <a:spcPct val="0"/>
              </a:spcBef>
            </a:pPr>
            <a:endParaRPr lang="en-US" sz="2100">
              <a:solidFill>
                <a:srgbClr val="000000"/>
              </a:solidFill>
              <a:latin typeface="Montserrat Classic"/>
            </a:endParaRPr>
          </a:p>
        </p:txBody>
      </p:sp>
      <p:sp>
        <p:nvSpPr>
          <p:cNvPr id="6" name="TextBox 6"/>
          <p:cNvSpPr txBox="1"/>
          <p:nvPr/>
        </p:nvSpPr>
        <p:spPr>
          <a:xfrm>
            <a:off x="1154490" y="1193926"/>
            <a:ext cx="16116300" cy="405765"/>
          </a:xfrm>
          <a:prstGeom prst="rect">
            <a:avLst/>
          </a:prstGeom>
        </p:spPr>
        <p:txBody>
          <a:bodyPr lIns="0" tIns="0" rIns="0" bIns="0" rtlCol="0" anchor="t">
            <a:spAutoFit/>
          </a:bodyPr>
          <a:lstStyle/>
          <a:p>
            <a:pPr>
              <a:lnSpc>
                <a:spcPts val="3359"/>
              </a:lnSpc>
              <a:spcBef>
                <a:spcPct val="0"/>
              </a:spcBef>
            </a:pPr>
            <a:r>
              <a:rPr lang="en-US" sz="2400">
                <a:solidFill>
                  <a:srgbClr val="000000"/>
                </a:solidFill>
                <a:latin typeface="Montserrat Classic Bold"/>
              </a:rPr>
              <a:t>E. Etika Menjaga dan Memanfaatkan Harta Benda Perusahaan </a:t>
            </a:r>
          </a:p>
        </p:txBody>
      </p:sp>
      <p:sp>
        <p:nvSpPr>
          <p:cNvPr id="7" name="TextBox 7"/>
          <p:cNvSpPr txBox="1"/>
          <p:nvPr/>
        </p:nvSpPr>
        <p:spPr>
          <a:xfrm>
            <a:off x="17033658" y="9153525"/>
            <a:ext cx="53459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33</a:t>
            </a:r>
            <a:endParaRPr lang="en-US" sz="3319" dirty="0">
              <a:solidFill>
                <a:srgbClr val="000000"/>
              </a:solidFill>
              <a:latin typeface="Telegraf"/>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7992923" y="-2345638"/>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59219" y="-3176922"/>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96899" y="5738457"/>
            <a:ext cx="11300655" cy="9184351"/>
          </a:xfrm>
          <a:prstGeom prst="rect">
            <a:avLst/>
          </a:prstGeom>
        </p:spPr>
      </p:pic>
      <p:sp>
        <p:nvSpPr>
          <p:cNvPr id="5" name="TextBox 5"/>
          <p:cNvSpPr txBox="1"/>
          <p:nvPr/>
        </p:nvSpPr>
        <p:spPr>
          <a:xfrm>
            <a:off x="1143000" y="2154454"/>
            <a:ext cx="16116300" cy="7025321"/>
          </a:xfrm>
          <a:prstGeom prst="rect">
            <a:avLst/>
          </a:prstGeom>
        </p:spPr>
        <p:txBody>
          <a:bodyPr lIns="0" tIns="0" rIns="0" bIns="0" rtlCol="0" anchor="t">
            <a:spAutoFit/>
          </a:bodyPr>
          <a:lstStyle/>
          <a:p>
            <a:pPr algn="just">
              <a:lnSpc>
                <a:spcPts val="2940"/>
              </a:lnSpc>
            </a:pP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aman</a:t>
            </a:r>
            <a:r>
              <a:rPr lang="en-US" sz="2100" dirty="0">
                <a:solidFill>
                  <a:srgbClr val="000000"/>
                </a:solidFill>
                <a:latin typeface="Montserrat Classic"/>
              </a:rPr>
              <a:t>, </a:t>
            </a:r>
            <a:r>
              <a:rPr lang="en-US" sz="2100" dirty="0" err="1">
                <a:solidFill>
                  <a:srgbClr val="000000"/>
                </a:solidFill>
                <a:latin typeface="Montserrat Classic"/>
              </a:rPr>
              <a:t>nyaman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bersih</a:t>
            </a:r>
            <a:r>
              <a:rPr lang="en-US" sz="2100" dirty="0">
                <a:solidFill>
                  <a:srgbClr val="000000"/>
                </a:solidFill>
                <a:latin typeface="Montserrat Classic"/>
              </a:rPr>
              <a:t>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salah</a:t>
            </a:r>
            <a:r>
              <a:rPr lang="en-US" sz="2100" dirty="0">
                <a:solidFill>
                  <a:srgbClr val="000000"/>
                </a:solidFill>
                <a:latin typeface="Montserrat Classic"/>
              </a:rPr>
              <a:t> </a:t>
            </a:r>
            <a:r>
              <a:rPr lang="en-US" sz="2100" dirty="0" err="1">
                <a:solidFill>
                  <a:srgbClr val="000000"/>
                </a:solidFill>
                <a:latin typeface="Montserrat Classic"/>
              </a:rPr>
              <a:t>satu</a:t>
            </a:r>
            <a:r>
              <a:rPr lang="en-US" sz="2100" dirty="0">
                <a:solidFill>
                  <a:srgbClr val="000000"/>
                </a:solidFill>
                <a:latin typeface="Montserrat Classic"/>
              </a:rPr>
              <a:t> </a:t>
            </a:r>
            <a:r>
              <a:rPr lang="en-US" sz="2100" dirty="0" err="1">
                <a:solidFill>
                  <a:srgbClr val="000000"/>
                </a:solidFill>
                <a:latin typeface="Montserrat Classic"/>
              </a:rPr>
              <a:t>faktor</a:t>
            </a:r>
            <a:r>
              <a:rPr lang="en-US" sz="2100" dirty="0">
                <a:solidFill>
                  <a:srgbClr val="000000"/>
                </a:solidFill>
                <a:latin typeface="Montserrat Classic"/>
              </a:rPr>
              <a:t> yang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produktivitas</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melaksanakan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pekerjaan</a:t>
            </a:r>
            <a:r>
              <a:rPr lang="en-US" sz="2100" dirty="0">
                <a:solidFill>
                  <a:srgbClr val="000000"/>
                </a:solidFill>
                <a:latin typeface="Montserrat Classic"/>
              </a:rPr>
              <a:t> </a:t>
            </a:r>
            <a:r>
              <a:rPr lang="en-US" sz="2100" dirty="0" err="1">
                <a:solidFill>
                  <a:srgbClr val="000000"/>
                </a:solidFill>
                <a:latin typeface="Montserrat Classic"/>
              </a:rPr>
              <a:t>sehari-hari</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keamanan</a:t>
            </a:r>
            <a:r>
              <a:rPr lang="en-US" sz="2100" dirty="0">
                <a:solidFill>
                  <a:srgbClr val="000000"/>
                </a:solidFill>
                <a:latin typeface="Montserrat Classic"/>
              </a:rPr>
              <a:t>, </a:t>
            </a:r>
            <a:r>
              <a:rPr lang="en-US" sz="2100" dirty="0" err="1">
                <a:solidFill>
                  <a:srgbClr val="000000"/>
                </a:solidFill>
                <a:latin typeface="Montserrat Classic"/>
              </a:rPr>
              <a:t>keselamatan</a:t>
            </a:r>
            <a:r>
              <a:rPr lang="en-US" sz="2100" dirty="0">
                <a:solidFill>
                  <a:srgbClr val="000000"/>
                </a:solidFill>
                <a:latin typeface="Montserrat Classic"/>
              </a:rPr>
              <a:t> </a:t>
            </a:r>
            <a:r>
              <a:rPr lang="en-US" sz="2100" dirty="0" err="1">
                <a:solidFill>
                  <a:srgbClr val="000000"/>
                </a:solidFill>
                <a:latin typeface="Montserrat Classic"/>
              </a:rPr>
              <a:t>kesehatan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berikut</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Mematuhi</a:t>
            </a:r>
            <a:r>
              <a:rPr lang="en-US" sz="2100" dirty="0">
                <a:solidFill>
                  <a:srgbClr val="000000"/>
                </a:solidFill>
                <a:latin typeface="Montserrat Classic"/>
              </a:rPr>
              <a:t> </a:t>
            </a:r>
            <a:r>
              <a:rPr lang="en-US" sz="2100" dirty="0" err="1">
                <a:solidFill>
                  <a:srgbClr val="000000"/>
                </a:solidFill>
                <a:latin typeface="Montserrat Classic"/>
              </a:rPr>
              <a:t>semua</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keamanan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keselamatan</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kesehatan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lingkungan</a:t>
            </a:r>
            <a:endParaRPr lang="id-ID"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Tanggap</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keadaan</a:t>
            </a:r>
            <a:r>
              <a:rPr lang="en-US" sz="2100" dirty="0">
                <a:solidFill>
                  <a:srgbClr val="000000"/>
                </a:solidFill>
                <a:latin typeface="Montserrat Classic"/>
              </a:rPr>
              <a:t> </a:t>
            </a:r>
            <a:r>
              <a:rPr lang="en-US" sz="2100" dirty="0" err="1">
                <a:solidFill>
                  <a:srgbClr val="000000"/>
                </a:solidFill>
                <a:latin typeface="Montserrat Classic"/>
              </a:rPr>
              <a:t>darurat</a:t>
            </a:r>
            <a:r>
              <a:rPr lang="en-US" sz="2100" dirty="0">
                <a:solidFill>
                  <a:srgbClr val="000000"/>
                </a:solidFill>
                <a:latin typeface="Montserrat Classic"/>
              </a:rPr>
              <a:t> yang </a:t>
            </a:r>
            <a:r>
              <a:rPr lang="en-US" sz="2100" dirty="0" err="1">
                <a:solidFill>
                  <a:srgbClr val="000000"/>
                </a:solidFill>
                <a:latin typeface="Montserrat Classic"/>
              </a:rPr>
              <a:t>disebabkan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gangguan</a:t>
            </a:r>
            <a:r>
              <a:rPr lang="en-US" sz="2100" dirty="0">
                <a:solidFill>
                  <a:srgbClr val="000000"/>
                </a:solidFill>
                <a:latin typeface="Montserrat Classic"/>
              </a:rPr>
              <a:t> </a:t>
            </a:r>
            <a:r>
              <a:rPr lang="en-US" sz="2100" dirty="0" err="1">
                <a:solidFill>
                  <a:srgbClr val="000000"/>
                </a:solidFill>
                <a:latin typeface="Montserrat Classic"/>
              </a:rPr>
              <a:t>keamanan</a:t>
            </a:r>
            <a:r>
              <a:rPr lang="en-US" sz="2100" dirty="0">
                <a:solidFill>
                  <a:srgbClr val="000000"/>
                </a:solidFill>
                <a:latin typeface="Montserrat Classic"/>
              </a:rPr>
              <a:t>, </a:t>
            </a:r>
            <a:r>
              <a:rPr lang="en-US" sz="2100" dirty="0" err="1">
                <a:solidFill>
                  <a:srgbClr val="000000"/>
                </a:solidFill>
                <a:latin typeface="Montserrat Classic"/>
              </a:rPr>
              <a:t>kecelakaan</a:t>
            </a:r>
            <a:r>
              <a:rPr lang="en-US" sz="2100" dirty="0">
                <a:solidFill>
                  <a:srgbClr val="000000"/>
                </a:solidFill>
                <a:latin typeface="Montserrat Classic"/>
              </a:rPr>
              <a:t>, </a:t>
            </a:r>
            <a:r>
              <a:rPr lang="en-US" sz="2100" dirty="0" err="1">
                <a:solidFill>
                  <a:srgbClr val="000000"/>
                </a:solidFill>
                <a:latin typeface="Montserrat Classic"/>
              </a:rPr>
              <a:t>pencemaran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bencana</a:t>
            </a:r>
            <a:r>
              <a:rPr lang="en-US" sz="2100" dirty="0">
                <a:solidFill>
                  <a:srgbClr val="000000"/>
                </a:solidFill>
                <a:latin typeface="Montserrat Classic"/>
              </a:rPr>
              <a:t> </a:t>
            </a:r>
            <a:r>
              <a:rPr lang="en-US" sz="2100" dirty="0" err="1">
                <a:solidFill>
                  <a:srgbClr val="000000"/>
                </a:solidFill>
                <a:latin typeface="Montserrat Classic"/>
              </a:rPr>
              <a:t>alam</a:t>
            </a:r>
            <a:endParaRPr lang="id-ID"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Mengamankan</a:t>
            </a:r>
            <a:r>
              <a:rPr lang="en-US" sz="2100" dirty="0">
                <a:solidFill>
                  <a:srgbClr val="000000"/>
                </a:solidFill>
                <a:latin typeface="Montserrat Classic"/>
              </a:rPr>
              <a:t> </a:t>
            </a: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a:t>
            </a:r>
            <a:r>
              <a:rPr lang="en-US" sz="2100" dirty="0" err="1">
                <a:solidFill>
                  <a:srgbClr val="000000"/>
                </a:solidFill>
                <a:latin typeface="Montserrat Classic"/>
              </a:rPr>
              <a:t>harta</a:t>
            </a:r>
            <a:r>
              <a:rPr lang="en-US" sz="2100" dirty="0">
                <a:solidFill>
                  <a:srgbClr val="000000"/>
                </a:solidFill>
                <a:latin typeface="Montserrat Classic"/>
              </a:rPr>
              <a:t> </a:t>
            </a:r>
            <a:r>
              <a:rPr lang="en-US" sz="2100" dirty="0" err="1">
                <a:solidFill>
                  <a:srgbClr val="000000"/>
                </a:solidFill>
                <a:latin typeface="Montserrat Classic"/>
              </a:rPr>
              <a:t>benda</a:t>
            </a:r>
            <a:r>
              <a:rPr lang="en-US" sz="2100" dirty="0">
                <a:solidFill>
                  <a:srgbClr val="000000"/>
                </a:solidFill>
                <a:latin typeface="Montserrat Classic"/>
              </a:rPr>
              <a:t>, data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transaksi</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Perusahaan</a:t>
            </a:r>
            <a:endParaRPr lang="id-ID"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mengganggu</a:t>
            </a:r>
            <a:r>
              <a:rPr lang="en-US" sz="2100" dirty="0">
                <a:solidFill>
                  <a:srgbClr val="000000"/>
                </a:solidFill>
                <a:latin typeface="Montserrat Classic"/>
              </a:rPr>
              <a:t> </a:t>
            </a:r>
            <a:r>
              <a:rPr lang="en-US" sz="2100" dirty="0" err="1">
                <a:solidFill>
                  <a:srgbClr val="000000"/>
                </a:solidFill>
                <a:latin typeface="Montserrat Classic"/>
              </a:rPr>
              <a:t>keamanan</a:t>
            </a:r>
            <a:r>
              <a:rPr lang="en-US" sz="2100" dirty="0">
                <a:solidFill>
                  <a:srgbClr val="000000"/>
                </a:solidFill>
                <a:latin typeface="Montserrat Classic"/>
              </a:rPr>
              <a:t>, </a:t>
            </a:r>
            <a:r>
              <a:rPr lang="en-US" sz="2100" dirty="0" err="1">
                <a:solidFill>
                  <a:srgbClr val="000000"/>
                </a:solidFill>
                <a:latin typeface="Montserrat Classic"/>
              </a:rPr>
              <a:t>keselamatan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kesehatan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kebersihan</a:t>
            </a:r>
            <a:r>
              <a:rPr lang="en-US" sz="2100" dirty="0">
                <a:solidFill>
                  <a:srgbClr val="000000"/>
                </a:solidFill>
                <a:latin typeface="Montserrat Classic"/>
              </a:rPr>
              <a:t> </a:t>
            </a: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seperti</a:t>
            </a:r>
            <a:r>
              <a:rPr lang="en-US" sz="2100" dirty="0">
                <a:solidFill>
                  <a:srgbClr val="000000"/>
                </a:solidFill>
                <a:latin typeface="Montserrat Classic"/>
              </a:rPr>
              <a:t> </a:t>
            </a:r>
            <a:r>
              <a:rPr lang="en-US" sz="2100" dirty="0" err="1">
                <a:solidFill>
                  <a:srgbClr val="000000"/>
                </a:solidFill>
                <a:latin typeface="Montserrat Classic"/>
              </a:rPr>
              <a:t>menggunakan</a:t>
            </a:r>
            <a:r>
              <a:rPr lang="en-US" sz="2100" dirty="0">
                <a:solidFill>
                  <a:srgbClr val="000000"/>
                </a:solidFill>
                <a:latin typeface="Montserrat Classic"/>
              </a:rPr>
              <a:t> </a:t>
            </a:r>
            <a:r>
              <a:rPr lang="en-US" sz="2100" dirty="0" err="1">
                <a:solidFill>
                  <a:srgbClr val="000000"/>
                </a:solidFill>
                <a:latin typeface="Montserrat Classic"/>
              </a:rPr>
              <a:t>minuman</a:t>
            </a:r>
            <a:r>
              <a:rPr lang="en-US" sz="2100" dirty="0">
                <a:solidFill>
                  <a:srgbClr val="000000"/>
                </a:solidFill>
                <a:latin typeface="Montserrat Classic"/>
              </a:rPr>
              <a:t> </a:t>
            </a:r>
            <a:r>
              <a:rPr lang="en-US" sz="2100" dirty="0" err="1">
                <a:solidFill>
                  <a:srgbClr val="000000"/>
                </a:solidFill>
                <a:latin typeface="Montserrat Classic"/>
              </a:rPr>
              <a:t>keras</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perjudian</a:t>
            </a:r>
            <a:r>
              <a:rPr lang="en-US" sz="2100" dirty="0">
                <a:solidFill>
                  <a:srgbClr val="000000"/>
                </a:solidFill>
                <a:latin typeface="Montserrat Classic"/>
              </a:rPr>
              <a:t>, </a:t>
            </a:r>
            <a:r>
              <a:rPr lang="en-US" sz="2100" dirty="0" err="1">
                <a:solidFill>
                  <a:srgbClr val="000000"/>
                </a:solidFill>
                <a:latin typeface="Montserrat Classic"/>
              </a:rPr>
              <a:t>membawa</a:t>
            </a:r>
            <a:r>
              <a:rPr lang="en-US" sz="2100" dirty="0">
                <a:solidFill>
                  <a:srgbClr val="000000"/>
                </a:solidFill>
                <a:latin typeface="Montserrat Classic"/>
              </a:rPr>
              <a:t> </a:t>
            </a:r>
            <a:r>
              <a:rPr lang="en-US" sz="2100" dirty="0" err="1">
                <a:solidFill>
                  <a:srgbClr val="000000"/>
                </a:solidFill>
                <a:latin typeface="Montserrat Classic"/>
              </a:rPr>
              <a:t>benda</a:t>
            </a:r>
            <a:r>
              <a:rPr lang="en-US" sz="2100" dirty="0">
                <a:solidFill>
                  <a:srgbClr val="000000"/>
                </a:solidFill>
                <a:latin typeface="Montserrat Classic"/>
              </a:rPr>
              <a:t> </a:t>
            </a:r>
            <a:r>
              <a:rPr lang="en-US" sz="2100" dirty="0" err="1">
                <a:solidFill>
                  <a:srgbClr val="000000"/>
                </a:solidFill>
                <a:latin typeface="Montserrat Classic"/>
              </a:rPr>
              <a:t>benda</a:t>
            </a:r>
            <a:r>
              <a:rPr lang="en-US" sz="2100" dirty="0">
                <a:solidFill>
                  <a:srgbClr val="000000"/>
                </a:solidFill>
                <a:latin typeface="Montserrat Classic"/>
              </a:rPr>
              <a:t> </a:t>
            </a:r>
            <a:r>
              <a:rPr lang="en-US" sz="2100" dirty="0" err="1">
                <a:solidFill>
                  <a:srgbClr val="000000"/>
                </a:solidFill>
                <a:latin typeface="Montserrat Classic"/>
              </a:rPr>
              <a:t>berbahaya</a:t>
            </a:r>
            <a:r>
              <a:rPr lang="en-US" sz="2100" dirty="0">
                <a:solidFill>
                  <a:srgbClr val="000000"/>
                </a:solidFill>
                <a:latin typeface="Montserrat Classic"/>
              </a:rPr>
              <a:t>, </a:t>
            </a:r>
            <a:r>
              <a:rPr lang="en-US" sz="2100" dirty="0" err="1">
                <a:solidFill>
                  <a:srgbClr val="000000"/>
                </a:solidFill>
                <a:latin typeface="Montserrat Classic"/>
              </a:rPr>
              <a:t>membawan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menggunakan</a:t>
            </a:r>
            <a:r>
              <a:rPr lang="en-US" sz="2100" dirty="0">
                <a:solidFill>
                  <a:srgbClr val="000000"/>
                </a:solidFill>
                <a:latin typeface="Montserrat Classic"/>
              </a:rPr>
              <a:t> </a:t>
            </a:r>
            <a:r>
              <a:rPr lang="en-US" sz="2100" dirty="0" err="1">
                <a:solidFill>
                  <a:srgbClr val="000000"/>
                </a:solidFill>
                <a:latin typeface="Montserrat Classic"/>
              </a:rPr>
              <a:t>obat-obat</a:t>
            </a:r>
            <a:r>
              <a:rPr lang="en-US" sz="2100" dirty="0">
                <a:solidFill>
                  <a:srgbClr val="000000"/>
                </a:solidFill>
                <a:latin typeface="Montserrat Classic"/>
              </a:rPr>
              <a:t> </a:t>
            </a:r>
            <a:r>
              <a:rPr lang="en-US" sz="2100" dirty="0" err="1">
                <a:solidFill>
                  <a:srgbClr val="000000"/>
                </a:solidFill>
                <a:latin typeface="Montserrat Classic"/>
              </a:rPr>
              <a:t>terlarang</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tindakan-tindakan</a:t>
            </a:r>
            <a:r>
              <a:rPr lang="en-US" sz="2100" dirty="0">
                <a:solidFill>
                  <a:srgbClr val="000000"/>
                </a:solidFill>
                <a:latin typeface="Montserrat Classic"/>
              </a:rPr>
              <a:t> </a:t>
            </a:r>
            <a:r>
              <a:rPr lang="en-US" sz="2100" dirty="0" err="1">
                <a:solidFill>
                  <a:srgbClr val="000000"/>
                </a:solidFill>
                <a:latin typeface="Montserrat Classic"/>
              </a:rPr>
              <a:t>tercela</a:t>
            </a:r>
            <a:r>
              <a:rPr lang="en-US" sz="2100" dirty="0">
                <a:solidFill>
                  <a:srgbClr val="000000"/>
                </a:solidFill>
                <a:latin typeface="Montserrat Classic"/>
              </a:rPr>
              <a:t> </a:t>
            </a:r>
            <a:r>
              <a:rPr lang="en-US" sz="2100" dirty="0" err="1">
                <a:solidFill>
                  <a:srgbClr val="000000"/>
                </a:solidFill>
                <a:latin typeface="Montserrat Classic"/>
              </a:rPr>
              <a:t>lainnya</a:t>
            </a:r>
            <a:endParaRPr lang="id-ID"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perbuatan-perbuatan</a:t>
            </a:r>
            <a:r>
              <a:rPr lang="en-US" sz="2100" dirty="0">
                <a:solidFill>
                  <a:srgbClr val="000000"/>
                </a:solidFill>
                <a:latin typeface="Montserrat Classic"/>
              </a:rPr>
              <a:t> lain yang </a:t>
            </a:r>
            <a:r>
              <a:rPr lang="en-US" sz="2100" dirty="0" err="1">
                <a:solidFill>
                  <a:srgbClr val="000000"/>
                </a:solidFill>
                <a:latin typeface="Montserrat Classic"/>
              </a:rPr>
              <a:t>bertentangan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norma-norma</a:t>
            </a:r>
            <a:r>
              <a:rPr lang="en-US" sz="2100" dirty="0">
                <a:solidFill>
                  <a:srgbClr val="000000"/>
                </a:solidFill>
                <a:latin typeface="Montserrat Classic"/>
              </a:rPr>
              <a:t> agama, </a:t>
            </a:r>
            <a:r>
              <a:rPr lang="en-US" sz="2100" dirty="0" err="1">
                <a:solidFill>
                  <a:srgbClr val="000000"/>
                </a:solidFill>
                <a:latin typeface="Montserrat Classic"/>
              </a:rPr>
              <a:t>hukum</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kesusilaan</a:t>
            </a:r>
            <a:endParaRPr lang="id-ID"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Manajemen</a:t>
            </a:r>
            <a:r>
              <a:rPr lang="en-US" sz="2100" dirty="0">
                <a:solidFill>
                  <a:srgbClr val="000000"/>
                </a:solidFill>
                <a:latin typeface="Montserrat Classic"/>
              </a:rPr>
              <a:t>, </a:t>
            </a:r>
            <a:r>
              <a:rPr lang="en-US" sz="2100" dirty="0" err="1">
                <a:solidFill>
                  <a:srgbClr val="000000"/>
                </a:solidFill>
                <a:latin typeface="Montserrat Classic"/>
              </a:rPr>
              <a:t>apabila</a:t>
            </a:r>
            <a:r>
              <a:rPr lang="en-US" sz="2100" dirty="0">
                <a:solidFill>
                  <a:srgbClr val="000000"/>
                </a:solidFill>
                <a:latin typeface="Montserrat Classic"/>
              </a:rPr>
              <a:t> </a:t>
            </a:r>
            <a:r>
              <a:rPr lang="en-US" sz="2100" dirty="0" err="1">
                <a:solidFill>
                  <a:srgbClr val="000000"/>
                </a:solidFill>
                <a:latin typeface="Montserrat Classic"/>
              </a:rPr>
              <a:t>mengetahui</a:t>
            </a:r>
            <a:r>
              <a:rPr lang="en-US" sz="2100" dirty="0">
                <a:solidFill>
                  <a:srgbClr val="000000"/>
                </a:solidFill>
                <a:latin typeface="Montserrat Classic"/>
              </a:rPr>
              <a:t> </a:t>
            </a:r>
            <a:r>
              <a:rPr lang="en-US" sz="2100" dirty="0" err="1">
                <a:solidFill>
                  <a:srgbClr val="000000"/>
                </a:solidFill>
                <a:latin typeface="Montserrat Classic"/>
              </a:rPr>
              <a:t>adanya</a:t>
            </a:r>
            <a:r>
              <a:rPr lang="en-US" sz="2100" dirty="0">
                <a:solidFill>
                  <a:srgbClr val="000000"/>
                </a:solidFill>
                <a:latin typeface="Montserrat Classic"/>
              </a:rPr>
              <a:t> </a:t>
            </a:r>
            <a:r>
              <a:rPr lang="en-US" sz="2100" dirty="0" err="1">
                <a:solidFill>
                  <a:srgbClr val="000000"/>
                </a:solidFill>
                <a:latin typeface="Montserrat Classic"/>
              </a:rPr>
              <a:t>kondisi</a:t>
            </a:r>
            <a:r>
              <a:rPr lang="en-US" sz="2100" dirty="0">
                <a:solidFill>
                  <a:srgbClr val="000000"/>
                </a:solidFill>
                <a:latin typeface="Montserrat Classic"/>
              </a:rPr>
              <a:t> yang </a:t>
            </a:r>
            <a:r>
              <a:rPr lang="en-US" sz="2100" dirty="0" err="1">
                <a:solidFill>
                  <a:srgbClr val="000000"/>
                </a:solidFill>
                <a:latin typeface="Montserrat Classic"/>
              </a:rPr>
              <a:t>membahayakan</a:t>
            </a:r>
            <a:r>
              <a:rPr lang="en-US" sz="2100" dirty="0">
                <a:solidFill>
                  <a:srgbClr val="000000"/>
                </a:solidFill>
                <a:latin typeface="Montserrat Classic"/>
              </a:rPr>
              <a:t> </a:t>
            </a:r>
            <a:r>
              <a:rPr lang="en-US" sz="2100" dirty="0" err="1">
                <a:solidFill>
                  <a:srgbClr val="000000"/>
                </a:solidFill>
                <a:latin typeface="Montserrat Classic"/>
              </a:rPr>
              <a:t>keamanan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lingkungan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merugikan</a:t>
            </a:r>
            <a:r>
              <a:rPr lang="en-US" sz="2100" dirty="0">
                <a:solidFill>
                  <a:srgbClr val="000000"/>
                </a:solidFill>
                <a:latin typeface="Montserrat Classic"/>
              </a:rPr>
              <a:t> </a:t>
            </a:r>
            <a:r>
              <a:rPr lang="en-US" sz="2100" dirty="0" err="1">
                <a:solidFill>
                  <a:srgbClr val="000000"/>
                </a:solidFill>
                <a:latin typeface="Montserrat Classic"/>
              </a:rPr>
              <a:t>harta</a:t>
            </a:r>
            <a:r>
              <a:rPr lang="en-US" sz="2100" dirty="0">
                <a:solidFill>
                  <a:srgbClr val="000000"/>
                </a:solidFill>
                <a:latin typeface="Montserrat Classic"/>
              </a:rPr>
              <a:t> </a:t>
            </a:r>
            <a:r>
              <a:rPr lang="en-US" sz="2100" dirty="0" err="1">
                <a:solidFill>
                  <a:srgbClr val="000000"/>
                </a:solidFill>
                <a:latin typeface="Montserrat Classic"/>
              </a:rPr>
              <a:t>kekayaan</a:t>
            </a:r>
            <a:r>
              <a:rPr lang="en-US" sz="2100" dirty="0">
                <a:solidFill>
                  <a:srgbClr val="000000"/>
                </a:solidFill>
                <a:latin typeface="Montserrat Classic"/>
              </a:rPr>
              <a:t> </a:t>
            </a:r>
            <a:r>
              <a:rPr lang="en-US" sz="2100" dirty="0" err="1">
                <a:solidFill>
                  <a:srgbClr val="000000"/>
                </a:solidFill>
                <a:latin typeface="Montserrat Classic"/>
              </a:rPr>
              <a:t>Perusahaa</a:t>
            </a:r>
            <a:r>
              <a:rPr lang="id-ID" sz="2100" dirty="0">
                <a:solidFill>
                  <a:srgbClr val="000000"/>
                </a:solidFill>
                <a:latin typeface="Montserrat Classic"/>
              </a:rPr>
              <a:t>n</a:t>
            </a: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143000" y="1189770"/>
            <a:ext cx="16116300" cy="405765"/>
          </a:xfrm>
          <a:prstGeom prst="rect">
            <a:avLst/>
          </a:prstGeom>
        </p:spPr>
        <p:txBody>
          <a:bodyPr lIns="0" tIns="0" rIns="0" bIns="0" rtlCol="0" anchor="t">
            <a:spAutoFit/>
          </a:bodyPr>
          <a:lstStyle/>
          <a:p>
            <a:pPr>
              <a:lnSpc>
                <a:spcPts val="3359"/>
              </a:lnSpc>
              <a:spcBef>
                <a:spcPct val="0"/>
              </a:spcBef>
            </a:pPr>
            <a:r>
              <a:rPr lang="en-US" sz="2400">
                <a:solidFill>
                  <a:srgbClr val="000000"/>
                </a:solidFill>
                <a:latin typeface="Montserrat Classic Bold"/>
              </a:rPr>
              <a:t>F. Etika Menjaga Keamanan, Keselamatan dan Kesehatan Llingkungan Kerja </a:t>
            </a:r>
          </a:p>
        </p:txBody>
      </p:sp>
      <p:sp>
        <p:nvSpPr>
          <p:cNvPr id="7" name="TextBox 7"/>
          <p:cNvSpPr txBox="1"/>
          <p:nvPr/>
        </p:nvSpPr>
        <p:spPr>
          <a:xfrm>
            <a:off x="17034923" y="9153525"/>
            <a:ext cx="532061" cy="554767"/>
          </a:xfrm>
          <a:prstGeom prst="rect">
            <a:avLst/>
          </a:prstGeom>
        </p:spPr>
        <p:txBody>
          <a:bodyPr lIns="0" tIns="0" rIns="0" bIns="0" rtlCol="0" anchor="t">
            <a:spAutoFit/>
          </a:bodyPr>
          <a:lstStyle/>
          <a:p>
            <a:pPr algn="ctr">
              <a:lnSpc>
                <a:spcPts val="4647"/>
              </a:lnSpc>
            </a:pPr>
            <a:r>
              <a:rPr lang="en-US" sz="3319" dirty="0" smtClean="0">
                <a:solidFill>
                  <a:srgbClr val="000000"/>
                </a:solidFill>
                <a:latin typeface="Telegraf"/>
              </a:rPr>
              <a:t>3</a:t>
            </a:r>
            <a:r>
              <a:rPr lang="id-ID" sz="3319" dirty="0" smtClean="0">
                <a:solidFill>
                  <a:srgbClr val="000000"/>
                </a:solidFill>
                <a:latin typeface="Telegraf"/>
              </a:rPr>
              <a:t>4</a:t>
            </a:r>
            <a:endParaRPr lang="en-US" sz="3319" dirty="0">
              <a:solidFill>
                <a:srgbClr val="000000"/>
              </a:solidFill>
              <a:latin typeface="Telegraf"/>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151079" y="-180565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617375" y="-2636934"/>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138743" y="6278445"/>
            <a:ext cx="11300655" cy="9184351"/>
          </a:xfrm>
          <a:prstGeom prst="rect">
            <a:avLst/>
          </a:prstGeom>
        </p:spPr>
      </p:pic>
      <p:sp>
        <p:nvSpPr>
          <p:cNvPr id="5" name="TextBox 5"/>
          <p:cNvSpPr txBox="1"/>
          <p:nvPr/>
        </p:nvSpPr>
        <p:spPr>
          <a:xfrm>
            <a:off x="1028700" y="1767524"/>
            <a:ext cx="16116300" cy="8156429"/>
          </a:xfrm>
          <a:prstGeom prst="rect">
            <a:avLst/>
          </a:prstGeom>
        </p:spPr>
        <p:txBody>
          <a:bodyPr lIns="0" tIns="0" rIns="0" bIns="0" rtlCol="0" anchor="t">
            <a:spAutoFit/>
          </a:bodyPr>
          <a:lstStyle/>
          <a:p>
            <a:pPr algn="just">
              <a:lnSpc>
                <a:spcPts val="2983"/>
              </a:lnSpc>
            </a:pPr>
            <a:r>
              <a:rPr lang="en-US" sz="2130">
                <a:solidFill>
                  <a:srgbClr val="000000"/>
                </a:solidFill>
                <a:latin typeface="Montserrat Classic"/>
              </a:rPr>
              <a:t>Integritas laporan keuangan dipengaruhi oleh pencatatan data transaksi bisnis dan penyusunan laporan kerja yang dilakukan oleh Insan Perusahaan. Oleh karena itu pembukuan Perusahaan harus menghasilkan data yang akurat dan dapat dipakai sebagai dasar untuk menyusun laporan yang tepat dan dapat dipertanggungjawab-kan baik kepada manajemen, pemegang saham, nasabah ataupun pihak-pihak yang berkepentingan lainnya. Perusahaan tidak memberikan toleransi terhadap setiap kesalahan yang disengaja ataupun kegiatan yang menyesatkan dalam melakukan pembukuan Perusahaan.</a:t>
            </a:r>
          </a:p>
          <a:p>
            <a:pPr algn="just">
              <a:lnSpc>
                <a:spcPts val="2983"/>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1.Mencatat data dengan teliti, lengkap, akurat, tepat waktu dan mengadministrasikan data dengan rapi dan tertib.</a:t>
            </a:r>
          </a:p>
          <a:p>
            <a:pPr algn="just">
              <a:lnSpc>
                <a:spcPts val="2983"/>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2.Mencatat data dari sumber yang benar dan dapat dipertanggungjawab kan serta tidak diperkenankan mengubah dan menyalahgunakan informasi.</a:t>
            </a:r>
          </a:p>
          <a:p>
            <a:pPr algn="just">
              <a:lnSpc>
                <a:spcPts val="2983"/>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3.Dilarang melakukan tindakan kecurangan ataupun manipulasi data untuk kepentingan pribadi maupun pihak ketiga</a:t>
            </a:r>
          </a:p>
          <a:p>
            <a:pPr algn="just">
              <a:lnSpc>
                <a:spcPts val="2983"/>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4.Menyusun laporan secara teliti, akurat, dan tepat waktu dengan mempertimbangkan segala aspek yang dapat menggambarkan kondisi Perusahaan yang sebenarnya.</a:t>
            </a:r>
          </a:p>
          <a:p>
            <a:pPr algn="just">
              <a:lnSpc>
                <a:spcPts val="2983"/>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5.Menyusun laporan secara singkat, jelas, tepat, dan komunikatif berdasarkan hasil analisa dan evaluasi data yang benar</a:t>
            </a:r>
          </a:p>
          <a:p>
            <a:pPr algn="just">
              <a:lnSpc>
                <a:spcPts val="2940"/>
              </a:lnSpc>
            </a:pPr>
            <a:endParaRPr lang="en-US" sz="2130">
              <a:solidFill>
                <a:srgbClr val="000000"/>
              </a:solidFill>
              <a:latin typeface="Montserrat Classic"/>
            </a:endParaRPr>
          </a:p>
          <a:p>
            <a:pPr algn="just">
              <a:lnSpc>
                <a:spcPts val="2983"/>
              </a:lnSpc>
            </a:pPr>
            <a:r>
              <a:rPr lang="en-US" sz="2130">
                <a:solidFill>
                  <a:srgbClr val="000000"/>
                </a:solidFill>
                <a:latin typeface="Montserrat Classic"/>
              </a:rPr>
              <a:t>6.Bertanggung jawab atas kebenaran data yang dicatat dan dilaporkan.</a:t>
            </a:r>
          </a:p>
          <a:p>
            <a:pPr algn="just">
              <a:lnSpc>
                <a:spcPts val="2983"/>
              </a:lnSpc>
            </a:pPr>
            <a:endParaRPr lang="en-US" sz="2130">
              <a:solidFill>
                <a:srgbClr val="000000"/>
              </a:solidFill>
              <a:latin typeface="Montserrat Classic"/>
            </a:endParaRPr>
          </a:p>
          <a:p>
            <a:pPr algn="just">
              <a:lnSpc>
                <a:spcPts val="2983"/>
              </a:lnSpc>
              <a:spcBef>
                <a:spcPct val="0"/>
              </a:spcBef>
            </a:pPr>
            <a:endParaRPr lang="en-US" sz="2130">
              <a:solidFill>
                <a:srgbClr val="000000"/>
              </a:solidFill>
              <a:latin typeface="Montserrat Classic"/>
            </a:endParaRPr>
          </a:p>
        </p:txBody>
      </p:sp>
      <p:sp>
        <p:nvSpPr>
          <p:cNvPr id="6" name="TextBox 6"/>
          <p:cNvSpPr txBox="1"/>
          <p:nvPr/>
        </p:nvSpPr>
        <p:spPr>
          <a:xfrm>
            <a:off x="1028700" y="1066800"/>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G. Etika Melakukan Pencatatan Data dan Pelaporan </a:t>
            </a:r>
          </a:p>
        </p:txBody>
      </p:sp>
      <p:sp>
        <p:nvSpPr>
          <p:cNvPr id="7" name="TextBox 7"/>
          <p:cNvSpPr txBox="1"/>
          <p:nvPr/>
        </p:nvSpPr>
        <p:spPr>
          <a:xfrm>
            <a:off x="17035741" y="9153525"/>
            <a:ext cx="530423"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35</a:t>
            </a:r>
            <a:endParaRPr lang="en-US" sz="3319" dirty="0">
              <a:solidFill>
                <a:srgbClr val="000000"/>
              </a:solidFill>
              <a:latin typeface="Telegraf"/>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28700" y="1778427"/>
            <a:ext cx="16658309" cy="7925246"/>
          </a:xfrm>
          <a:prstGeom prst="rect">
            <a:avLst/>
          </a:prstGeom>
        </p:spPr>
        <p:txBody>
          <a:bodyPr lIns="0" tIns="0" rIns="0" bIns="0" rtlCol="0" anchor="t">
            <a:spAutoFit/>
          </a:bodyPr>
          <a:lstStyle/>
          <a:p>
            <a:pPr>
              <a:lnSpc>
                <a:spcPts val="3102"/>
              </a:lnSpc>
            </a:pP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(conflict of interest) </a:t>
            </a:r>
            <a:r>
              <a:rPr lang="en-US" sz="2215" dirty="0" err="1">
                <a:solidFill>
                  <a:srgbClr val="000000"/>
                </a:solidFill>
                <a:latin typeface="Montserrat Classic"/>
              </a:rPr>
              <a:t>terjadi</a:t>
            </a:r>
            <a:r>
              <a:rPr lang="en-US" sz="2215" dirty="0">
                <a:solidFill>
                  <a:srgbClr val="000000"/>
                </a:solidFill>
                <a:latin typeface="Montserrat Classic"/>
              </a:rPr>
              <a:t> </a:t>
            </a:r>
            <a:r>
              <a:rPr lang="en-US" sz="2215" dirty="0" err="1">
                <a:solidFill>
                  <a:srgbClr val="000000"/>
                </a:solidFill>
                <a:latin typeface="Montserrat Classic"/>
              </a:rPr>
              <a:t>jika</a:t>
            </a:r>
            <a:r>
              <a:rPr lang="en-US" sz="2215" dirty="0">
                <a:solidFill>
                  <a:srgbClr val="000000"/>
                </a:solidFill>
                <a:latin typeface="Montserrat Classic"/>
              </a:rPr>
              <a:t> </a:t>
            </a:r>
            <a:r>
              <a:rPr lang="en-US" sz="2215" dirty="0" err="1">
                <a:solidFill>
                  <a:srgbClr val="000000"/>
                </a:solidFill>
                <a:latin typeface="Montserrat Classic"/>
              </a:rPr>
              <a:t>Insan</a:t>
            </a:r>
            <a:r>
              <a:rPr lang="en-US" sz="2215" dirty="0">
                <a:solidFill>
                  <a:srgbClr val="000000"/>
                </a:solidFill>
                <a:latin typeface="Montserrat Classic"/>
              </a:rPr>
              <a:t> Perusahaan </a:t>
            </a:r>
            <a:r>
              <a:rPr lang="en-US" sz="2215" dirty="0" err="1">
                <a:solidFill>
                  <a:srgbClr val="000000"/>
                </a:solidFill>
                <a:latin typeface="Montserrat Classic"/>
              </a:rPr>
              <a:t>memiliki</a:t>
            </a:r>
            <a:r>
              <a:rPr lang="en-US" sz="2215" dirty="0">
                <a:solidFill>
                  <a:srgbClr val="000000"/>
                </a:solidFill>
                <a:latin typeface="Montserrat Classic"/>
              </a:rPr>
              <a:t> </a:t>
            </a:r>
            <a:r>
              <a:rPr lang="en-US" sz="2215" dirty="0" err="1">
                <a:solidFill>
                  <a:srgbClr val="000000"/>
                </a:solidFill>
                <a:latin typeface="Montserrat Classic"/>
              </a:rPr>
              <a:t>dua</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lebih</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yang </a:t>
            </a:r>
            <a:r>
              <a:rPr lang="en-US" sz="2215" dirty="0" err="1">
                <a:solidFill>
                  <a:srgbClr val="000000"/>
                </a:solidFill>
                <a:latin typeface="Montserrat Classic"/>
              </a:rPr>
              <a:t>saling</a:t>
            </a:r>
            <a:r>
              <a:rPr lang="en-US" sz="2215" dirty="0">
                <a:solidFill>
                  <a:srgbClr val="000000"/>
                </a:solidFill>
                <a:latin typeface="Montserrat Classic"/>
              </a:rPr>
              <a:t> </a:t>
            </a:r>
            <a:r>
              <a:rPr lang="en-US" sz="2215" dirty="0" err="1">
                <a:solidFill>
                  <a:srgbClr val="000000"/>
                </a:solidFill>
                <a:latin typeface="Montserrat Classic"/>
              </a:rPr>
              <a:t>bertentangan</a:t>
            </a:r>
            <a:r>
              <a:rPr lang="en-US" sz="2215" dirty="0">
                <a:solidFill>
                  <a:srgbClr val="000000"/>
                </a:solidFill>
                <a:latin typeface="Montserrat Classic"/>
              </a:rPr>
              <a:t> </a:t>
            </a:r>
            <a:r>
              <a:rPr lang="en-US" sz="2215" dirty="0" err="1">
                <a:solidFill>
                  <a:srgbClr val="000000"/>
                </a:solidFill>
                <a:latin typeface="Montserrat Classic"/>
              </a:rPr>
              <a:t>antara</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pribadi</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Perusahaan. </a:t>
            </a:r>
            <a:r>
              <a:rPr lang="en-US" sz="2215" dirty="0" err="1">
                <a:solidFill>
                  <a:srgbClr val="000000"/>
                </a:solidFill>
                <a:latin typeface="Montserrat Classic"/>
              </a:rPr>
              <a:t>Dalam</a:t>
            </a:r>
            <a:r>
              <a:rPr lang="en-US" sz="2215" dirty="0">
                <a:solidFill>
                  <a:srgbClr val="000000"/>
                </a:solidFill>
                <a:latin typeface="Montserrat Classic"/>
              </a:rPr>
              <a:t> </a:t>
            </a:r>
            <a:r>
              <a:rPr lang="en-US" sz="2215" dirty="0" err="1">
                <a:solidFill>
                  <a:srgbClr val="000000"/>
                </a:solidFill>
                <a:latin typeface="Montserrat Classic"/>
              </a:rPr>
              <a:t>kondisi</a:t>
            </a:r>
            <a:r>
              <a:rPr lang="en-US" sz="2215" dirty="0">
                <a:solidFill>
                  <a:srgbClr val="000000"/>
                </a:solidFill>
                <a:latin typeface="Montserrat Classic"/>
              </a:rPr>
              <a:t> </a:t>
            </a:r>
            <a:r>
              <a:rPr lang="en-US" sz="2215" dirty="0" err="1">
                <a:solidFill>
                  <a:srgbClr val="000000"/>
                </a:solidFill>
                <a:latin typeface="Montserrat Classic"/>
              </a:rPr>
              <a:t>demikian</a:t>
            </a:r>
            <a:r>
              <a:rPr lang="en-US" sz="2215" dirty="0">
                <a:solidFill>
                  <a:srgbClr val="000000"/>
                </a:solidFill>
                <a:latin typeface="Montserrat Classic"/>
              </a:rPr>
              <a:t> </a:t>
            </a:r>
            <a:r>
              <a:rPr lang="en-US" sz="2215" dirty="0" err="1">
                <a:solidFill>
                  <a:srgbClr val="000000"/>
                </a:solidFill>
                <a:latin typeface="Montserrat Classic"/>
              </a:rPr>
              <a:t>setiap</a:t>
            </a:r>
            <a:r>
              <a:rPr lang="en-US" sz="2215" dirty="0">
                <a:solidFill>
                  <a:srgbClr val="000000"/>
                </a:solidFill>
                <a:latin typeface="Montserrat Classic"/>
              </a:rPr>
              <a:t> </a:t>
            </a:r>
            <a:r>
              <a:rPr lang="en-US" sz="2215" dirty="0" err="1">
                <a:solidFill>
                  <a:srgbClr val="000000"/>
                </a:solidFill>
                <a:latin typeface="Montserrat Classic"/>
              </a:rPr>
              <a:t>keputusan</a:t>
            </a:r>
            <a:r>
              <a:rPr lang="en-US" sz="2215" dirty="0">
                <a:solidFill>
                  <a:srgbClr val="000000"/>
                </a:solidFill>
                <a:latin typeface="Montserrat Classic"/>
              </a:rPr>
              <a:t> yang </a:t>
            </a:r>
            <a:r>
              <a:rPr lang="en-US" sz="2215" dirty="0" err="1">
                <a:solidFill>
                  <a:srgbClr val="000000"/>
                </a:solidFill>
                <a:latin typeface="Montserrat Classic"/>
              </a:rPr>
              <a:t>diambil</a:t>
            </a:r>
            <a:r>
              <a:rPr lang="en-US" sz="2215" dirty="0">
                <a:solidFill>
                  <a:srgbClr val="000000"/>
                </a:solidFill>
                <a:latin typeface="Montserrat Classic"/>
              </a:rPr>
              <a:t> </a:t>
            </a:r>
            <a:r>
              <a:rPr lang="en-US" sz="2215" dirty="0" err="1">
                <a:solidFill>
                  <a:srgbClr val="000000"/>
                </a:solidFill>
                <a:latin typeface="Montserrat Classic"/>
              </a:rPr>
              <a:t>oleh</a:t>
            </a:r>
            <a:r>
              <a:rPr lang="en-US" sz="2215" dirty="0">
                <a:solidFill>
                  <a:srgbClr val="000000"/>
                </a:solidFill>
                <a:latin typeface="Montserrat Classic"/>
              </a:rPr>
              <a:t> </a:t>
            </a:r>
            <a:r>
              <a:rPr lang="en-US" sz="2215" dirty="0" err="1">
                <a:solidFill>
                  <a:srgbClr val="000000"/>
                </a:solidFill>
                <a:latin typeface="Montserrat Classic"/>
              </a:rPr>
              <a:t>setiap</a:t>
            </a:r>
            <a:r>
              <a:rPr lang="en-US" sz="2215" dirty="0">
                <a:solidFill>
                  <a:srgbClr val="000000"/>
                </a:solidFill>
                <a:latin typeface="Montserrat Classic"/>
              </a:rPr>
              <a:t> </a:t>
            </a:r>
            <a:r>
              <a:rPr lang="en-US" sz="2215" dirty="0" err="1">
                <a:solidFill>
                  <a:srgbClr val="000000"/>
                </a:solidFill>
                <a:latin typeface="Montserrat Classic"/>
              </a:rPr>
              <a:t>Insan</a:t>
            </a:r>
            <a:r>
              <a:rPr lang="en-US" sz="2215" dirty="0">
                <a:solidFill>
                  <a:srgbClr val="000000"/>
                </a:solidFill>
                <a:latin typeface="Montserrat Classic"/>
              </a:rPr>
              <a:t> Perusahaan </a:t>
            </a:r>
            <a:r>
              <a:rPr lang="en-US" sz="2215" dirty="0" err="1">
                <a:solidFill>
                  <a:srgbClr val="000000"/>
                </a:solidFill>
                <a:latin typeface="Montserrat Classic"/>
              </a:rPr>
              <a:t>harus</a:t>
            </a:r>
            <a:r>
              <a:rPr lang="en-US" sz="2215" dirty="0">
                <a:solidFill>
                  <a:srgbClr val="000000"/>
                </a:solidFill>
                <a:latin typeface="Montserrat Classic"/>
              </a:rPr>
              <a:t> </a:t>
            </a:r>
            <a:r>
              <a:rPr lang="en-US" sz="2215" dirty="0" err="1">
                <a:solidFill>
                  <a:srgbClr val="000000"/>
                </a:solidFill>
                <a:latin typeface="Montserrat Classic"/>
              </a:rPr>
              <a:t>didasarkan</a:t>
            </a:r>
            <a:r>
              <a:rPr lang="en-US" sz="2215" dirty="0">
                <a:solidFill>
                  <a:srgbClr val="000000"/>
                </a:solidFill>
                <a:latin typeface="Montserrat Classic"/>
              </a:rPr>
              <a:t> </a:t>
            </a:r>
            <a:r>
              <a:rPr lang="en-US" sz="2215" dirty="0" err="1">
                <a:solidFill>
                  <a:srgbClr val="000000"/>
                </a:solidFill>
                <a:latin typeface="Montserrat Classic"/>
              </a:rPr>
              <a:t>semata-mata</a:t>
            </a:r>
            <a:r>
              <a:rPr lang="en-US" sz="2215" dirty="0">
                <a:solidFill>
                  <a:srgbClr val="000000"/>
                </a:solidFill>
                <a:latin typeface="Montserrat Classic"/>
              </a:rPr>
              <a:t> </a:t>
            </a:r>
            <a:r>
              <a:rPr lang="en-US" sz="2215" dirty="0" err="1">
                <a:solidFill>
                  <a:srgbClr val="000000"/>
                </a:solidFill>
                <a:latin typeface="Montserrat Classic"/>
              </a:rPr>
              <a:t>untuk</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terbaik</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 </a:t>
            </a:r>
            <a:r>
              <a:rPr lang="en-US" sz="2215" dirty="0" err="1">
                <a:solidFill>
                  <a:srgbClr val="000000"/>
                </a:solidFill>
                <a:latin typeface="Montserrat Classic"/>
              </a:rPr>
              <a:t>menguntungkan</a:t>
            </a:r>
            <a:r>
              <a:rPr lang="en-US" sz="2215" dirty="0">
                <a:solidFill>
                  <a:srgbClr val="000000"/>
                </a:solidFill>
                <a:latin typeface="Montserrat Classic"/>
              </a:rPr>
              <a:t> </a:t>
            </a:r>
            <a:r>
              <a:rPr lang="en-US" sz="2215" dirty="0" err="1">
                <a:solidFill>
                  <a:srgbClr val="000000"/>
                </a:solidFill>
                <a:latin typeface="Montserrat Classic"/>
              </a:rPr>
              <a:t>bagi</a:t>
            </a:r>
            <a:r>
              <a:rPr lang="en-US" sz="2215" dirty="0">
                <a:solidFill>
                  <a:srgbClr val="000000"/>
                </a:solidFill>
                <a:latin typeface="Montserrat Classic"/>
              </a:rPr>
              <a:t> Perusahaan </a:t>
            </a:r>
            <a:r>
              <a:rPr lang="en-US" sz="2215" dirty="0" err="1">
                <a:solidFill>
                  <a:srgbClr val="000000"/>
                </a:solidFill>
                <a:latin typeface="Montserrat Classic"/>
              </a:rPr>
              <a:t>serta</a:t>
            </a:r>
            <a:r>
              <a:rPr lang="en-US" sz="2215" dirty="0">
                <a:solidFill>
                  <a:srgbClr val="000000"/>
                </a:solidFill>
                <a:latin typeface="Montserrat Classic"/>
              </a:rPr>
              <a:t> </a:t>
            </a:r>
            <a:r>
              <a:rPr lang="en-US" sz="2215" dirty="0" err="1">
                <a:solidFill>
                  <a:srgbClr val="000000"/>
                </a:solidFill>
                <a:latin typeface="Montserrat Classic"/>
              </a:rPr>
              <a:t>pemilik</a:t>
            </a:r>
            <a:r>
              <a:rPr lang="en-US" sz="2215" dirty="0">
                <a:solidFill>
                  <a:srgbClr val="000000"/>
                </a:solidFill>
                <a:latin typeface="Montserrat Classic"/>
              </a:rPr>
              <a:t>. </a:t>
            </a:r>
            <a:r>
              <a:rPr lang="en-US" sz="2215" dirty="0" err="1">
                <a:solidFill>
                  <a:srgbClr val="000000"/>
                </a:solidFill>
                <a:latin typeface="Montserrat Classic"/>
              </a:rPr>
              <a:t>Oleh</a:t>
            </a:r>
            <a:r>
              <a:rPr lang="en-US" sz="2215" dirty="0">
                <a:solidFill>
                  <a:srgbClr val="000000"/>
                </a:solidFill>
                <a:latin typeface="Montserrat Classic"/>
              </a:rPr>
              <a:t> </a:t>
            </a:r>
            <a:r>
              <a:rPr lang="en-US" sz="2215" dirty="0" err="1">
                <a:solidFill>
                  <a:srgbClr val="000000"/>
                </a:solidFill>
                <a:latin typeface="Montserrat Classic"/>
              </a:rPr>
              <a:t>karena</a:t>
            </a:r>
            <a:r>
              <a:rPr lang="en-US" sz="2215" dirty="0">
                <a:solidFill>
                  <a:srgbClr val="000000"/>
                </a:solidFill>
                <a:latin typeface="Montserrat Classic"/>
              </a:rPr>
              <a:t> </a:t>
            </a:r>
            <a:r>
              <a:rPr lang="en-US" sz="2215" dirty="0" err="1">
                <a:solidFill>
                  <a:srgbClr val="000000"/>
                </a:solidFill>
                <a:latin typeface="Montserrat Classic"/>
              </a:rPr>
              <a:t>itu</a:t>
            </a:r>
            <a:r>
              <a:rPr lang="en-US" sz="2215" dirty="0">
                <a:solidFill>
                  <a:srgbClr val="000000"/>
                </a:solidFill>
                <a:latin typeface="Montserrat Classic"/>
              </a:rPr>
              <a:t> </a:t>
            </a:r>
            <a:r>
              <a:rPr lang="en-US" sz="2215" dirty="0" err="1">
                <a:solidFill>
                  <a:srgbClr val="000000"/>
                </a:solidFill>
                <a:latin typeface="Montserrat Classic"/>
              </a:rPr>
              <a:t>setiap</a:t>
            </a:r>
            <a:r>
              <a:rPr lang="en-US" sz="2215" dirty="0">
                <a:solidFill>
                  <a:srgbClr val="000000"/>
                </a:solidFill>
                <a:latin typeface="Montserrat Classic"/>
              </a:rPr>
              <a:t> </a:t>
            </a:r>
            <a:r>
              <a:rPr lang="en-US" sz="2215" dirty="0" err="1">
                <a:solidFill>
                  <a:srgbClr val="000000"/>
                </a:solidFill>
                <a:latin typeface="Montserrat Classic"/>
              </a:rPr>
              <a:t>Insan</a:t>
            </a:r>
            <a:r>
              <a:rPr lang="en-US" sz="2215" dirty="0">
                <a:solidFill>
                  <a:srgbClr val="000000"/>
                </a:solidFill>
                <a:latin typeface="Montserrat Classic"/>
              </a:rPr>
              <a:t> Perusahaan </a:t>
            </a:r>
            <a:r>
              <a:rPr lang="en-US" sz="2215" dirty="0" err="1">
                <a:solidFill>
                  <a:srgbClr val="000000"/>
                </a:solidFill>
                <a:latin typeface="Montserrat Classic"/>
              </a:rPr>
              <a:t>harus</a:t>
            </a:r>
            <a:r>
              <a:rPr lang="en-US" sz="2215" dirty="0">
                <a:solidFill>
                  <a:srgbClr val="000000"/>
                </a:solidFill>
                <a:latin typeface="Montserrat Classic"/>
              </a:rPr>
              <a:t> </a:t>
            </a:r>
            <a:r>
              <a:rPr lang="en-US" sz="2215" dirty="0" err="1">
                <a:solidFill>
                  <a:srgbClr val="000000"/>
                </a:solidFill>
                <a:latin typeface="Montserrat Classic"/>
              </a:rPr>
              <a:t>menghindarkan</a:t>
            </a:r>
            <a:r>
              <a:rPr lang="en-US" sz="2215" dirty="0">
                <a:solidFill>
                  <a:srgbClr val="000000"/>
                </a:solidFill>
                <a:latin typeface="Montserrat Classic"/>
              </a:rPr>
              <a:t> </a:t>
            </a:r>
            <a:r>
              <a:rPr lang="en-US" sz="2215" dirty="0" err="1">
                <a:solidFill>
                  <a:srgbClr val="000000"/>
                </a:solidFill>
                <a:latin typeface="Montserrat Classic"/>
              </a:rPr>
              <a:t>diri</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 </a:t>
            </a:r>
            <a:r>
              <a:rPr lang="en-US" sz="2215" dirty="0" err="1">
                <a:solidFill>
                  <a:srgbClr val="000000"/>
                </a:solidFill>
                <a:latin typeface="Montserrat Classic"/>
              </a:rPr>
              <a:t>menjauhi</a:t>
            </a:r>
            <a:r>
              <a:rPr lang="en-US" sz="2215" dirty="0">
                <a:solidFill>
                  <a:srgbClr val="000000"/>
                </a:solidFill>
                <a:latin typeface="Montserrat Classic"/>
              </a:rPr>
              <a:t> </a:t>
            </a:r>
            <a:r>
              <a:rPr lang="en-US" sz="2215" dirty="0" err="1">
                <a:solidFill>
                  <a:srgbClr val="000000"/>
                </a:solidFill>
                <a:latin typeface="Montserrat Classic"/>
              </a:rPr>
              <a:t>situasi</a:t>
            </a:r>
            <a:r>
              <a:rPr lang="en-US" sz="2215" dirty="0">
                <a:solidFill>
                  <a:srgbClr val="000000"/>
                </a:solidFill>
                <a:latin typeface="Montserrat Classic"/>
              </a:rPr>
              <a:t> yang </a:t>
            </a:r>
            <a:r>
              <a:rPr lang="en-US" sz="2215" dirty="0" err="1">
                <a:solidFill>
                  <a:srgbClr val="000000"/>
                </a:solidFill>
                <a:latin typeface="Montserrat Classic"/>
              </a:rPr>
              <a:t>dapat</a:t>
            </a:r>
            <a:r>
              <a:rPr lang="en-US" sz="2215" dirty="0">
                <a:solidFill>
                  <a:srgbClr val="000000"/>
                </a:solidFill>
                <a:latin typeface="Montserrat Classic"/>
              </a:rPr>
              <a:t> </a:t>
            </a:r>
            <a:r>
              <a:rPr lang="en-US" sz="2215" dirty="0" err="1">
                <a:solidFill>
                  <a:srgbClr val="000000"/>
                </a:solidFill>
                <a:latin typeface="Montserrat Classic"/>
              </a:rPr>
              <a:t>menimbulkan</a:t>
            </a:r>
            <a:r>
              <a:rPr lang="en-US" sz="2215" dirty="0">
                <a:solidFill>
                  <a:srgbClr val="000000"/>
                </a:solidFill>
                <a:latin typeface="Montserrat Classic"/>
              </a:rPr>
              <a:t> </a:t>
            </a:r>
            <a:r>
              <a:rPr lang="en-US" sz="2215" dirty="0" err="1">
                <a:solidFill>
                  <a:srgbClr val="000000"/>
                </a:solidFill>
                <a:latin typeface="Montserrat Classic"/>
              </a:rPr>
              <a:t>suatu</a:t>
            </a:r>
            <a:r>
              <a:rPr lang="en-US" sz="2215" dirty="0">
                <a:solidFill>
                  <a:srgbClr val="000000"/>
                </a:solidFill>
                <a:latin typeface="Montserrat Classic"/>
              </a:rPr>
              <a:t> </a:t>
            </a: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a:t>
            </a:r>
          </a:p>
          <a:p>
            <a:pPr>
              <a:lnSpc>
                <a:spcPts val="3102"/>
              </a:lnSpc>
            </a:pPr>
            <a:endParaRPr lang="en-US" sz="2215" dirty="0">
              <a:solidFill>
                <a:srgbClr val="000000"/>
              </a:solidFill>
              <a:latin typeface="Montserrat Classic"/>
            </a:endParaRPr>
          </a:p>
          <a:p>
            <a:pPr>
              <a:lnSpc>
                <a:spcPts val="3102"/>
              </a:lnSpc>
            </a:pPr>
            <a:r>
              <a:rPr lang="en-US" sz="2215" dirty="0" err="1">
                <a:solidFill>
                  <a:srgbClr val="000000"/>
                </a:solidFill>
                <a:latin typeface="Montserrat Classic"/>
              </a:rPr>
              <a:t>Dalam</a:t>
            </a:r>
            <a:r>
              <a:rPr lang="en-US" sz="2215" dirty="0">
                <a:solidFill>
                  <a:srgbClr val="000000"/>
                </a:solidFill>
                <a:latin typeface="Montserrat Classic"/>
              </a:rPr>
              <a:t> </a:t>
            </a:r>
            <a:r>
              <a:rPr lang="en-US" sz="2215" dirty="0" err="1">
                <a:solidFill>
                  <a:srgbClr val="000000"/>
                </a:solidFill>
                <a:latin typeface="Montserrat Classic"/>
              </a:rPr>
              <a:t>upaya</a:t>
            </a:r>
            <a:r>
              <a:rPr lang="en-US" sz="2215" dirty="0">
                <a:solidFill>
                  <a:srgbClr val="000000"/>
                </a:solidFill>
                <a:latin typeface="Montserrat Classic"/>
              </a:rPr>
              <a:t> </a:t>
            </a:r>
            <a:r>
              <a:rPr lang="en-US" sz="2215" dirty="0" err="1">
                <a:solidFill>
                  <a:srgbClr val="000000"/>
                </a:solidFill>
                <a:latin typeface="Montserrat Classic"/>
              </a:rPr>
              <a:t>menghindari</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 </a:t>
            </a:r>
            <a:r>
              <a:rPr lang="en-US" sz="2215" dirty="0" err="1">
                <a:solidFill>
                  <a:srgbClr val="000000"/>
                </a:solidFill>
                <a:latin typeface="Montserrat Classic"/>
              </a:rPr>
              <a:t>menjauhi</a:t>
            </a:r>
            <a:r>
              <a:rPr lang="en-US" sz="2215" dirty="0">
                <a:solidFill>
                  <a:srgbClr val="000000"/>
                </a:solidFill>
                <a:latin typeface="Montserrat Classic"/>
              </a:rPr>
              <a:t> </a:t>
            </a:r>
            <a:r>
              <a:rPr lang="en-US" sz="2215" dirty="0" err="1">
                <a:solidFill>
                  <a:srgbClr val="000000"/>
                </a:solidFill>
                <a:latin typeface="Montserrat Classic"/>
              </a:rPr>
              <a:t>situasi</a:t>
            </a:r>
            <a:r>
              <a:rPr lang="en-US" sz="2215" dirty="0">
                <a:solidFill>
                  <a:srgbClr val="000000"/>
                </a:solidFill>
                <a:latin typeface="Montserrat Classic"/>
              </a:rPr>
              <a:t> yang </a:t>
            </a:r>
            <a:r>
              <a:rPr lang="en-US" sz="2215" dirty="0" err="1">
                <a:solidFill>
                  <a:srgbClr val="000000"/>
                </a:solidFill>
                <a:latin typeface="Montserrat Classic"/>
              </a:rPr>
              <a:t>dapat</a:t>
            </a:r>
            <a:r>
              <a:rPr lang="en-US" sz="2215" dirty="0">
                <a:solidFill>
                  <a:srgbClr val="000000"/>
                </a:solidFill>
                <a:latin typeface="Montserrat Classic"/>
              </a:rPr>
              <a:t> </a:t>
            </a:r>
            <a:r>
              <a:rPr lang="en-US" sz="2215" dirty="0" err="1">
                <a:solidFill>
                  <a:srgbClr val="000000"/>
                </a:solidFill>
                <a:latin typeface="Montserrat Classic"/>
              </a:rPr>
              <a:t>menimbulkan</a:t>
            </a:r>
            <a:r>
              <a:rPr lang="en-US" sz="2215" dirty="0">
                <a:solidFill>
                  <a:srgbClr val="000000"/>
                </a:solidFill>
                <a:latin typeface="Montserrat Classic"/>
              </a:rPr>
              <a:t> </a:t>
            </a:r>
            <a:r>
              <a:rPr lang="en-US" sz="2215" dirty="0" err="1">
                <a:solidFill>
                  <a:srgbClr val="000000"/>
                </a:solidFill>
                <a:latin typeface="Montserrat Classic"/>
              </a:rPr>
              <a:t>suatu</a:t>
            </a:r>
            <a:r>
              <a:rPr lang="en-US" sz="2215" dirty="0">
                <a:solidFill>
                  <a:srgbClr val="000000"/>
                </a:solidFill>
                <a:latin typeface="Montserrat Classic"/>
              </a:rPr>
              <a:t> </a:t>
            </a: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maka</a:t>
            </a:r>
            <a:r>
              <a:rPr lang="en-US" sz="2215" dirty="0">
                <a:solidFill>
                  <a:srgbClr val="000000"/>
                </a:solidFill>
                <a:latin typeface="Montserrat Classic"/>
              </a:rPr>
              <a:t> </a:t>
            </a:r>
            <a:r>
              <a:rPr lang="en-US" sz="2215" dirty="0" err="1">
                <a:solidFill>
                  <a:srgbClr val="000000"/>
                </a:solidFill>
                <a:latin typeface="Montserrat Classic"/>
              </a:rPr>
              <a:t>Direksi</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 </a:t>
            </a:r>
            <a:r>
              <a:rPr lang="en-US" sz="2215" dirty="0" err="1">
                <a:solidFill>
                  <a:srgbClr val="000000"/>
                </a:solidFill>
                <a:latin typeface="Montserrat Classic"/>
              </a:rPr>
              <a:t>Dewan</a:t>
            </a:r>
            <a:r>
              <a:rPr lang="en-US" sz="2215" dirty="0">
                <a:solidFill>
                  <a:srgbClr val="000000"/>
                </a:solidFill>
                <a:latin typeface="Montserrat Classic"/>
              </a:rPr>
              <a:t> </a:t>
            </a:r>
            <a:r>
              <a:rPr lang="en-US" sz="2215" dirty="0" err="1">
                <a:solidFill>
                  <a:srgbClr val="000000"/>
                </a:solidFill>
                <a:latin typeface="Montserrat Classic"/>
              </a:rPr>
              <a:t>Komisaris</a:t>
            </a:r>
            <a:r>
              <a:rPr lang="en-US" sz="2215" dirty="0">
                <a:solidFill>
                  <a:srgbClr val="000000"/>
                </a:solidFill>
                <a:latin typeface="Montserrat Classic"/>
              </a:rPr>
              <a:t> </a:t>
            </a:r>
            <a:r>
              <a:rPr lang="en-US" sz="2215" dirty="0" err="1">
                <a:solidFill>
                  <a:srgbClr val="000000"/>
                </a:solidFill>
                <a:latin typeface="Montserrat Classic"/>
              </a:rPr>
              <a:t>membuat</a:t>
            </a:r>
            <a:r>
              <a:rPr lang="en-US" sz="2215" dirty="0">
                <a:solidFill>
                  <a:srgbClr val="000000"/>
                </a:solidFill>
                <a:latin typeface="Montserrat Classic"/>
              </a:rPr>
              <a:t> </a:t>
            </a:r>
            <a:r>
              <a:rPr lang="en-US" sz="2215" dirty="0" err="1">
                <a:solidFill>
                  <a:srgbClr val="000000"/>
                </a:solidFill>
                <a:latin typeface="Montserrat Classic"/>
              </a:rPr>
              <a:t>surat</a:t>
            </a:r>
            <a:r>
              <a:rPr lang="en-US" sz="2215" dirty="0">
                <a:solidFill>
                  <a:srgbClr val="000000"/>
                </a:solidFill>
                <a:latin typeface="Montserrat Classic"/>
              </a:rPr>
              <a:t> </a:t>
            </a:r>
            <a:r>
              <a:rPr lang="en-US" sz="2215" dirty="0" err="1">
                <a:solidFill>
                  <a:srgbClr val="000000"/>
                </a:solidFill>
                <a:latin typeface="Montserrat Classic"/>
              </a:rPr>
              <a:t>pernyataan</a:t>
            </a:r>
            <a:r>
              <a:rPr lang="en-US" sz="2215" dirty="0">
                <a:solidFill>
                  <a:srgbClr val="000000"/>
                </a:solidFill>
                <a:latin typeface="Montserrat Classic"/>
              </a:rPr>
              <a:t> </a:t>
            </a:r>
            <a:r>
              <a:rPr lang="en-US" sz="2215" dirty="0" err="1">
                <a:solidFill>
                  <a:srgbClr val="000000"/>
                </a:solidFill>
                <a:latin typeface="Montserrat Classic"/>
              </a:rPr>
              <a:t>tidak</a:t>
            </a:r>
            <a:r>
              <a:rPr lang="en-US" sz="2215" dirty="0">
                <a:solidFill>
                  <a:srgbClr val="000000"/>
                </a:solidFill>
                <a:latin typeface="Montserrat Classic"/>
              </a:rPr>
              <a:t> </a:t>
            </a:r>
            <a:r>
              <a:rPr lang="en-US" sz="2215" dirty="0" err="1">
                <a:solidFill>
                  <a:srgbClr val="000000"/>
                </a:solidFill>
                <a:latin typeface="Montserrat Classic"/>
              </a:rPr>
              <a:t>memiliki</a:t>
            </a:r>
            <a:r>
              <a:rPr lang="en-US" sz="2215" dirty="0">
                <a:solidFill>
                  <a:srgbClr val="000000"/>
                </a:solidFill>
                <a:latin typeface="Montserrat Classic"/>
              </a:rPr>
              <a:t> </a:t>
            </a: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antara</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pribadi</a:t>
            </a:r>
            <a:r>
              <a:rPr lang="en-US" sz="2215" dirty="0">
                <a:solidFill>
                  <a:srgbClr val="000000"/>
                </a:solidFill>
                <a:latin typeface="Montserrat Classic"/>
              </a:rPr>
              <a:t>/</a:t>
            </a:r>
            <a:r>
              <a:rPr lang="en-US" sz="2215" dirty="0" err="1">
                <a:solidFill>
                  <a:srgbClr val="000000"/>
                </a:solidFill>
                <a:latin typeface="Montserrat Classic"/>
              </a:rPr>
              <a:t>keluarga</a:t>
            </a:r>
            <a:r>
              <a:rPr lang="en-US" sz="2215" dirty="0">
                <a:solidFill>
                  <a:srgbClr val="000000"/>
                </a:solidFill>
                <a:latin typeface="Montserrat Classic"/>
              </a:rPr>
              <a:t>, </a:t>
            </a:r>
            <a:r>
              <a:rPr lang="en-US" sz="2215" dirty="0" err="1">
                <a:solidFill>
                  <a:srgbClr val="000000"/>
                </a:solidFill>
                <a:latin typeface="Montserrat Classic"/>
              </a:rPr>
              <a:t>jabatan</a:t>
            </a:r>
            <a:r>
              <a:rPr lang="en-US" sz="2215" dirty="0">
                <a:solidFill>
                  <a:srgbClr val="000000"/>
                </a:solidFill>
                <a:latin typeface="Montserrat Classic"/>
              </a:rPr>
              <a:t> lain,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golongan</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perusahaan</a:t>
            </a:r>
            <a:r>
              <a:rPr lang="en-US" sz="2215" dirty="0">
                <a:solidFill>
                  <a:srgbClr val="000000"/>
                </a:solidFill>
                <a:latin typeface="Montserrat Classic"/>
              </a:rPr>
              <a:t> </a:t>
            </a:r>
            <a:r>
              <a:rPr lang="en-US" sz="2215" dirty="0" err="1">
                <a:solidFill>
                  <a:srgbClr val="000000"/>
                </a:solidFill>
                <a:latin typeface="Montserrat Classic"/>
              </a:rPr>
              <a:t>pada</a:t>
            </a:r>
            <a:r>
              <a:rPr lang="en-US" sz="2215" dirty="0">
                <a:solidFill>
                  <a:srgbClr val="000000"/>
                </a:solidFill>
                <a:latin typeface="Montserrat Classic"/>
              </a:rPr>
              <a:t> </a:t>
            </a:r>
            <a:r>
              <a:rPr lang="en-US" sz="2215" dirty="0" err="1">
                <a:solidFill>
                  <a:srgbClr val="000000"/>
                </a:solidFill>
                <a:latin typeface="Montserrat Classic"/>
              </a:rPr>
              <a:t>awal</a:t>
            </a:r>
            <a:r>
              <a:rPr lang="en-US" sz="2215" dirty="0">
                <a:solidFill>
                  <a:srgbClr val="000000"/>
                </a:solidFill>
                <a:latin typeface="Montserrat Classic"/>
              </a:rPr>
              <a:t> </a:t>
            </a:r>
            <a:r>
              <a:rPr lang="en-US" sz="2215" dirty="0" err="1">
                <a:solidFill>
                  <a:srgbClr val="000000"/>
                </a:solidFill>
                <a:latin typeface="Montserrat Classic"/>
              </a:rPr>
              <a:t>pengangkatan</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 </a:t>
            </a:r>
            <a:r>
              <a:rPr lang="en-US" sz="2215" dirty="0" err="1">
                <a:solidFill>
                  <a:srgbClr val="000000"/>
                </a:solidFill>
                <a:latin typeface="Montserrat Classic"/>
              </a:rPr>
              <a:t>selalu</a:t>
            </a:r>
            <a:r>
              <a:rPr lang="en-US" sz="2215" dirty="0">
                <a:solidFill>
                  <a:srgbClr val="000000"/>
                </a:solidFill>
                <a:latin typeface="Montserrat Classic"/>
              </a:rPr>
              <a:t> </a:t>
            </a:r>
            <a:r>
              <a:rPr lang="en-US" sz="2215" dirty="0" err="1">
                <a:solidFill>
                  <a:srgbClr val="000000"/>
                </a:solidFill>
                <a:latin typeface="Montserrat Classic"/>
              </a:rPr>
              <a:t>diperbaharui</a:t>
            </a:r>
            <a:r>
              <a:rPr lang="en-US" sz="2215" dirty="0">
                <a:solidFill>
                  <a:srgbClr val="000000"/>
                </a:solidFill>
                <a:latin typeface="Montserrat Classic"/>
              </a:rPr>
              <a:t> </a:t>
            </a:r>
            <a:r>
              <a:rPr lang="en-US" sz="2215" dirty="0" err="1">
                <a:solidFill>
                  <a:srgbClr val="000000"/>
                </a:solidFill>
                <a:latin typeface="Montserrat Classic"/>
              </a:rPr>
              <a:t>setiap</a:t>
            </a:r>
            <a:r>
              <a:rPr lang="en-US" sz="2215" dirty="0">
                <a:solidFill>
                  <a:srgbClr val="000000"/>
                </a:solidFill>
                <a:latin typeface="Montserrat Classic"/>
              </a:rPr>
              <a:t> </a:t>
            </a:r>
            <a:r>
              <a:rPr lang="en-US" sz="2215" dirty="0" err="1">
                <a:solidFill>
                  <a:srgbClr val="000000"/>
                </a:solidFill>
                <a:latin typeface="Montserrat Classic"/>
              </a:rPr>
              <a:t>awal</a:t>
            </a:r>
            <a:r>
              <a:rPr lang="en-US" sz="2215" dirty="0">
                <a:solidFill>
                  <a:srgbClr val="000000"/>
                </a:solidFill>
                <a:latin typeface="Montserrat Classic"/>
              </a:rPr>
              <a:t> </a:t>
            </a:r>
            <a:r>
              <a:rPr lang="en-US" sz="2215" dirty="0" err="1">
                <a:solidFill>
                  <a:srgbClr val="000000"/>
                </a:solidFill>
                <a:latin typeface="Montserrat Classic"/>
              </a:rPr>
              <a:t>tahun</a:t>
            </a:r>
            <a:r>
              <a:rPr lang="en-US" sz="2215" dirty="0">
                <a:solidFill>
                  <a:srgbClr val="000000"/>
                </a:solidFill>
                <a:latin typeface="Montserrat Classic"/>
              </a:rPr>
              <a:t>.</a:t>
            </a:r>
          </a:p>
          <a:p>
            <a:pPr>
              <a:lnSpc>
                <a:spcPts val="3102"/>
              </a:lnSpc>
            </a:pPr>
            <a:endParaRPr lang="en-US" sz="2215" dirty="0">
              <a:solidFill>
                <a:srgbClr val="000000"/>
              </a:solidFill>
              <a:latin typeface="Montserrat Classic"/>
            </a:endParaRPr>
          </a:p>
          <a:p>
            <a:pPr>
              <a:lnSpc>
                <a:spcPts val="3102"/>
              </a:lnSpc>
            </a:pPr>
            <a:r>
              <a:rPr lang="en-US" sz="2215" dirty="0" err="1">
                <a:solidFill>
                  <a:srgbClr val="000000"/>
                </a:solidFill>
                <a:latin typeface="Montserrat Classic"/>
              </a:rPr>
              <a:t>Untuk</a:t>
            </a:r>
            <a:r>
              <a:rPr lang="en-US" sz="2215" dirty="0">
                <a:solidFill>
                  <a:srgbClr val="000000"/>
                </a:solidFill>
                <a:latin typeface="Montserrat Classic"/>
              </a:rPr>
              <a:t> </a:t>
            </a:r>
            <a:r>
              <a:rPr lang="en-US" sz="2215" dirty="0" err="1">
                <a:solidFill>
                  <a:srgbClr val="000000"/>
                </a:solidFill>
                <a:latin typeface="Montserrat Classic"/>
              </a:rPr>
              <a:t>menghindari</a:t>
            </a:r>
            <a:r>
              <a:rPr lang="en-US" sz="2215" dirty="0">
                <a:solidFill>
                  <a:srgbClr val="000000"/>
                </a:solidFill>
                <a:latin typeface="Montserrat Classic"/>
              </a:rPr>
              <a:t> </a:t>
            </a:r>
            <a:r>
              <a:rPr lang="en-US" sz="2215" dirty="0" err="1">
                <a:solidFill>
                  <a:srgbClr val="000000"/>
                </a:solidFill>
                <a:latin typeface="Montserrat Classic"/>
              </a:rPr>
              <a:t>konflik</a:t>
            </a:r>
            <a:r>
              <a:rPr lang="en-US" sz="2215" dirty="0">
                <a:solidFill>
                  <a:srgbClr val="000000"/>
                </a:solidFill>
                <a:latin typeface="Montserrat Classic"/>
              </a:rPr>
              <a:t> </a:t>
            </a:r>
            <a:r>
              <a:rPr lang="en-US" sz="2215" dirty="0" err="1">
                <a:solidFill>
                  <a:srgbClr val="000000"/>
                </a:solidFill>
                <a:latin typeface="Montserrat Classic"/>
              </a:rPr>
              <a:t>antara</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pribadi</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Perusahaan, </a:t>
            </a:r>
            <a:r>
              <a:rPr lang="en-US" sz="2215" dirty="0" err="1">
                <a:solidFill>
                  <a:srgbClr val="000000"/>
                </a:solidFill>
                <a:latin typeface="Montserrat Classic"/>
              </a:rPr>
              <a:t>setiap</a:t>
            </a:r>
            <a:r>
              <a:rPr lang="en-US" sz="2215" dirty="0">
                <a:solidFill>
                  <a:srgbClr val="000000"/>
                </a:solidFill>
                <a:latin typeface="Montserrat Classic"/>
              </a:rPr>
              <a:t> </a:t>
            </a:r>
            <a:r>
              <a:rPr lang="en-US" sz="2215" dirty="0" err="1">
                <a:solidFill>
                  <a:srgbClr val="000000"/>
                </a:solidFill>
                <a:latin typeface="Montserrat Classic"/>
              </a:rPr>
              <a:t>Insan</a:t>
            </a:r>
            <a:r>
              <a:rPr lang="en-US" sz="2215" dirty="0">
                <a:solidFill>
                  <a:srgbClr val="000000"/>
                </a:solidFill>
                <a:latin typeface="Montserrat Classic"/>
              </a:rPr>
              <a:t> Perusahaan </a:t>
            </a:r>
            <a:r>
              <a:rPr lang="en-US" sz="2215" dirty="0" err="1">
                <a:solidFill>
                  <a:srgbClr val="000000"/>
                </a:solidFill>
                <a:latin typeface="Montserrat Classic"/>
              </a:rPr>
              <a:t>tidak</a:t>
            </a:r>
            <a:r>
              <a:rPr lang="en-US" sz="2215" dirty="0">
                <a:solidFill>
                  <a:srgbClr val="000000"/>
                </a:solidFill>
                <a:latin typeface="Montserrat Classic"/>
              </a:rPr>
              <a:t> </a:t>
            </a:r>
            <a:r>
              <a:rPr lang="en-US" sz="2215" dirty="0" err="1">
                <a:solidFill>
                  <a:srgbClr val="000000"/>
                </a:solidFill>
                <a:latin typeface="Montserrat Classic"/>
              </a:rPr>
              <a:t>boleh</a:t>
            </a:r>
            <a:r>
              <a:rPr lang="en-US" sz="2215" dirty="0">
                <a:solidFill>
                  <a:srgbClr val="000000"/>
                </a:solidFill>
                <a:latin typeface="Montserrat Classic"/>
              </a:rPr>
              <a:t> </a:t>
            </a:r>
            <a:r>
              <a:rPr lang="en-US" sz="2215" dirty="0" err="1">
                <a:solidFill>
                  <a:srgbClr val="000000"/>
                </a:solidFill>
                <a:latin typeface="Montserrat Classic"/>
              </a:rPr>
              <a:t>melakukan</a:t>
            </a:r>
            <a:r>
              <a:rPr lang="en-US" sz="2215" dirty="0">
                <a:solidFill>
                  <a:srgbClr val="000000"/>
                </a:solidFill>
                <a:latin typeface="Montserrat Classic"/>
              </a:rPr>
              <a:t> </a:t>
            </a:r>
            <a:r>
              <a:rPr lang="en-US" sz="2215" dirty="0" err="1">
                <a:solidFill>
                  <a:srgbClr val="000000"/>
                </a:solidFill>
                <a:latin typeface="Montserrat Classic"/>
              </a:rPr>
              <a:t>hal</a:t>
            </a:r>
            <a:r>
              <a:rPr lang="en-US" sz="2215" dirty="0">
                <a:solidFill>
                  <a:srgbClr val="000000"/>
                </a:solidFill>
                <a:latin typeface="Montserrat Classic"/>
              </a:rPr>
              <a:t> </a:t>
            </a:r>
            <a:r>
              <a:rPr lang="en-US" sz="2215" dirty="0" err="1">
                <a:solidFill>
                  <a:srgbClr val="000000"/>
                </a:solidFill>
                <a:latin typeface="Montserrat Classic"/>
              </a:rPr>
              <a:t>hal</a:t>
            </a:r>
            <a:r>
              <a:rPr lang="en-US" sz="2215" dirty="0">
                <a:solidFill>
                  <a:srgbClr val="000000"/>
                </a:solidFill>
                <a:latin typeface="Montserrat Classic"/>
              </a:rPr>
              <a:t> </a:t>
            </a:r>
            <a:r>
              <a:rPr lang="en-US" sz="2215" dirty="0" err="1">
                <a:solidFill>
                  <a:srgbClr val="000000"/>
                </a:solidFill>
                <a:latin typeface="Montserrat Classic"/>
              </a:rPr>
              <a:t>sebagai</a:t>
            </a:r>
            <a:r>
              <a:rPr lang="en-US" sz="2215" dirty="0">
                <a:solidFill>
                  <a:srgbClr val="000000"/>
                </a:solidFill>
                <a:latin typeface="Montserrat Classic"/>
              </a:rPr>
              <a:t> </a:t>
            </a:r>
            <a:r>
              <a:rPr lang="en-US" sz="2215" dirty="0" err="1">
                <a:solidFill>
                  <a:srgbClr val="000000"/>
                </a:solidFill>
                <a:latin typeface="Montserrat Classic"/>
              </a:rPr>
              <a:t>berikut</a:t>
            </a:r>
            <a:r>
              <a:rPr lang="en-US" sz="2215" dirty="0">
                <a:solidFill>
                  <a:srgbClr val="000000"/>
                </a:solidFill>
                <a:latin typeface="Montserrat Classic"/>
              </a:rPr>
              <a:t>:</a:t>
            </a:r>
          </a:p>
          <a:p>
            <a:pPr>
              <a:lnSpc>
                <a:spcPts val="3102"/>
              </a:lnSpc>
            </a:pPr>
            <a:endParaRPr lang="en-US" sz="2215" dirty="0">
              <a:solidFill>
                <a:srgbClr val="000000"/>
              </a:solidFill>
              <a:latin typeface="Montserrat Classic"/>
            </a:endParaRPr>
          </a:p>
          <a:p>
            <a:pPr marL="342900" indent="-342900">
              <a:lnSpc>
                <a:spcPts val="3102"/>
              </a:lnSpc>
              <a:buFontTx/>
              <a:buChar char="-"/>
            </a:pPr>
            <a:r>
              <a:rPr lang="en-US" sz="2215" dirty="0" err="1">
                <a:solidFill>
                  <a:srgbClr val="000000"/>
                </a:solidFill>
                <a:latin typeface="Montserrat Classic"/>
              </a:rPr>
              <a:t>Melakukan</a:t>
            </a:r>
            <a:r>
              <a:rPr lang="en-US" sz="2215" dirty="0">
                <a:solidFill>
                  <a:srgbClr val="000000"/>
                </a:solidFill>
                <a:latin typeface="Montserrat Classic"/>
              </a:rPr>
              <a:t> </a:t>
            </a:r>
            <a:r>
              <a:rPr lang="en-US" sz="2215" dirty="0" err="1">
                <a:solidFill>
                  <a:srgbClr val="000000"/>
                </a:solidFill>
                <a:latin typeface="Montserrat Classic"/>
              </a:rPr>
              <a:t>perbuatan</a:t>
            </a:r>
            <a:r>
              <a:rPr lang="en-US" sz="2215" dirty="0">
                <a:solidFill>
                  <a:srgbClr val="000000"/>
                </a:solidFill>
                <a:latin typeface="Montserrat Classic"/>
              </a:rPr>
              <a:t>/</a:t>
            </a:r>
            <a:r>
              <a:rPr lang="en-US" sz="2215" dirty="0" err="1">
                <a:solidFill>
                  <a:srgbClr val="000000"/>
                </a:solidFill>
                <a:latin typeface="Montserrat Classic"/>
              </a:rPr>
              <a:t>tindakan</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menempatkan</a:t>
            </a:r>
            <a:r>
              <a:rPr lang="en-US" sz="2215" dirty="0">
                <a:solidFill>
                  <a:srgbClr val="000000"/>
                </a:solidFill>
                <a:latin typeface="Montserrat Classic"/>
              </a:rPr>
              <a:t> </a:t>
            </a:r>
            <a:r>
              <a:rPr lang="en-US" sz="2215" dirty="0" err="1">
                <a:solidFill>
                  <a:srgbClr val="000000"/>
                </a:solidFill>
                <a:latin typeface="Montserrat Classic"/>
              </a:rPr>
              <a:t>diri</a:t>
            </a:r>
            <a:r>
              <a:rPr lang="en-US" sz="2215" dirty="0">
                <a:solidFill>
                  <a:srgbClr val="000000"/>
                </a:solidFill>
                <a:latin typeface="Montserrat Classic"/>
              </a:rPr>
              <a:t> </a:t>
            </a:r>
            <a:r>
              <a:rPr lang="en-US" sz="2215" dirty="0" err="1">
                <a:solidFill>
                  <a:srgbClr val="000000"/>
                </a:solidFill>
                <a:latin typeface="Montserrat Classic"/>
              </a:rPr>
              <a:t>pada</a:t>
            </a:r>
            <a:r>
              <a:rPr lang="en-US" sz="2215" dirty="0">
                <a:solidFill>
                  <a:srgbClr val="000000"/>
                </a:solidFill>
                <a:latin typeface="Montserrat Classic"/>
              </a:rPr>
              <a:t> </a:t>
            </a:r>
            <a:r>
              <a:rPr lang="en-US" sz="2215" dirty="0" err="1">
                <a:solidFill>
                  <a:srgbClr val="000000"/>
                </a:solidFill>
                <a:latin typeface="Montserrat Classic"/>
              </a:rPr>
              <a:t>posisi</a:t>
            </a:r>
            <a:r>
              <a:rPr lang="en-US" sz="2215" dirty="0">
                <a:solidFill>
                  <a:srgbClr val="000000"/>
                </a:solidFill>
                <a:latin typeface="Montserrat Classic"/>
              </a:rPr>
              <a:t> yang </a:t>
            </a:r>
            <a:r>
              <a:rPr lang="en-US" sz="2215" dirty="0" err="1">
                <a:solidFill>
                  <a:srgbClr val="000000"/>
                </a:solidFill>
                <a:latin typeface="Montserrat Classic"/>
              </a:rPr>
              <a:t>dapat</a:t>
            </a:r>
            <a:r>
              <a:rPr lang="en-US" sz="2215" dirty="0">
                <a:solidFill>
                  <a:srgbClr val="000000"/>
                </a:solidFill>
                <a:latin typeface="Montserrat Classic"/>
              </a:rPr>
              <a:t> </a:t>
            </a:r>
            <a:r>
              <a:rPr lang="en-US" sz="2215" dirty="0" err="1">
                <a:solidFill>
                  <a:srgbClr val="000000"/>
                </a:solidFill>
                <a:latin typeface="Montserrat Classic"/>
              </a:rPr>
              <a:t>menimbulkan</a:t>
            </a:r>
            <a:r>
              <a:rPr lang="en-US" sz="2215" dirty="0">
                <a:solidFill>
                  <a:srgbClr val="000000"/>
                </a:solidFill>
                <a:latin typeface="Montserrat Classic"/>
              </a:rPr>
              <a:t> </a:t>
            </a:r>
            <a:r>
              <a:rPr lang="en-US" sz="2215" dirty="0" err="1">
                <a:solidFill>
                  <a:srgbClr val="000000"/>
                </a:solidFill>
                <a:latin typeface="Montserrat Classic"/>
              </a:rPr>
              <a:t>keuntungan</a:t>
            </a:r>
            <a:r>
              <a:rPr lang="en-US" sz="2215" dirty="0">
                <a:solidFill>
                  <a:srgbClr val="000000"/>
                </a:solidFill>
                <a:latin typeface="Montserrat Classic"/>
              </a:rPr>
              <a:t> </a:t>
            </a:r>
            <a:r>
              <a:rPr lang="en-US" sz="2215" dirty="0" err="1">
                <a:solidFill>
                  <a:srgbClr val="000000"/>
                </a:solidFill>
                <a:latin typeface="Montserrat Classic"/>
              </a:rPr>
              <a:t>pribadi</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antara</a:t>
            </a:r>
            <a:r>
              <a:rPr lang="en-US" sz="2215" dirty="0">
                <a:solidFill>
                  <a:srgbClr val="000000"/>
                </a:solidFill>
                <a:latin typeface="Montserrat Classic"/>
              </a:rPr>
              <a:t> </a:t>
            </a:r>
            <a:r>
              <a:rPr lang="en-US" sz="2215" dirty="0" err="1">
                <a:solidFill>
                  <a:srgbClr val="000000"/>
                </a:solidFill>
                <a:latin typeface="Montserrat Classic"/>
              </a:rPr>
              <a:t>dirinya</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Perusahaan.</a:t>
            </a:r>
            <a:endParaRPr lang="id-ID" sz="2215" dirty="0">
              <a:solidFill>
                <a:srgbClr val="000000"/>
              </a:solidFill>
              <a:latin typeface="Montserrat Classic"/>
            </a:endParaRPr>
          </a:p>
          <a:p>
            <a:pPr marL="342900" indent="-342900">
              <a:lnSpc>
                <a:spcPts val="3102"/>
              </a:lnSpc>
              <a:buFontTx/>
              <a:buChar char="-"/>
            </a:pPr>
            <a:r>
              <a:rPr lang="en-US" sz="2215" dirty="0" err="1">
                <a:solidFill>
                  <a:srgbClr val="000000"/>
                </a:solidFill>
                <a:latin typeface="Montserrat Classic"/>
              </a:rPr>
              <a:t>Memiliki</a:t>
            </a:r>
            <a:r>
              <a:rPr lang="en-US" sz="2215" dirty="0">
                <a:solidFill>
                  <a:srgbClr val="000000"/>
                </a:solidFill>
                <a:latin typeface="Montserrat Classic"/>
              </a:rPr>
              <a:t> </a:t>
            </a:r>
            <a:r>
              <a:rPr lang="en-US" sz="2215" dirty="0" err="1">
                <a:solidFill>
                  <a:srgbClr val="000000"/>
                </a:solidFill>
                <a:latin typeface="Montserrat Classic"/>
              </a:rPr>
              <a:t>saham</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melakukan</a:t>
            </a:r>
            <a:r>
              <a:rPr lang="en-US" sz="2215" dirty="0">
                <a:solidFill>
                  <a:srgbClr val="000000"/>
                </a:solidFill>
                <a:latin typeface="Montserrat Classic"/>
              </a:rPr>
              <a:t> </a:t>
            </a:r>
            <a:r>
              <a:rPr lang="en-US" sz="2215" dirty="0" err="1">
                <a:solidFill>
                  <a:srgbClr val="000000"/>
                </a:solidFill>
                <a:latin typeface="Montserrat Classic"/>
              </a:rPr>
              <a:t>investasi</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badan</a:t>
            </a:r>
            <a:r>
              <a:rPr lang="en-US" sz="2215" dirty="0">
                <a:solidFill>
                  <a:srgbClr val="000000"/>
                </a:solidFill>
                <a:latin typeface="Montserrat Classic"/>
              </a:rPr>
              <a:t> </a:t>
            </a:r>
            <a:r>
              <a:rPr lang="en-US" sz="2215" dirty="0" err="1">
                <a:solidFill>
                  <a:srgbClr val="000000"/>
                </a:solidFill>
                <a:latin typeface="Montserrat Classic"/>
              </a:rPr>
              <a:t>usaha</a:t>
            </a:r>
            <a:r>
              <a:rPr lang="en-US" sz="2215" dirty="0">
                <a:solidFill>
                  <a:srgbClr val="000000"/>
                </a:solidFill>
                <a:latin typeface="Montserrat Classic"/>
              </a:rPr>
              <a:t> lain yang </a:t>
            </a:r>
            <a:r>
              <a:rPr lang="en-US" sz="2215" dirty="0" err="1">
                <a:solidFill>
                  <a:srgbClr val="000000"/>
                </a:solidFill>
                <a:latin typeface="Montserrat Classic"/>
              </a:rPr>
              <a:t>bermitra</a:t>
            </a:r>
            <a:r>
              <a:rPr lang="en-US" sz="2215" dirty="0">
                <a:solidFill>
                  <a:srgbClr val="000000"/>
                </a:solidFill>
                <a:latin typeface="Montserrat Classic"/>
              </a:rPr>
              <a:t> </a:t>
            </a:r>
            <a:r>
              <a:rPr lang="en-US" sz="2215" dirty="0" err="1">
                <a:solidFill>
                  <a:srgbClr val="000000"/>
                </a:solidFill>
                <a:latin typeface="Montserrat Classic"/>
              </a:rPr>
              <a:t>bisnis</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memiliki</a:t>
            </a:r>
            <a:r>
              <a:rPr lang="en-US" sz="2215" dirty="0">
                <a:solidFill>
                  <a:srgbClr val="000000"/>
                </a:solidFill>
                <a:latin typeface="Montserrat Classic"/>
              </a:rPr>
              <a:t> </a:t>
            </a:r>
            <a:r>
              <a:rPr lang="en-US" sz="2215" dirty="0" err="1">
                <a:solidFill>
                  <a:srgbClr val="000000"/>
                </a:solidFill>
                <a:latin typeface="Montserrat Classic"/>
              </a:rPr>
              <a:t>keterkaitan</a:t>
            </a:r>
            <a:r>
              <a:rPr lang="en-US" sz="2215" dirty="0">
                <a:solidFill>
                  <a:srgbClr val="000000"/>
                </a:solidFill>
                <a:latin typeface="Montserrat Classic"/>
              </a:rPr>
              <a:t> </a:t>
            </a:r>
            <a:r>
              <a:rPr lang="en-US" sz="2215" dirty="0" err="1">
                <a:solidFill>
                  <a:srgbClr val="000000"/>
                </a:solidFill>
                <a:latin typeface="Montserrat Classic"/>
              </a:rPr>
              <a:t>bisnis</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Perusahaan.</a:t>
            </a:r>
          </a:p>
          <a:p>
            <a:pPr>
              <a:lnSpc>
                <a:spcPts val="3102"/>
              </a:lnSpc>
            </a:pPr>
            <a:endParaRPr lang="en-US" sz="2215" dirty="0">
              <a:solidFill>
                <a:srgbClr val="000000"/>
              </a:solidFill>
              <a:latin typeface="Montserrat Classic"/>
            </a:endParaRPr>
          </a:p>
          <a:p>
            <a:pPr>
              <a:lnSpc>
                <a:spcPts val="2850"/>
              </a:lnSpc>
              <a:spcBef>
                <a:spcPct val="0"/>
              </a:spcBef>
            </a:pPr>
            <a:endParaRPr lang="en-US" sz="2215" dirty="0">
              <a:solidFill>
                <a:srgbClr val="000000"/>
              </a:solidFill>
              <a:latin typeface="Montserrat Classic"/>
            </a:endParaRPr>
          </a:p>
        </p:txBody>
      </p:sp>
      <p:sp>
        <p:nvSpPr>
          <p:cNvPr id="6" name="TextBox 6"/>
          <p:cNvSpPr txBox="1"/>
          <p:nvPr/>
        </p:nvSpPr>
        <p:spPr>
          <a:xfrm>
            <a:off x="1028700" y="1019175"/>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H. Etika Menghindari Benturan Kepentingan </a:t>
            </a:r>
          </a:p>
        </p:txBody>
      </p:sp>
      <p:sp>
        <p:nvSpPr>
          <p:cNvPr id="7" name="TextBox 7"/>
          <p:cNvSpPr txBox="1"/>
          <p:nvPr/>
        </p:nvSpPr>
        <p:spPr>
          <a:xfrm>
            <a:off x="17034476" y="9153525"/>
            <a:ext cx="532954"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36</a:t>
            </a:r>
            <a:endParaRPr lang="en-US" sz="3319" dirty="0">
              <a:solidFill>
                <a:srgbClr val="000000"/>
              </a:solidFill>
              <a:latin typeface="Telegraf"/>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306481" y="-531718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28700" y="1022803"/>
            <a:ext cx="16230600" cy="4309449"/>
          </a:xfrm>
          <a:prstGeom prst="rect">
            <a:avLst/>
          </a:prstGeom>
        </p:spPr>
        <p:txBody>
          <a:bodyPr lIns="0" tIns="0" rIns="0" bIns="0" rtlCol="0" anchor="t">
            <a:spAutoFit/>
          </a:bodyPr>
          <a:lstStyle/>
          <a:p>
            <a:pPr>
              <a:lnSpc>
                <a:spcPts val="3102"/>
              </a:lnSpc>
            </a:pPr>
            <a:endParaRPr dirty="0"/>
          </a:p>
          <a:p>
            <a:pPr>
              <a:lnSpc>
                <a:spcPts val="3102"/>
              </a:lnSpc>
            </a:pPr>
            <a:endParaRPr dirty="0"/>
          </a:p>
          <a:p>
            <a:pPr marL="342900" indent="-342900">
              <a:lnSpc>
                <a:spcPts val="3102"/>
              </a:lnSpc>
              <a:buFontTx/>
              <a:buChar char="-"/>
            </a:pPr>
            <a:r>
              <a:rPr lang="en-US" sz="2215" dirty="0" err="1">
                <a:solidFill>
                  <a:srgbClr val="000000"/>
                </a:solidFill>
                <a:latin typeface="Montserrat Classic"/>
              </a:rPr>
              <a:t>Memiliki</a:t>
            </a:r>
            <a:r>
              <a:rPr lang="en-US" sz="2215" dirty="0">
                <a:solidFill>
                  <a:srgbClr val="000000"/>
                </a:solidFill>
                <a:latin typeface="Montserrat Classic"/>
              </a:rPr>
              <a:t> </a:t>
            </a:r>
            <a:r>
              <a:rPr lang="en-US" sz="2215" dirty="0" err="1">
                <a:solidFill>
                  <a:srgbClr val="000000"/>
                </a:solidFill>
                <a:latin typeface="Montserrat Classic"/>
              </a:rPr>
              <a:t>usaha</a:t>
            </a:r>
            <a:r>
              <a:rPr lang="en-US" sz="2215" dirty="0">
                <a:solidFill>
                  <a:srgbClr val="000000"/>
                </a:solidFill>
                <a:latin typeface="Montserrat Classic"/>
              </a:rPr>
              <a:t> yang </a:t>
            </a:r>
            <a:r>
              <a:rPr lang="en-US" sz="2215" dirty="0" err="1">
                <a:solidFill>
                  <a:srgbClr val="000000"/>
                </a:solidFill>
                <a:latin typeface="Montserrat Classic"/>
              </a:rPr>
              <a:t>berhubungan</a:t>
            </a:r>
            <a:r>
              <a:rPr lang="en-US" sz="2215" dirty="0">
                <a:solidFill>
                  <a:srgbClr val="000000"/>
                </a:solidFill>
                <a:latin typeface="Montserrat Classic"/>
              </a:rPr>
              <a:t> </a:t>
            </a:r>
            <a:r>
              <a:rPr lang="en-US" sz="2215" dirty="0" err="1">
                <a:solidFill>
                  <a:srgbClr val="000000"/>
                </a:solidFill>
                <a:latin typeface="Montserrat Classic"/>
              </a:rPr>
              <a:t>langsung</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terkait</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aktivitas</a:t>
            </a:r>
            <a:r>
              <a:rPr lang="en-US" sz="2215" dirty="0">
                <a:solidFill>
                  <a:srgbClr val="000000"/>
                </a:solidFill>
                <a:latin typeface="Montserrat Classic"/>
              </a:rPr>
              <a:t> Perusahaan.</a:t>
            </a:r>
            <a:endParaRPr lang="id-ID" sz="2215" dirty="0">
              <a:solidFill>
                <a:srgbClr val="000000"/>
              </a:solidFill>
              <a:latin typeface="Montserrat Classic"/>
            </a:endParaRPr>
          </a:p>
          <a:p>
            <a:pPr marL="342900" indent="-342900">
              <a:lnSpc>
                <a:spcPts val="3102"/>
              </a:lnSpc>
              <a:buFontTx/>
              <a:buChar char="-"/>
            </a:pPr>
            <a:r>
              <a:rPr lang="en-US" sz="2215" dirty="0" err="1">
                <a:solidFill>
                  <a:srgbClr val="000000"/>
                </a:solidFill>
                <a:latin typeface="Montserrat Classic"/>
              </a:rPr>
              <a:t>Merangkap</a:t>
            </a:r>
            <a:r>
              <a:rPr lang="en-US" sz="2215" dirty="0">
                <a:solidFill>
                  <a:srgbClr val="000000"/>
                </a:solidFill>
                <a:latin typeface="Montserrat Classic"/>
              </a:rPr>
              <a:t> </a:t>
            </a:r>
            <a:r>
              <a:rPr lang="en-US" sz="2215" dirty="0" err="1">
                <a:solidFill>
                  <a:srgbClr val="000000"/>
                </a:solidFill>
                <a:latin typeface="Montserrat Classic"/>
              </a:rPr>
              <a:t>bekerja</a:t>
            </a:r>
            <a:r>
              <a:rPr lang="en-US" sz="2215" dirty="0">
                <a:solidFill>
                  <a:srgbClr val="000000"/>
                </a:solidFill>
                <a:latin typeface="Montserrat Classic"/>
              </a:rPr>
              <a:t> di Perusahaan lain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memegang</a:t>
            </a:r>
            <a:r>
              <a:rPr lang="en-US" sz="2215" dirty="0">
                <a:solidFill>
                  <a:srgbClr val="000000"/>
                </a:solidFill>
                <a:latin typeface="Montserrat Classic"/>
              </a:rPr>
              <a:t> </a:t>
            </a:r>
            <a:r>
              <a:rPr lang="en-US" sz="2215" dirty="0" err="1">
                <a:solidFill>
                  <a:srgbClr val="000000"/>
                </a:solidFill>
                <a:latin typeface="Montserrat Classic"/>
              </a:rPr>
              <a:t>jabatan</a:t>
            </a:r>
            <a:r>
              <a:rPr lang="en-US" sz="2215" dirty="0">
                <a:solidFill>
                  <a:srgbClr val="000000"/>
                </a:solidFill>
                <a:latin typeface="Montserrat Classic"/>
              </a:rPr>
              <a:t> </a:t>
            </a:r>
            <a:r>
              <a:rPr lang="en-US" sz="2215" dirty="0" err="1">
                <a:solidFill>
                  <a:srgbClr val="000000"/>
                </a:solidFill>
                <a:latin typeface="Montserrat Classic"/>
              </a:rPr>
              <a:t>pada</a:t>
            </a:r>
            <a:r>
              <a:rPr lang="en-US" sz="2215" dirty="0">
                <a:solidFill>
                  <a:srgbClr val="000000"/>
                </a:solidFill>
                <a:latin typeface="Montserrat Classic"/>
              </a:rPr>
              <a:t> </a:t>
            </a:r>
            <a:r>
              <a:rPr lang="en-US" sz="2215" dirty="0" err="1">
                <a:solidFill>
                  <a:srgbClr val="000000"/>
                </a:solidFill>
                <a:latin typeface="Montserrat Classic"/>
              </a:rPr>
              <a:t>lembaga</a:t>
            </a:r>
            <a:r>
              <a:rPr lang="en-US" sz="2215" dirty="0">
                <a:solidFill>
                  <a:srgbClr val="000000"/>
                </a:solidFill>
                <a:latin typeface="Montserrat Classic"/>
              </a:rPr>
              <a:t> </a:t>
            </a:r>
            <a:r>
              <a:rPr lang="en-US" sz="2215" dirty="0" err="1">
                <a:solidFill>
                  <a:srgbClr val="000000"/>
                </a:solidFill>
                <a:latin typeface="Montserrat Classic"/>
              </a:rPr>
              <a:t>lembaga</a:t>
            </a:r>
            <a:r>
              <a:rPr lang="en-US" sz="2215" dirty="0">
                <a:solidFill>
                  <a:srgbClr val="000000"/>
                </a:solidFill>
                <a:latin typeface="Montserrat Classic"/>
              </a:rPr>
              <a:t>/ </a:t>
            </a:r>
            <a:r>
              <a:rPr lang="en-US" sz="2215" dirty="0" err="1">
                <a:solidFill>
                  <a:srgbClr val="000000"/>
                </a:solidFill>
                <a:latin typeface="Montserrat Classic"/>
              </a:rPr>
              <a:t>institusi</a:t>
            </a:r>
            <a:r>
              <a:rPr lang="en-US" sz="2215" dirty="0">
                <a:solidFill>
                  <a:srgbClr val="000000"/>
                </a:solidFill>
                <a:latin typeface="Montserrat Classic"/>
              </a:rPr>
              <a:t> lain </a:t>
            </a:r>
            <a:r>
              <a:rPr lang="en-US" sz="2215" dirty="0" err="1">
                <a:solidFill>
                  <a:srgbClr val="000000"/>
                </a:solidFill>
                <a:latin typeface="Montserrat Classic"/>
              </a:rPr>
              <a:t>dalam</a:t>
            </a:r>
            <a:r>
              <a:rPr lang="en-US" sz="2215" dirty="0">
                <a:solidFill>
                  <a:srgbClr val="000000"/>
                </a:solidFill>
                <a:latin typeface="Montserrat Classic"/>
              </a:rPr>
              <a:t> </a:t>
            </a:r>
            <a:r>
              <a:rPr lang="en-US" sz="2215" dirty="0" err="1">
                <a:solidFill>
                  <a:srgbClr val="000000"/>
                </a:solidFill>
                <a:latin typeface="Montserrat Classic"/>
              </a:rPr>
              <a:t>bentuk</a:t>
            </a:r>
            <a:r>
              <a:rPr lang="en-US" sz="2215" dirty="0">
                <a:solidFill>
                  <a:srgbClr val="000000"/>
                </a:solidFill>
                <a:latin typeface="Montserrat Classic"/>
              </a:rPr>
              <a:t> </a:t>
            </a:r>
            <a:r>
              <a:rPr lang="en-US" sz="2215" dirty="0" err="1">
                <a:solidFill>
                  <a:srgbClr val="000000"/>
                </a:solidFill>
                <a:latin typeface="Montserrat Classic"/>
              </a:rPr>
              <a:t>apapun</a:t>
            </a:r>
            <a:r>
              <a:rPr lang="en-US" sz="2215" dirty="0">
                <a:solidFill>
                  <a:srgbClr val="000000"/>
                </a:solidFill>
                <a:latin typeface="Montserrat Classic"/>
              </a:rPr>
              <a:t>, </a:t>
            </a:r>
            <a:r>
              <a:rPr lang="en-US" sz="2215" dirty="0" err="1">
                <a:solidFill>
                  <a:srgbClr val="000000"/>
                </a:solidFill>
                <a:latin typeface="Montserrat Classic"/>
              </a:rPr>
              <a:t>kecuali</a:t>
            </a:r>
            <a:r>
              <a:rPr lang="en-US" sz="2215" dirty="0">
                <a:solidFill>
                  <a:srgbClr val="000000"/>
                </a:solidFill>
                <a:latin typeface="Montserrat Classic"/>
              </a:rPr>
              <a:t> </a:t>
            </a:r>
            <a:r>
              <a:rPr lang="en-US" sz="2215" dirty="0" err="1">
                <a:solidFill>
                  <a:srgbClr val="000000"/>
                </a:solidFill>
                <a:latin typeface="Montserrat Classic"/>
              </a:rPr>
              <a:t>telah</a:t>
            </a:r>
            <a:r>
              <a:rPr lang="en-US" sz="2215" dirty="0">
                <a:solidFill>
                  <a:srgbClr val="000000"/>
                </a:solidFill>
                <a:latin typeface="Montserrat Classic"/>
              </a:rPr>
              <a:t> </a:t>
            </a:r>
            <a:r>
              <a:rPr lang="en-US" sz="2215" dirty="0" err="1">
                <a:solidFill>
                  <a:srgbClr val="000000"/>
                </a:solidFill>
                <a:latin typeface="Montserrat Classic"/>
              </a:rPr>
              <a:t>mendapat</a:t>
            </a:r>
            <a:r>
              <a:rPr lang="en-US" sz="2215" dirty="0">
                <a:solidFill>
                  <a:srgbClr val="000000"/>
                </a:solidFill>
                <a:latin typeface="Montserrat Classic"/>
              </a:rPr>
              <a:t> </a:t>
            </a:r>
            <a:r>
              <a:rPr lang="en-US" sz="2215" dirty="0" err="1">
                <a:solidFill>
                  <a:srgbClr val="000000"/>
                </a:solidFill>
                <a:latin typeface="Montserrat Classic"/>
              </a:rPr>
              <a:t>persetujuan</a:t>
            </a:r>
            <a:r>
              <a:rPr lang="en-US" sz="2215" dirty="0">
                <a:solidFill>
                  <a:srgbClr val="000000"/>
                </a:solidFill>
                <a:latin typeface="Montserrat Classic"/>
              </a:rPr>
              <a:t> </a:t>
            </a:r>
            <a:r>
              <a:rPr lang="en-US" sz="2215" dirty="0" err="1">
                <a:solidFill>
                  <a:srgbClr val="000000"/>
                </a:solidFill>
                <a:latin typeface="Montserrat Classic"/>
              </a:rPr>
              <a:t>tertulis</a:t>
            </a:r>
            <a:r>
              <a:rPr lang="en-US" sz="2215" dirty="0">
                <a:solidFill>
                  <a:srgbClr val="000000"/>
                </a:solidFill>
                <a:latin typeface="Montserrat Classic"/>
              </a:rPr>
              <a:t> </a:t>
            </a:r>
            <a:r>
              <a:rPr lang="en-US" sz="2215" dirty="0" err="1">
                <a:solidFill>
                  <a:srgbClr val="000000"/>
                </a:solidFill>
                <a:latin typeface="Montserrat Classic"/>
              </a:rPr>
              <a:t>dari</a:t>
            </a:r>
            <a:r>
              <a:rPr lang="en-US" sz="2215" dirty="0">
                <a:solidFill>
                  <a:srgbClr val="000000"/>
                </a:solidFill>
                <a:latin typeface="Montserrat Classic"/>
              </a:rPr>
              <a:t> </a:t>
            </a:r>
            <a:r>
              <a:rPr lang="en-US" sz="2215" dirty="0" err="1">
                <a:solidFill>
                  <a:srgbClr val="000000"/>
                </a:solidFill>
                <a:latin typeface="Montserrat Classic"/>
              </a:rPr>
              <a:t>Direksi</a:t>
            </a:r>
            <a:r>
              <a:rPr lang="en-US" sz="2215" dirty="0">
                <a:solidFill>
                  <a:srgbClr val="000000"/>
                </a:solidFill>
                <a:latin typeface="Montserrat Classic"/>
              </a:rPr>
              <a:t> </a:t>
            </a:r>
            <a:r>
              <a:rPr lang="en-US" sz="2215" dirty="0" err="1">
                <a:solidFill>
                  <a:srgbClr val="000000"/>
                </a:solidFill>
                <a:latin typeface="Montserrat Classic"/>
              </a:rPr>
              <a:t>dan</a:t>
            </a:r>
            <a:r>
              <a:rPr lang="en-US" sz="2215" dirty="0">
                <a:solidFill>
                  <a:srgbClr val="000000"/>
                </a:solidFill>
                <a:latin typeface="Montserrat Classic"/>
              </a:rPr>
              <a:t>/</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Dewan</a:t>
            </a:r>
            <a:r>
              <a:rPr lang="en-US" sz="2215" dirty="0">
                <a:solidFill>
                  <a:srgbClr val="000000"/>
                </a:solidFill>
                <a:latin typeface="Montserrat Classic"/>
              </a:rPr>
              <a:t> </a:t>
            </a:r>
            <a:r>
              <a:rPr lang="en-US" sz="2215" dirty="0" err="1">
                <a:solidFill>
                  <a:srgbClr val="000000"/>
                </a:solidFill>
                <a:latin typeface="Montserrat Classic"/>
              </a:rPr>
              <a:t>Komisaris</a:t>
            </a:r>
            <a:r>
              <a:rPr lang="en-US" sz="2215" dirty="0">
                <a:solidFill>
                  <a:srgbClr val="000000"/>
                </a:solidFill>
                <a:latin typeface="Montserrat Classic"/>
              </a:rPr>
              <a:t>.</a:t>
            </a:r>
            <a:endParaRPr lang="id-ID" sz="2215" dirty="0">
              <a:solidFill>
                <a:srgbClr val="000000"/>
              </a:solidFill>
              <a:latin typeface="Montserrat Classic"/>
            </a:endParaRPr>
          </a:p>
          <a:p>
            <a:pPr marL="342900" indent="-342900">
              <a:lnSpc>
                <a:spcPts val="3102"/>
              </a:lnSpc>
              <a:buFontTx/>
              <a:buChar char="-"/>
            </a:pPr>
            <a:r>
              <a:rPr lang="en-US" sz="2215" dirty="0" err="1">
                <a:solidFill>
                  <a:srgbClr val="000000"/>
                </a:solidFill>
                <a:latin typeface="Montserrat Classic"/>
              </a:rPr>
              <a:t>Membiarkan</a:t>
            </a:r>
            <a:r>
              <a:rPr lang="en-US" sz="2215" dirty="0">
                <a:solidFill>
                  <a:srgbClr val="000000"/>
                </a:solidFill>
                <a:latin typeface="Montserrat Classic"/>
              </a:rPr>
              <a:t> </a:t>
            </a:r>
            <a:r>
              <a:rPr lang="en-US" sz="2215" dirty="0" err="1">
                <a:solidFill>
                  <a:srgbClr val="000000"/>
                </a:solidFill>
                <a:latin typeface="Montserrat Classic"/>
              </a:rPr>
              <a:t>kondisi</a:t>
            </a:r>
            <a:r>
              <a:rPr lang="en-US" sz="2215" dirty="0">
                <a:solidFill>
                  <a:srgbClr val="000000"/>
                </a:solidFill>
                <a:latin typeface="Montserrat Classic"/>
              </a:rPr>
              <a:t> </a:t>
            </a:r>
            <a:r>
              <a:rPr lang="en-US" sz="2215" dirty="0" err="1">
                <a:solidFill>
                  <a:srgbClr val="000000"/>
                </a:solidFill>
                <a:latin typeface="Montserrat Classic"/>
              </a:rPr>
              <a:t>keuangan</a:t>
            </a:r>
            <a:r>
              <a:rPr lang="en-US" sz="2215" dirty="0">
                <a:solidFill>
                  <a:srgbClr val="000000"/>
                </a:solidFill>
                <a:latin typeface="Montserrat Classic"/>
              </a:rPr>
              <a:t> </a:t>
            </a:r>
            <a:r>
              <a:rPr lang="en-US" sz="2215" dirty="0" err="1">
                <a:solidFill>
                  <a:srgbClr val="000000"/>
                </a:solidFill>
                <a:latin typeface="Montserrat Classic"/>
              </a:rPr>
              <a:t>masing-masing</a:t>
            </a:r>
            <a:r>
              <a:rPr lang="en-US" sz="2215" dirty="0">
                <a:solidFill>
                  <a:srgbClr val="000000"/>
                </a:solidFill>
                <a:latin typeface="Montserrat Classic"/>
              </a:rPr>
              <a:t> yang </a:t>
            </a:r>
            <a:r>
              <a:rPr lang="en-US" sz="2215" dirty="0" err="1">
                <a:solidFill>
                  <a:srgbClr val="000000"/>
                </a:solidFill>
                <a:latin typeface="Montserrat Classic"/>
              </a:rPr>
              <a:t>berpotensi</a:t>
            </a:r>
            <a:r>
              <a:rPr lang="en-US" sz="2215" dirty="0">
                <a:solidFill>
                  <a:srgbClr val="000000"/>
                </a:solidFill>
                <a:latin typeface="Montserrat Classic"/>
              </a:rPr>
              <a:t> </a:t>
            </a:r>
            <a:r>
              <a:rPr lang="en-US" sz="2215" dirty="0" err="1">
                <a:solidFill>
                  <a:srgbClr val="000000"/>
                </a:solidFill>
                <a:latin typeface="Montserrat Classic"/>
              </a:rPr>
              <a:t>melakukan</a:t>
            </a:r>
            <a:r>
              <a:rPr lang="en-US" sz="2215" dirty="0">
                <a:solidFill>
                  <a:srgbClr val="000000"/>
                </a:solidFill>
                <a:latin typeface="Montserrat Classic"/>
              </a:rPr>
              <a:t> </a:t>
            </a:r>
            <a:r>
              <a:rPr lang="en-US" sz="2215" dirty="0" err="1">
                <a:solidFill>
                  <a:srgbClr val="000000"/>
                </a:solidFill>
                <a:latin typeface="Montserrat Classic"/>
              </a:rPr>
              <a:t>penyimpangan</a:t>
            </a:r>
            <a:r>
              <a:rPr lang="en-US" sz="2215" dirty="0">
                <a:solidFill>
                  <a:srgbClr val="000000"/>
                </a:solidFill>
                <a:latin typeface="Montserrat Classic"/>
              </a:rPr>
              <a:t> </a:t>
            </a:r>
            <a:r>
              <a:rPr lang="en-US" sz="2215" dirty="0" err="1">
                <a:solidFill>
                  <a:srgbClr val="000000"/>
                </a:solidFill>
                <a:latin typeface="Montserrat Classic"/>
              </a:rPr>
              <a:t>dalam</a:t>
            </a:r>
            <a:r>
              <a:rPr lang="en-US" sz="2215" dirty="0">
                <a:solidFill>
                  <a:srgbClr val="000000"/>
                </a:solidFill>
                <a:latin typeface="Montserrat Classic"/>
              </a:rPr>
              <a:t> </a:t>
            </a:r>
            <a:r>
              <a:rPr lang="en-US" sz="2215" dirty="0" err="1">
                <a:solidFill>
                  <a:srgbClr val="000000"/>
                </a:solidFill>
                <a:latin typeface="Montserrat Classic"/>
              </a:rPr>
              <a:t>menjalankan</a:t>
            </a:r>
            <a:r>
              <a:rPr lang="en-US" sz="2215" dirty="0">
                <a:solidFill>
                  <a:srgbClr val="000000"/>
                </a:solidFill>
                <a:latin typeface="Montserrat Classic"/>
              </a:rPr>
              <a:t> </a:t>
            </a:r>
            <a:r>
              <a:rPr lang="en-US" sz="2215" dirty="0" err="1">
                <a:solidFill>
                  <a:srgbClr val="000000"/>
                </a:solidFill>
                <a:latin typeface="Montserrat Classic"/>
              </a:rPr>
              <a:t>tanggung</a:t>
            </a:r>
            <a:r>
              <a:rPr lang="en-US" sz="2215" dirty="0">
                <a:solidFill>
                  <a:srgbClr val="000000"/>
                </a:solidFill>
                <a:latin typeface="Montserrat Classic"/>
              </a:rPr>
              <a:t> </a:t>
            </a:r>
            <a:r>
              <a:rPr lang="en-US" sz="2215" dirty="0" err="1">
                <a:solidFill>
                  <a:srgbClr val="000000"/>
                </a:solidFill>
                <a:latin typeface="Montserrat Classic"/>
              </a:rPr>
              <a:t>jawab</a:t>
            </a:r>
            <a:r>
              <a:rPr lang="en-US" sz="2215" dirty="0">
                <a:solidFill>
                  <a:srgbClr val="000000"/>
                </a:solidFill>
                <a:latin typeface="Montserrat Classic"/>
              </a:rPr>
              <a:t> </a:t>
            </a:r>
            <a:r>
              <a:rPr lang="en-US" sz="2215" dirty="0" err="1">
                <a:solidFill>
                  <a:srgbClr val="000000"/>
                </a:solidFill>
                <a:latin typeface="Montserrat Classic"/>
              </a:rPr>
              <a:t>kepada</a:t>
            </a:r>
            <a:r>
              <a:rPr lang="en-US" sz="2215" dirty="0">
                <a:solidFill>
                  <a:srgbClr val="000000"/>
                </a:solidFill>
                <a:latin typeface="Montserrat Classic"/>
              </a:rPr>
              <a:t> Perusahaan</a:t>
            </a:r>
            <a:r>
              <a:rPr lang="id-ID" sz="2215" dirty="0">
                <a:solidFill>
                  <a:srgbClr val="000000"/>
                </a:solidFill>
                <a:latin typeface="Montserrat Classic"/>
              </a:rPr>
              <a:t>.</a:t>
            </a:r>
          </a:p>
          <a:p>
            <a:pPr marL="342900" indent="-342900">
              <a:lnSpc>
                <a:spcPts val="3102"/>
              </a:lnSpc>
              <a:buFontTx/>
              <a:buChar char="-"/>
            </a:pPr>
            <a:r>
              <a:rPr lang="en-US" sz="2215" dirty="0" err="1">
                <a:solidFill>
                  <a:srgbClr val="000000"/>
                </a:solidFill>
                <a:latin typeface="Montserrat Classic"/>
              </a:rPr>
              <a:t>Memanfaatkan</a:t>
            </a:r>
            <a:r>
              <a:rPr lang="en-US" sz="2215" dirty="0">
                <a:solidFill>
                  <a:srgbClr val="000000"/>
                </a:solidFill>
                <a:latin typeface="Montserrat Classic"/>
              </a:rPr>
              <a:t> </a:t>
            </a:r>
            <a:r>
              <a:rPr lang="en-US" sz="2215" dirty="0" err="1">
                <a:solidFill>
                  <a:srgbClr val="000000"/>
                </a:solidFill>
                <a:latin typeface="Montserrat Classic"/>
              </a:rPr>
              <a:t>informasi</a:t>
            </a:r>
            <a:r>
              <a:rPr lang="en-US" sz="2215" dirty="0">
                <a:solidFill>
                  <a:srgbClr val="000000"/>
                </a:solidFill>
                <a:latin typeface="Montserrat Classic"/>
              </a:rPr>
              <a:t> internal </a:t>
            </a:r>
            <a:r>
              <a:rPr lang="en-US" sz="2215" dirty="0" err="1">
                <a:solidFill>
                  <a:srgbClr val="000000"/>
                </a:solidFill>
                <a:latin typeface="Montserrat Classic"/>
              </a:rPr>
              <a:t>untuk</a:t>
            </a:r>
            <a:r>
              <a:rPr lang="en-US" sz="2215" dirty="0">
                <a:solidFill>
                  <a:srgbClr val="000000"/>
                </a:solidFill>
                <a:latin typeface="Montserrat Classic"/>
              </a:rPr>
              <a:t> </a:t>
            </a:r>
            <a:r>
              <a:rPr lang="en-US" sz="2215" dirty="0" err="1">
                <a:solidFill>
                  <a:srgbClr val="000000"/>
                </a:solidFill>
                <a:latin typeface="Montserrat Classic"/>
              </a:rPr>
              <a:t>keuntungan</a:t>
            </a:r>
            <a:r>
              <a:rPr lang="en-US" sz="2215" dirty="0">
                <a:solidFill>
                  <a:srgbClr val="000000"/>
                </a:solidFill>
                <a:latin typeface="Montserrat Classic"/>
              </a:rPr>
              <a:t> </a:t>
            </a:r>
            <a:r>
              <a:rPr lang="en-US" sz="2215" dirty="0" err="1">
                <a:solidFill>
                  <a:srgbClr val="000000"/>
                </a:solidFill>
                <a:latin typeface="Montserrat Classic"/>
              </a:rPr>
              <a:t>pribadi</a:t>
            </a:r>
            <a:r>
              <a:rPr lang="en-US" sz="2215" dirty="0">
                <a:solidFill>
                  <a:srgbClr val="000000"/>
                </a:solidFill>
                <a:latin typeface="Montserrat Classic"/>
              </a:rPr>
              <a:t> </a:t>
            </a:r>
            <a:r>
              <a:rPr lang="en-US" sz="2215" dirty="0" err="1">
                <a:solidFill>
                  <a:srgbClr val="000000"/>
                </a:solidFill>
                <a:latin typeface="Montserrat Classic"/>
              </a:rPr>
              <a:t>atau</a:t>
            </a:r>
            <a:r>
              <a:rPr lang="en-US" sz="2215" dirty="0">
                <a:solidFill>
                  <a:srgbClr val="000000"/>
                </a:solidFill>
                <a:latin typeface="Montserrat Classic"/>
              </a:rPr>
              <a:t> </a:t>
            </a:r>
            <a:r>
              <a:rPr lang="en-US" sz="2215" dirty="0" err="1">
                <a:solidFill>
                  <a:srgbClr val="000000"/>
                </a:solidFill>
                <a:latin typeface="Montserrat Classic"/>
              </a:rPr>
              <a:t>bisnis</a:t>
            </a:r>
            <a:r>
              <a:rPr lang="en-US" sz="2215" dirty="0">
                <a:solidFill>
                  <a:srgbClr val="000000"/>
                </a:solidFill>
                <a:latin typeface="Montserrat Classic"/>
              </a:rPr>
              <a:t> </a:t>
            </a:r>
            <a:r>
              <a:rPr lang="en-US" sz="2215" dirty="0" err="1">
                <a:solidFill>
                  <a:srgbClr val="000000"/>
                </a:solidFill>
                <a:latin typeface="Montserrat Classic"/>
              </a:rPr>
              <a:t>diluar</a:t>
            </a:r>
            <a:r>
              <a:rPr lang="en-US" sz="2215" dirty="0">
                <a:solidFill>
                  <a:srgbClr val="000000"/>
                </a:solidFill>
                <a:latin typeface="Montserrat Classic"/>
              </a:rPr>
              <a:t> Perusahaan.</a:t>
            </a:r>
            <a:endParaRPr lang="id-ID" sz="2215" dirty="0">
              <a:solidFill>
                <a:srgbClr val="000000"/>
              </a:solidFill>
              <a:latin typeface="Montserrat Classic"/>
            </a:endParaRPr>
          </a:p>
          <a:p>
            <a:pPr marL="342900" indent="-342900">
              <a:lnSpc>
                <a:spcPts val="3102"/>
              </a:lnSpc>
              <a:buFontTx/>
              <a:buChar char="-"/>
            </a:pPr>
            <a:r>
              <a:rPr lang="en-US" sz="2215" dirty="0" err="1">
                <a:solidFill>
                  <a:srgbClr val="000000"/>
                </a:solidFill>
                <a:latin typeface="Montserrat Classic"/>
              </a:rPr>
              <a:t>Melakukan</a:t>
            </a:r>
            <a:r>
              <a:rPr lang="en-US" sz="2215" dirty="0">
                <a:solidFill>
                  <a:srgbClr val="000000"/>
                </a:solidFill>
                <a:latin typeface="Montserrat Classic"/>
              </a:rPr>
              <a:t> </a:t>
            </a:r>
            <a:r>
              <a:rPr lang="en-US" sz="2215" dirty="0" err="1">
                <a:solidFill>
                  <a:srgbClr val="000000"/>
                </a:solidFill>
                <a:latin typeface="Montserrat Classic"/>
              </a:rPr>
              <a:t>transaksi</a:t>
            </a:r>
            <a:r>
              <a:rPr lang="en-US" sz="2215" dirty="0">
                <a:solidFill>
                  <a:srgbClr val="000000"/>
                </a:solidFill>
                <a:latin typeface="Montserrat Classic"/>
              </a:rPr>
              <a:t> yang </a:t>
            </a:r>
            <a:r>
              <a:rPr lang="en-US" sz="2215" dirty="0" err="1">
                <a:solidFill>
                  <a:srgbClr val="000000"/>
                </a:solidFill>
                <a:latin typeface="Montserrat Classic"/>
              </a:rPr>
              <a:t>mempunyai</a:t>
            </a:r>
            <a:r>
              <a:rPr lang="en-US" sz="2215" dirty="0">
                <a:solidFill>
                  <a:srgbClr val="000000"/>
                </a:solidFill>
                <a:latin typeface="Montserrat Classic"/>
              </a:rPr>
              <a:t> </a:t>
            </a:r>
            <a:r>
              <a:rPr lang="en-US" sz="2215" dirty="0" err="1">
                <a:solidFill>
                  <a:srgbClr val="000000"/>
                </a:solidFill>
                <a:latin typeface="Montserrat Classic"/>
              </a:rPr>
              <a:t>Benturan</a:t>
            </a:r>
            <a:r>
              <a:rPr lang="en-US" sz="2215" dirty="0">
                <a:solidFill>
                  <a:srgbClr val="000000"/>
                </a:solidFill>
                <a:latin typeface="Montserrat Classic"/>
              </a:rPr>
              <a:t> </a:t>
            </a:r>
            <a:r>
              <a:rPr lang="en-US" sz="2215" dirty="0" err="1">
                <a:solidFill>
                  <a:srgbClr val="000000"/>
                </a:solidFill>
                <a:latin typeface="Montserrat Classic"/>
              </a:rPr>
              <a:t>Kepentingan</a:t>
            </a:r>
            <a:r>
              <a:rPr lang="en-US" sz="2215" dirty="0">
                <a:solidFill>
                  <a:srgbClr val="000000"/>
                </a:solidFill>
                <a:latin typeface="Montserrat Classic"/>
              </a:rPr>
              <a:t> </a:t>
            </a:r>
            <a:r>
              <a:rPr lang="en-US" sz="2215" dirty="0" err="1">
                <a:solidFill>
                  <a:srgbClr val="000000"/>
                </a:solidFill>
                <a:latin typeface="Montserrat Classic"/>
              </a:rPr>
              <a:t>dengan</a:t>
            </a:r>
            <a:r>
              <a:rPr lang="en-US" sz="2215" dirty="0">
                <a:solidFill>
                  <a:srgbClr val="000000"/>
                </a:solidFill>
                <a:latin typeface="Montserrat Classic"/>
              </a:rPr>
              <a:t> </a:t>
            </a:r>
            <a:r>
              <a:rPr lang="en-US" sz="2215" dirty="0" err="1">
                <a:solidFill>
                  <a:srgbClr val="000000"/>
                </a:solidFill>
                <a:latin typeface="Montserrat Classic"/>
              </a:rPr>
              <a:t>kegiatan</a:t>
            </a:r>
            <a:r>
              <a:rPr lang="en-US" sz="2215" dirty="0">
                <a:solidFill>
                  <a:srgbClr val="000000"/>
                </a:solidFill>
                <a:latin typeface="Montserrat Classic"/>
              </a:rPr>
              <a:t> Perusahaan.</a:t>
            </a:r>
          </a:p>
          <a:p>
            <a:pPr>
              <a:lnSpc>
                <a:spcPts val="3102"/>
              </a:lnSpc>
            </a:pPr>
            <a:endParaRPr lang="en-US" sz="2215" dirty="0">
              <a:solidFill>
                <a:srgbClr val="000000"/>
              </a:solidFill>
              <a:latin typeface="Montserrat Classic"/>
            </a:endParaRPr>
          </a:p>
          <a:p>
            <a:pPr>
              <a:lnSpc>
                <a:spcPts val="2850"/>
              </a:lnSpc>
              <a:spcBef>
                <a:spcPct val="0"/>
              </a:spcBef>
            </a:pPr>
            <a:endParaRPr lang="en-US" sz="2215" dirty="0">
              <a:solidFill>
                <a:srgbClr val="000000"/>
              </a:solidFill>
              <a:latin typeface="Montserrat Classic"/>
            </a:endParaRPr>
          </a:p>
        </p:txBody>
      </p:sp>
      <p:sp>
        <p:nvSpPr>
          <p:cNvPr id="6" name="TextBox 6"/>
          <p:cNvSpPr txBox="1"/>
          <p:nvPr/>
        </p:nvSpPr>
        <p:spPr>
          <a:xfrm>
            <a:off x="1028700" y="1022803"/>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H. Etika Menghindari Benturan Kepentingan </a:t>
            </a:r>
          </a:p>
        </p:txBody>
      </p:sp>
      <p:sp>
        <p:nvSpPr>
          <p:cNvPr id="7" name="TextBox 7"/>
          <p:cNvSpPr txBox="1"/>
          <p:nvPr/>
        </p:nvSpPr>
        <p:spPr>
          <a:xfrm>
            <a:off x="17036560" y="9153525"/>
            <a:ext cx="528786"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37</a:t>
            </a:r>
            <a:endParaRPr lang="en-US" sz="3319" dirty="0">
              <a:solidFill>
                <a:srgbClr val="000000"/>
              </a:solidFill>
              <a:latin typeface="Telegraf"/>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sp>
        <p:nvSpPr>
          <p:cNvPr id="3" name="TextBox 3"/>
          <p:cNvSpPr txBox="1"/>
          <p:nvPr/>
        </p:nvSpPr>
        <p:spPr>
          <a:xfrm>
            <a:off x="1028700" y="1839475"/>
            <a:ext cx="16116300" cy="7509428"/>
          </a:xfrm>
          <a:prstGeom prst="rect">
            <a:avLst/>
          </a:prstGeom>
        </p:spPr>
        <p:txBody>
          <a:bodyPr lIns="0" tIns="0" rIns="0" bIns="0" rtlCol="0" anchor="t">
            <a:spAutoFit/>
          </a:bodyPr>
          <a:lstStyle/>
          <a:p>
            <a:pPr algn="just">
              <a:lnSpc>
                <a:spcPts val="2940"/>
              </a:lnSpc>
            </a:pPr>
            <a:r>
              <a:rPr lang="en-US" sz="2100" dirty="0" err="1">
                <a:solidFill>
                  <a:srgbClr val="000000"/>
                </a:solidFill>
                <a:latin typeface="Montserrat Classic"/>
              </a:rPr>
              <a:t>Suap</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diartikan</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perbuatan</a:t>
            </a:r>
            <a:r>
              <a:rPr lang="en-US" sz="2100" dirty="0">
                <a:solidFill>
                  <a:srgbClr val="000000"/>
                </a:solidFill>
                <a:latin typeface="Montserrat Classic"/>
              </a:rPr>
              <a:t> </a:t>
            </a:r>
            <a:r>
              <a:rPr lang="en-US" sz="2100" dirty="0" err="1">
                <a:solidFill>
                  <a:srgbClr val="000000"/>
                </a:solidFill>
                <a:latin typeface="Montserrat Classic"/>
              </a:rPr>
              <a:t>memberi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menjanjikan</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seorang</a:t>
            </a:r>
            <a:r>
              <a:rPr lang="en-US" sz="2100" dirty="0">
                <a:solidFill>
                  <a:srgbClr val="000000"/>
                </a:solidFill>
                <a:latin typeface="Montserrat Classic"/>
              </a:rPr>
              <a:t> </a:t>
            </a:r>
            <a:r>
              <a:rPr lang="en-US" sz="2100" dirty="0" err="1">
                <a:solidFill>
                  <a:srgbClr val="000000"/>
                </a:solidFill>
                <a:latin typeface="Montserrat Classic"/>
              </a:rPr>
              <a:t>pejabat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maksud</a:t>
            </a:r>
            <a:r>
              <a:rPr lang="en-US" sz="2100" dirty="0">
                <a:solidFill>
                  <a:srgbClr val="000000"/>
                </a:solidFill>
                <a:latin typeface="Montserrat Classic"/>
              </a:rPr>
              <a:t> agar </a:t>
            </a:r>
            <a:r>
              <a:rPr lang="en-US" sz="2100" dirty="0" err="1">
                <a:solidFill>
                  <a:srgbClr val="000000"/>
                </a:solidFill>
                <a:latin typeface="Montserrat Classic"/>
              </a:rPr>
              <a:t>ia</a:t>
            </a:r>
            <a:r>
              <a:rPr lang="en-US" sz="2100" dirty="0">
                <a:solidFill>
                  <a:srgbClr val="000000"/>
                </a:solidFill>
                <a:latin typeface="Montserrat Classic"/>
              </a:rPr>
              <a:t> </a:t>
            </a:r>
            <a:r>
              <a:rPr lang="en-US" sz="2100" dirty="0" err="1">
                <a:solidFill>
                  <a:srgbClr val="000000"/>
                </a:solidFill>
                <a:latin typeface="Montserrat Classic"/>
              </a:rPr>
              <a:t>berbuat</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berbuat</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jabatannya</a:t>
            </a:r>
            <a:r>
              <a:rPr lang="en-US" sz="2100" dirty="0">
                <a:solidFill>
                  <a:srgbClr val="000000"/>
                </a:solidFill>
                <a:latin typeface="Montserrat Classic"/>
              </a:rPr>
              <a:t> yang </a:t>
            </a:r>
            <a:r>
              <a:rPr lang="en-US" sz="2100" dirty="0" err="1">
                <a:solidFill>
                  <a:srgbClr val="000000"/>
                </a:solidFill>
                <a:latin typeface="Montserrat Classic"/>
              </a:rPr>
              <a:t>bertentangan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kewajibannya</a:t>
            </a:r>
            <a:r>
              <a:rPr lang="en-US" sz="2100" dirty="0">
                <a:solidFill>
                  <a:srgbClr val="000000"/>
                </a:solidFill>
                <a:latin typeface="Montserrat Classic"/>
              </a:rPr>
              <a:t>.</a:t>
            </a:r>
          </a:p>
          <a:p>
            <a:pPr algn="just">
              <a:lnSpc>
                <a:spcPts val="2940"/>
              </a:lnSpc>
            </a:pPr>
            <a:r>
              <a:rPr lang="en-US" sz="2100" dirty="0" err="1">
                <a:solidFill>
                  <a:srgbClr val="000000"/>
                </a:solidFill>
                <a:latin typeface="Montserrat Classic"/>
              </a:rPr>
              <a:t>Menawarkan</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mengarahkan</a:t>
            </a:r>
            <a:r>
              <a:rPr lang="en-US" sz="2100" dirty="0">
                <a:solidFill>
                  <a:srgbClr val="000000"/>
                </a:solidFill>
                <a:latin typeface="Montserrat Classic"/>
              </a:rPr>
              <a:t> orang lain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penyuapan</a:t>
            </a:r>
            <a:r>
              <a:rPr lang="en-US" sz="2100" dirty="0">
                <a:solidFill>
                  <a:srgbClr val="000000"/>
                </a:solidFill>
                <a:latin typeface="Montserrat Classic"/>
              </a:rPr>
              <a:t>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hal</a:t>
            </a:r>
            <a:r>
              <a:rPr lang="en-US" sz="2100" dirty="0">
                <a:solidFill>
                  <a:srgbClr val="000000"/>
                </a:solidFill>
                <a:latin typeface="Montserrat Classic"/>
              </a:rPr>
              <a:t>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diterima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berakibat</a:t>
            </a:r>
            <a:r>
              <a:rPr lang="en-US" sz="2100" dirty="0">
                <a:solidFill>
                  <a:srgbClr val="000000"/>
                </a:solidFill>
                <a:latin typeface="Montserrat Classic"/>
              </a:rPr>
              <a:t> </a:t>
            </a:r>
            <a:r>
              <a:rPr lang="en-US" sz="2100" dirty="0" err="1">
                <a:solidFill>
                  <a:srgbClr val="000000"/>
                </a:solidFill>
                <a:latin typeface="Montserrat Classic"/>
              </a:rPr>
              <a:t>menurunkan</a:t>
            </a:r>
            <a:r>
              <a:rPr lang="en-US" sz="2100" dirty="0">
                <a:solidFill>
                  <a:srgbClr val="000000"/>
                </a:solidFill>
                <a:latin typeface="Montserrat Classic"/>
              </a:rPr>
              <a:t> </a:t>
            </a:r>
            <a:r>
              <a:rPr lang="en-US" sz="2100" dirty="0" err="1">
                <a:solidFill>
                  <a:srgbClr val="000000"/>
                </a:solidFill>
                <a:latin typeface="Montserrat Classic"/>
              </a:rPr>
              <a:t>citra</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algn="just">
              <a:lnSpc>
                <a:spcPts val="2940"/>
              </a:lnSpc>
            </a:pPr>
            <a:r>
              <a:rPr lang="en-US" sz="2100" dirty="0" err="1">
                <a:solidFill>
                  <a:srgbClr val="000000"/>
                </a:solidFill>
                <a:latin typeface="Montserrat Classic"/>
              </a:rPr>
              <a:t>Guna</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kinerja</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kinerja</a:t>
            </a:r>
            <a:r>
              <a:rPr lang="en-US" sz="2100" dirty="0">
                <a:solidFill>
                  <a:srgbClr val="000000"/>
                </a:solidFill>
                <a:latin typeface="Montserrat Classic"/>
              </a:rPr>
              <a:t> </a:t>
            </a:r>
            <a:r>
              <a:rPr lang="en-US" sz="2100" dirty="0" err="1">
                <a:solidFill>
                  <a:srgbClr val="000000"/>
                </a:solidFill>
                <a:latin typeface="Montserrat Classic"/>
              </a:rPr>
              <a:t>pribadinya</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mencegah</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menghindarkan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penyuapan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cara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merugikan</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mampu</a:t>
            </a:r>
            <a:r>
              <a:rPr lang="en-US" sz="2100" dirty="0">
                <a:solidFill>
                  <a:srgbClr val="000000"/>
                </a:solidFill>
                <a:latin typeface="Montserrat Classic"/>
              </a:rPr>
              <a:t> </a:t>
            </a:r>
            <a:r>
              <a:rPr lang="en-US" sz="2100" dirty="0" err="1">
                <a:solidFill>
                  <a:srgbClr val="000000"/>
                </a:solidFill>
                <a:latin typeface="Montserrat Classic"/>
              </a:rPr>
              <a:t>mewujudkan</a:t>
            </a:r>
            <a:r>
              <a:rPr lang="en-US" sz="2100" dirty="0">
                <a:solidFill>
                  <a:srgbClr val="000000"/>
                </a:solidFill>
                <a:latin typeface="Montserrat Classic"/>
              </a:rPr>
              <a:t> </a:t>
            </a:r>
            <a:r>
              <a:rPr lang="en-US" sz="2100" dirty="0" err="1">
                <a:solidFill>
                  <a:srgbClr val="000000"/>
                </a:solidFill>
                <a:latin typeface="Montserrat Classic"/>
              </a:rPr>
              <a:t>komitmen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berhubungan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stakeholders.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berikut</a:t>
            </a:r>
            <a:r>
              <a:rPr lang="en-US" sz="2100" dirty="0">
                <a:solidFill>
                  <a:srgbClr val="000000"/>
                </a:solidFill>
                <a:latin typeface="Montserrat Classic"/>
              </a:rPr>
              <a:t> :</a:t>
            </a:r>
          </a:p>
          <a:p>
            <a:pPr algn="just">
              <a:lnSpc>
                <a:spcPts val="2940"/>
              </a:lnSpc>
            </a:pPr>
            <a:endParaRPr lang="en-US" sz="2100" dirty="0">
              <a:solidFill>
                <a:srgbClr val="000000"/>
              </a:solidFill>
              <a:latin typeface="Montserrat Classic"/>
            </a:endParaRPr>
          </a:p>
          <a:p>
            <a:pPr marL="457200" indent="-457200" algn="just">
              <a:lnSpc>
                <a:spcPts val="2940"/>
              </a:lnSpc>
              <a:buFont typeface="+mj-lt"/>
              <a:buAutoNum type="arabicPeriod"/>
            </a:pPr>
            <a:r>
              <a:rPr lang="en-US" sz="2100" dirty="0" err="1">
                <a:solidFill>
                  <a:srgbClr val="000000"/>
                </a:solidFill>
                <a:latin typeface="Montserrat Classic"/>
              </a:rPr>
              <a:t>Menjanjikan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harapan</a:t>
            </a:r>
            <a:r>
              <a:rPr lang="en-US" sz="2100" dirty="0">
                <a:solidFill>
                  <a:srgbClr val="000000"/>
                </a:solidFill>
                <a:latin typeface="Montserrat Classic"/>
              </a:rPr>
              <a:t> </a:t>
            </a:r>
            <a:r>
              <a:rPr lang="en-US" sz="2100" dirty="0" err="1">
                <a:solidFill>
                  <a:srgbClr val="000000"/>
                </a:solidFill>
                <a:latin typeface="Montserrat Classic"/>
              </a:rPr>
              <a:t>peluang</a:t>
            </a:r>
            <a:r>
              <a:rPr lang="en-US" sz="2100" dirty="0">
                <a:solidFill>
                  <a:srgbClr val="000000"/>
                </a:solidFill>
                <a:latin typeface="Montserrat Classic"/>
              </a:rPr>
              <a:t> </a:t>
            </a:r>
            <a:r>
              <a:rPr lang="en-US" sz="2100" dirty="0" err="1">
                <a:solidFill>
                  <a:srgbClr val="000000"/>
                </a:solidFill>
                <a:latin typeface="Montserrat Classic"/>
              </a:rPr>
              <a:t>pekerjaan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a:t>
            </a:r>
            <a:r>
              <a:rPr lang="en-US" sz="2100" dirty="0" err="1">
                <a:solidFill>
                  <a:srgbClr val="000000"/>
                </a:solidFill>
                <a:latin typeface="Montserrat Classic"/>
              </a:rPr>
              <a:t>sehubungan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jabatannya</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marL="457200" indent="-457200" algn="just">
              <a:lnSpc>
                <a:spcPts val="2940"/>
              </a:lnSpc>
              <a:buFont typeface="+mj-lt"/>
              <a:buAutoNum type="arabicPeriod" startAt="2"/>
            </a:pP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customer, </a:t>
            </a:r>
            <a:r>
              <a:rPr lang="en-US" sz="2100" dirty="0" err="1">
                <a:solidFill>
                  <a:srgbClr val="000000"/>
                </a:solidFill>
                <a:latin typeface="Montserrat Classic"/>
              </a:rPr>
              <a:t>pemasok</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pekerjaan</a:t>
            </a: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marL="457200" indent="-457200" algn="just">
              <a:lnSpc>
                <a:spcPts val="2940"/>
              </a:lnSpc>
              <a:buFont typeface="+mj-lt"/>
              <a:buAutoNum type="arabicPeriod" startAt="3"/>
            </a:pPr>
            <a:r>
              <a:rPr lang="en-US" sz="2100" dirty="0" err="1">
                <a:solidFill>
                  <a:srgbClr val="000000"/>
                </a:solidFill>
                <a:latin typeface="Montserrat Classic"/>
              </a:rPr>
              <a:t>Meminta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diambil</a:t>
            </a:r>
            <a:r>
              <a:rPr lang="en-US" sz="2100" dirty="0">
                <a:solidFill>
                  <a:srgbClr val="000000"/>
                </a:solidFill>
                <a:latin typeface="Montserrat Classic"/>
              </a:rPr>
              <a:t> </a:t>
            </a:r>
            <a:r>
              <a:rPr lang="en-US" sz="2100" dirty="0" err="1">
                <a:solidFill>
                  <a:srgbClr val="000000"/>
                </a:solidFill>
                <a:latin typeface="Montserrat Classic"/>
              </a:rPr>
              <a:t>sehubungan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tanggungjawabnya</a:t>
            </a:r>
            <a:endParaRPr lang="en-US" sz="2100" dirty="0">
              <a:solidFill>
                <a:srgbClr val="000000"/>
              </a:solidFill>
              <a:latin typeface="Montserrat Classic"/>
            </a:endParaRPr>
          </a:p>
          <a:p>
            <a:pPr algn="just">
              <a:lnSpc>
                <a:spcPts val="3359"/>
              </a:lnSpc>
            </a:pPr>
            <a:endParaRPr lang="en-US" sz="2100" dirty="0">
              <a:solidFill>
                <a:srgbClr val="000000"/>
              </a:solidFill>
              <a:latin typeface="Montserrat Classic"/>
            </a:endParaRPr>
          </a:p>
          <a:p>
            <a:pPr algn="just">
              <a:lnSpc>
                <a:spcPts val="3359"/>
              </a:lnSpc>
              <a:spcBef>
                <a:spcPct val="0"/>
              </a:spcBef>
            </a:pPr>
            <a:endParaRPr lang="en-US" sz="2100" dirty="0">
              <a:solidFill>
                <a:srgbClr val="000000"/>
              </a:solidFill>
              <a:latin typeface="Montserrat Classic"/>
            </a:endParaRPr>
          </a:p>
        </p:txBody>
      </p:sp>
      <p:sp>
        <p:nvSpPr>
          <p:cNvPr id="4" name="TextBox 4"/>
          <p:cNvSpPr txBox="1"/>
          <p:nvPr/>
        </p:nvSpPr>
        <p:spPr>
          <a:xfrm>
            <a:off x="1028700" y="981075"/>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I. Etika Menghindarkan Diri dari Penyuapan </a:t>
            </a:r>
          </a:p>
        </p:txBody>
      </p:sp>
      <p:pic>
        <p:nvPicPr>
          <p:cNvPr id="5" name="Picture 5"/>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889914" y="-7965163"/>
            <a:ext cx="11300655" cy="9184351"/>
          </a:xfrm>
          <a:prstGeom prst="rect">
            <a:avLst/>
          </a:prstGeom>
        </p:spPr>
      </p:pic>
      <p:sp>
        <p:nvSpPr>
          <p:cNvPr id="7" name="TextBox 7"/>
          <p:cNvSpPr txBox="1"/>
          <p:nvPr/>
        </p:nvSpPr>
        <p:spPr>
          <a:xfrm>
            <a:off x="17036560" y="9153525"/>
            <a:ext cx="528786"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38</a:t>
            </a:r>
            <a:endParaRPr lang="en-US" sz="3319" dirty="0">
              <a:solidFill>
                <a:srgbClr val="000000"/>
              </a:solidFill>
              <a:latin typeface="Telegraf"/>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8905814" flipH="1">
            <a:off x="889914" y="-7965163"/>
            <a:ext cx="11300655" cy="9184351"/>
          </a:xfrm>
          <a:prstGeom prst="rect">
            <a:avLst/>
          </a:prstGeom>
        </p:spPr>
      </p:pic>
      <p:sp>
        <p:nvSpPr>
          <p:cNvPr id="4" name="TextBox 4"/>
          <p:cNvSpPr txBox="1"/>
          <p:nvPr/>
        </p:nvSpPr>
        <p:spPr>
          <a:xfrm>
            <a:off x="1066800" y="1878787"/>
            <a:ext cx="15432254" cy="5655394"/>
          </a:xfrm>
          <a:prstGeom prst="rect">
            <a:avLst/>
          </a:prstGeom>
        </p:spPr>
        <p:txBody>
          <a:bodyPr lIns="0" tIns="0" rIns="0" bIns="0" rtlCol="0" anchor="t">
            <a:spAutoFit/>
          </a:bodyPr>
          <a:lstStyle/>
          <a:p>
            <a:pPr marL="457200" indent="-457200">
              <a:lnSpc>
                <a:spcPts val="3255"/>
              </a:lnSpc>
              <a:buFont typeface="+mj-lt"/>
              <a:buAutoNum type="arabicPeriod" startAt="4"/>
            </a:pPr>
            <a:r>
              <a:rPr lang="en-US" sz="2100" dirty="0" err="1">
                <a:solidFill>
                  <a:srgbClr val="000000"/>
                </a:solidFill>
                <a:latin typeface="Montserrat Classic"/>
              </a:rPr>
              <a:t>Membiarkan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mengijinkan</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keluarga</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lain </a:t>
            </a:r>
            <a:r>
              <a:rPr lang="en-US" sz="2100" dirty="0" err="1">
                <a:solidFill>
                  <a:srgbClr val="000000"/>
                </a:solidFill>
                <a:latin typeface="Montserrat Classic"/>
              </a:rPr>
              <a:t>sehubungan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jabatannya</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marL="457200" indent="-457200">
              <a:lnSpc>
                <a:spcPts val="3255"/>
              </a:lnSpc>
              <a:buFont typeface="+mj-lt"/>
              <a:buAutoNum type="arabicPeriod" startAt="5"/>
            </a:pPr>
            <a:r>
              <a:rPr lang="en-US" sz="2100" dirty="0" err="1">
                <a:solidFill>
                  <a:srgbClr val="000000"/>
                </a:solidFill>
                <a:latin typeface="Montserrat Classic"/>
              </a:rPr>
              <a:t>Menawarkan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ketiga</a:t>
            </a:r>
            <a:r>
              <a:rPr lang="en-US" sz="2100" dirty="0">
                <a:solidFill>
                  <a:srgbClr val="000000"/>
                </a:solidFill>
                <a:latin typeface="Montserrat Classic"/>
              </a:rPr>
              <a:t> </a:t>
            </a:r>
            <a:r>
              <a:rPr lang="en-US" sz="2100" dirty="0" err="1">
                <a:solidFill>
                  <a:srgbClr val="000000"/>
                </a:solidFill>
                <a:latin typeface="Montserrat Classic"/>
              </a:rPr>
              <a:t>karena</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jabatan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maksud</a:t>
            </a:r>
            <a:r>
              <a:rPr lang="en-US" sz="2100" dirty="0">
                <a:solidFill>
                  <a:srgbClr val="000000"/>
                </a:solidFill>
                <a:latin typeface="Montserrat Classic"/>
              </a:rPr>
              <a:t>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mengubah</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a:t>
            </a:r>
            <a:r>
              <a:rPr lang="en-US" sz="2100" dirty="0" err="1">
                <a:solidFill>
                  <a:srgbClr val="000000"/>
                </a:solidFill>
                <a:latin typeface="Montserrat Classic"/>
              </a:rPr>
              <a:t>hasil</a:t>
            </a:r>
            <a:r>
              <a:rPr lang="en-US" sz="2100" dirty="0">
                <a:solidFill>
                  <a:srgbClr val="000000"/>
                </a:solidFill>
                <a:latin typeface="Montserrat Classic"/>
              </a:rPr>
              <a:t> </a:t>
            </a:r>
            <a:r>
              <a:rPr lang="en-US" sz="2100" dirty="0" err="1">
                <a:solidFill>
                  <a:srgbClr val="000000"/>
                </a:solidFill>
                <a:latin typeface="Montserrat Classic"/>
              </a:rPr>
              <a:t>penilaian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yang </a:t>
            </a:r>
            <a:r>
              <a:rPr lang="en-US" sz="2100" dirty="0" err="1">
                <a:solidFill>
                  <a:srgbClr val="000000"/>
                </a:solidFill>
                <a:latin typeface="Montserrat Classic"/>
              </a:rPr>
              <a:t>terkait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transaksi</a:t>
            </a:r>
            <a:r>
              <a:rPr lang="en-US" sz="2100" dirty="0">
                <a:solidFill>
                  <a:srgbClr val="000000"/>
                </a:solidFill>
                <a:latin typeface="Montserrat Classic"/>
              </a:rPr>
              <a:t> </a:t>
            </a:r>
            <a:r>
              <a:rPr lang="en-US" sz="2100" dirty="0" err="1">
                <a:solidFill>
                  <a:srgbClr val="000000"/>
                </a:solidFill>
                <a:latin typeface="Montserrat Classic"/>
              </a:rPr>
              <a:t>asuransi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a:t>
            </a:r>
            <a:r>
              <a:rPr lang="en-US" sz="2100" dirty="0" err="1">
                <a:solidFill>
                  <a:srgbClr val="000000"/>
                </a:solidFill>
                <a:latin typeface="Montserrat Classic"/>
              </a:rPr>
              <a:t>hasil</a:t>
            </a:r>
            <a:r>
              <a:rPr lang="en-US" sz="2100" dirty="0">
                <a:solidFill>
                  <a:srgbClr val="000000"/>
                </a:solidFill>
                <a:latin typeface="Montserrat Classic"/>
              </a:rPr>
              <a:t> </a:t>
            </a:r>
            <a:r>
              <a:rPr lang="en-US" sz="2100" dirty="0" err="1">
                <a:solidFill>
                  <a:srgbClr val="000000"/>
                </a:solidFill>
                <a:latin typeface="Montserrat Classic"/>
              </a:rPr>
              <a:t>penilaian</a:t>
            </a:r>
            <a:r>
              <a:rPr lang="en-US" sz="2100" dirty="0">
                <a:solidFill>
                  <a:srgbClr val="000000"/>
                </a:solidFill>
                <a:latin typeface="Montserrat Classic"/>
              </a:rPr>
              <a:t> </a:t>
            </a:r>
            <a:r>
              <a:rPr lang="en-US" sz="2100" dirty="0" err="1">
                <a:solidFill>
                  <a:srgbClr val="000000"/>
                </a:solidFill>
                <a:latin typeface="Montserrat Classic"/>
              </a:rPr>
              <a:t>lainnya</a:t>
            </a:r>
            <a:endParaRPr lang="en-US" sz="2100" dirty="0">
              <a:solidFill>
                <a:srgbClr val="000000"/>
              </a:solidFill>
              <a:latin typeface="Montserrat Classic"/>
            </a:endParaRPr>
          </a:p>
          <a:p>
            <a:pPr>
              <a:lnSpc>
                <a:spcPts val="3255"/>
              </a:lnSpc>
            </a:pPr>
            <a:endParaRPr lang="en-US" sz="2100" dirty="0">
              <a:solidFill>
                <a:srgbClr val="000000"/>
              </a:solidFill>
              <a:latin typeface="Montserrat Classic"/>
            </a:endParaRPr>
          </a:p>
          <a:p>
            <a:pPr marL="457200" indent="-457200">
              <a:lnSpc>
                <a:spcPts val="3255"/>
              </a:lnSpc>
              <a:buFont typeface="+mj-lt"/>
              <a:buAutoNum type="arabicPeriod" startAt="6"/>
            </a:pP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kepentingannya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pengambilan</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a:t>
            </a:r>
            <a:r>
              <a:rPr lang="en-US" sz="2100" dirty="0" err="1">
                <a:solidFill>
                  <a:srgbClr val="000000"/>
                </a:solidFill>
                <a:latin typeface="Montserrat Classic"/>
              </a:rPr>
              <a:t>hasil</a:t>
            </a:r>
            <a:r>
              <a:rPr lang="en-US" sz="2100" dirty="0">
                <a:solidFill>
                  <a:srgbClr val="000000"/>
                </a:solidFill>
                <a:latin typeface="Montserrat Classic"/>
              </a:rPr>
              <a:t> </a:t>
            </a:r>
            <a:r>
              <a:rPr lang="en-US" sz="2100" dirty="0" err="1">
                <a:solidFill>
                  <a:srgbClr val="000000"/>
                </a:solidFill>
                <a:latin typeface="Montserrat Classic"/>
              </a:rPr>
              <a:t>penilaian</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yang </a:t>
            </a:r>
            <a:r>
              <a:rPr lang="en-US" sz="2100" dirty="0" err="1">
                <a:solidFill>
                  <a:srgbClr val="000000"/>
                </a:solidFill>
                <a:latin typeface="Montserrat Classic"/>
              </a:rPr>
              <a:t>terkait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transaksi</a:t>
            </a:r>
            <a:r>
              <a:rPr lang="en-US" sz="2100" dirty="0">
                <a:solidFill>
                  <a:srgbClr val="000000"/>
                </a:solidFill>
                <a:latin typeface="Montserrat Classic"/>
              </a:rPr>
              <a:t> </a:t>
            </a:r>
            <a:r>
              <a:rPr lang="en-US" sz="2100" dirty="0" err="1">
                <a:solidFill>
                  <a:srgbClr val="000000"/>
                </a:solidFill>
                <a:latin typeface="Montserrat Classic"/>
              </a:rPr>
              <a:t>asuransi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a:t>
            </a:r>
            <a:r>
              <a:rPr lang="en-US" sz="2100" dirty="0" err="1">
                <a:solidFill>
                  <a:srgbClr val="000000"/>
                </a:solidFill>
                <a:latin typeface="Montserrat Classic"/>
              </a:rPr>
              <a:t>hasil</a:t>
            </a:r>
            <a:r>
              <a:rPr lang="en-US" sz="2100" dirty="0">
                <a:solidFill>
                  <a:srgbClr val="000000"/>
                </a:solidFill>
                <a:latin typeface="Montserrat Classic"/>
              </a:rPr>
              <a:t> </a:t>
            </a:r>
            <a:r>
              <a:rPr lang="en-US" sz="2100" dirty="0" err="1">
                <a:solidFill>
                  <a:srgbClr val="000000"/>
                </a:solidFill>
                <a:latin typeface="Montserrat Classic"/>
              </a:rPr>
              <a:t>penilaian</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a:t>
            </a:r>
          </a:p>
          <a:p>
            <a:pPr>
              <a:lnSpc>
                <a:spcPts val="3720"/>
              </a:lnSpc>
            </a:pPr>
            <a:endParaRPr lang="en-US" sz="2100" dirty="0">
              <a:solidFill>
                <a:srgbClr val="000000"/>
              </a:solidFill>
              <a:latin typeface="Montserrat Classic"/>
            </a:endParaRPr>
          </a:p>
          <a:p>
            <a:pPr>
              <a:lnSpc>
                <a:spcPts val="3720"/>
              </a:lnSpc>
            </a:pPr>
            <a:endParaRPr lang="en-US" sz="2100" dirty="0">
              <a:solidFill>
                <a:srgbClr val="000000"/>
              </a:solidFill>
              <a:latin typeface="Montserrat Classic"/>
            </a:endParaRPr>
          </a:p>
          <a:p>
            <a:pPr>
              <a:lnSpc>
                <a:spcPts val="3720"/>
              </a:lnSpc>
            </a:pPr>
            <a:endParaRPr lang="en-US" sz="2100" dirty="0">
              <a:solidFill>
                <a:srgbClr val="000000"/>
              </a:solidFill>
              <a:latin typeface="Montserrat Classic"/>
            </a:endParaRPr>
          </a:p>
        </p:txBody>
      </p:sp>
      <p:pic>
        <p:nvPicPr>
          <p:cNvPr id="5" name="Picture 5"/>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16523665" y="-15271377"/>
            <a:ext cx="17617704" cy="17617704"/>
          </a:xfrm>
          <a:prstGeom prst="rect">
            <a:avLst/>
          </a:prstGeom>
        </p:spPr>
      </p:pic>
      <p:sp>
        <p:nvSpPr>
          <p:cNvPr id="6" name="TextBox 6"/>
          <p:cNvSpPr txBox="1"/>
          <p:nvPr/>
        </p:nvSpPr>
        <p:spPr>
          <a:xfrm>
            <a:off x="1066800" y="981075"/>
            <a:ext cx="16116300" cy="422176"/>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I. Etika menghindarkan diri dari penyuapan </a:t>
            </a:r>
          </a:p>
        </p:txBody>
      </p:sp>
      <p:sp>
        <p:nvSpPr>
          <p:cNvPr id="7" name="TextBox 7"/>
          <p:cNvSpPr txBox="1"/>
          <p:nvPr/>
        </p:nvSpPr>
        <p:spPr>
          <a:xfrm>
            <a:off x="17036560" y="9153525"/>
            <a:ext cx="528786"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39</a:t>
            </a:r>
            <a:endParaRPr lang="en-US" sz="3319" dirty="0">
              <a:solidFill>
                <a:srgbClr val="000000"/>
              </a:solidFill>
              <a:latin typeface="Telegraf"/>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143000" y="1419027"/>
            <a:ext cx="15698552" cy="9214317"/>
          </a:xfrm>
          <a:prstGeom prst="rect">
            <a:avLst/>
          </a:prstGeom>
        </p:spPr>
        <p:txBody>
          <a:bodyPr lIns="0" tIns="0" rIns="0" bIns="0" rtlCol="0" anchor="t">
            <a:spAutoFit/>
          </a:bodyPr>
          <a:lstStyle/>
          <a:p>
            <a:pPr algn="just">
              <a:lnSpc>
                <a:spcPts val="3061"/>
              </a:lnSpc>
            </a:pPr>
            <a:r>
              <a:rPr lang="en-US" sz="2200" dirty="0" err="1">
                <a:solidFill>
                  <a:srgbClr val="000000"/>
                </a:solidFill>
                <a:latin typeface="Montserrat Classic"/>
              </a:rPr>
              <a:t>Dalam</a:t>
            </a:r>
            <a:r>
              <a:rPr lang="en-US" sz="2200" dirty="0">
                <a:solidFill>
                  <a:srgbClr val="000000"/>
                </a:solidFill>
                <a:latin typeface="Montserrat Classic"/>
              </a:rPr>
              <a:t> </a:t>
            </a:r>
            <a:r>
              <a:rPr lang="en-US" sz="2200" dirty="0" err="1">
                <a:solidFill>
                  <a:srgbClr val="000000"/>
                </a:solidFill>
                <a:latin typeface="Montserrat Classic"/>
              </a:rPr>
              <a:t>melaksanakan</a:t>
            </a:r>
            <a:r>
              <a:rPr lang="en-US" sz="2200" dirty="0">
                <a:solidFill>
                  <a:srgbClr val="000000"/>
                </a:solidFill>
                <a:latin typeface="Montserrat Classic"/>
              </a:rPr>
              <a:t> </a:t>
            </a:r>
            <a:r>
              <a:rPr lang="en-US" sz="2200" dirty="0" err="1">
                <a:solidFill>
                  <a:srgbClr val="000000"/>
                </a:solidFill>
                <a:latin typeface="Montserrat Classic"/>
              </a:rPr>
              <a:t>tugas</a:t>
            </a:r>
            <a:r>
              <a:rPr lang="en-US" sz="2200" dirty="0">
                <a:solidFill>
                  <a:srgbClr val="000000"/>
                </a:solidFill>
                <a:latin typeface="Montserrat Classic"/>
              </a:rPr>
              <a:t>, </a:t>
            </a:r>
            <a:r>
              <a:rPr lang="en-US" sz="2200" dirty="0" err="1">
                <a:solidFill>
                  <a:srgbClr val="000000"/>
                </a:solidFill>
                <a:latin typeface="Montserrat Classic"/>
              </a:rPr>
              <a:t>setiap</a:t>
            </a:r>
            <a:r>
              <a:rPr lang="en-US" sz="2200" dirty="0">
                <a:solidFill>
                  <a:srgbClr val="000000"/>
                </a:solidFill>
                <a:latin typeface="Montserrat Classic"/>
              </a:rPr>
              <a:t> </a:t>
            </a:r>
            <a:r>
              <a:rPr lang="en-US" sz="2200" dirty="0" err="1">
                <a:solidFill>
                  <a:srgbClr val="000000"/>
                </a:solidFill>
                <a:latin typeface="Montserrat Classic"/>
              </a:rPr>
              <a:t>Insan</a:t>
            </a:r>
            <a:r>
              <a:rPr lang="en-US" sz="2200" dirty="0">
                <a:solidFill>
                  <a:srgbClr val="000000"/>
                </a:solidFill>
                <a:latin typeface="Montserrat Classic"/>
              </a:rPr>
              <a:t> Perusahaan </a:t>
            </a:r>
            <a:r>
              <a:rPr lang="en-US" sz="2200" dirty="0" err="1">
                <a:solidFill>
                  <a:srgbClr val="000000"/>
                </a:solidFill>
                <a:latin typeface="Montserrat Classic"/>
              </a:rPr>
              <a:t>harus</a:t>
            </a:r>
            <a:r>
              <a:rPr lang="en-US" sz="2200" dirty="0">
                <a:solidFill>
                  <a:srgbClr val="000000"/>
                </a:solidFill>
                <a:latin typeface="Montserrat Classic"/>
              </a:rPr>
              <a:t> </a:t>
            </a:r>
            <a:r>
              <a:rPr lang="en-US" sz="2200" dirty="0" err="1">
                <a:solidFill>
                  <a:srgbClr val="000000"/>
                </a:solidFill>
                <a:latin typeface="Montserrat Classic"/>
              </a:rPr>
              <a:t>mengedepankan</a:t>
            </a:r>
            <a:r>
              <a:rPr lang="en-US" sz="2200" dirty="0">
                <a:solidFill>
                  <a:srgbClr val="000000"/>
                </a:solidFill>
                <a:latin typeface="Montserrat Classic"/>
              </a:rPr>
              <a:t> </a:t>
            </a:r>
            <a:r>
              <a:rPr lang="en-US" sz="2200" dirty="0" err="1">
                <a:solidFill>
                  <a:srgbClr val="000000"/>
                </a:solidFill>
                <a:latin typeface="Montserrat Classic"/>
              </a:rPr>
              <a:t>kepentingan</a:t>
            </a:r>
            <a:r>
              <a:rPr lang="en-US" sz="2200" dirty="0">
                <a:solidFill>
                  <a:srgbClr val="000000"/>
                </a:solidFill>
                <a:latin typeface="Montserrat Classic"/>
              </a:rPr>
              <a:t> Perusahaan </a:t>
            </a:r>
            <a:r>
              <a:rPr lang="en-US" sz="2200" dirty="0" err="1">
                <a:solidFill>
                  <a:srgbClr val="000000"/>
                </a:solidFill>
                <a:latin typeface="Montserrat Classic"/>
              </a:rPr>
              <a:t>diatas</a:t>
            </a:r>
            <a:r>
              <a:rPr lang="en-US" sz="2200" dirty="0">
                <a:solidFill>
                  <a:srgbClr val="000000"/>
                </a:solidFill>
                <a:latin typeface="Montserrat Classic"/>
              </a:rPr>
              <a:t> </a:t>
            </a:r>
            <a:r>
              <a:rPr lang="en-US" sz="2200" dirty="0" err="1">
                <a:solidFill>
                  <a:srgbClr val="000000"/>
                </a:solidFill>
                <a:latin typeface="Montserrat Classic"/>
              </a:rPr>
              <a:t>kepentingan</a:t>
            </a:r>
            <a:r>
              <a:rPr lang="en-US" sz="2200" dirty="0">
                <a:solidFill>
                  <a:srgbClr val="000000"/>
                </a:solidFill>
                <a:latin typeface="Montserrat Classic"/>
              </a:rPr>
              <a:t> </a:t>
            </a:r>
            <a:r>
              <a:rPr lang="en-US" sz="2200" dirty="0" err="1">
                <a:solidFill>
                  <a:srgbClr val="000000"/>
                </a:solidFill>
                <a:latin typeface="Montserrat Classic"/>
              </a:rPr>
              <a:t>pribadi</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golongan</a:t>
            </a:r>
            <a:r>
              <a:rPr lang="en-US" sz="2200" dirty="0">
                <a:solidFill>
                  <a:srgbClr val="000000"/>
                </a:solidFill>
                <a:latin typeface="Montserrat Classic"/>
              </a:rPr>
              <a:t>. </a:t>
            </a:r>
            <a:r>
              <a:rPr lang="en-US" sz="2200" dirty="0" err="1">
                <a:solidFill>
                  <a:srgbClr val="000000"/>
                </a:solidFill>
                <a:latin typeface="Montserrat Classic"/>
              </a:rPr>
              <a:t>Insan</a:t>
            </a:r>
            <a:r>
              <a:rPr lang="en-US" sz="2200" dirty="0">
                <a:solidFill>
                  <a:srgbClr val="000000"/>
                </a:solidFill>
                <a:latin typeface="Montserrat Classic"/>
              </a:rPr>
              <a:t> Perusahaan </a:t>
            </a:r>
            <a:r>
              <a:rPr lang="en-US" sz="2200" dirty="0" err="1">
                <a:solidFill>
                  <a:srgbClr val="000000"/>
                </a:solidFill>
                <a:latin typeface="Montserrat Classic"/>
              </a:rPr>
              <a:t>tidak</a:t>
            </a:r>
            <a:r>
              <a:rPr lang="en-US" sz="2200" dirty="0">
                <a:solidFill>
                  <a:srgbClr val="000000"/>
                </a:solidFill>
                <a:latin typeface="Montserrat Classic"/>
              </a:rPr>
              <a:t> </a:t>
            </a:r>
            <a:r>
              <a:rPr lang="en-US" sz="2200" dirty="0" err="1">
                <a:solidFill>
                  <a:srgbClr val="000000"/>
                </a:solidFill>
                <a:latin typeface="Montserrat Classic"/>
              </a:rPr>
              <a:t>dibenarkan</a:t>
            </a:r>
            <a:r>
              <a:rPr lang="en-US" sz="2200" dirty="0">
                <a:solidFill>
                  <a:srgbClr val="000000"/>
                </a:solidFill>
                <a:latin typeface="Montserrat Classic"/>
              </a:rPr>
              <a:t> </a:t>
            </a:r>
            <a:r>
              <a:rPr lang="en-US" sz="2200" dirty="0" err="1">
                <a:solidFill>
                  <a:srgbClr val="000000"/>
                </a:solidFill>
                <a:latin typeface="Montserrat Classic"/>
              </a:rPr>
              <a:t>memanfaatkan</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menyalahgunakan</a:t>
            </a:r>
            <a:r>
              <a:rPr lang="en-US" sz="2200" dirty="0">
                <a:solidFill>
                  <a:srgbClr val="000000"/>
                </a:solidFill>
                <a:latin typeface="Montserrat Classic"/>
              </a:rPr>
              <a:t> </a:t>
            </a:r>
            <a:r>
              <a:rPr lang="en-US" sz="2200" dirty="0" err="1">
                <a:solidFill>
                  <a:srgbClr val="000000"/>
                </a:solidFill>
                <a:latin typeface="Montserrat Classic"/>
              </a:rPr>
              <a:t>jabatan</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fasilitas</a:t>
            </a:r>
            <a:r>
              <a:rPr lang="en-US" sz="2200" dirty="0">
                <a:solidFill>
                  <a:srgbClr val="000000"/>
                </a:solidFill>
                <a:latin typeface="Montserrat Classic"/>
              </a:rPr>
              <a:t> Perusahaan </a:t>
            </a:r>
            <a:r>
              <a:rPr lang="en-US" sz="2200" dirty="0" err="1">
                <a:solidFill>
                  <a:srgbClr val="000000"/>
                </a:solidFill>
                <a:latin typeface="Montserrat Classic"/>
              </a:rPr>
              <a:t>untuk</a:t>
            </a:r>
            <a:r>
              <a:rPr lang="en-US" sz="2200" dirty="0">
                <a:solidFill>
                  <a:srgbClr val="000000"/>
                </a:solidFill>
                <a:latin typeface="Montserrat Classic"/>
              </a:rPr>
              <a:t> </a:t>
            </a:r>
            <a:r>
              <a:rPr lang="en-US" sz="2200" dirty="0" err="1">
                <a:solidFill>
                  <a:srgbClr val="000000"/>
                </a:solidFill>
                <a:latin typeface="Montserrat Classic"/>
              </a:rPr>
              <a:t>kepentingan</a:t>
            </a:r>
            <a:r>
              <a:rPr lang="en-US" sz="2200" dirty="0">
                <a:solidFill>
                  <a:srgbClr val="000000"/>
                </a:solidFill>
                <a:latin typeface="Montserrat Classic"/>
              </a:rPr>
              <a:t> </a:t>
            </a:r>
            <a:r>
              <a:rPr lang="en-US" sz="2200" dirty="0" err="1">
                <a:solidFill>
                  <a:srgbClr val="000000"/>
                </a:solidFill>
                <a:latin typeface="Montserrat Classic"/>
              </a:rPr>
              <a:t>pribadi</a:t>
            </a:r>
            <a:r>
              <a:rPr lang="en-US" sz="2200" dirty="0">
                <a:solidFill>
                  <a:srgbClr val="000000"/>
                </a:solidFill>
                <a:latin typeface="Montserrat Classic"/>
              </a:rPr>
              <a:t> </a:t>
            </a:r>
            <a:r>
              <a:rPr lang="en-US" sz="2200" dirty="0" err="1">
                <a:solidFill>
                  <a:srgbClr val="000000"/>
                </a:solidFill>
                <a:latin typeface="Montserrat Classic"/>
              </a:rPr>
              <a:t>ataupun</a:t>
            </a:r>
            <a:r>
              <a:rPr lang="en-US" sz="2200" dirty="0">
                <a:solidFill>
                  <a:srgbClr val="000000"/>
                </a:solidFill>
                <a:latin typeface="Montserrat Classic"/>
              </a:rPr>
              <a:t> </a:t>
            </a:r>
            <a:r>
              <a:rPr lang="en-US" sz="2200" dirty="0" err="1">
                <a:solidFill>
                  <a:srgbClr val="000000"/>
                </a:solidFill>
                <a:latin typeface="Montserrat Classic"/>
              </a:rPr>
              <a:t>golongan</a:t>
            </a:r>
            <a:r>
              <a:rPr lang="en-US" sz="2200" dirty="0">
                <a:solidFill>
                  <a:srgbClr val="000000"/>
                </a:solidFill>
                <a:latin typeface="Montserrat Classic"/>
              </a:rPr>
              <a:t> yang </a:t>
            </a:r>
            <a:r>
              <a:rPr lang="en-US" sz="2200" dirty="0" err="1">
                <a:solidFill>
                  <a:srgbClr val="000000"/>
                </a:solidFill>
                <a:latin typeface="Montserrat Classic"/>
              </a:rPr>
              <a:t>dapat</a:t>
            </a:r>
            <a:r>
              <a:rPr lang="en-US" sz="2200" dirty="0">
                <a:solidFill>
                  <a:srgbClr val="000000"/>
                </a:solidFill>
                <a:latin typeface="Montserrat Classic"/>
              </a:rPr>
              <a:t> </a:t>
            </a:r>
            <a:r>
              <a:rPr lang="en-US" sz="2200" dirty="0" err="1">
                <a:solidFill>
                  <a:srgbClr val="000000"/>
                </a:solidFill>
                <a:latin typeface="Montserrat Classic"/>
              </a:rPr>
              <a:t>merugikan</a:t>
            </a:r>
            <a:r>
              <a:rPr lang="en-US" sz="2200" dirty="0">
                <a:solidFill>
                  <a:srgbClr val="000000"/>
                </a:solidFill>
                <a:latin typeface="Montserrat Classic"/>
              </a:rPr>
              <a:t> Perusahaan </a:t>
            </a:r>
            <a:r>
              <a:rPr lang="en-US" sz="2200" dirty="0" err="1">
                <a:solidFill>
                  <a:srgbClr val="000000"/>
                </a:solidFill>
                <a:latin typeface="Montserrat Classic"/>
              </a:rPr>
              <a:t>baik</a:t>
            </a:r>
            <a:r>
              <a:rPr lang="en-US" sz="2200" dirty="0">
                <a:solidFill>
                  <a:srgbClr val="000000"/>
                </a:solidFill>
                <a:latin typeface="Montserrat Classic"/>
              </a:rPr>
              <a:t> </a:t>
            </a:r>
            <a:r>
              <a:rPr lang="en-US" sz="2200" dirty="0" err="1">
                <a:solidFill>
                  <a:srgbClr val="000000"/>
                </a:solidFill>
                <a:latin typeface="Montserrat Classic"/>
              </a:rPr>
              <a:t>dari</a:t>
            </a:r>
            <a:r>
              <a:rPr lang="en-US" sz="2200" dirty="0">
                <a:solidFill>
                  <a:srgbClr val="000000"/>
                </a:solidFill>
                <a:latin typeface="Montserrat Classic"/>
              </a:rPr>
              <a:t> </a:t>
            </a:r>
            <a:r>
              <a:rPr lang="en-US" sz="2200" dirty="0" err="1">
                <a:solidFill>
                  <a:srgbClr val="000000"/>
                </a:solidFill>
                <a:latin typeface="Montserrat Classic"/>
              </a:rPr>
              <a:t>segi</a:t>
            </a:r>
            <a:r>
              <a:rPr lang="en-US" sz="2200" dirty="0">
                <a:solidFill>
                  <a:srgbClr val="000000"/>
                </a:solidFill>
                <a:latin typeface="Montserrat Classic"/>
              </a:rPr>
              <a:t> </a:t>
            </a:r>
            <a:r>
              <a:rPr lang="en-US" sz="2200" dirty="0" err="1">
                <a:solidFill>
                  <a:srgbClr val="000000"/>
                </a:solidFill>
                <a:latin typeface="Montserrat Classic"/>
              </a:rPr>
              <a:t>finansiil</a:t>
            </a:r>
            <a:r>
              <a:rPr lang="en-US" sz="2200" dirty="0">
                <a:solidFill>
                  <a:srgbClr val="000000"/>
                </a:solidFill>
                <a:latin typeface="Montserrat Classic"/>
              </a:rPr>
              <a:t> </a:t>
            </a:r>
            <a:r>
              <a:rPr lang="en-US" sz="2200" dirty="0" err="1">
                <a:solidFill>
                  <a:srgbClr val="000000"/>
                </a:solidFill>
                <a:latin typeface="Montserrat Classic"/>
              </a:rPr>
              <a:t>maupun</a:t>
            </a:r>
            <a:r>
              <a:rPr lang="en-US" sz="2200" dirty="0">
                <a:solidFill>
                  <a:srgbClr val="000000"/>
                </a:solidFill>
                <a:latin typeface="Montserrat Classic"/>
              </a:rPr>
              <a:t> </a:t>
            </a:r>
            <a:r>
              <a:rPr lang="en-US" sz="2200" dirty="0" err="1">
                <a:solidFill>
                  <a:srgbClr val="000000"/>
                </a:solidFill>
                <a:latin typeface="Montserrat Classic"/>
              </a:rPr>
              <a:t>kinerja</a:t>
            </a:r>
            <a:r>
              <a:rPr lang="en-US" sz="2200" dirty="0">
                <a:solidFill>
                  <a:srgbClr val="000000"/>
                </a:solidFill>
                <a:latin typeface="Montserrat Classic"/>
              </a:rPr>
              <a:t> Perusahaan.</a:t>
            </a:r>
          </a:p>
          <a:p>
            <a:pPr algn="just">
              <a:lnSpc>
                <a:spcPts val="3061"/>
              </a:lnSpc>
            </a:pPr>
            <a:endParaRPr lang="en-US" sz="2200" dirty="0">
              <a:solidFill>
                <a:srgbClr val="000000"/>
              </a:solidFill>
              <a:latin typeface="Montserrat Classic"/>
            </a:endParaRPr>
          </a:p>
          <a:p>
            <a:pPr algn="just">
              <a:lnSpc>
                <a:spcPts val="3061"/>
              </a:lnSpc>
            </a:pPr>
            <a:r>
              <a:rPr lang="en-US" sz="2200" dirty="0" err="1">
                <a:solidFill>
                  <a:srgbClr val="000000"/>
                </a:solidFill>
                <a:latin typeface="Montserrat Classic"/>
              </a:rPr>
              <a:t>Untuk</a:t>
            </a:r>
            <a:r>
              <a:rPr lang="en-US" sz="2200" dirty="0">
                <a:solidFill>
                  <a:srgbClr val="000000"/>
                </a:solidFill>
                <a:latin typeface="Montserrat Classic"/>
              </a:rPr>
              <a:t> </a:t>
            </a:r>
            <a:r>
              <a:rPr lang="en-US" sz="2200" dirty="0" err="1">
                <a:solidFill>
                  <a:srgbClr val="000000"/>
                </a:solidFill>
                <a:latin typeface="Montserrat Classic"/>
              </a:rPr>
              <a:t>itu</a:t>
            </a:r>
            <a:r>
              <a:rPr lang="en-US" sz="2200" dirty="0">
                <a:solidFill>
                  <a:srgbClr val="000000"/>
                </a:solidFill>
                <a:latin typeface="Montserrat Classic"/>
              </a:rPr>
              <a:t> </a:t>
            </a:r>
            <a:r>
              <a:rPr lang="en-US" sz="2200" dirty="0" err="1">
                <a:solidFill>
                  <a:srgbClr val="000000"/>
                </a:solidFill>
                <a:latin typeface="Montserrat Classic"/>
              </a:rPr>
              <a:t>setiap</a:t>
            </a:r>
            <a:r>
              <a:rPr lang="en-US" sz="2200" dirty="0">
                <a:solidFill>
                  <a:srgbClr val="000000"/>
                </a:solidFill>
                <a:latin typeface="Montserrat Classic"/>
              </a:rPr>
              <a:t> </a:t>
            </a:r>
            <a:r>
              <a:rPr lang="en-US" sz="2200" dirty="0" err="1">
                <a:solidFill>
                  <a:srgbClr val="000000"/>
                </a:solidFill>
                <a:latin typeface="Montserrat Classic"/>
              </a:rPr>
              <a:t>Insan</a:t>
            </a:r>
            <a:r>
              <a:rPr lang="en-US" sz="2200" dirty="0">
                <a:solidFill>
                  <a:srgbClr val="000000"/>
                </a:solidFill>
                <a:latin typeface="Montserrat Classic"/>
              </a:rPr>
              <a:t> Perusahaan </a:t>
            </a:r>
            <a:r>
              <a:rPr lang="en-US" sz="2200" dirty="0" err="1">
                <a:solidFill>
                  <a:srgbClr val="000000"/>
                </a:solidFill>
                <a:latin typeface="Montserrat Classic"/>
              </a:rPr>
              <a:t>harus</a:t>
            </a:r>
            <a:r>
              <a:rPr lang="en-US" sz="2200" dirty="0">
                <a:solidFill>
                  <a:srgbClr val="000000"/>
                </a:solidFill>
                <a:latin typeface="Montserrat Classic"/>
              </a:rPr>
              <a:t> </a:t>
            </a:r>
            <a:r>
              <a:rPr lang="en-US" sz="2200" dirty="0" err="1">
                <a:solidFill>
                  <a:srgbClr val="000000"/>
                </a:solidFill>
                <a:latin typeface="Montserrat Classic"/>
              </a:rPr>
              <a:t>menggunakan</a:t>
            </a:r>
            <a:r>
              <a:rPr lang="en-US" sz="2200" dirty="0">
                <a:solidFill>
                  <a:srgbClr val="000000"/>
                </a:solidFill>
                <a:latin typeface="Montserrat Classic"/>
              </a:rPr>
              <a:t> </a:t>
            </a:r>
            <a:r>
              <a:rPr lang="en-US" sz="2200" dirty="0" err="1">
                <a:solidFill>
                  <a:srgbClr val="000000"/>
                </a:solidFill>
                <a:latin typeface="Montserrat Classic"/>
              </a:rPr>
              <a:t>wewenang</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jabatan</a:t>
            </a:r>
            <a:r>
              <a:rPr lang="en-US" sz="2200" dirty="0">
                <a:solidFill>
                  <a:srgbClr val="000000"/>
                </a:solidFill>
                <a:latin typeface="Montserrat Classic"/>
              </a:rPr>
              <a:t> </a:t>
            </a:r>
            <a:r>
              <a:rPr lang="en-US" sz="2200" dirty="0" err="1">
                <a:solidFill>
                  <a:srgbClr val="000000"/>
                </a:solidFill>
                <a:latin typeface="Montserrat Classic"/>
              </a:rPr>
              <a:t>untuk</a:t>
            </a:r>
            <a:r>
              <a:rPr lang="en-US" sz="2200" dirty="0">
                <a:solidFill>
                  <a:srgbClr val="000000"/>
                </a:solidFill>
                <a:latin typeface="Montserrat Classic"/>
              </a:rPr>
              <a:t> </a:t>
            </a:r>
            <a:r>
              <a:rPr lang="en-US" sz="2200" dirty="0" err="1">
                <a:solidFill>
                  <a:srgbClr val="000000"/>
                </a:solidFill>
                <a:latin typeface="Montserrat Classic"/>
              </a:rPr>
              <a:t>efektivitas</a:t>
            </a:r>
            <a:r>
              <a:rPr lang="en-US" sz="2200" dirty="0">
                <a:solidFill>
                  <a:srgbClr val="000000"/>
                </a:solidFill>
                <a:latin typeface="Montserrat Classic"/>
              </a:rPr>
              <a:t> </a:t>
            </a:r>
            <a:r>
              <a:rPr lang="en-US" sz="2200" dirty="0" err="1">
                <a:solidFill>
                  <a:srgbClr val="000000"/>
                </a:solidFill>
                <a:latin typeface="Montserrat Classic"/>
              </a:rPr>
              <a:t>operasional</a:t>
            </a:r>
            <a:r>
              <a:rPr lang="en-US" sz="2200" dirty="0">
                <a:solidFill>
                  <a:srgbClr val="000000"/>
                </a:solidFill>
                <a:latin typeface="Montserrat Classic"/>
              </a:rPr>
              <a:t> </a:t>
            </a:r>
            <a:r>
              <a:rPr lang="en-US" sz="2200" dirty="0" err="1">
                <a:solidFill>
                  <a:srgbClr val="000000"/>
                </a:solidFill>
                <a:latin typeface="Montserrat Classic"/>
              </a:rPr>
              <a:t>sesuai</a:t>
            </a:r>
            <a:r>
              <a:rPr lang="en-US" sz="2200" dirty="0">
                <a:solidFill>
                  <a:srgbClr val="000000"/>
                </a:solidFill>
                <a:latin typeface="Montserrat Classic"/>
              </a:rPr>
              <a:t> </a:t>
            </a:r>
            <a:r>
              <a:rPr lang="en-US" sz="2200" dirty="0" err="1">
                <a:solidFill>
                  <a:srgbClr val="000000"/>
                </a:solidFill>
                <a:latin typeface="Montserrat Classic"/>
              </a:rPr>
              <a:t>dengan</a:t>
            </a:r>
            <a:r>
              <a:rPr lang="en-US" sz="2200" dirty="0">
                <a:solidFill>
                  <a:srgbClr val="000000"/>
                </a:solidFill>
                <a:latin typeface="Montserrat Classic"/>
              </a:rPr>
              <a:t> </a:t>
            </a:r>
            <a:r>
              <a:rPr lang="en-US" sz="2200" dirty="0" err="1">
                <a:solidFill>
                  <a:srgbClr val="000000"/>
                </a:solidFill>
                <a:latin typeface="Montserrat Classic"/>
              </a:rPr>
              <a:t>peraturan</a:t>
            </a:r>
            <a:r>
              <a:rPr lang="en-US" sz="2200" dirty="0">
                <a:solidFill>
                  <a:srgbClr val="000000"/>
                </a:solidFill>
                <a:latin typeface="Montserrat Classic"/>
              </a:rPr>
              <a:t> Perusahaan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dilarang</a:t>
            </a:r>
            <a:r>
              <a:rPr lang="en-US" sz="2200" dirty="0">
                <a:solidFill>
                  <a:srgbClr val="000000"/>
                </a:solidFill>
                <a:latin typeface="Montserrat Classic"/>
              </a:rPr>
              <a:t> </a:t>
            </a: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halhal</a:t>
            </a:r>
            <a:r>
              <a:rPr lang="en-US" sz="2200" dirty="0">
                <a:solidFill>
                  <a:srgbClr val="000000"/>
                </a:solidFill>
                <a:latin typeface="Montserrat Classic"/>
              </a:rPr>
              <a:t> </a:t>
            </a:r>
            <a:r>
              <a:rPr lang="en-US" sz="2200" dirty="0" err="1">
                <a:solidFill>
                  <a:srgbClr val="000000"/>
                </a:solidFill>
                <a:latin typeface="Montserrat Classic"/>
              </a:rPr>
              <a:t>sebagai</a:t>
            </a:r>
            <a:r>
              <a:rPr lang="en-US" sz="2200" dirty="0">
                <a:solidFill>
                  <a:srgbClr val="000000"/>
                </a:solidFill>
                <a:latin typeface="Montserrat Classic"/>
              </a:rPr>
              <a:t> </a:t>
            </a:r>
            <a:r>
              <a:rPr lang="en-US" sz="2200" dirty="0" err="1">
                <a:solidFill>
                  <a:srgbClr val="000000"/>
                </a:solidFill>
                <a:latin typeface="Montserrat Classic"/>
              </a:rPr>
              <a:t>berikut</a:t>
            </a:r>
            <a:r>
              <a:rPr lang="en-US" sz="2200" dirty="0">
                <a:solidFill>
                  <a:srgbClr val="000000"/>
                </a:solidFill>
                <a:latin typeface="Montserrat Classic"/>
              </a:rPr>
              <a:t> :</a:t>
            </a:r>
          </a:p>
          <a:p>
            <a:pPr algn="just">
              <a:lnSpc>
                <a:spcPts val="3061"/>
              </a:lnSpc>
            </a:pPr>
            <a:endParaRPr lang="en-US" sz="2200" dirty="0">
              <a:solidFill>
                <a:srgbClr val="000000"/>
              </a:solidFill>
              <a:latin typeface="Montserrat Classic"/>
            </a:endParaRPr>
          </a:p>
          <a:p>
            <a:pPr marL="457200" indent="-457200" algn="just">
              <a:lnSpc>
                <a:spcPts val="2940"/>
              </a:lnSpc>
              <a:buFont typeface="+mj-lt"/>
              <a:buAutoNum type="arabicPeriod"/>
            </a:pPr>
            <a:r>
              <a:rPr lang="en-US" sz="2200" dirty="0" err="1">
                <a:solidFill>
                  <a:srgbClr val="000000"/>
                </a:solidFill>
                <a:latin typeface="Montserrat Classic"/>
              </a:rPr>
              <a:t>Memanfaatkan</a:t>
            </a:r>
            <a:r>
              <a:rPr lang="en-US" sz="2200" dirty="0">
                <a:solidFill>
                  <a:srgbClr val="000000"/>
                </a:solidFill>
                <a:latin typeface="Montserrat Classic"/>
              </a:rPr>
              <a:t> </a:t>
            </a:r>
            <a:r>
              <a:rPr lang="en-US" sz="2200" dirty="0" err="1">
                <a:solidFill>
                  <a:srgbClr val="000000"/>
                </a:solidFill>
                <a:latin typeface="Montserrat Classic"/>
              </a:rPr>
              <a:t>kedudukan</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wewenangnya</a:t>
            </a:r>
            <a:r>
              <a:rPr lang="en-US" sz="2200" dirty="0">
                <a:solidFill>
                  <a:srgbClr val="000000"/>
                </a:solidFill>
                <a:latin typeface="Montserrat Classic"/>
              </a:rPr>
              <a:t> </a:t>
            </a:r>
            <a:r>
              <a:rPr lang="en-US" sz="2200" dirty="0" err="1">
                <a:solidFill>
                  <a:srgbClr val="000000"/>
                </a:solidFill>
                <a:latin typeface="Montserrat Classic"/>
              </a:rPr>
              <a:t>dengan</a:t>
            </a:r>
            <a:r>
              <a:rPr lang="en-US" sz="2200" dirty="0">
                <a:solidFill>
                  <a:srgbClr val="000000"/>
                </a:solidFill>
                <a:latin typeface="Montserrat Classic"/>
              </a:rPr>
              <a:t> </a:t>
            </a: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tindakan</a:t>
            </a:r>
            <a:r>
              <a:rPr lang="en-US" sz="2200" dirty="0">
                <a:solidFill>
                  <a:srgbClr val="000000"/>
                </a:solidFill>
                <a:latin typeface="Montserrat Classic"/>
              </a:rPr>
              <a:t> yang </a:t>
            </a:r>
            <a:r>
              <a:rPr lang="en-US" sz="2200" dirty="0" err="1">
                <a:solidFill>
                  <a:srgbClr val="000000"/>
                </a:solidFill>
                <a:latin typeface="Montserrat Classic"/>
              </a:rPr>
              <a:t>diyakini</a:t>
            </a:r>
            <a:r>
              <a:rPr lang="en-US" sz="2200" dirty="0">
                <a:solidFill>
                  <a:srgbClr val="000000"/>
                </a:solidFill>
                <a:latin typeface="Montserrat Classic"/>
              </a:rPr>
              <a:t> </a:t>
            </a:r>
            <a:r>
              <a:rPr lang="en-US" sz="2200" dirty="0" err="1">
                <a:solidFill>
                  <a:srgbClr val="000000"/>
                </a:solidFill>
                <a:latin typeface="Montserrat Classic"/>
              </a:rPr>
              <a:t>memberikan</a:t>
            </a:r>
            <a:r>
              <a:rPr lang="en-US" sz="2200" dirty="0">
                <a:solidFill>
                  <a:srgbClr val="000000"/>
                </a:solidFill>
                <a:latin typeface="Montserrat Classic"/>
              </a:rPr>
              <a:t> </a:t>
            </a:r>
            <a:r>
              <a:rPr lang="en-US" sz="2200" dirty="0" err="1">
                <a:solidFill>
                  <a:srgbClr val="000000"/>
                </a:solidFill>
                <a:latin typeface="Montserrat Classic"/>
              </a:rPr>
              <a:t>keuntungan</a:t>
            </a:r>
            <a:r>
              <a:rPr lang="en-US" sz="2200" dirty="0">
                <a:solidFill>
                  <a:srgbClr val="000000"/>
                </a:solidFill>
                <a:latin typeface="Montserrat Classic"/>
              </a:rPr>
              <a:t> </a:t>
            </a:r>
            <a:r>
              <a:rPr lang="en-US" sz="2200" dirty="0" err="1">
                <a:solidFill>
                  <a:srgbClr val="000000"/>
                </a:solidFill>
                <a:latin typeface="Montserrat Classic"/>
              </a:rPr>
              <a:t>diri</a:t>
            </a:r>
            <a:r>
              <a:rPr lang="en-US" sz="2200" dirty="0">
                <a:solidFill>
                  <a:srgbClr val="000000"/>
                </a:solidFill>
                <a:latin typeface="Montserrat Classic"/>
              </a:rPr>
              <a:t> </a:t>
            </a:r>
            <a:r>
              <a:rPr lang="en-US" sz="2200" dirty="0" err="1">
                <a:solidFill>
                  <a:srgbClr val="000000"/>
                </a:solidFill>
                <a:latin typeface="Montserrat Classic"/>
              </a:rPr>
              <a:t>sendiri</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orang lain, </a:t>
            </a:r>
            <a:r>
              <a:rPr lang="en-US" sz="2200" dirty="0" err="1">
                <a:solidFill>
                  <a:srgbClr val="000000"/>
                </a:solidFill>
                <a:latin typeface="Montserrat Classic"/>
              </a:rPr>
              <a:t>baik</a:t>
            </a:r>
            <a:r>
              <a:rPr lang="en-US" sz="2200" dirty="0">
                <a:solidFill>
                  <a:srgbClr val="000000"/>
                </a:solidFill>
                <a:latin typeface="Montserrat Classic"/>
              </a:rPr>
              <a:t> </a:t>
            </a:r>
            <a:r>
              <a:rPr lang="en-US" sz="2200" dirty="0" err="1">
                <a:solidFill>
                  <a:srgbClr val="000000"/>
                </a:solidFill>
                <a:latin typeface="Montserrat Classic"/>
              </a:rPr>
              <a:t>langsung</a:t>
            </a:r>
            <a:r>
              <a:rPr lang="en-US" sz="2200" dirty="0">
                <a:solidFill>
                  <a:srgbClr val="000000"/>
                </a:solidFill>
                <a:latin typeface="Montserrat Classic"/>
              </a:rPr>
              <a:t> </a:t>
            </a:r>
            <a:r>
              <a:rPr lang="en-US" sz="2200" dirty="0" err="1">
                <a:solidFill>
                  <a:srgbClr val="000000"/>
                </a:solidFill>
                <a:latin typeface="Montserrat Classic"/>
              </a:rPr>
              <a:t>maupun</a:t>
            </a:r>
            <a:r>
              <a:rPr lang="en-US" sz="2200" dirty="0">
                <a:solidFill>
                  <a:srgbClr val="000000"/>
                </a:solidFill>
                <a:latin typeface="Montserrat Classic"/>
              </a:rPr>
              <a:t> </a:t>
            </a:r>
            <a:r>
              <a:rPr lang="en-US" sz="2200" dirty="0" err="1">
                <a:solidFill>
                  <a:srgbClr val="000000"/>
                </a:solidFill>
                <a:latin typeface="Montserrat Classic"/>
              </a:rPr>
              <a:t>tidak</a:t>
            </a:r>
            <a:r>
              <a:rPr lang="en-US" sz="2200" dirty="0">
                <a:solidFill>
                  <a:srgbClr val="000000"/>
                </a:solidFill>
                <a:latin typeface="Montserrat Classic"/>
              </a:rPr>
              <a:t> </a:t>
            </a:r>
            <a:r>
              <a:rPr lang="en-US" sz="2200" dirty="0" err="1">
                <a:solidFill>
                  <a:srgbClr val="000000"/>
                </a:solidFill>
                <a:latin typeface="Montserrat Classic"/>
              </a:rPr>
              <a:t>langsung</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mengakibatkan</a:t>
            </a:r>
            <a:r>
              <a:rPr lang="en-US" sz="2200" dirty="0">
                <a:solidFill>
                  <a:srgbClr val="000000"/>
                </a:solidFill>
                <a:latin typeface="Montserrat Classic"/>
              </a:rPr>
              <a:t> </a:t>
            </a:r>
            <a:r>
              <a:rPr lang="en-US" sz="2200" dirty="0" err="1">
                <a:solidFill>
                  <a:srgbClr val="000000"/>
                </a:solidFill>
                <a:latin typeface="Montserrat Classic"/>
              </a:rPr>
              <a:t>kerugian</a:t>
            </a:r>
            <a:r>
              <a:rPr lang="en-US" sz="2200" dirty="0">
                <a:solidFill>
                  <a:srgbClr val="000000"/>
                </a:solidFill>
                <a:latin typeface="Montserrat Classic"/>
              </a:rPr>
              <a:t> Perusahaan.   </a:t>
            </a:r>
          </a:p>
          <a:p>
            <a:pPr marL="457200" indent="-457200" algn="just">
              <a:lnSpc>
                <a:spcPts val="2940"/>
              </a:lnSpc>
              <a:buFont typeface="+mj-lt"/>
              <a:buAutoNum type="arabicPeriod" startAt="2"/>
            </a:pPr>
            <a:r>
              <a:rPr lang="en-US" sz="2200" dirty="0" err="1">
                <a:solidFill>
                  <a:srgbClr val="000000"/>
                </a:solidFill>
                <a:latin typeface="Montserrat Classic"/>
              </a:rPr>
              <a:t>Menyalahgunakan</a:t>
            </a:r>
            <a:r>
              <a:rPr lang="en-US" sz="2200" dirty="0">
                <a:solidFill>
                  <a:srgbClr val="000000"/>
                </a:solidFill>
                <a:latin typeface="Montserrat Classic"/>
              </a:rPr>
              <a:t> </a:t>
            </a:r>
            <a:r>
              <a:rPr lang="en-US" sz="2200" dirty="0" err="1">
                <a:solidFill>
                  <a:srgbClr val="000000"/>
                </a:solidFill>
                <a:latin typeface="Montserrat Classic"/>
              </a:rPr>
              <a:t>wewenang</a:t>
            </a:r>
            <a:r>
              <a:rPr lang="en-US" sz="2200" dirty="0">
                <a:solidFill>
                  <a:srgbClr val="000000"/>
                </a:solidFill>
                <a:latin typeface="Montserrat Classic"/>
              </a:rPr>
              <a:t>, </a:t>
            </a:r>
            <a:r>
              <a:rPr lang="en-US" sz="2200" dirty="0" err="1">
                <a:solidFill>
                  <a:srgbClr val="000000"/>
                </a:solidFill>
                <a:latin typeface="Montserrat Classic"/>
              </a:rPr>
              <a:t>kesempatan</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sarana</a:t>
            </a:r>
            <a:r>
              <a:rPr lang="en-US" sz="2200" dirty="0">
                <a:solidFill>
                  <a:srgbClr val="000000"/>
                </a:solidFill>
                <a:latin typeface="Montserrat Classic"/>
              </a:rPr>
              <a:t> yang </a:t>
            </a:r>
            <a:r>
              <a:rPr lang="en-US" sz="2200" dirty="0" err="1">
                <a:solidFill>
                  <a:srgbClr val="000000"/>
                </a:solidFill>
                <a:latin typeface="Montserrat Classic"/>
              </a:rPr>
              <a:t>ada</a:t>
            </a:r>
            <a:r>
              <a:rPr lang="en-US" sz="2200" dirty="0">
                <a:solidFill>
                  <a:srgbClr val="000000"/>
                </a:solidFill>
                <a:latin typeface="Montserrat Classic"/>
              </a:rPr>
              <a:t> </a:t>
            </a:r>
            <a:r>
              <a:rPr lang="en-US" sz="2200" dirty="0" err="1">
                <a:solidFill>
                  <a:srgbClr val="000000"/>
                </a:solidFill>
                <a:latin typeface="Montserrat Classic"/>
              </a:rPr>
              <a:t>karena</a:t>
            </a:r>
            <a:r>
              <a:rPr lang="en-US" sz="2200" dirty="0">
                <a:solidFill>
                  <a:srgbClr val="000000"/>
                </a:solidFill>
                <a:latin typeface="Montserrat Classic"/>
              </a:rPr>
              <a:t> </a:t>
            </a:r>
            <a:r>
              <a:rPr lang="en-US" sz="2200" dirty="0" err="1">
                <a:solidFill>
                  <a:srgbClr val="000000"/>
                </a:solidFill>
                <a:latin typeface="Montserrat Classic"/>
              </a:rPr>
              <a:t>jabatan</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kedudukannya</a:t>
            </a:r>
            <a:r>
              <a:rPr lang="en-US" sz="2200" dirty="0">
                <a:solidFill>
                  <a:srgbClr val="000000"/>
                </a:solidFill>
                <a:latin typeface="Montserrat Classic"/>
              </a:rPr>
              <a:t> </a:t>
            </a:r>
            <a:r>
              <a:rPr lang="en-US" sz="2200" dirty="0" err="1">
                <a:solidFill>
                  <a:srgbClr val="000000"/>
                </a:solidFill>
                <a:latin typeface="Montserrat Classic"/>
              </a:rPr>
              <a:t>untuk</a:t>
            </a:r>
            <a:r>
              <a:rPr lang="en-US" sz="2200" dirty="0">
                <a:solidFill>
                  <a:srgbClr val="000000"/>
                </a:solidFill>
                <a:latin typeface="Montserrat Classic"/>
              </a:rPr>
              <a:t> </a:t>
            </a:r>
            <a:r>
              <a:rPr lang="en-US" sz="2200" dirty="0" err="1">
                <a:solidFill>
                  <a:srgbClr val="000000"/>
                </a:solidFill>
                <a:latin typeface="Montserrat Classic"/>
              </a:rPr>
              <a:t>kepentingan</a:t>
            </a:r>
            <a:r>
              <a:rPr lang="en-US" sz="2200" dirty="0">
                <a:solidFill>
                  <a:srgbClr val="000000"/>
                </a:solidFill>
                <a:latin typeface="Montserrat Classic"/>
              </a:rPr>
              <a:t> </a:t>
            </a:r>
            <a:r>
              <a:rPr lang="en-US" sz="2200" dirty="0" err="1">
                <a:solidFill>
                  <a:srgbClr val="000000"/>
                </a:solidFill>
                <a:latin typeface="Montserrat Classic"/>
              </a:rPr>
              <a:t>pribadi</a:t>
            </a:r>
            <a:r>
              <a:rPr lang="en-US" sz="2200" dirty="0">
                <a:solidFill>
                  <a:srgbClr val="000000"/>
                </a:solidFill>
                <a:latin typeface="Montserrat Classic"/>
              </a:rPr>
              <a:t>, </a:t>
            </a:r>
            <a:r>
              <a:rPr lang="en-US" sz="2200" dirty="0" err="1">
                <a:solidFill>
                  <a:srgbClr val="000000"/>
                </a:solidFill>
                <a:latin typeface="Montserrat Classic"/>
              </a:rPr>
              <a:t>keluarga</a:t>
            </a:r>
            <a:r>
              <a:rPr lang="en-US" sz="2200" dirty="0">
                <a:solidFill>
                  <a:srgbClr val="000000"/>
                </a:solidFill>
                <a:latin typeface="Montserrat Classic"/>
              </a:rPr>
              <a:t>, </a:t>
            </a:r>
            <a:r>
              <a:rPr lang="en-US" sz="2200" dirty="0" err="1">
                <a:solidFill>
                  <a:srgbClr val="000000"/>
                </a:solidFill>
                <a:latin typeface="Montserrat Classic"/>
              </a:rPr>
              <a:t>teman</a:t>
            </a:r>
            <a:r>
              <a:rPr lang="en-US" sz="2200" dirty="0">
                <a:solidFill>
                  <a:srgbClr val="000000"/>
                </a:solidFill>
                <a:latin typeface="Montserrat Classic"/>
              </a:rPr>
              <a:t> </a:t>
            </a:r>
            <a:r>
              <a:rPr lang="en-US" sz="2200" dirty="0" err="1">
                <a:solidFill>
                  <a:srgbClr val="000000"/>
                </a:solidFill>
                <a:latin typeface="Montserrat Classic"/>
              </a:rPr>
              <a:t>dekat</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pihakpihak</a:t>
            </a:r>
            <a:r>
              <a:rPr lang="en-US" sz="2200" dirty="0">
                <a:solidFill>
                  <a:srgbClr val="000000"/>
                </a:solidFill>
                <a:latin typeface="Montserrat Classic"/>
              </a:rPr>
              <a:t> lain, yang </a:t>
            </a:r>
            <a:r>
              <a:rPr lang="en-US" sz="2200" dirty="0" err="1">
                <a:solidFill>
                  <a:srgbClr val="000000"/>
                </a:solidFill>
                <a:latin typeface="Montserrat Classic"/>
              </a:rPr>
              <a:t>secara</a:t>
            </a:r>
            <a:r>
              <a:rPr lang="en-US" sz="2200" dirty="0">
                <a:solidFill>
                  <a:srgbClr val="000000"/>
                </a:solidFill>
                <a:latin typeface="Montserrat Classic"/>
              </a:rPr>
              <a:t> </a:t>
            </a:r>
            <a:r>
              <a:rPr lang="en-US" sz="2200" dirty="0" err="1">
                <a:solidFill>
                  <a:srgbClr val="000000"/>
                </a:solidFill>
                <a:latin typeface="Montserrat Classic"/>
              </a:rPr>
              <a:t>langsung</a:t>
            </a:r>
            <a:r>
              <a:rPr lang="en-US" sz="2200" dirty="0">
                <a:solidFill>
                  <a:srgbClr val="000000"/>
                </a:solidFill>
                <a:latin typeface="Montserrat Classic"/>
              </a:rPr>
              <a:t> </a:t>
            </a:r>
            <a:r>
              <a:rPr lang="en-US" sz="2200" dirty="0" err="1">
                <a:solidFill>
                  <a:srgbClr val="000000"/>
                </a:solidFill>
                <a:latin typeface="Montserrat Classic"/>
              </a:rPr>
              <a:t>ataupun</a:t>
            </a:r>
            <a:r>
              <a:rPr lang="en-US" sz="2200" dirty="0">
                <a:solidFill>
                  <a:srgbClr val="000000"/>
                </a:solidFill>
                <a:latin typeface="Montserrat Classic"/>
              </a:rPr>
              <a:t> </a:t>
            </a:r>
            <a:r>
              <a:rPr lang="en-US" sz="2200" dirty="0" err="1">
                <a:solidFill>
                  <a:srgbClr val="000000"/>
                </a:solidFill>
                <a:latin typeface="Montserrat Classic"/>
              </a:rPr>
              <a:t>tidak</a:t>
            </a:r>
            <a:r>
              <a:rPr lang="en-US" sz="2200" dirty="0">
                <a:solidFill>
                  <a:srgbClr val="000000"/>
                </a:solidFill>
                <a:latin typeface="Montserrat Classic"/>
              </a:rPr>
              <a:t> </a:t>
            </a:r>
            <a:r>
              <a:rPr lang="en-US" sz="2200" dirty="0" err="1">
                <a:solidFill>
                  <a:srgbClr val="000000"/>
                </a:solidFill>
                <a:latin typeface="Montserrat Classic"/>
              </a:rPr>
              <a:t>langsung</a:t>
            </a:r>
            <a:r>
              <a:rPr lang="en-US" sz="2200" dirty="0">
                <a:solidFill>
                  <a:srgbClr val="000000"/>
                </a:solidFill>
                <a:latin typeface="Montserrat Classic"/>
              </a:rPr>
              <a:t> </a:t>
            </a:r>
            <a:r>
              <a:rPr lang="en-US" sz="2200" dirty="0" err="1">
                <a:solidFill>
                  <a:srgbClr val="000000"/>
                </a:solidFill>
                <a:latin typeface="Montserrat Classic"/>
              </a:rPr>
              <a:t>merugikan</a:t>
            </a:r>
            <a:r>
              <a:rPr lang="en-US" sz="2200" dirty="0">
                <a:solidFill>
                  <a:srgbClr val="000000"/>
                </a:solidFill>
                <a:latin typeface="Montserrat Classic"/>
              </a:rPr>
              <a:t> Perusahaan.   </a:t>
            </a:r>
          </a:p>
          <a:p>
            <a:pPr marL="457200" indent="-457200" algn="just">
              <a:lnSpc>
                <a:spcPts val="2940"/>
              </a:lnSpc>
              <a:buFont typeface="+mj-lt"/>
              <a:buAutoNum type="arabicPeriod" startAt="3"/>
            </a:pPr>
            <a:r>
              <a:rPr lang="en-US" sz="2200" dirty="0" err="1">
                <a:solidFill>
                  <a:srgbClr val="000000"/>
                </a:solidFill>
                <a:latin typeface="Montserrat Classic"/>
              </a:rPr>
              <a:t>Menyalahgunakan</a:t>
            </a:r>
            <a:r>
              <a:rPr lang="en-US" sz="2200" dirty="0">
                <a:solidFill>
                  <a:srgbClr val="000000"/>
                </a:solidFill>
                <a:latin typeface="Montserrat Classic"/>
              </a:rPr>
              <a:t> </a:t>
            </a:r>
            <a:r>
              <a:rPr lang="en-US" sz="2200" dirty="0" err="1">
                <a:solidFill>
                  <a:srgbClr val="000000"/>
                </a:solidFill>
                <a:latin typeface="Montserrat Classic"/>
              </a:rPr>
              <a:t>wewenang</a:t>
            </a:r>
            <a:r>
              <a:rPr lang="en-US" sz="2200" dirty="0">
                <a:solidFill>
                  <a:srgbClr val="000000"/>
                </a:solidFill>
                <a:latin typeface="Montserrat Classic"/>
              </a:rPr>
              <a:t>, </a:t>
            </a:r>
            <a:r>
              <a:rPr lang="en-US" sz="2200" dirty="0" err="1">
                <a:solidFill>
                  <a:srgbClr val="000000"/>
                </a:solidFill>
                <a:latin typeface="Montserrat Classic"/>
              </a:rPr>
              <a:t>kesempatan</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sarana</a:t>
            </a:r>
            <a:r>
              <a:rPr lang="en-US" sz="2200" dirty="0">
                <a:solidFill>
                  <a:srgbClr val="000000"/>
                </a:solidFill>
                <a:latin typeface="Montserrat Classic"/>
              </a:rPr>
              <a:t> yang </a:t>
            </a:r>
            <a:r>
              <a:rPr lang="en-US" sz="2200" dirty="0" err="1">
                <a:solidFill>
                  <a:srgbClr val="000000"/>
                </a:solidFill>
                <a:latin typeface="Montserrat Classic"/>
              </a:rPr>
              <a:t>ada</a:t>
            </a:r>
            <a:r>
              <a:rPr lang="en-US" sz="2200" dirty="0">
                <a:solidFill>
                  <a:srgbClr val="000000"/>
                </a:solidFill>
                <a:latin typeface="Montserrat Classic"/>
              </a:rPr>
              <a:t> </a:t>
            </a:r>
            <a:r>
              <a:rPr lang="en-US" sz="2200" dirty="0" err="1">
                <a:solidFill>
                  <a:srgbClr val="000000"/>
                </a:solidFill>
                <a:latin typeface="Montserrat Classic"/>
              </a:rPr>
              <a:t>karena</a:t>
            </a:r>
            <a:r>
              <a:rPr lang="en-US" sz="2200" dirty="0">
                <a:solidFill>
                  <a:srgbClr val="000000"/>
                </a:solidFill>
                <a:latin typeface="Montserrat Classic"/>
              </a:rPr>
              <a:t> </a:t>
            </a:r>
            <a:r>
              <a:rPr lang="en-US" sz="2200" dirty="0" err="1">
                <a:solidFill>
                  <a:srgbClr val="000000"/>
                </a:solidFill>
                <a:latin typeface="Montserrat Classic"/>
              </a:rPr>
              <a:t>jabatan</a:t>
            </a:r>
            <a:r>
              <a:rPr lang="en-US" sz="2200" dirty="0">
                <a:solidFill>
                  <a:srgbClr val="000000"/>
                </a:solidFill>
                <a:latin typeface="Montserrat Classic"/>
              </a:rPr>
              <a:t>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kedudukannya</a:t>
            </a:r>
            <a:r>
              <a:rPr lang="en-US" sz="2200" dirty="0">
                <a:solidFill>
                  <a:srgbClr val="000000"/>
                </a:solidFill>
                <a:latin typeface="Montserrat Classic"/>
              </a:rPr>
              <a:t> </a:t>
            </a:r>
            <a:r>
              <a:rPr lang="en-US" sz="2200" dirty="0" err="1">
                <a:solidFill>
                  <a:srgbClr val="000000"/>
                </a:solidFill>
                <a:latin typeface="Montserrat Classic"/>
              </a:rPr>
              <a:t>untuk</a:t>
            </a:r>
            <a:r>
              <a:rPr lang="en-US" sz="2200" dirty="0">
                <a:solidFill>
                  <a:srgbClr val="000000"/>
                </a:solidFill>
                <a:latin typeface="Montserrat Classic"/>
              </a:rPr>
              <a:t> </a:t>
            </a:r>
            <a:r>
              <a:rPr lang="en-US" sz="2200" dirty="0" err="1">
                <a:solidFill>
                  <a:srgbClr val="000000"/>
                </a:solidFill>
                <a:latin typeface="Montserrat Classic"/>
              </a:rPr>
              <a:t>memaksa</a:t>
            </a:r>
            <a:r>
              <a:rPr lang="en-US" sz="2200" dirty="0">
                <a:solidFill>
                  <a:srgbClr val="000000"/>
                </a:solidFill>
                <a:latin typeface="Montserrat Classic"/>
              </a:rPr>
              <a:t> orang lain </a:t>
            </a: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sesuatu</a:t>
            </a:r>
            <a:r>
              <a:rPr lang="en-US" sz="2200" dirty="0">
                <a:solidFill>
                  <a:srgbClr val="000000"/>
                </a:solidFill>
                <a:latin typeface="Montserrat Classic"/>
              </a:rPr>
              <a:t>, </a:t>
            </a:r>
            <a:r>
              <a:rPr lang="en-US" sz="2200" dirty="0" err="1">
                <a:solidFill>
                  <a:srgbClr val="000000"/>
                </a:solidFill>
                <a:latin typeface="Montserrat Classic"/>
              </a:rPr>
              <a:t>memberikan</a:t>
            </a:r>
            <a:r>
              <a:rPr lang="en-US" sz="2200" dirty="0">
                <a:solidFill>
                  <a:srgbClr val="000000"/>
                </a:solidFill>
                <a:latin typeface="Montserrat Classic"/>
              </a:rPr>
              <a:t> </a:t>
            </a:r>
            <a:r>
              <a:rPr lang="en-US" sz="2200" dirty="0" err="1">
                <a:solidFill>
                  <a:srgbClr val="000000"/>
                </a:solidFill>
                <a:latin typeface="Montserrat Classic"/>
              </a:rPr>
              <a:t>sesuatu</a:t>
            </a:r>
            <a:r>
              <a:rPr lang="en-US" sz="2200" dirty="0">
                <a:solidFill>
                  <a:srgbClr val="000000"/>
                </a:solidFill>
                <a:latin typeface="Montserrat Classic"/>
              </a:rPr>
              <a:t>, </a:t>
            </a: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pembayaran</a:t>
            </a:r>
            <a:r>
              <a:rPr lang="en-US" sz="2200" dirty="0">
                <a:solidFill>
                  <a:srgbClr val="000000"/>
                </a:solidFill>
                <a:latin typeface="Montserrat Classic"/>
              </a:rPr>
              <a:t>, </a:t>
            </a:r>
            <a:r>
              <a:rPr lang="en-US" sz="2200" dirty="0" err="1">
                <a:solidFill>
                  <a:srgbClr val="000000"/>
                </a:solidFill>
                <a:latin typeface="Montserrat Classic"/>
              </a:rPr>
              <a:t>memotong</a:t>
            </a:r>
            <a:r>
              <a:rPr lang="en-US" sz="2200" dirty="0">
                <a:solidFill>
                  <a:srgbClr val="000000"/>
                </a:solidFill>
                <a:latin typeface="Montserrat Classic"/>
              </a:rPr>
              <a:t> </a:t>
            </a:r>
            <a:r>
              <a:rPr lang="en-US" sz="2200" dirty="0" err="1">
                <a:solidFill>
                  <a:srgbClr val="000000"/>
                </a:solidFill>
                <a:latin typeface="Montserrat Classic"/>
              </a:rPr>
              <a:t>sebagian</a:t>
            </a:r>
            <a:r>
              <a:rPr lang="en-US" sz="2200" dirty="0">
                <a:solidFill>
                  <a:srgbClr val="000000"/>
                </a:solidFill>
                <a:latin typeface="Montserrat Classic"/>
              </a:rPr>
              <a:t> </a:t>
            </a:r>
            <a:r>
              <a:rPr lang="en-US" sz="2200" dirty="0" err="1">
                <a:solidFill>
                  <a:srgbClr val="000000"/>
                </a:solidFill>
                <a:latin typeface="Montserrat Classic"/>
              </a:rPr>
              <a:t>dalam</a:t>
            </a:r>
            <a:r>
              <a:rPr lang="en-US" sz="2200" dirty="0">
                <a:solidFill>
                  <a:srgbClr val="000000"/>
                </a:solidFill>
                <a:latin typeface="Montserrat Classic"/>
              </a:rPr>
              <a:t> </a:t>
            </a: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pembayaran</a:t>
            </a:r>
            <a:r>
              <a:rPr lang="en-US" sz="2200" dirty="0">
                <a:solidFill>
                  <a:srgbClr val="000000"/>
                </a:solidFill>
                <a:latin typeface="Montserrat Classic"/>
              </a:rPr>
              <a:t> </a:t>
            </a:r>
            <a:r>
              <a:rPr lang="en-US" sz="2200" dirty="0" err="1">
                <a:solidFill>
                  <a:srgbClr val="000000"/>
                </a:solidFill>
                <a:latin typeface="Montserrat Classic"/>
              </a:rPr>
              <a:t>dengan</a:t>
            </a:r>
            <a:r>
              <a:rPr lang="en-US" sz="2200" dirty="0">
                <a:solidFill>
                  <a:srgbClr val="000000"/>
                </a:solidFill>
                <a:latin typeface="Montserrat Classic"/>
              </a:rPr>
              <a:t> </a:t>
            </a:r>
            <a:r>
              <a:rPr lang="en-US" sz="2200" dirty="0" err="1">
                <a:solidFill>
                  <a:srgbClr val="000000"/>
                </a:solidFill>
                <a:latin typeface="Montserrat Classic"/>
              </a:rPr>
              <a:t>tujuan</a:t>
            </a:r>
            <a:r>
              <a:rPr lang="en-US" sz="2200" dirty="0">
                <a:solidFill>
                  <a:srgbClr val="000000"/>
                </a:solidFill>
                <a:latin typeface="Montserrat Classic"/>
              </a:rPr>
              <a:t> </a:t>
            </a:r>
            <a:r>
              <a:rPr lang="en-US" sz="2200" dirty="0" err="1">
                <a:solidFill>
                  <a:srgbClr val="000000"/>
                </a:solidFill>
                <a:latin typeface="Montserrat Classic"/>
              </a:rPr>
              <a:t>meraih</a:t>
            </a:r>
            <a:r>
              <a:rPr lang="en-US" sz="2200" dirty="0">
                <a:solidFill>
                  <a:srgbClr val="000000"/>
                </a:solidFill>
                <a:latin typeface="Montserrat Classic"/>
              </a:rPr>
              <a:t> </a:t>
            </a:r>
            <a:r>
              <a:rPr lang="en-US" sz="2200" dirty="0" err="1">
                <a:solidFill>
                  <a:srgbClr val="000000"/>
                </a:solidFill>
                <a:latin typeface="Montserrat Classic"/>
              </a:rPr>
              <a:t>keuntungan</a:t>
            </a:r>
            <a:r>
              <a:rPr lang="en-US" sz="2200" dirty="0">
                <a:solidFill>
                  <a:srgbClr val="000000"/>
                </a:solidFill>
                <a:latin typeface="Montserrat Classic"/>
              </a:rPr>
              <a:t> </a:t>
            </a:r>
            <a:r>
              <a:rPr lang="en-US" sz="2200" dirty="0" err="1">
                <a:solidFill>
                  <a:srgbClr val="000000"/>
                </a:solidFill>
                <a:latin typeface="Montserrat Classic"/>
              </a:rPr>
              <a:t>pribadi</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pihak</a:t>
            </a:r>
            <a:r>
              <a:rPr lang="en-US" sz="2200" dirty="0">
                <a:solidFill>
                  <a:srgbClr val="000000"/>
                </a:solidFill>
                <a:latin typeface="Montserrat Classic"/>
              </a:rPr>
              <a:t> lain.   </a:t>
            </a:r>
          </a:p>
          <a:p>
            <a:pPr marL="457200" indent="-457200" algn="just">
              <a:lnSpc>
                <a:spcPts val="2940"/>
              </a:lnSpc>
              <a:buFont typeface="+mj-lt"/>
              <a:buAutoNum type="arabicPeriod" startAt="4"/>
            </a:pPr>
            <a:r>
              <a:rPr lang="en-US" sz="2200" dirty="0" err="1">
                <a:solidFill>
                  <a:srgbClr val="000000"/>
                </a:solidFill>
                <a:latin typeface="Montserrat Classic"/>
              </a:rPr>
              <a:t>Melakukan</a:t>
            </a:r>
            <a:r>
              <a:rPr lang="en-US" sz="2200" dirty="0">
                <a:solidFill>
                  <a:srgbClr val="000000"/>
                </a:solidFill>
                <a:latin typeface="Montserrat Classic"/>
              </a:rPr>
              <a:t> </a:t>
            </a:r>
            <a:r>
              <a:rPr lang="en-US" sz="2200" dirty="0" err="1">
                <a:solidFill>
                  <a:srgbClr val="000000"/>
                </a:solidFill>
                <a:latin typeface="Montserrat Classic"/>
              </a:rPr>
              <a:t>permufakatan</a:t>
            </a:r>
            <a:r>
              <a:rPr lang="en-US" sz="2200" dirty="0">
                <a:solidFill>
                  <a:srgbClr val="000000"/>
                </a:solidFill>
                <a:latin typeface="Montserrat Classic"/>
              </a:rPr>
              <a:t>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kerjasama</a:t>
            </a:r>
            <a:r>
              <a:rPr lang="en-US" sz="2200" dirty="0">
                <a:solidFill>
                  <a:srgbClr val="000000"/>
                </a:solidFill>
                <a:latin typeface="Montserrat Classic"/>
              </a:rPr>
              <a:t> </a:t>
            </a:r>
            <a:r>
              <a:rPr lang="en-US" sz="2200" dirty="0" err="1">
                <a:solidFill>
                  <a:srgbClr val="000000"/>
                </a:solidFill>
                <a:latin typeface="Montserrat Classic"/>
              </a:rPr>
              <a:t>secara</a:t>
            </a:r>
            <a:r>
              <a:rPr lang="en-US" sz="2200" dirty="0">
                <a:solidFill>
                  <a:srgbClr val="000000"/>
                </a:solidFill>
                <a:latin typeface="Montserrat Classic"/>
              </a:rPr>
              <a:t> </a:t>
            </a:r>
            <a:r>
              <a:rPr lang="en-US" sz="2200" dirty="0" err="1">
                <a:solidFill>
                  <a:srgbClr val="000000"/>
                </a:solidFill>
                <a:latin typeface="Montserrat Classic"/>
              </a:rPr>
              <a:t>melawan</a:t>
            </a:r>
            <a:r>
              <a:rPr lang="en-US" sz="2200" dirty="0">
                <a:solidFill>
                  <a:srgbClr val="000000"/>
                </a:solidFill>
                <a:latin typeface="Montserrat Classic"/>
              </a:rPr>
              <a:t> </a:t>
            </a:r>
            <a:r>
              <a:rPr lang="en-US" sz="2200" dirty="0" err="1">
                <a:solidFill>
                  <a:srgbClr val="000000"/>
                </a:solidFill>
                <a:latin typeface="Montserrat Classic"/>
              </a:rPr>
              <a:t>hukum</a:t>
            </a:r>
            <a:r>
              <a:rPr lang="en-US" sz="2200" dirty="0">
                <a:solidFill>
                  <a:srgbClr val="000000"/>
                </a:solidFill>
                <a:latin typeface="Montserrat Classic"/>
              </a:rPr>
              <a:t> </a:t>
            </a:r>
            <a:r>
              <a:rPr lang="en-US" sz="2200" dirty="0" err="1">
                <a:solidFill>
                  <a:srgbClr val="000000"/>
                </a:solidFill>
                <a:latin typeface="Montserrat Classic"/>
              </a:rPr>
              <a:t>antar</a:t>
            </a:r>
            <a:r>
              <a:rPr lang="en-US" sz="2200" dirty="0">
                <a:solidFill>
                  <a:srgbClr val="000000"/>
                </a:solidFill>
                <a:latin typeface="Montserrat Classic"/>
              </a:rPr>
              <a:t> </a:t>
            </a:r>
            <a:r>
              <a:rPr lang="en-US" sz="2200" dirty="0" err="1">
                <a:solidFill>
                  <a:srgbClr val="000000"/>
                </a:solidFill>
                <a:latin typeface="Montserrat Classic"/>
              </a:rPr>
              <a:t>Insan</a:t>
            </a:r>
            <a:r>
              <a:rPr lang="en-US" sz="2200" dirty="0">
                <a:solidFill>
                  <a:srgbClr val="000000"/>
                </a:solidFill>
                <a:latin typeface="Montserrat Classic"/>
              </a:rPr>
              <a:t> Perusahaan </a:t>
            </a:r>
            <a:r>
              <a:rPr lang="en-US" sz="2200" dirty="0" err="1">
                <a:solidFill>
                  <a:srgbClr val="000000"/>
                </a:solidFill>
                <a:latin typeface="Montserrat Classic"/>
              </a:rPr>
              <a:t>atau</a:t>
            </a:r>
            <a:r>
              <a:rPr lang="en-US" sz="2200" dirty="0">
                <a:solidFill>
                  <a:srgbClr val="000000"/>
                </a:solidFill>
                <a:latin typeface="Montserrat Classic"/>
              </a:rPr>
              <a:t> </a:t>
            </a:r>
            <a:r>
              <a:rPr lang="en-US" sz="2200" dirty="0" err="1">
                <a:solidFill>
                  <a:srgbClr val="000000"/>
                </a:solidFill>
                <a:latin typeface="Montserrat Classic"/>
              </a:rPr>
              <a:t>antara</a:t>
            </a:r>
            <a:r>
              <a:rPr lang="en-US" sz="2200" dirty="0">
                <a:solidFill>
                  <a:srgbClr val="000000"/>
                </a:solidFill>
                <a:latin typeface="Montserrat Classic"/>
              </a:rPr>
              <a:t> </a:t>
            </a:r>
            <a:r>
              <a:rPr lang="en-US" sz="2200" dirty="0" err="1">
                <a:solidFill>
                  <a:srgbClr val="000000"/>
                </a:solidFill>
                <a:latin typeface="Montserrat Classic"/>
              </a:rPr>
              <a:t>Insan</a:t>
            </a:r>
            <a:r>
              <a:rPr lang="en-US" sz="2200" dirty="0">
                <a:solidFill>
                  <a:srgbClr val="000000"/>
                </a:solidFill>
                <a:latin typeface="Montserrat Classic"/>
              </a:rPr>
              <a:t> Perusahaan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pihak</a:t>
            </a:r>
            <a:r>
              <a:rPr lang="en-US" sz="2200" dirty="0">
                <a:solidFill>
                  <a:srgbClr val="000000"/>
                </a:solidFill>
                <a:latin typeface="Montserrat Classic"/>
              </a:rPr>
              <a:t> lain yang </a:t>
            </a:r>
            <a:r>
              <a:rPr lang="en-US" sz="2200" dirty="0" err="1">
                <a:solidFill>
                  <a:srgbClr val="000000"/>
                </a:solidFill>
                <a:latin typeface="Montserrat Classic"/>
              </a:rPr>
              <a:t>merugikan</a:t>
            </a:r>
            <a:r>
              <a:rPr lang="en-US" sz="2200" dirty="0">
                <a:solidFill>
                  <a:srgbClr val="000000"/>
                </a:solidFill>
                <a:latin typeface="Montserrat Classic"/>
              </a:rPr>
              <a:t> Perusahaan, orang lain, </a:t>
            </a:r>
            <a:r>
              <a:rPr lang="en-US" sz="2200" dirty="0" err="1">
                <a:solidFill>
                  <a:srgbClr val="000000"/>
                </a:solidFill>
                <a:latin typeface="Montserrat Classic"/>
              </a:rPr>
              <a:t>dan</a:t>
            </a:r>
            <a:r>
              <a:rPr lang="en-US" sz="2200" dirty="0">
                <a:solidFill>
                  <a:srgbClr val="000000"/>
                </a:solidFill>
                <a:latin typeface="Montserrat Classic"/>
              </a:rPr>
              <a:t> </a:t>
            </a:r>
            <a:r>
              <a:rPr lang="en-US" sz="2200" dirty="0" err="1">
                <a:solidFill>
                  <a:srgbClr val="000000"/>
                </a:solidFill>
                <a:latin typeface="Montserrat Classic"/>
              </a:rPr>
              <a:t>masyarakat</a:t>
            </a:r>
            <a:r>
              <a:rPr lang="en-US" sz="2200" dirty="0">
                <a:solidFill>
                  <a:srgbClr val="000000"/>
                </a:solidFill>
                <a:latin typeface="Montserrat Classic"/>
              </a:rPr>
              <a:t>. </a:t>
            </a:r>
          </a:p>
          <a:p>
            <a:pPr algn="just">
              <a:lnSpc>
                <a:spcPts val="3061"/>
              </a:lnSpc>
            </a:pPr>
            <a:r>
              <a:rPr lang="en-US" sz="2200" dirty="0" smtClean="0">
                <a:solidFill>
                  <a:srgbClr val="000000"/>
                </a:solidFill>
                <a:latin typeface="Montserrat Classic"/>
              </a:rPr>
              <a:t> </a:t>
            </a:r>
            <a:endParaRPr lang="en-US" sz="2200" dirty="0">
              <a:solidFill>
                <a:srgbClr val="000000"/>
              </a:solidFill>
              <a:latin typeface="Montserrat Classic"/>
            </a:endParaRPr>
          </a:p>
          <a:p>
            <a:pPr algn="just">
              <a:lnSpc>
                <a:spcPts val="3061"/>
              </a:lnSpc>
            </a:pPr>
            <a:endParaRPr lang="en-US" sz="2200" dirty="0">
              <a:solidFill>
                <a:srgbClr val="000000"/>
              </a:solidFill>
              <a:latin typeface="Montserrat Classic"/>
            </a:endParaRPr>
          </a:p>
          <a:p>
            <a:pPr algn="just">
              <a:lnSpc>
                <a:spcPts val="3061"/>
              </a:lnSpc>
            </a:pPr>
            <a:r>
              <a:rPr lang="en-US" sz="2200" dirty="0">
                <a:solidFill>
                  <a:srgbClr val="000000"/>
                </a:solidFill>
                <a:latin typeface="Montserrat Classic"/>
              </a:rPr>
              <a:t>   </a:t>
            </a:r>
          </a:p>
          <a:p>
            <a:pPr algn="just">
              <a:lnSpc>
                <a:spcPts val="3061"/>
              </a:lnSpc>
            </a:pPr>
            <a:endParaRPr lang="en-US" sz="2200" dirty="0">
              <a:solidFill>
                <a:srgbClr val="000000"/>
              </a:solidFill>
              <a:latin typeface="Montserrat Classic"/>
            </a:endParaRPr>
          </a:p>
          <a:p>
            <a:pPr algn="just">
              <a:lnSpc>
                <a:spcPts val="3061"/>
              </a:lnSpc>
              <a:spcBef>
                <a:spcPct val="0"/>
              </a:spcBef>
            </a:pPr>
            <a:endParaRPr lang="en-US" sz="2200" dirty="0">
              <a:solidFill>
                <a:srgbClr val="000000"/>
              </a:solidFill>
              <a:latin typeface="Montserrat Classic"/>
            </a:endParaRPr>
          </a:p>
        </p:txBody>
      </p:sp>
      <p:sp>
        <p:nvSpPr>
          <p:cNvPr id="6" name="TextBox 6"/>
          <p:cNvSpPr txBox="1"/>
          <p:nvPr/>
        </p:nvSpPr>
        <p:spPr>
          <a:xfrm>
            <a:off x="1143000" y="606425"/>
            <a:ext cx="16116300" cy="860227"/>
          </a:xfrm>
          <a:prstGeom prst="rect">
            <a:avLst/>
          </a:prstGeom>
        </p:spPr>
        <p:txBody>
          <a:bodyPr lIns="0" tIns="0" rIns="0" bIns="0" rtlCol="0" anchor="t">
            <a:spAutoFit/>
          </a:bodyPr>
          <a:lstStyle/>
          <a:p>
            <a:pPr>
              <a:lnSpc>
                <a:spcPts val="3499"/>
              </a:lnSpc>
            </a:pPr>
            <a:r>
              <a:rPr lang="en-US" sz="2499">
                <a:solidFill>
                  <a:srgbClr val="000000"/>
                </a:solidFill>
                <a:latin typeface="Montserrat Classic Bold"/>
              </a:rPr>
              <a:t>J. Etika tidak memanfaatkan kedudukan dan jabatan untuk  kepentingan pribadi </a:t>
            </a:r>
          </a:p>
          <a:p>
            <a:pPr>
              <a:lnSpc>
                <a:spcPts val="3499"/>
              </a:lnSpc>
              <a:spcBef>
                <a:spcPct val="0"/>
              </a:spcBef>
            </a:pPr>
            <a:endParaRPr lang="en-US" sz="2499">
              <a:solidFill>
                <a:srgbClr val="000000"/>
              </a:solidFill>
              <a:latin typeface="Montserrat Classic Bold"/>
            </a:endParaRPr>
          </a:p>
        </p:txBody>
      </p:sp>
      <p:sp>
        <p:nvSpPr>
          <p:cNvPr id="7" name="TextBox 7"/>
          <p:cNvSpPr txBox="1"/>
          <p:nvPr/>
        </p:nvSpPr>
        <p:spPr>
          <a:xfrm>
            <a:off x="16841552" y="9153525"/>
            <a:ext cx="723794" cy="589905"/>
          </a:xfrm>
          <a:prstGeom prst="rect">
            <a:avLst/>
          </a:prstGeom>
        </p:spPr>
        <p:txBody>
          <a:bodyPr wrap="square" lIns="0" tIns="0" rIns="0" bIns="0" rtlCol="0" anchor="t">
            <a:spAutoFit/>
          </a:bodyPr>
          <a:lstStyle/>
          <a:p>
            <a:pPr algn="ctr">
              <a:lnSpc>
                <a:spcPts val="4647"/>
              </a:lnSpc>
            </a:pPr>
            <a:r>
              <a:rPr lang="id-ID" sz="3319" dirty="0" smtClean="0">
                <a:solidFill>
                  <a:srgbClr val="000000"/>
                </a:solidFill>
                <a:latin typeface="Telegraf"/>
              </a:rPr>
              <a:t>40</a:t>
            </a:r>
            <a:endParaRPr lang="en-US" sz="3319" dirty="0">
              <a:solidFill>
                <a:srgbClr val="000000"/>
              </a:solidFill>
              <a:latin typeface="Telegraf"/>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143000" y="1535073"/>
            <a:ext cx="15102855" cy="7899598"/>
          </a:xfrm>
          <a:prstGeom prst="rect">
            <a:avLst/>
          </a:prstGeom>
        </p:spPr>
        <p:txBody>
          <a:bodyPr lIns="0" tIns="0" rIns="0" bIns="0" rtlCol="0" anchor="t">
            <a:spAutoFit/>
          </a:bodyPr>
          <a:lstStyle/>
          <a:p>
            <a:pPr algn="just">
              <a:lnSpc>
                <a:spcPts val="2940"/>
              </a:lnSpc>
            </a:pPr>
            <a:r>
              <a:rPr lang="en-US" sz="2100" dirty="0" err="1">
                <a:solidFill>
                  <a:srgbClr val="000000"/>
                </a:solidFill>
                <a:latin typeface="Montserrat Classic"/>
              </a:rPr>
              <a:t>Kebijakan</a:t>
            </a:r>
            <a:r>
              <a:rPr lang="en-US" sz="2100" dirty="0">
                <a:solidFill>
                  <a:srgbClr val="000000"/>
                </a:solidFill>
                <a:latin typeface="Montserrat Classic"/>
              </a:rPr>
              <a:t> Perusahaan </a:t>
            </a:r>
            <a:r>
              <a:rPr lang="en-US" sz="2100" dirty="0" err="1">
                <a:solidFill>
                  <a:srgbClr val="000000"/>
                </a:solidFill>
                <a:latin typeface="Montserrat Classic"/>
              </a:rPr>
              <a:t>mengenai</a:t>
            </a:r>
            <a:r>
              <a:rPr lang="en-US" sz="2100" dirty="0">
                <a:solidFill>
                  <a:srgbClr val="000000"/>
                </a:solidFill>
                <a:latin typeface="Montserrat Classic"/>
              </a:rPr>
              <a:t> </a:t>
            </a:r>
            <a:r>
              <a:rPr lang="en-US" sz="2100" dirty="0" err="1">
                <a:solidFill>
                  <a:srgbClr val="000000"/>
                </a:solidFill>
                <a:latin typeface="Montserrat Classic"/>
              </a:rPr>
              <a:t>hadiah</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jamuan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dibuat</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reputasi</a:t>
            </a:r>
            <a:r>
              <a:rPr lang="en-US" sz="2100" dirty="0">
                <a:solidFill>
                  <a:srgbClr val="000000"/>
                </a:solidFill>
                <a:latin typeface="Montserrat Classic"/>
              </a:rPr>
              <a:t> Perusahaan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lembaga</a:t>
            </a:r>
            <a:r>
              <a:rPr lang="en-US" sz="2100" dirty="0">
                <a:solidFill>
                  <a:srgbClr val="000000"/>
                </a:solidFill>
                <a:latin typeface="Montserrat Classic"/>
              </a:rPr>
              <a:t> </a:t>
            </a:r>
            <a:r>
              <a:rPr lang="en-US" sz="2100" dirty="0" err="1">
                <a:solidFill>
                  <a:srgbClr val="000000"/>
                </a:solidFill>
                <a:latin typeface="Montserrat Classic"/>
              </a:rPr>
              <a:t>kepercayaan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menjalin</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mitra</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a:t>
            </a:r>
            <a:r>
              <a:rPr lang="en-US" sz="2100" dirty="0" err="1">
                <a:solidFill>
                  <a:srgbClr val="000000"/>
                </a:solidFill>
                <a:latin typeface="Montserrat Classic"/>
              </a:rPr>
              <a:t>segenap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selalu</a:t>
            </a:r>
            <a:r>
              <a:rPr lang="en-US" sz="2100" dirty="0">
                <a:solidFill>
                  <a:srgbClr val="000000"/>
                </a:solidFill>
                <a:latin typeface="Montserrat Classic"/>
              </a:rPr>
              <a:t> </a:t>
            </a:r>
            <a:r>
              <a:rPr lang="en-US" sz="2100" dirty="0" err="1">
                <a:solidFill>
                  <a:srgbClr val="000000"/>
                </a:solidFill>
                <a:latin typeface="Montserrat Classic"/>
              </a:rPr>
              <a:t>mempertahankan</a:t>
            </a:r>
            <a:r>
              <a:rPr lang="en-US" sz="2100" dirty="0">
                <a:solidFill>
                  <a:srgbClr val="000000"/>
                </a:solidFill>
                <a:latin typeface="Montserrat Classic"/>
              </a:rPr>
              <a:t> </a:t>
            </a:r>
            <a:r>
              <a:rPr lang="en-US" sz="2100" dirty="0" err="1">
                <a:solidFill>
                  <a:srgbClr val="000000"/>
                </a:solidFill>
                <a:latin typeface="Montserrat Classic"/>
              </a:rPr>
              <a:t>obyektivitas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profesionalisme</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memperhatikan</a:t>
            </a:r>
            <a:r>
              <a:rPr lang="en-US" sz="2100" dirty="0">
                <a:solidFill>
                  <a:srgbClr val="000000"/>
                </a:solidFill>
                <a:latin typeface="Montserrat Classic"/>
              </a:rPr>
              <a:t> </a:t>
            </a:r>
            <a:r>
              <a:rPr lang="en-US" sz="2100" dirty="0" err="1">
                <a:solidFill>
                  <a:srgbClr val="000000"/>
                </a:solidFill>
                <a:latin typeface="Montserrat Classic"/>
              </a:rPr>
              <a:t>aspek</a:t>
            </a:r>
            <a:r>
              <a:rPr lang="en-US" sz="2100" dirty="0">
                <a:solidFill>
                  <a:srgbClr val="000000"/>
                </a:solidFill>
                <a:latin typeface="Montserrat Classic"/>
              </a:rPr>
              <a:t> </a:t>
            </a:r>
            <a:r>
              <a:rPr lang="en-US" sz="2100" dirty="0" err="1">
                <a:solidFill>
                  <a:srgbClr val="000000"/>
                </a:solidFill>
                <a:latin typeface="Montserrat Classic"/>
              </a:rPr>
              <a:t>kejujuran</a:t>
            </a:r>
            <a:r>
              <a:rPr lang="en-US" sz="2100" dirty="0">
                <a:solidFill>
                  <a:srgbClr val="000000"/>
                </a:solidFill>
                <a:latin typeface="Montserrat Classic"/>
              </a:rPr>
              <a:t>, </a:t>
            </a:r>
            <a:r>
              <a:rPr lang="en-US" sz="2100" dirty="0" err="1">
                <a:solidFill>
                  <a:srgbClr val="000000"/>
                </a:solidFill>
                <a:latin typeface="Montserrat Classic"/>
              </a:rPr>
              <a:t>kewajaran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keadilan</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3360"/>
              </a:lnSpc>
            </a:pPr>
            <a:r>
              <a:rPr lang="en-US" sz="2100" dirty="0" err="1">
                <a:solidFill>
                  <a:srgbClr val="000000"/>
                </a:solidFill>
                <a:latin typeface="Montserrat Classic Bold"/>
              </a:rPr>
              <a:t>Untuk</a:t>
            </a:r>
            <a:r>
              <a:rPr lang="en-US" sz="2100" dirty="0">
                <a:solidFill>
                  <a:srgbClr val="000000"/>
                </a:solidFill>
                <a:latin typeface="Montserrat Classic Bold"/>
              </a:rPr>
              <a:t> </a:t>
            </a:r>
            <a:r>
              <a:rPr lang="en-US" sz="2100" dirty="0" err="1">
                <a:solidFill>
                  <a:srgbClr val="000000"/>
                </a:solidFill>
                <a:latin typeface="Montserrat Classic Bold"/>
              </a:rPr>
              <a:t>itu</a:t>
            </a:r>
            <a:r>
              <a:rPr lang="en-US" sz="2100" dirty="0">
                <a:solidFill>
                  <a:srgbClr val="000000"/>
                </a:solidFill>
                <a:latin typeface="Montserrat Classic Bold"/>
              </a:rPr>
              <a:t> </a:t>
            </a:r>
            <a:r>
              <a:rPr lang="en-US" sz="2100" dirty="0" err="1">
                <a:solidFill>
                  <a:srgbClr val="000000"/>
                </a:solidFill>
                <a:latin typeface="Montserrat Classic Bold"/>
              </a:rPr>
              <a:t>setiap</a:t>
            </a:r>
            <a:r>
              <a:rPr lang="en-US" sz="2100" dirty="0">
                <a:solidFill>
                  <a:srgbClr val="000000"/>
                </a:solidFill>
                <a:latin typeface="Montserrat Classic Bold"/>
              </a:rPr>
              <a:t> </a:t>
            </a:r>
            <a:r>
              <a:rPr lang="en-US" sz="2100" dirty="0" err="1">
                <a:solidFill>
                  <a:srgbClr val="000000"/>
                </a:solidFill>
                <a:latin typeface="Montserrat Classic Bold"/>
              </a:rPr>
              <a:t>Insan</a:t>
            </a:r>
            <a:r>
              <a:rPr lang="en-US" sz="2100" dirty="0">
                <a:solidFill>
                  <a:srgbClr val="000000"/>
                </a:solidFill>
                <a:latin typeface="Montserrat Classic Bold"/>
              </a:rPr>
              <a:t> Perusahaan </a:t>
            </a:r>
            <a:r>
              <a:rPr lang="en-US" sz="2100" dirty="0" err="1">
                <a:solidFill>
                  <a:srgbClr val="000000"/>
                </a:solidFill>
                <a:latin typeface="Montserrat Classic Bold"/>
              </a:rPr>
              <a:t>tidak</a:t>
            </a:r>
            <a:r>
              <a:rPr lang="en-US" sz="2100" dirty="0">
                <a:solidFill>
                  <a:srgbClr val="000000"/>
                </a:solidFill>
                <a:latin typeface="Montserrat Classic Bold"/>
              </a:rPr>
              <a:t> </a:t>
            </a:r>
            <a:r>
              <a:rPr lang="en-US" sz="2100" dirty="0" err="1">
                <a:solidFill>
                  <a:srgbClr val="000000"/>
                </a:solidFill>
                <a:latin typeface="Montserrat Classic Bold"/>
              </a:rPr>
              <a:t>diperkenankan</a:t>
            </a:r>
            <a:r>
              <a:rPr lang="en-US" sz="2100" dirty="0">
                <a:solidFill>
                  <a:srgbClr val="000000"/>
                </a:solidFill>
                <a:latin typeface="Montserrat Classic Bold"/>
              </a:rPr>
              <a:t> </a:t>
            </a:r>
            <a:r>
              <a:rPr lang="en-US" sz="2100" dirty="0" err="1">
                <a:solidFill>
                  <a:srgbClr val="000000"/>
                </a:solidFill>
                <a:latin typeface="Montserrat Classic Bold"/>
              </a:rPr>
              <a:t>melakukan</a:t>
            </a:r>
            <a:r>
              <a:rPr lang="en-US" sz="2100" dirty="0">
                <a:solidFill>
                  <a:srgbClr val="000000"/>
                </a:solidFill>
                <a:latin typeface="Montserrat Classic Bold"/>
              </a:rPr>
              <a:t> </a:t>
            </a:r>
            <a:r>
              <a:rPr lang="en-US" sz="2100" dirty="0" err="1">
                <a:solidFill>
                  <a:srgbClr val="000000"/>
                </a:solidFill>
                <a:latin typeface="Montserrat Classic Bold"/>
              </a:rPr>
              <a:t>hal</a:t>
            </a:r>
            <a:r>
              <a:rPr lang="en-US" sz="2100" dirty="0">
                <a:solidFill>
                  <a:srgbClr val="000000"/>
                </a:solidFill>
                <a:latin typeface="Montserrat Classic Bold"/>
              </a:rPr>
              <a:t> </a:t>
            </a:r>
            <a:r>
              <a:rPr lang="en-US" sz="2100" dirty="0" err="1">
                <a:solidFill>
                  <a:srgbClr val="000000"/>
                </a:solidFill>
                <a:latin typeface="Montserrat Classic Bold"/>
              </a:rPr>
              <a:t>hal</a:t>
            </a:r>
            <a:r>
              <a:rPr lang="en-US" sz="2100" dirty="0">
                <a:solidFill>
                  <a:srgbClr val="000000"/>
                </a:solidFill>
                <a:latin typeface="Montserrat Classic Bold"/>
              </a:rPr>
              <a:t> </a:t>
            </a:r>
            <a:r>
              <a:rPr lang="en-US" sz="2100" dirty="0" err="1">
                <a:solidFill>
                  <a:srgbClr val="000000"/>
                </a:solidFill>
                <a:latin typeface="Montserrat Classic Bold"/>
              </a:rPr>
              <a:t>sebagai</a:t>
            </a:r>
            <a:r>
              <a:rPr lang="en-US" sz="2100" dirty="0">
                <a:solidFill>
                  <a:srgbClr val="000000"/>
                </a:solidFill>
                <a:latin typeface="Montserrat Classic Bold"/>
              </a:rPr>
              <a:t> </a:t>
            </a:r>
            <a:r>
              <a:rPr lang="en-US" sz="2100" dirty="0" err="1">
                <a:solidFill>
                  <a:srgbClr val="000000"/>
                </a:solidFill>
                <a:latin typeface="Montserrat Classic Bold"/>
              </a:rPr>
              <a:t>berikut</a:t>
            </a:r>
            <a:r>
              <a:rPr lang="en-US" sz="2100" dirty="0">
                <a:solidFill>
                  <a:srgbClr val="000000"/>
                </a:solidFill>
                <a:latin typeface="Montserrat Classic Bold"/>
              </a:rPr>
              <a:t>:</a:t>
            </a:r>
          </a:p>
          <a:p>
            <a:pPr algn="just">
              <a:lnSpc>
                <a:spcPts val="3360"/>
              </a:lnSpc>
            </a:pPr>
            <a:endParaRPr lang="en-US" sz="2100" dirty="0">
              <a:solidFill>
                <a:srgbClr val="000000"/>
              </a:solidFill>
              <a:latin typeface="Montserrat Classic Bold"/>
            </a:endParaRPr>
          </a:p>
          <a:p>
            <a:pPr marL="342900" indent="-342900" algn="just">
              <a:lnSpc>
                <a:spcPts val="3360"/>
              </a:lnSpc>
              <a:buFont typeface="Arial" panose="020B0604020202020204" pitchFamily="34" charset="0"/>
              <a:buChar char="•"/>
            </a:pPr>
            <a:r>
              <a:rPr lang="en-US" sz="2100" dirty="0" err="1">
                <a:solidFill>
                  <a:srgbClr val="000000"/>
                </a:solidFill>
                <a:latin typeface="Montserrat Classic"/>
              </a:rPr>
              <a:t>Memberi</a:t>
            </a:r>
            <a:r>
              <a:rPr lang="en-US" sz="2100" dirty="0">
                <a:solidFill>
                  <a:srgbClr val="000000"/>
                </a:solidFill>
                <a:latin typeface="Montserrat Classic"/>
              </a:rPr>
              <a:t>, </a:t>
            </a:r>
            <a:r>
              <a:rPr lang="en-US" sz="2100" dirty="0" err="1">
                <a:solidFill>
                  <a:srgbClr val="000000"/>
                </a:solidFill>
                <a:latin typeface="Montserrat Classic"/>
              </a:rPr>
              <a:t>meminta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yang </a:t>
            </a:r>
            <a:r>
              <a:rPr lang="en-US" sz="2100" dirty="0" err="1">
                <a:solidFill>
                  <a:srgbClr val="000000"/>
                </a:solidFill>
                <a:latin typeface="Montserrat Classic"/>
              </a:rPr>
              <a:t>disetarakan</a:t>
            </a:r>
            <a:r>
              <a:rPr lang="en-US" sz="2100" dirty="0">
                <a:solidFill>
                  <a:srgbClr val="000000"/>
                </a:solidFill>
                <a:latin typeface="Montserrat Classic"/>
              </a:rPr>
              <a:t>, </a:t>
            </a:r>
            <a:r>
              <a:rPr lang="en-US" sz="2100" dirty="0" err="1">
                <a:solidFill>
                  <a:srgbClr val="000000"/>
                </a:solidFill>
                <a:latin typeface="Montserrat Classic"/>
              </a:rPr>
              <a:t>hadiah</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a:t>
            </a:r>
            <a:r>
              <a:rPr lang="en-US" sz="2100" dirty="0" err="1">
                <a:solidFill>
                  <a:srgbClr val="000000"/>
                </a:solidFill>
                <a:latin typeface="Montserrat Classic"/>
              </a:rPr>
              <a:t>fasilitas</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jasa</a:t>
            </a:r>
            <a:r>
              <a:rPr lang="en-US" sz="2100" dirty="0">
                <a:solidFill>
                  <a:srgbClr val="000000"/>
                </a:solidFill>
                <a:latin typeface="Montserrat Classic"/>
              </a:rPr>
              <a:t> </a:t>
            </a:r>
            <a:r>
              <a:rPr lang="en-US" sz="2100" dirty="0" err="1">
                <a:solidFill>
                  <a:srgbClr val="000000"/>
                </a:solidFill>
                <a:latin typeface="Montserrat Classic"/>
              </a:rPr>
              <a:t>hiburan</a:t>
            </a:r>
            <a:r>
              <a:rPr lang="en-US" sz="2100" dirty="0">
                <a:solidFill>
                  <a:srgbClr val="000000"/>
                </a:solidFill>
                <a:latin typeface="Montserrat Classic"/>
              </a:rPr>
              <a:t> yang </a:t>
            </a:r>
            <a:r>
              <a:rPr lang="en-US" sz="2100" dirty="0" err="1">
                <a:solidFill>
                  <a:srgbClr val="000000"/>
                </a:solidFill>
                <a:latin typeface="Montserrat Classic"/>
              </a:rPr>
              <a:t>diketahui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patut</a:t>
            </a:r>
            <a:r>
              <a:rPr lang="en-US" sz="2100" dirty="0">
                <a:solidFill>
                  <a:srgbClr val="000000"/>
                </a:solidFill>
                <a:latin typeface="Montserrat Classic"/>
              </a:rPr>
              <a:t> </a:t>
            </a:r>
            <a:r>
              <a:rPr lang="en-US" sz="2100" dirty="0" err="1">
                <a:solidFill>
                  <a:srgbClr val="000000"/>
                </a:solidFill>
                <a:latin typeface="Montserrat Classic"/>
              </a:rPr>
              <a:t>diduga</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mungkin</a:t>
            </a:r>
            <a:r>
              <a:rPr lang="en-US" sz="2100" dirty="0">
                <a:solidFill>
                  <a:srgbClr val="000000"/>
                </a:solidFill>
                <a:latin typeface="Montserrat Classic"/>
              </a:rPr>
              <a:t> </a:t>
            </a:r>
            <a:r>
              <a:rPr lang="en-US" sz="2100" dirty="0" err="1">
                <a:solidFill>
                  <a:srgbClr val="000000"/>
                </a:solidFill>
                <a:latin typeface="Montserrat Classic"/>
              </a:rPr>
              <a:t>terkait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jabatan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pekerjaan</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menimbulkan</a:t>
            </a:r>
            <a:r>
              <a:rPr lang="en-US" sz="2100" dirty="0">
                <a:solidFill>
                  <a:srgbClr val="000000"/>
                </a:solidFill>
                <a:latin typeface="Montserrat Classic"/>
              </a:rPr>
              <a:t> </a:t>
            </a:r>
            <a:r>
              <a:rPr lang="en-US" sz="2100" dirty="0" err="1">
                <a:solidFill>
                  <a:srgbClr val="000000"/>
                </a:solidFill>
                <a:latin typeface="Montserrat Classic"/>
              </a:rPr>
              <a:t>kesan</a:t>
            </a:r>
            <a:r>
              <a:rPr lang="en-US" sz="2100" dirty="0">
                <a:solidFill>
                  <a:srgbClr val="000000"/>
                </a:solidFill>
                <a:latin typeface="Montserrat Classic"/>
              </a:rPr>
              <a:t> </a:t>
            </a:r>
            <a:r>
              <a:rPr lang="en-US" sz="2100" dirty="0" err="1">
                <a:solidFill>
                  <a:srgbClr val="000000"/>
                </a:solidFill>
                <a:latin typeface="Montserrat Classic"/>
              </a:rPr>
              <a:t>kompromi</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pengambilan</a:t>
            </a:r>
            <a:r>
              <a:rPr lang="en-US" sz="2100" dirty="0">
                <a:solidFill>
                  <a:srgbClr val="000000"/>
                </a:solidFill>
                <a:latin typeface="Montserrat Classic"/>
              </a:rPr>
              <a:t> </a:t>
            </a:r>
            <a:r>
              <a:rPr lang="en-US" sz="2100" dirty="0" err="1">
                <a:solidFill>
                  <a:srgbClr val="000000"/>
                </a:solidFill>
                <a:latin typeface="Montserrat Classic"/>
              </a:rPr>
              <a:t>keputusan</a:t>
            </a:r>
            <a:endParaRPr lang="en-US" sz="2100" dirty="0">
              <a:solidFill>
                <a:srgbClr val="000000"/>
              </a:solidFill>
              <a:latin typeface="Montserrat Classic"/>
            </a:endParaRPr>
          </a:p>
          <a:p>
            <a:pPr algn="just">
              <a:lnSpc>
                <a:spcPts val="3360"/>
              </a:lnSpc>
            </a:pPr>
            <a:endParaRPr lang="en-US" sz="2100" dirty="0">
              <a:solidFill>
                <a:srgbClr val="000000"/>
              </a:solidFill>
              <a:latin typeface="Montserrat Classic"/>
            </a:endParaRPr>
          </a:p>
          <a:p>
            <a:pPr marL="342900" indent="-342900" algn="just">
              <a:lnSpc>
                <a:spcPts val="3360"/>
              </a:lnSpc>
              <a:buFont typeface="Arial" panose="020B0604020202020204" pitchFamily="34" charset="0"/>
              <a:buChar char="•"/>
            </a:pPr>
            <a:r>
              <a:rPr lang="en-US" sz="2100" dirty="0" err="1">
                <a:solidFill>
                  <a:srgbClr val="000000"/>
                </a:solidFill>
                <a:latin typeface="Montserrat Classic"/>
              </a:rPr>
              <a:t>Mengijinkan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membiarkan</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keluarga</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meminta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yang </a:t>
            </a:r>
            <a:r>
              <a:rPr lang="en-US" sz="2100" dirty="0" err="1">
                <a:solidFill>
                  <a:srgbClr val="000000"/>
                </a:solidFill>
                <a:latin typeface="Montserrat Classic"/>
              </a:rPr>
              <a:t>disetarakan</a:t>
            </a:r>
            <a:r>
              <a:rPr lang="en-US" sz="2100" dirty="0">
                <a:solidFill>
                  <a:srgbClr val="000000"/>
                </a:solidFill>
                <a:latin typeface="Montserrat Classic"/>
              </a:rPr>
              <a:t>, </a:t>
            </a:r>
            <a:r>
              <a:rPr lang="en-US" sz="2100" dirty="0" err="1">
                <a:solidFill>
                  <a:srgbClr val="000000"/>
                </a:solidFill>
                <a:latin typeface="Montserrat Classic"/>
              </a:rPr>
              <a:t>hadiah</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termasuk</a:t>
            </a:r>
            <a:r>
              <a:rPr lang="en-US" sz="2100" dirty="0">
                <a:solidFill>
                  <a:srgbClr val="000000"/>
                </a:solidFill>
                <a:latin typeface="Montserrat Classic"/>
              </a:rPr>
              <a:t> </a:t>
            </a:r>
            <a:r>
              <a:rPr lang="en-US" sz="2100" dirty="0" err="1">
                <a:solidFill>
                  <a:srgbClr val="000000"/>
                </a:solidFill>
                <a:latin typeface="Montserrat Classic"/>
              </a:rPr>
              <a:t>fasilitas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jasa</a:t>
            </a:r>
            <a:r>
              <a:rPr lang="en-US" sz="2100" dirty="0">
                <a:solidFill>
                  <a:srgbClr val="000000"/>
                </a:solidFill>
                <a:latin typeface="Montserrat Classic"/>
              </a:rPr>
              <a:t> </a:t>
            </a:r>
            <a:r>
              <a:rPr lang="en-US" sz="2100" dirty="0" err="1">
                <a:solidFill>
                  <a:srgbClr val="000000"/>
                </a:solidFill>
                <a:latin typeface="Montserrat Classic"/>
              </a:rPr>
              <a:t>hiburan</a:t>
            </a:r>
            <a:r>
              <a:rPr lang="en-US" sz="2100" dirty="0">
                <a:solidFill>
                  <a:srgbClr val="000000"/>
                </a:solidFill>
                <a:latin typeface="Montserrat Classic"/>
              </a:rPr>
              <a:t> yang </a:t>
            </a:r>
            <a:r>
              <a:rPr lang="en-US" sz="2100" dirty="0" err="1">
                <a:solidFill>
                  <a:srgbClr val="000000"/>
                </a:solidFill>
                <a:latin typeface="Montserrat Classic"/>
              </a:rPr>
              <a:t>diketahui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patut</a:t>
            </a:r>
            <a:r>
              <a:rPr lang="en-US" sz="2100" dirty="0">
                <a:solidFill>
                  <a:srgbClr val="000000"/>
                </a:solidFill>
                <a:latin typeface="Montserrat Classic"/>
              </a:rPr>
              <a:t> </a:t>
            </a:r>
            <a:r>
              <a:rPr lang="en-US" sz="2100" dirty="0" err="1">
                <a:solidFill>
                  <a:srgbClr val="000000"/>
                </a:solidFill>
                <a:latin typeface="Montserrat Classic"/>
              </a:rPr>
              <a:t>diduga</a:t>
            </a:r>
            <a:r>
              <a:rPr lang="en-US" sz="2100" dirty="0">
                <a:solidFill>
                  <a:srgbClr val="000000"/>
                </a:solidFill>
                <a:latin typeface="Montserrat Classic"/>
              </a:rPr>
              <a:t> </a:t>
            </a:r>
            <a:r>
              <a:rPr lang="en-US" sz="2100" dirty="0" err="1">
                <a:solidFill>
                  <a:srgbClr val="000000"/>
                </a:solidFill>
                <a:latin typeface="Montserrat Classic"/>
              </a:rPr>
              <a:t>mempunyai</a:t>
            </a:r>
            <a:r>
              <a:rPr lang="en-US" sz="2100" dirty="0">
                <a:solidFill>
                  <a:srgbClr val="000000"/>
                </a:solidFill>
                <a:latin typeface="Montserrat Classic"/>
              </a:rPr>
              <a:t> </a:t>
            </a:r>
            <a:r>
              <a:rPr lang="en-US" sz="2100" dirty="0" err="1">
                <a:solidFill>
                  <a:srgbClr val="000000"/>
                </a:solidFill>
                <a:latin typeface="Montserrat Classic"/>
              </a:rPr>
              <a:t>hubungan</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jabatan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pekerjaan</a:t>
            </a:r>
            <a:endParaRPr lang="en-US" sz="2100" dirty="0">
              <a:solidFill>
                <a:srgbClr val="000000"/>
              </a:solidFill>
              <a:latin typeface="Montserrat Classic"/>
            </a:endParaRPr>
          </a:p>
          <a:p>
            <a:pPr algn="just">
              <a:lnSpc>
                <a:spcPts val="3360"/>
              </a:lnSpc>
            </a:pPr>
            <a:endParaRPr lang="en-US" sz="2100" dirty="0">
              <a:solidFill>
                <a:srgbClr val="000000"/>
              </a:solidFill>
              <a:latin typeface="Montserrat Classic"/>
            </a:endParaRPr>
          </a:p>
          <a:p>
            <a:pPr marL="342900" indent="-342900" algn="just">
              <a:lnSpc>
                <a:spcPts val="3360"/>
              </a:lnSpc>
              <a:buFont typeface="Arial" panose="020B0604020202020204" pitchFamily="34" charset="0"/>
              <a:buChar char="•"/>
            </a:pPr>
            <a:r>
              <a:rPr lang="en-US" sz="2100" dirty="0" err="1">
                <a:solidFill>
                  <a:srgbClr val="000000"/>
                </a:solidFill>
                <a:latin typeface="Montserrat Classic"/>
              </a:rPr>
              <a:t>Menjanjikan</a:t>
            </a:r>
            <a:r>
              <a:rPr lang="en-US" sz="2100" dirty="0">
                <a:solidFill>
                  <a:srgbClr val="000000"/>
                </a:solidFill>
                <a:latin typeface="Montserrat Classic"/>
              </a:rPr>
              <a:t> </a:t>
            </a:r>
            <a:r>
              <a:rPr lang="en-US" sz="2100" dirty="0" err="1">
                <a:solidFill>
                  <a:srgbClr val="000000"/>
                </a:solidFill>
                <a:latin typeface="Montserrat Classic"/>
              </a:rPr>
              <a:t>peluang</a:t>
            </a:r>
            <a:r>
              <a:rPr lang="en-US" sz="2100" dirty="0">
                <a:solidFill>
                  <a:srgbClr val="000000"/>
                </a:solidFill>
                <a:latin typeface="Montserrat Classic"/>
              </a:rPr>
              <a:t> </a:t>
            </a:r>
            <a:r>
              <a:rPr lang="en-US" sz="2100" dirty="0" err="1">
                <a:solidFill>
                  <a:srgbClr val="000000"/>
                </a:solidFill>
                <a:latin typeface="Montserrat Classic"/>
              </a:rPr>
              <a:t>pekerjaan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mitra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harapan</a:t>
            </a:r>
            <a:r>
              <a:rPr lang="en-US" sz="2100" dirty="0">
                <a:solidFill>
                  <a:srgbClr val="000000"/>
                </a:solidFill>
                <a:latin typeface="Montserrat Classic"/>
              </a:rPr>
              <a:t> </a:t>
            </a:r>
            <a:r>
              <a:rPr lang="en-US" sz="2100" dirty="0" err="1">
                <a:solidFill>
                  <a:srgbClr val="000000"/>
                </a:solidFill>
                <a:latin typeface="Montserrat Classic"/>
              </a:rPr>
              <a:t>mendapatkan</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hadiah</a:t>
            </a:r>
            <a:r>
              <a:rPr lang="en-US" sz="2100" dirty="0">
                <a:solidFill>
                  <a:srgbClr val="000000"/>
                </a:solidFill>
                <a:latin typeface="Montserrat Classic"/>
              </a:rPr>
              <a:t> </a:t>
            </a:r>
            <a:r>
              <a:rPr lang="en-US" sz="2100" dirty="0" err="1">
                <a:solidFill>
                  <a:srgbClr val="000000"/>
                </a:solidFill>
                <a:latin typeface="Montserrat Classic"/>
              </a:rPr>
              <a:t>sehubungan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jabatannya</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pengambil</a:t>
            </a:r>
            <a:r>
              <a:rPr lang="en-US" sz="2100" dirty="0">
                <a:solidFill>
                  <a:srgbClr val="000000"/>
                </a:solidFill>
                <a:latin typeface="Montserrat Classic"/>
              </a:rPr>
              <a:t> </a:t>
            </a:r>
            <a:r>
              <a:rPr lang="en-US" sz="2100" dirty="0" err="1" smtClean="0">
                <a:solidFill>
                  <a:srgbClr val="000000"/>
                </a:solidFill>
                <a:latin typeface="Montserrat Classic"/>
              </a:rPr>
              <a:t>keputusan</a:t>
            </a: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143000" y="793800"/>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K. Etika Terkait Hadiah atau Imbalan dan Jamuan Bisnis Serta Donasi </a:t>
            </a: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41</a:t>
            </a:r>
            <a:endParaRPr lang="en-US" sz="3319" dirty="0">
              <a:solidFill>
                <a:srgbClr val="000000"/>
              </a:solidFill>
              <a:latin typeface="Telegraf"/>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143000" y="1815465"/>
            <a:ext cx="15102855" cy="3328035"/>
          </a:xfrm>
          <a:prstGeom prst="rect">
            <a:avLst/>
          </a:prstGeom>
        </p:spPr>
        <p:txBody>
          <a:bodyPr lIns="0" tIns="0" rIns="0" bIns="0" rtlCol="0" anchor="t">
            <a:spAutoFit/>
          </a:bodyPr>
          <a:lstStyle/>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Membiarkan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keadaan</a:t>
            </a:r>
            <a:r>
              <a:rPr lang="en-US" sz="2100" dirty="0">
                <a:solidFill>
                  <a:srgbClr val="000000"/>
                </a:solidFill>
                <a:latin typeface="Montserrat Classic"/>
              </a:rPr>
              <a:t>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memungkinkan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menolak</a:t>
            </a:r>
            <a:r>
              <a:rPr lang="en-US" sz="2100" dirty="0">
                <a:solidFill>
                  <a:srgbClr val="000000"/>
                </a:solidFill>
                <a:latin typeface="Montserrat Classic"/>
              </a:rPr>
              <a:t> </a:t>
            </a:r>
            <a:r>
              <a:rPr lang="en-US" sz="2100" dirty="0" err="1">
                <a:solidFill>
                  <a:srgbClr val="000000"/>
                </a:solidFill>
                <a:latin typeface="Montserrat Classic"/>
              </a:rPr>
              <a:t>sesuatu</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imbalan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hadiah</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mitra</a:t>
            </a:r>
            <a:r>
              <a:rPr lang="en-US" sz="2100" dirty="0">
                <a:solidFill>
                  <a:srgbClr val="000000"/>
                </a:solidFill>
                <a:latin typeface="Montserrat Classic"/>
              </a:rPr>
              <a:t> </a:t>
            </a:r>
            <a:r>
              <a:rPr lang="en-US" sz="2100" dirty="0" err="1">
                <a:solidFill>
                  <a:srgbClr val="000000"/>
                </a:solidFill>
                <a:latin typeface="Montserrat Classic"/>
              </a:rPr>
              <a:t>bisnis</a:t>
            </a: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jamuan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yang </a:t>
            </a:r>
            <a:r>
              <a:rPr lang="en-US" sz="2100" dirty="0" err="1">
                <a:solidFill>
                  <a:srgbClr val="000000"/>
                </a:solidFill>
                <a:latin typeface="Montserrat Classic"/>
              </a:rPr>
              <a:t>berlebihan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tujuan</a:t>
            </a:r>
            <a:r>
              <a:rPr lang="en-US" sz="2100" dirty="0">
                <a:solidFill>
                  <a:srgbClr val="000000"/>
                </a:solidFill>
                <a:latin typeface="Montserrat Classic"/>
              </a:rPr>
              <a:t>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pertimbangan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yang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wajar</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perjanjian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transaksi</a:t>
            </a:r>
            <a:r>
              <a:rPr lang="en-US" sz="2100" dirty="0">
                <a:solidFill>
                  <a:srgbClr val="000000"/>
                </a:solidFill>
                <a:latin typeface="Montserrat Classic"/>
              </a:rPr>
              <a:t> yang </a:t>
            </a:r>
            <a:r>
              <a:rPr lang="en-US" sz="2100" dirty="0" err="1">
                <a:solidFill>
                  <a:srgbClr val="000000"/>
                </a:solidFill>
                <a:latin typeface="Montserrat Classic"/>
              </a:rPr>
              <a:t>melibatkan</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jamuan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yang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menimbulkan</a:t>
            </a:r>
            <a:r>
              <a:rPr lang="en-US" sz="2100" dirty="0">
                <a:solidFill>
                  <a:srgbClr val="000000"/>
                </a:solidFill>
                <a:latin typeface="Montserrat Classic"/>
              </a:rPr>
              <a:t> </a:t>
            </a:r>
            <a:r>
              <a:rPr lang="en-US" sz="2100" dirty="0" err="1">
                <a:solidFill>
                  <a:srgbClr val="000000"/>
                </a:solidFill>
                <a:latin typeface="Montserrat Classic"/>
              </a:rPr>
              <a:t>kewajiban</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obyektivitas</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kemandirian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pengambilan</a:t>
            </a:r>
            <a:r>
              <a:rPr lang="en-US" sz="2100" dirty="0">
                <a:solidFill>
                  <a:srgbClr val="000000"/>
                </a:solidFill>
                <a:latin typeface="Montserrat Classic"/>
              </a:rPr>
              <a:t> </a:t>
            </a:r>
            <a:r>
              <a:rPr lang="en-US" sz="2100" dirty="0" err="1">
                <a:solidFill>
                  <a:srgbClr val="000000"/>
                </a:solidFill>
                <a:latin typeface="Montserrat Classic"/>
              </a:rPr>
              <a:t>keputusan</a:t>
            </a:r>
            <a:r>
              <a:rPr lang="en-US" sz="2100" dirty="0">
                <a:solidFill>
                  <a:srgbClr val="000000"/>
                </a:solidFill>
                <a:latin typeface="Montserrat Classic"/>
              </a:rPr>
              <a:t> </a:t>
            </a:r>
            <a:r>
              <a:rPr lang="en-US" sz="2100" dirty="0" err="1">
                <a:solidFill>
                  <a:srgbClr val="000000"/>
                </a:solidFill>
                <a:latin typeface="Montserrat Classic"/>
              </a:rPr>
              <a:t>bisnis</a:t>
            </a: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143000" y="793800"/>
            <a:ext cx="16116300" cy="422176"/>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K. Etika terkait hadiah atau imbalan dan jamuan bisnis serta donasi </a:t>
            </a:r>
          </a:p>
        </p:txBody>
      </p:sp>
      <p:sp>
        <p:nvSpPr>
          <p:cNvPr id="8"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42</a:t>
            </a:r>
            <a:endParaRPr lang="en-US" sz="3319" dirty="0">
              <a:solidFill>
                <a:srgbClr val="000000"/>
              </a:solidFill>
              <a:latin typeface="Telegraf"/>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802424" y="7222913"/>
            <a:ext cx="11300655" cy="9184351"/>
          </a:xfrm>
          <a:prstGeom prst="rect">
            <a:avLst/>
          </a:prstGeom>
        </p:spPr>
      </p:pic>
      <p:sp>
        <p:nvSpPr>
          <p:cNvPr id="5" name="TextBox 5"/>
          <p:cNvSpPr txBox="1"/>
          <p:nvPr/>
        </p:nvSpPr>
        <p:spPr>
          <a:xfrm>
            <a:off x="1143000" y="1685149"/>
            <a:ext cx="14965078" cy="7153561"/>
          </a:xfrm>
          <a:prstGeom prst="rect">
            <a:avLst/>
          </a:prstGeom>
        </p:spPr>
        <p:txBody>
          <a:bodyPr lIns="0" tIns="0" rIns="0" bIns="0" rtlCol="0" anchor="t">
            <a:spAutoFit/>
          </a:bodyPr>
          <a:lstStyle/>
          <a:p>
            <a:pPr algn="just">
              <a:lnSpc>
                <a:spcPts val="2940"/>
              </a:lnSpc>
            </a:pPr>
            <a:r>
              <a:rPr lang="en-US" sz="2100" dirty="0" err="1">
                <a:solidFill>
                  <a:srgbClr val="000000"/>
                </a:solidFill>
                <a:latin typeface="Montserrat Classic"/>
              </a:rPr>
              <a:t>Larangan</a:t>
            </a:r>
            <a:r>
              <a:rPr lang="en-US" sz="2100" dirty="0">
                <a:solidFill>
                  <a:srgbClr val="000000"/>
                </a:solidFill>
                <a:latin typeface="Montserrat Classic"/>
              </a:rPr>
              <a:t>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yang </a:t>
            </a:r>
            <a:r>
              <a:rPr lang="en-US" sz="2100" dirty="0" err="1">
                <a:solidFill>
                  <a:srgbClr val="000000"/>
                </a:solidFill>
                <a:latin typeface="Montserrat Classic"/>
              </a:rPr>
              <a:t>disetarakan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dikecualikan</a:t>
            </a:r>
            <a:r>
              <a:rPr lang="en-US" sz="2100" dirty="0">
                <a:solidFill>
                  <a:srgbClr val="000000"/>
                </a:solidFill>
                <a:latin typeface="Montserrat Classic"/>
              </a:rPr>
              <a:t> </a:t>
            </a:r>
            <a:r>
              <a:rPr lang="en-US" sz="2100" dirty="0" err="1">
                <a:solidFill>
                  <a:srgbClr val="000000"/>
                </a:solidFill>
                <a:latin typeface="Montserrat Classic"/>
              </a:rPr>
              <a:t>jika</a:t>
            </a:r>
            <a:r>
              <a:rPr lang="en-US" sz="2100" dirty="0">
                <a:solidFill>
                  <a:srgbClr val="000000"/>
                </a:solidFill>
                <a:latin typeface="Montserrat Classic"/>
              </a:rPr>
              <a:t> </a:t>
            </a:r>
            <a:r>
              <a:rPr lang="en-US" sz="2100" dirty="0" err="1">
                <a:solidFill>
                  <a:srgbClr val="000000"/>
                </a:solidFill>
                <a:latin typeface="Montserrat Classic"/>
              </a:rPr>
              <a:t>uang</a:t>
            </a:r>
            <a:r>
              <a:rPr lang="en-US" sz="2100" dirty="0">
                <a:solidFill>
                  <a:srgbClr val="000000"/>
                </a:solidFill>
                <a:latin typeface="Montserrat Classic"/>
              </a:rPr>
              <a:t> yang </a:t>
            </a:r>
            <a:r>
              <a:rPr lang="en-US" sz="2100" dirty="0" err="1">
                <a:solidFill>
                  <a:srgbClr val="000000"/>
                </a:solidFill>
                <a:latin typeface="Montserrat Classic"/>
              </a:rPr>
              <a:t>diterima</a:t>
            </a:r>
            <a:r>
              <a:rPr lang="en-US" sz="2100" dirty="0">
                <a:solidFill>
                  <a:srgbClr val="000000"/>
                </a:solidFill>
                <a:latin typeface="Montserrat Classic"/>
              </a:rPr>
              <a:t> </a:t>
            </a:r>
            <a:r>
              <a:rPr lang="en-US" sz="2100" dirty="0" err="1">
                <a:solidFill>
                  <a:srgbClr val="000000"/>
                </a:solidFill>
                <a:latin typeface="Montserrat Classic"/>
              </a:rPr>
              <a:t>tersebut</a:t>
            </a:r>
            <a:r>
              <a:rPr lang="en-US" sz="2100" dirty="0">
                <a:solidFill>
                  <a:srgbClr val="000000"/>
                </a:solidFill>
                <a:latin typeface="Montserrat Classic"/>
              </a:rPr>
              <a:t> </a:t>
            </a:r>
            <a:r>
              <a:rPr lang="en-US" sz="2100" dirty="0" err="1">
                <a:solidFill>
                  <a:srgbClr val="000000"/>
                </a:solidFill>
                <a:latin typeface="Montserrat Classic"/>
              </a:rPr>
              <a:t>diberikan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batas</a:t>
            </a:r>
            <a:r>
              <a:rPr lang="en-US" sz="2100" dirty="0">
                <a:solidFill>
                  <a:srgbClr val="000000"/>
                </a:solidFill>
                <a:latin typeface="Montserrat Classic"/>
              </a:rPr>
              <a:t> </a:t>
            </a:r>
            <a:r>
              <a:rPr lang="en-US" sz="2100" dirty="0" err="1">
                <a:solidFill>
                  <a:srgbClr val="000000"/>
                </a:solidFill>
                <a:latin typeface="Montserrat Classic"/>
              </a:rPr>
              <a:t>kewajaran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kepatutan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rangka</a:t>
            </a:r>
            <a:r>
              <a:rPr lang="en-US" sz="2100" dirty="0">
                <a:solidFill>
                  <a:srgbClr val="000000"/>
                </a:solidFill>
                <a:latin typeface="Montserrat Classic"/>
              </a:rPr>
              <a:t> :</a:t>
            </a:r>
          </a:p>
          <a:p>
            <a:pPr algn="just">
              <a:lnSpc>
                <a:spcPts val="2940"/>
              </a:lnSpc>
            </a:pPr>
            <a:endParaRPr lang="en-US" sz="2100" dirty="0">
              <a:solidFill>
                <a:srgbClr val="000000"/>
              </a:solidFill>
              <a:latin typeface="Montserrat Classic"/>
            </a:endParaRPr>
          </a:p>
          <a:p>
            <a:pPr marL="457200" indent="-457200" algn="just">
              <a:lnSpc>
                <a:spcPts val="3780"/>
              </a:lnSpc>
              <a:buFont typeface="+mj-lt"/>
              <a:buAutoNum type="arabicPeriod"/>
            </a:pPr>
            <a:r>
              <a:rPr lang="en-US" sz="2100" dirty="0" err="1">
                <a:solidFill>
                  <a:srgbClr val="000000"/>
                </a:solidFill>
                <a:latin typeface="Montserrat Classic"/>
              </a:rPr>
              <a:t>Perkawinan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anak</a:t>
            </a:r>
            <a:r>
              <a:rPr lang="en-US" sz="2100" dirty="0">
                <a:solidFill>
                  <a:srgbClr val="000000"/>
                </a:solidFill>
                <a:latin typeface="Montserrat Classic"/>
              </a:rPr>
              <a:t> </a:t>
            </a:r>
            <a:r>
              <a:rPr lang="en-US" sz="2100" dirty="0" err="1">
                <a:solidFill>
                  <a:srgbClr val="000000"/>
                </a:solidFill>
                <a:latin typeface="Montserrat Classic"/>
              </a:rPr>
              <a:t>Karyawan</a:t>
            </a:r>
            <a:endParaRPr lang="en-US" sz="2100" dirty="0">
              <a:solidFill>
                <a:srgbClr val="000000"/>
              </a:solidFill>
              <a:latin typeface="Montserrat Classic"/>
            </a:endParaRPr>
          </a:p>
          <a:p>
            <a:pPr algn="just">
              <a:lnSpc>
                <a:spcPts val="3780"/>
              </a:lnSpc>
            </a:pPr>
            <a:endParaRPr lang="en-US" sz="2100" dirty="0">
              <a:solidFill>
                <a:srgbClr val="000000"/>
              </a:solidFill>
              <a:latin typeface="Montserrat Classic"/>
            </a:endParaRPr>
          </a:p>
          <a:p>
            <a:pPr marL="457200" indent="-457200" algn="just">
              <a:lnSpc>
                <a:spcPts val="3780"/>
              </a:lnSpc>
              <a:buFont typeface="+mj-lt"/>
              <a:buAutoNum type="arabicPeriod" startAt="2"/>
            </a:pPr>
            <a:r>
              <a:rPr lang="en-US" sz="2100" dirty="0" err="1">
                <a:solidFill>
                  <a:srgbClr val="000000"/>
                </a:solidFill>
                <a:latin typeface="Montserrat Classic"/>
              </a:rPr>
              <a:t>Khitanan</a:t>
            </a:r>
            <a:r>
              <a:rPr lang="en-US" sz="2100" dirty="0">
                <a:solidFill>
                  <a:srgbClr val="000000"/>
                </a:solidFill>
                <a:latin typeface="Montserrat Classic"/>
              </a:rPr>
              <a:t> </a:t>
            </a:r>
            <a:r>
              <a:rPr lang="en-US" sz="2100" dirty="0" err="1">
                <a:solidFill>
                  <a:srgbClr val="000000"/>
                </a:solidFill>
                <a:latin typeface="Montserrat Classic"/>
              </a:rPr>
              <a:t>anak</a:t>
            </a:r>
            <a:r>
              <a:rPr lang="en-US" sz="2100" dirty="0">
                <a:solidFill>
                  <a:srgbClr val="000000"/>
                </a:solidFill>
                <a:latin typeface="Montserrat Classic"/>
              </a:rPr>
              <a:t> </a:t>
            </a:r>
            <a:r>
              <a:rPr lang="en-US" sz="2100" dirty="0" err="1">
                <a:solidFill>
                  <a:srgbClr val="000000"/>
                </a:solidFill>
                <a:latin typeface="Montserrat Classic"/>
              </a:rPr>
              <a:t>Karyawan</a:t>
            </a:r>
            <a:endParaRPr lang="en-US" sz="2100" dirty="0">
              <a:solidFill>
                <a:srgbClr val="000000"/>
              </a:solidFill>
              <a:latin typeface="Montserrat Classic"/>
            </a:endParaRPr>
          </a:p>
          <a:p>
            <a:pPr algn="just">
              <a:lnSpc>
                <a:spcPts val="3780"/>
              </a:lnSpc>
            </a:pPr>
            <a:endParaRPr lang="en-US" sz="2100" dirty="0">
              <a:solidFill>
                <a:srgbClr val="000000"/>
              </a:solidFill>
              <a:latin typeface="Montserrat Classic"/>
            </a:endParaRPr>
          </a:p>
          <a:p>
            <a:pPr marL="457200" indent="-457200" algn="just">
              <a:lnSpc>
                <a:spcPts val="3780"/>
              </a:lnSpc>
              <a:buFont typeface="+mj-lt"/>
              <a:buAutoNum type="arabicPeriod" startAt="3"/>
            </a:pPr>
            <a:r>
              <a:rPr lang="en-US" sz="2100" dirty="0" err="1">
                <a:solidFill>
                  <a:srgbClr val="000000"/>
                </a:solidFill>
                <a:latin typeface="Montserrat Classic"/>
              </a:rPr>
              <a:t>Sumbangan</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saat</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istri</a:t>
            </a:r>
            <a:r>
              <a:rPr lang="en-US" sz="2100" dirty="0">
                <a:solidFill>
                  <a:srgbClr val="000000"/>
                </a:solidFill>
                <a:latin typeface="Montserrat Classic"/>
              </a:rPr>
              <a:t>, </a:t>
            </a:r>
            <a:r>
              <a:rPr lang="en-US" sz="2100" dirty="0" err="1">
                <a:solidFill>
                  <a:srgbClr val="000000"/>
                </a:solidFill>
                <a:latin typeface="Montserrat Classic"/>
              </a:rPr>
              <a:t>suami</a:t>
            </a:r>
            <a:r>
              <a:rPr lang="en-US" sz="2100" dirty="0">
                <a:solidFill>
                  <a:srgbClr val="000000"/>
                </a:solidFill>
                <a:latin typeface="Montserrat Classic"/>
              </a:rPr>
              <a:t>, </a:t>
            </a:r>
            <a:r>
              <a:rPr lang="en-US" sz="2100" dirty="0" err="1">
                <a:solidFill>
                  <a:srgbClr val="000000"/>
                </a:solidFill>
                <a:latin typeface="Montserrat Classic"/>
              </a:rPr>
              <a:t>anak</a:t>
            </a:r>
            <a:r>
              <a:rPr lang="en-US" sz="2100" dirty="0">
                <a:solidFill>
                  <a:srgbClr val="000000"/>
                </a:solidFill>
                <a:latin typeface="Montserrat Classic"/>
              </a:rPr>
              <a:t>, </a:t>
            </a:r>
            <a:r>
              <a:rPr lang="en-US" sz="2100" dirty="0" err="1">
                <a:solidFill>
                  <a:srgbClr val="000000"/>
                </a:solidFill>
                <a:latin typeface="Montserrat Classic"/>
              </a:rPr>
              <a:t>menantu</a:t>
            </a:r>
            <a:r>
              <a:rPr lang="en-US" sz="2100" dirty="0">
                <a:solidFill>
                  <a:srgbClr val="000000"/>
                </a:solidFill>
                <a:latin typeface="Montserrat Classic"/>
              </a:rPr>
              <a:t>, orang </a:t>
            </a:r>
            <a:r>
              <a:rPr lang="en-US" sz="2100" dirty="0" err="1">
                <a:solidFill>
                  <a:srgbClr val="000000"/>
                </a:solidFill>
                <a:latin typeface="Montserrat Classic"/>
              </a:rPr>
              <a:t>tua</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mertua</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mendapat</a:t>
            </a:r>
            <a:r>
              <a:rPr lang="en-US" sz="2100" dirty="0">
                <a:solidFill>
                  <a:srgbClr val="000000"/>
                </a:solidFill>
                <a:latin typeface="Montserrat Classic"/>
              </a:rPr>
              <a:t> </a:t>
            </a:r>
            <a:r>
              <a:rPr lang="en-US" sz="2100" dirty="0" err="1">
                <a:solidFill>
                  <a:srgbClr val="000000"/>
                </a:solidFill>
                <a:latin typeface="Montserrat Classic"/>
              </a:rPr>
              <a:t>musibah</a:t>
            </a:r>
            <a:endParaRPr lang="en-US" sz="2100" dirty="0">
              <a:solidFill>
                <a:srgbClr val="000000"/>
              </a:solidFill>
              <a:latin typeface="Montserrat Classic"/>
            </a:endParaRPr>
          </a:p>
          <a:p>
            <a:pPr algn="just">
              <a:lnSpc>
                <a:spcPts val="3780"/>
              </a:lnSpc>
            </a:pPr>
            <a:endParaRPr lang="en-US" sz="2100" dirty="0">
              <a:solidFill>
                <a:srgbClr val="000000"/>
              </a:solidFill>
              <a:latin typeface="Montserrat Classic"/>
            </a:endParaRPr>
          </a:p>
          <a:p>
            <a:pPr algn="just">
              <a:lnSpc>
                <a:spcPts val="3780"/>
              </a:lnSpc>
            </a:pPr>
            <a:r>
              <a:rPr lang="en-US" sz="2100" dirty="0">
                <a:solidFill>
                  <a:srgbClr val="000000"/>
                </a:solidFill>
                <a:latin typeface="Montserrat Classic"/>
              </a:rPr>
              <a:t>Perusahaan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donasi</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tujuan</a:t>
            </a:r>
            <a:r>
              <a:rPr lang="en-US" sz="2100" dirty="0">
                <a:solidFill>
                  <a:srgbClr val="000000"/>
                </a:solidFill>
                <a:latin typeface="Montserrat Classic"/>
              </a:rPr>
              <a:t> </a:t>
            </a:r>
            <a:r>
              <a:rPr lang="en-US" sz="2100" dirty="0" err="1">
                <a:solidFill>
                  <a:srgbClr val="000000"/>
                </a:solidFill>
                <a:latin typeface="Montserrat Classic"/>
              </a:rPr>
              <a:t>amal</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batas</a:t>
            </a:r>
            <a:r>
              <a:rPr lang="en-US" sz="2100" dirty="0">
                <a:solidFill>
                  <a:srgbClr val="000000"/>
                </a:solidFill>
                <a:latin typeface="Montserrat Classic"/>
              </a:rPr>
              <a:t> </a:t>
            </a:r>
            <a:r>
              <a:rPr lang="en-US" sz="2100" dirty="0" err="1">
                <a:solidFill>
                  <a:srgbClr val="000000"/>
                </a:solidFill>
                <a:latin typeface="Montserrat Classic"/>
              </a:rPr>
              <a:t>kepatutan</a:t>
            </a:r>
            <a:r>
              <a:rPr lang="en-US" sz="2100" dirty="0">
                <a:solidFill>
                  <a:srgbClr val="000000"/>
                </a:solidFill>
                <a:latin typeface="Montserrat Classic"/>
              </a:rPr>
              <a:t> &amp; </a:t>
            </a:r>
            <a:r>
              <a:rPr lang="en-US" sz="2100" dirty="0" err="1">
                <a:solidFill>
                  <a:srgbClr val="000000"/>
                </a:solidFill>
                <a:latin typeface="Montserrat Classic"/>
              </a:rPr>
              <a:t>kewajaran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mengganggu</a:t>
            </a:r>
            <a:r>
              <a:rPr lang="en-US" sz="2100" dirty="0">
                <a:solidFill>
                  <a:srgbClr val="000000"/>
                </a:solidFill>
                <a:latin typeface="Montserrat Classic"/>
              </a:rPr>
              <a:t> </a:t>
            </a:r>
            <a:r>
              <a:rPr lang="en-US" sz="2100" dirty="0" err="1">
                <a:solidFill>
                  <a:srgbClr val="000000"/>
                </a:solidFill>
                <a:latin typeface="Montserrat Classic"/>
              </a:rPr>
              <a:t>kesehatan</a:t>
            </a:r>
            <a:r>
              <a:rPr lang="en-US" sz="2100" dirty="0">
                <a:solidFill>
                  <a:srgbClr val="000000"/>
                </a:solidFill>
                <a:latin typeface="Montserrat Classic"/>
              </a:rPr>
              <a:t> </a:t>
            </a:r>
            <a:r>
              <a:rPr lang="en-US" sz="2100" dirty="0" err="1">
                <a:solidFill>
                  <a:srgbClr val="000000"/>
                </a:solidFill>
                <a:latin typeface="Montserrat Classic"/>
              </a:rPr>
              <a:t>keuangan</a:t>
            </a:r>
            <a:r>
              <a:rPr lang="en-US" sz="2100" dirty="0">
                <a:solidFill>
                  <a:srgbClr val="000000"/>
                </a:solidFill>
                <a:latin typeface="Montserrat Classic"/>
              </a:rPr>
              <a:t> Perusahaan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sepanjang</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bertentangan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peraturan</a:t>
            </a:r>
            <a:r>
              <a:rPr lang="en-US" sz="2100" dirty="0">
                <a:solidFill>
                  <a:srgbClr val="000000"/>
                </a:solidFill>
                <a:latin typeface="Montserrat Classic"/>
              </a:rPr>
              <a:t> </a:t>
            </a:r>
            <a:r>
              <a:rPr lang="en-US" sz="2100" dirty="0" err="1">
                <a:solidFill>
                  <a:srgbClr val="000000"/>
                </a:solidFill>
                <a:latin typeface="Montserrat Classic"/>
              </a:rPr>
              <a:t>perundang-undangan</a:t>
            </a:r>
            <a:r>
              <a:rPr lang="en-US" sz="2100" dirty="0">
                <a:solidFill>
                  <a:srgbClr val="000000"/>
                </a:solidFill>
                <a:latin typeface="Montserrat Classic"/>
              </a:rPr>
              <a:t> yang </a:t>
            </a:r>
            <a:r>
              <a:rPr lang="en-US" sz="2100" dirty="0" err="1">
                <a:solidFill>
                  <a:srgbClr val="000000"/>
                </a:solidFill>
                <a:latin typeface="Montserrat Classic"/>
              </a:rPr>
              <a:t>berlaku</a:t>
            </a: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3274"/>
              </a:lnSpc>
            </a:pPr>
            <a:endParaRPr lang="en-US" sz="2100" dirty="0">
              <a:solidFill>
                <a:srgbClr val="000000"/>
              </a:solidFill>
              <a:latin typeface="Montserrat Classic"/>
            </a:endParaRPr>
          </a:p>
          <a:p>
            <a:pPr algn="just">
              <a:lnSpc>
                <a:spcPts val="3274"/>
              </a:lnSpc>
              <a:spcBef>
                <a:spcPct val="0"/>
              </a:spcBef>
            </a:pPr>
            <a:endParaRPr lang="en-US" sz="2100" dirty="0">
              <a:solidFill>
                <a:srgbClr val="000000"/>
              </a:solidFill>
              <a:latin typeface="Montserrat Classic"/>
            </a:endParaRPr>
          </a:p>
        </p:txBody>
      </p:sp>
      <p:sp>
        <p:nvSpPr>
          <p:cNvPr id="6" name="TextBox 6"/>
          <p:cNvSpPr txBox="1"/>
          <p:nvPr/>
        </p:nvSpPr>
        <p:spPr>
          <a:xfrm>
            <a:off x="1143000" y="793800"/>
            <a:ext cx="16116300" cy="422176"/>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K. Etika terkait hadiah atau imbalan dan jamuan bisnis serta donasi </a:t>
            </a:r>
          </a:p>
        </p:txBody>
      </p:sp>
      <p:sp>
        <p:nvSpPr>
          <p:cNvPr id="8"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43</a:t>
            </a:r>
            <a:endParaRPr lang="en-US" sz="3319" dirty="0">
              <a:solidFill>
                <a:srgbClr val="000000"/>
              </a:solidFill>
              <a:latin typeface="Telegraf"/>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8905814" flipH="1">
            <a:off x="12095906" y="7656858"/>
            <a:ext cx="11300655" cy="9184351"/>
          </a:xfrm>
          <a:prstGeom prst="rect">
            <a:avLst/>
          </a:prstGeom>
        </p:spPr>
      </p:pic>
      <p:sp>
        <p:nvSpPr>
          <p:cNvPr id="3" name="TextBox 3"/>
          <p:cNvSpPr txBox="1"/>
          <p:nvPr/>
        </p:nvSpPr>
        <p:spPr>
          <a:xfrm>
            <a:off x="1143000" y="793800"/>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L. Etika Pemanfaatan Fasilitas Teknologi Informasi </a:t>
            </a:r>
          </a:p>
        </p:txBody>
      </p:sp>
      <p:sp>
        <p:nvSpPr>
          <p:cNvPr id="4" name="TextBox 4"/>
          <p:cNvSpPr txBox="1"/>
          <p:nvPr/>
        </p:nvSpPr>
        <p:spPr>
          <a:xfrm>
            <a:off x="1143000" y="1177875"/>
            <a:ext cx="15208348" cy="8766182"/>
          </a:xfrm>
          <a:prstGeom prst="rect">
            <a:avLst/>
          </a:prstGeom>
        </p:spPr>
        <p:txBody>
          <a:bodyPr lIns="0" tIns="0" rIns="0" bIns="0" rtlCol="0" anchor="t">
            <a:spAutoFit/>
          </a:bodyPr>
          <a:lstStyle/>
          <a:p>
            <a:pPr>
              <a:lnSpc>
                <a:spcPts val="2665"/>
              </a:lnSpc>
            </a:pPr>
            <a:endParaRPr dirty="0"/>
          </a:p>
          <a:p>
            <a:pPr>
              <a:lnSpc>
                <a:spcPts val="2665"/>
              </a:lnSpc>
            </a:pPr>
            <a:r>
              <a:rPr lang="en-US" sz="1903" dirty="0" err="1">
                <a:solidFill>
                  <a:srgbClr val="000000"/>
                </a:solidFill>
                <a:latin typeface="Montserrat Classic"/>
              </a:rPr>
              <a:t>Sistem</a:t>
            </a:r>
            <a:r>
              <a:rPr lang="en-US" sz="1903" dirty="0">
                <a:solidFill>
                  <a:srgbClr val="000000"/>
                </a:solidFill>
                <a:latin typeface="Montserrat Classic"/>
              </a:rPr>
              <a:t> </a:t>
            </a:r>
            <a:r>
              <a:rPr lang="en-US" sz="1903" dirty="0" err="1">
                <a:solidFill>
                  <a:srgbClr val="000000"/>
                </a:solidFill>
                <a:latin typeface="Montserrat Classic"/>
              </a:rPr>
              <a:t>Teknologi</a:t>
            </a:r>
            <a:r>
              <a:rPr lang="en-US" sz="1903" dirty="0">
                <a:solidFill>
                  <a:srgbClr val="000000"/>
                </a:solidFill>
                <a:latin typeface="Montserrat Classic"/>
              </a:rPr>
              <a:t> </a:t>
            </a:r>
            <a:r>
              <a:rPr lang="en-US" sz="1903" dirty="0" err="1">
                <a:solidFill>
                  <a:srgbClr val="000000"/>
                </a:solidFill>
                <a:latin typeface="Montserrat Classic"/>
              </a:rPr>
              <a:t>Informasi</a:t>
            </a:r>
            <a:r>
              <a:rPr lang="en-US" sz="1903" dirty="0">
                <a:solidFill>
                  <a:srgbClr val="000000"/>
                </a:solidFill>
                <a:latin typeface="Montserrat Classic"/>
              </a:rPr>
              <a:t> yang </a:t>
            </a:r>
            <a:r>
              <a:rPr lang="en-US" sz="1903" dirty="0" err="1">
                <a:solidFill>
                  <a:srgbClr val="000000"/>
                </a:solidFill>
                <a:latin typeface="Montserrat Classic"/>
              </a:rPr>
              <a:t>dimiliki</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digunakan</a:t>
            </a:r>
            <a:r>
              <a:rPr lang="en-US" sz="1903" dirty="0">
                <a:solidFill>
                  <a:srgbClr val="000000"/>
                </a:solidFill>
                <a:latin typeface="Montserrat Classic"/>
              </a:rPr>
              <a:t> Perusahaan </a:t>
            </a:r>
            <a:r>
              <a:rPr lang="en-US" sz="1903" dirty="0" err="1">
                <a:solidFill>
                  <a:srgbClr val="000000"/>
                </a:solidFill>
                <a:latin typeface="Montserrat Classic"/>
              </a:rPr>
              <a:t>berupa</a:t>
            </a:r>
            <a:r>
              <a:rPr lang="en-US" sz="1903" dirty="0">
                <a:solidFill>
                  <a:srgbClr val="000000"/>
                </a:solidFill>
                <a:latin typeface="Montserrat Classic"/>
              </a:rPr>
              <a:t> </a:t>
            </a:r>
            <a:r>
              <a:rPr lang="en-US" sz="1903" dirty="0" err="1">
                <a:solidFill>
                  <a:srgbClr val="000000"/>
                </a:solidFill>
                <a:latin typeface="Montserrat Classic"/>
              </a:rPr>
              <a:t>komputer</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jaringan</a:t>
            </a:r>
            <a:r>
              <a:rPr lang="en-US" sz="1903" dirty="0">
                <a:solidFill>
                  <a:srgbClr val="000000"/>
                </a:solidFill>
                <a:latin typeface="Montserrat Classic"/>
              </a:rPr>
              <a:t>, </a:t>
            </a:r>
            <a:r>
              <a:rPr lang="en-US" sz="1903" dirty="0" err="1">
                <a:solidFill>
                  <a:srgbClr val="000000"/>
                </a:solidFill>
                <a:latin typeface="Montserrat Classic"/>
              </a:rPr>
              <a:t>sistem</a:t>
            </a:r>
            <a:r>
              <a:rPr lang="en-US" sz="1903" dirty="0">
                <a:solidFill>
                  <a:srgbClr val="000000"/>
                </a:solidFill>
                <a:latin typeface="Montserrat Classic"/>
              </a:rPr>
              <a:t> </a:t>
            </a:r>
            <a:r>
              <a:rPr lang="en-US" sz="1903" dirty="0" err="1">
                <a:solidFill>
                  <a:srgbClr val="000000"/>
                </a:solidFill>
                <a:latin typeface="Montserrat Classic"/>
              </a:rPr>
              <a:t>komunikasi</a:t>
            </a:r>
            <a:r>
              <a:rPr lang="en-US" sz="1903" dirty="0">
                <a:solidFill>
                  <a:srgbClr val="000000"/>
                </a:solidFill>
                <a:latin typeface="Montserrat Classic"/>
              </a:rPr>
              <a:t> </a:t>
            </a:r>
            <a:r>
              <a:rPr lang="en-US" sz="1903" dirty="0" err="1">
                <a:solidFill>
                  <a:srgbClr val="000000"/>
                </a:solidFill>
                <a:latin typeface="Montserrat Classic"/>
              </a:rPr>
              <a:t>elektronik</a:t>
            </a:r>
            <a:r>
              <a:rPr lang="en-US" sz="1903" dirty="0">
                <a:solidFill>
                  <a:srgbClr val="000000"/>
                </a:solidFill>
                <a:latin typeface="Montserrat Classic"/>
              </a:rPr>
              <a:t> (</a:t>
            </a:r>
            <a:r>
              <a:rPr lang="en-US" sz="1903" dirty="0" err="1">
                <a:solidFill>
                  <a:srgbClr val="000000"/>
                </a:solidFill>
                <a:latin typeface="Montserrat Classic"/>
              </a:rPr>
              <a:t>termasuk</a:t>
            </a:r>
            <a:r>
              <a:rPr lang="en-US" sz="1903" dirty="0">
                <a:solidFill>
                  <a:srgbClr val="000000"/>
                </a:solidFill>
                <a:latin typeface="Montserrat Classic"/>
              </a:rPr>
              <a:t> e-mail) </a:t>
            </a:r>
            <a:r>
              <a:rPr lang="en-US" sz="1903" dirty="0" err="1">
                <a:solidFill>
                  <a:srgbClr val="000000"/>
                </a:solidFill>
                <a:latin typeface="Montserrat Classic"/>
              </a:rPr>
              <a:t>serta</a:t>
            </a:r>
            <a:r>
              <a:rPr lang="en-US" sz="1903" dirty="0">
                <a:solidFill>
                  <a:srgbClr val="000000"/>
                </a:solidFill>
                <a:latin typeface="Montserrat Classic"/>
              </a:rPr>
              <a:t> </a:t>
            </a:r>
            <a:r>
              <a:rPr lang="en-US" sz="1903" dirty="0" err="1">
                <a:solidFill>
                  <a:srgbClr val="000000"/>
                </a:solidFill>
                <a:latin typeface="Montserrat Classic"/>
              </a:rPr>
              <a:t>telepon</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sistem</a:t>
            </a:r>
            <a:r>
              <a:rPr lang="en-US" sz="1903" dirty="0">
                <a:solidFill>
                  <a:srgbClr val="000000"/>
                </a:solidFill>
                <a:latin typeface="Montserrat Classic"/>
              </a:rPr>
              <a:t> </a:t>
            </a:r>
            <a:r>
              <a:rPr lang="en-US" sz="1903" dirty="0" err="1">
                <a:solidFill>
                  <a:srgbClr val="000000"/>
                </a:solidFill>
                <a:latin typeface="Montserrat Classic"/>
              </a:rPr>
              <a:t>informasi</a:t>
            </a:r>
            <a:r>
              <a:rPr lang="en-US" sz="1903" dirty="0">
                <a:solidFill>
                  <a:srgbClr val="000000"/>
                </a:solidFill>
                <a:latin typeface="Montserrat Classic"/>
              </a:rPr>
              <a:t> </a:t>
            </a:r>
            <a:r>
              <a:rPr lang="en-US" sz="1903" dirty="0" err="1">
                <a:solidFill>
                  <a:srgbClr val="000000"/>
                </a:solidFill>
                <a:latin typeface="Montserrat Classic"/>
              </a:rPr>
              <a:t>lainnya</a:t>
            </a:r>
            <a:r>
              <a:rPr lang="en-US" sz="1903" dirty="0">
                <a:solidFill>
                  <a:srgbClr val="000000"/>
                </a:solidFill>
                <a:latin typeface="Montserrat Classic"/>
              </a:rPr>
              <a:t> yang </a:t>
            </a:r>
            <a:r>
              <a:rPr lang="en-US" sz="1903" dirty="0" err="1">
                <a:solidFill>
                  <a:srgbClr val="000000"/>
                </a:solidFill>
                <a:latin typeface="Montserrat Classic"/>
              </a:rPr>
              <a:t>diproses</a:t>
            </a:r>
            <a:r>
              <a:rPr lang="en-US" sz="1903" dirty="0">
                <a:solidFill>
                  <a:srgbClr val="000000"/>
                </a:solidFill>
                <a:latin typeface="Montserrat Classic"/>
              </a:rPr>
              <a:t> </a:t>
            </a:r>
            <a:r>
              <a:rPr lang="en-US" sz="1903" dirty="0" err="1">
                <a:solidFill>
                  <a:srgbClr val="000000"/>
                </a:solidFill>
                <a:latin typeface="Montserrat Classic"/>
              </a:rPr>
              <a:t>dengan</a:t>
            </a:r>
            <a:r>
              <a:rPr lang="en-US" sz="1903" dirty="0">
                <a:solidFill>
                  <a:srgbClr val="000000"/>
                </a:solidFill>
                <a:latin typeface="Montserrat Classic"/>
              </a:rPr>
              <a:t> </a:t>
            </a:r>
            <a:r>
              <a:rPr lang="en-US" sz="1903" dirty="0" err="1">
                <a:solidFill>
                  <a:srgbClr val="000000"/>
                </a:solidFill>
                <a:latin typeface="Montserrat Classic"/>
              </a:rPr>
              <a:t>komputer</a:t>
            </a:r>
            <a:r>
              <a:rPr lang="en-US" sz="1903" dirty="0">
                <a:solidFill>
                  <a:srgbClr val="000000"/>
                </a:solidFill>
                <a:latin typeface="Montserrat Classic"/>
              </a:rPr>
              <a:t> </a:t>
            </a:r>
            <a:r>
              <a:rPr lang="en-US" sz="1903" dirty="0" err="1">
                <a:solidFill>
                  <a:srgbClr val="000000"/>
                </a:solidFill>
                <a:latin typeface="Montserrat Classic"/>
              </a:rPr>
              <a:t>merupakan</a:t>
            </a:r>
            <a:r>
              <a:rPr lang="en-US" sz="1903" dirty="0">
                <a:solidFill>
                  <a:srgbClr val="000000"/>
                </a:solidFill>
                <a:latin typeface="Montserrat Classic"/>
              </a:rPr>
              <a:t> </a:t>
            </a:r>
            <a:r>
              <a:rPr lang="en-US" sz="1903" dirty="0" err="1">
                <a:solidFill>
                  <a:srgbClr val="000000"/>
                </a:solidFill>
                <a:latin typeface="Montserrat Classic"/>
              </a:rPr>
              <a:t>aset</a:t>
            </a:r>
            <a:r>
              <a:rPr lang="en-US" sz="1903" dirty="0">
                <a:solidFill>
                  <a:srgbClr val="000000"/>
                </a:solidFill>
                <a:latin typeface="Montserrat Classic"/>
              </a:rPr>
              <a:t>/</a:t>
            </a:r>
            <a:r>
              <a:rPr lang="en-US" sz="1903" dirty="0" err="1">
                <a:solidFill>
                  <a:srgbClr val="000000"/>
                </a:solidFill>
                <a:latin typeface="Montserrat Classic"/>
              </a:rPr>
              <a:t>properti</a:t>
            </a:r>
            <a:r>
              <a:rPr lang="en-US" sz="1903" dirty="0">
                <a:solidFill>
                  <a:srgbClr val="000000"/>
                </a:solidFill>
                <a:latin typeface="Montserrat Classic"/>
              </a:rPr>
              <a:t> yang </a:t>
            </a:r>
            <a:r>
              <a:rPr lang="en-US" sz="1903" dirty="0" err="1">
                <a:solidFill>
                  <a:srgbClr val="000000"/>
                </a:solidFill>
                <a:latin typeface="Montserrat Classic"/>
              </a:rPr>
              <a:t>disediakan</a:t>
            </a:r>
            <a:r>
              <a:rPr lang="en-US" sz="1903" dirty="0">
                <a:solidFill>
                  <a:srgbClr val="000000"/>
                </a:solidFill>
                <a:latin typeface="Montserrat Classic"/>
              </a:rPr>
              <a:t> Perusahaan </a:t>
            </a:r>
            <a:r>
              <a:rPr lang="en-US" sz="1903" dirty="0" err="1">
                <a:solidFill>
                  <a:srgbClr val="000000"/>
                </a:solidFill>
                <a:latin typeface="Montserrat Classic"/>
              </a:rPr>
              <a:t>sebagai</a:t>
            </a:r>
            <a:r>
              <a:rPr lang="en-US" sz="1903" dirty="0">
                <a:solidFill>
                  <a:srgbClr val="000000"/>
                </a:solidFill>
                <a:latin typeface="Montserrat Classic"/>
              </a:rPr>
              <a:t> </a:t>
            </a:r>
            <a:r>
              <a:rPr lang="en-US" sz="1903" dirty="0" err="1">
                <a:solidFill>
                  <a:srgbClr val="000000"/>
                </a:solidFill>
                <a:latin typeface="Montserrat Classic"/>
              </a:rPr>
              <a:t>sarana</a:t>
            </a:r>
            <a:r>
              <a:rPr lang="en-US" sz="1903" dirty="0">
                <a:solidFill>
                  <a:srgbClr val="000000"/>
                </a:solidFill>
                <a:latin typeface="Montserrat Classic"/>
              </a:rPr>
              <a:t> </a:t>
            </a:r>
            <a:r>
              <a:rPr lang="en-US" sz="1903" dirty="0" err="1">
                <a:solidFill>
                  <a:srgbClr val="000000"/>
                </a:solidFill>
                <a:latin typeface="Montserrat Classic"/>
              </a:rPr>
              <a:t>untuk</a:t>
            </a:r>
            <a:r>
              <a:rPr lang="en-US" sz="1903" dirty="0">
                <a:solidFill>
                  <a:srgbClr val="000000"/>
                </a:solidFill>
                <a:latin typeface="Montserrat Classic"/>
              </a:rPr>
              <a:t> </a:t>
            </a:r>
            <a:r>
              <a:rPr lang="en-US" sz="1903" dirty="0" err="1">
                <a:solidFill>
                  <a:srgbClr val="000000"/>
                </a:solidFill>
                <a:latin typeface="Montserrat Classic"/>
              </a:rPr>
              <a:t>memberikan</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meningkatkan</a:t>
            </a:r>
            <a:r>
              <a:rPr lang="en-US" sz="1903" dirty="0">
                <a:solidFill>
                  <a:srgbClr val="000000"/>
                </a:solidFill>
                <a:latin typeface="Montserrat Classic"/>
              </a:rPr>
              <a:t> </a:t>
            </a:r>
            <a:r>
              <a:rPr lang="en-US" sz="1903" dirty="0" err="1">
                <a:solidFill>
                  <a:srgbClr val="000000"/>
                </a:solidFill>
                <a:latin typeface="Montserrat Classic"/>
              </a:rPr>
              <a:t>pelayanan</a:t>
            </a:r>
            <a:r>
              <a:rPr lang="en-US" sz="1903" dirty="0">
                <a:solidFill>
                  <a:srgbClr val="000000"/>
                </a:solidFill>
                <a:latin typeface="Montserrat Classic"/>
              </a:rPr>
              <a:t> yang </a:t>
            </a:r>
            <a:r>
              <a:rPr lang="en-US" sz="1903" dirty="0" err="1">
                <a:solidFill>
                  <a:srgbClr val="000000"/>
                </a:solidFill>
                <a:latin typeface="Montserrat Classic"/>
              </a:rPr>
              <a:t>berhubungan</a:t>
            </a:r>
            <a:r>
              <a:rPr lang="en-US" sz="1903" dirty="0">
                <a:solidFill>
                  <a:srgbClr val="000000"/>
                </a:solidFill>
                <a:latin typeface="Montserrat Classic"/>
              </a:rPr>
              <a:t> </a:t>
            </a:r>
            <a:r>
              <a:rPr lang="en-US" sz="1903" dirty="0" err="1">
                <a:solidFill>
                  <a:srgbClr val="000000"/>
                </a:solidFill>
                <a:latin typeface="Montserrat Classic"/>
              </a:rPr>
              <a:t>dengan</a:t>
            </a:r>
            <a:r>
              <a:rPr lang="en-US" sz="1903" dirty="0">
                <a:solidFill>
                  <a:srgbClr val="000000"/>
                </a:solidFill>
                <a:latin typeface="Montserrat Classic"/>
              </a:rPr>
              <a:t> </a:t>
            </a:r>
            <a:r>
              <a:rPr lang="en-US" sz="1903" dirty="0" err="1">
                <a:solidFill>
                  <a:srgbClr val="000000"/>
                </a:solidFill>
                <a:latin typeface="Montserrat Classic"/>
              </a:rPr>
              <a:t>bisnis</a:t>
            </a:r>
            <a:r>
              <a:rPr lang="en-US" sz="1903" dirty="0">
                <a:solidFill>
                  <a:srgbClr val="000000"/>
                </a:solidFill>
                <a:latin typeface="Montserrat Classic"/>
              </a:rPr>
              <a:t> Perusahaan.</a:t>
            </a:r>
          </a:p>
          <a:p>
            <a:pPr>
              <a:lnSpc>
                <a:spcPts val="2665"/>
              </a:lnSpc>
            </a:pPr>
            <a:endParaRPr lang="en-US" sz="1903" dirty="0">
              <a:solidFill>
                <a:srgbClr val="000000"/>
              </a:solidFill>
              <a:latin typeface="Montserrat Classic"/>
            </a:endParaRPr>
          </a:p>
          <a:p>
            <a:pPr>
              <a:lnSpc>
                <a:spcPts val="2665"/>
              </a:lnSpc>
            </a:pPr>
            <a:r>
              <a:rPr lang="en-US" sz="1903" dirty="0" err="1">
                <a:solidFill>
                  <a:srgbClr val="000000"/>
                </a:solidFill>
                <a:latin typeface="Montserrat Classic"/>
              </a:rPr>
              <a:t>Untuk</a:t>
            </a:r>
            <a:r>
              <a:rPr lang="en-US" sz="1903" dirty="0">
                <a:solidFill>
                  <a:srgbClr val="000000"/>
                </a:solidFill>
                <a:latin typeface="Montserrat Classic"/>
              </a:rPr>
              <a:t> </a:t>
            </a:r>
            <a:r>
              <a:rPr lang="en-US" sz="1903" dirty="0" err="1">
                <a:solidFill>
                  <a:srgbClr val="000000"/>
                </a:solidFill>
                <a:latin typeface="Montserrat Classic"/>
              </a:rPr>
              <a:t>itu</a:t>
            </a:r>
            <a:r>
              <a:rPr lang="en-US" sz="1903" dirty="0">
                <a:solidFill>
                  <a:srgbClr val="000000"/>
                </a:solidFill>
                <a:latin typeface="Montserrat Classic"/>
              </a:rPr>
              <a:t> </a:t>
            </a:r>
            <a:r>
              <a:rPr lang="en-US" sz="1903" dirty="0" err="1">
                <a:solidFill>
                  <a:srgbClr val="000000"/>
                </a:solidFill>
                <a:latin typeface="Montserrat Classic"/>
              </a:rPr>
              <a:t>setiap</a:t>
            </a:r>
            <a:r>
              <a:rPr lang="en-US" sz="1903" dirty="0">
                <a:solidFill>
                  <a:srgbClr val="000000"/>
                </a:solidFill>
                <a:latin typeface="Montserrat Classic"/>
              </a:rPr>
              <a:t> </a:t>
            </a:r>
            <a:r>
              <a:rPr lang="en-US" sz="1903" dirty="0" err="1">
                <a:solidFill>
                  <a:srgbClr val="000000"/>
                </a:solidFill>
                <a:latin typeface="Montserrat Classic"/>
              </a:rPr>
              <a:t>Insan</a:t>
            </a:r>
            <a:r>
              <a:rPr lang="en-US" sz="1903" dirty="0">
                <a:solidFill>
                  <a:srgbClr val="000000"/>
                </a:solidFill>
                <a:latin typeface="Montserrat Classic"/>
              </a:rPr>
              <a:t> Perusahaan yang </a:t>
            </a:r>
            <a:r>
              <a:rPr lang="en-US" sz="1903" dirty="0" err="1">
                <a:solidFill>
                  <a:srgbClr val="000000"/>
                </a:solidFill>
                <a:latin typeface="Montserrat Classic"/>
              </a:rPr>
              <a:t>diberi</a:t>
            </a:r>
            <a:r>
              <a:rPr lang="en-US" sz="1903" dirty="0">
                <a:solidFill>
                  <a:srgbClr val="000000"/>
                </a:solidFill>
                <a:latin typeface="Montserrat Classic"/>
              </a:rPr>
              <a:t> </a:t>
            </a:r>
            <a:r>
              <a:rPr lang="en-US" sz="1903" dirty="0" err="1">
                <a:solidFill>
                  <a:srgbClr val="000000"/>
                </a:solidFill>
                <a:latin typeface="Montserrat Classic"/>
              </a:rPr>
              <a:t>tugas</a:t>
            </a:r>
            <a:r>
              <a:rPr lang="en-US" sz="1903" dirty="0">
                <a:solidFill>
                  <a:srgbClr val="000000"/>
                </a:solidFill>
                <a:latin typeface="Montserrat Classic"/>
              </a:rPr>
              <a:t> </a:t>
            </a:r>
            <a:r>
              <a:rPr lang="en-US" sz="1903" dirty="0" err="1">
                <a:solidFill>
                  <a:srgbClr val="000000"/>
                </a:solidFill>
                <a:latin typeface="Montserrat Classic"/>
              </a:rPr>
              <a:t>menangani</a:t>
            </a:r>
            <a:r>
              <a:rPr lang="en-US" sz="1903" dirty="0">
                <a:solidFill>
                  <a:srgbClr val="000000"/>
                </a:solidFill>
                <a:latin typeface="Montserrat Classic"/>
              </a:rPr>
              <a:t>, </a:t>
            </a:r>
            <a:r>
              <a:rPr lang="en-US" sz="1903" dirty="0" err="1">
                <a:solidFill>
                  <a:srgbClr val="000000"/>
                </a:solidFill>
                <a:latin typeface="Montserrat Classic"/>
              </a:rPr>
              <a:t>menggunakan</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memanfaatkan</a:t>
            </a:r>
            <a:r>
              <a:rPr lang="en-US" sz="1903" dirty="0">
                <a:solidFill>
                  <a:srgbClr val="000000"/>
                </a:solidFill>
                <a:latin typeface="Montserrat Classic"/>
              </a:rPr>
              <a:t> </a:t>
            </a:r>
            <a:r>
              <a:rPr lang="en-US" sz="1903" dirty="0" err="1">
                <a:solidFill>
                  <a:srgbClr val="000000"/>
                </a:solidFill>
                <a:latin typeface="Montserrat Classic"/>
              </a:rPr>
              <a:t>fasilitas</a:t>
            </a:r>
            <a:r>
              <a:rPr lang="en-US" sz="1903" dirty="0">
                <a:solidFill>
                  <a:srgbClr val="000000"/>
                </a:solidFill>
                <a:latin typeface="Montserrat Classic"/>
              </a:rPr>
              <a:t> </a:t>
            </a:r>
            <a:r>
              <a:rPr lang="en-US" sz="1903" dirty="0" err="1">
                <a:solidFill>
                  <a:srgbClr val="000000"/>
                </a:solidFill>
                <a:latin typeface="Montserrat Classic"/>
              </a:rPr>
              <a:t>Sistem</a:t>
            </a:r>
            <a:r>
              <a:rPr lang="en-US" sz="1903" dirty="0">
                <a:solidFill>
                  <a:srgbClr val="000000"/>
                </a:solidFill>
                <a:latin typeface="Montserrat Classic"/>
              </a:rPr>
              <a:t> </a:t>
            </a:r>
            <a:r>
              <a:rPr lang="en-US" sz="1903" dirty="0" err="1">
                <a:solidFill>
                  <a:srgbClr val="000000"/>
                </a:solidFill>
                <a:latin typeface="Montserrat Classic"/>
              </a:rPr>
              <a:t>Teknologi</a:t>
            </a:r>
            <a:r>
              <a:rPr lang="en-US" sz="1903" dirty="0">
                <a:solidFill>
                  <a:srgbClr val="000000"/>
                </a:solidFill>
                <a:latin typeface="Montserrat Classic"/>
              </a:rPr>
              <a:t> </a:t>
            </a:r>
            <a:r>
              <a:rPr lang="en-US" sz="1903" dirty="0" err="1">
                <a:solidFill>
                  <a:srgbClr val="000000"/>
                </a:solidFill>
                <a:latin typeface="Montserrat Classic"/>
              </a:rPr>
              <a:t>Informasi</a:t>
            </a:r>
            <a:r>
              <a:rPr lang="en-US" sz="1903" dirty="0">
                <a:solidFill>
                  <a:srgbClr val="000000"/>
                </a:solidFill>
                <a:latin typeface="Montserrat Classic"/>
              </a:rPr>
              <a:t> </a:t>
            </a:r>
            <a:r>
              <a:rPr lang="en-US" sz="1903" dirty="0" err="1">
                <a:solidFill>
                  <a:srgbClr val="000000"/>
                </a:solidFill>
                <a:latin typeface="Montserrat Classic"/>
              </a:rPr>
              <a:t>milik</a:t>
            </a:r>
            <a:r>
              <a:rPr lang="en-US" sz="1903" dirty="0">
                <a:solidFill>
                  <a:srgbClr val="000000"/>
                </a:solidFill>
                <a:latin typeface="Montserrat Classic"/>
              </a:rPr>
              <a:t> Perusahaan </a:t>
            </a:r>
            <a:r>
              <a:rPr lang="en-US" sz="1903" dirty="0" err="1">
                <a:solidFill>
                  <a:srgbClr val="000000"/>
                </a:solidFill>
                <a:latin typeface="Montserrat Classic"/>
              </a:rPr>
              <a:t>harus</a:t>
            </a:r>
            <a:r>
              <a:rPr lang="en-US" sz="1903" dirty="0">
                <a:solidFill>
                  <a:srgbClr val="000000"/>
                </a:solidFill>
                <a:latin typeface="Montserrat Classic"/>
              </a:rPr>
              <a:t> </a:t>
            </a:r>
            <a:r>
              <a:rPr lang="en-US" sz="1903" dirty="0" err="1">
                <a:solidFill>
                  <a:srgbClr val="000000"/>
                </a:solidFill>
                <a:latin typeface="Montserrat Classic"/>
              </a:rPr>
              <a:t>melakukan</a:t>
            </a:r>
            <a:r>
              <a:rPr lang="en-US" sz="1903" dirty="0">
                <a:solidFill>
                  <a:srgbClr val="000000"/>
                </a:solidFill>
                <a:latin typeface="Montserrat Classic"/>
              </a:rPr>
              <a:t> </a:t>
            </a:r>
            <a:r>
              <a:rPr lang="en-US" sz="1903" dirty="0" err="1">
                <a:solidFill>
                  <a:srgbClr val="000000"/>
                </a:solidFill>
                <a:latin typeface="Montserrat Classic"/>
              </a:rPr>
              <a:t>hal-hal</a:t>
            </a:r>
            <a:r>
              <a:rPr lang="en-US" sz="1903" dirty="0">
                <a:solidFill>
                  <a:srgbClr val="000000"/>
                </a:solidFill>
                <a:latin typeface="Montserrat Classic"/>
              </a:rPr>
              <a:t> </a:t>
            </a:r>
            <a:r>
              <a:rPr lang="en-US" sz="1903" dirty="0" err="1">
                <a:solidFill>
                  <a:srgbClr val="000000"/>
                </a:solidFill>
                <a:latin typeface="Montserrat Classic"/>
              </a:rPr>
              <a:t>sebagai</a:t>
            </a:r>
            <a:r>
              <a:rPr lang="en-US" sz="1903" dirty="0">
                <a:solidFill>
                  <a:srgbClr val="000000"/>
                </a:solidFill>
                <a:latin typeface="Montserrat Classic"/>
              </a:rPr>
              <a:t> </a:t>
            </a:r>
            <a:r>
              <a:rPr lang="en-US" sz="1903" dirty="0" err="1">
                <a:solidFill>
                  <a:srgbClr val="000000"/>
                </a:solidFill>
                <a:latin typeface="Montserrat Classic"/>
              </a:rPr>
              <a:t>berikut</a:t>
            </a:r>
            <a:r>
              <a:rPr lang="en-US" sz="1903" dirty="0">
                <a:solidFill>
                  <a:srgbClr val="000000"/>
                </a:solidFill>
                <a:latin typeface="Montserrat Classic"/>
              </a:rPr>
              <a:t>:</a:t>
            </a:r>
          </a:p>
          <a:p>
            <a:pPr>
              <a:lnSpc>
                <a:spcPts val="2665"/>
              </a:lnSpc>
            </a:pPr>
            <a:endParaRPr lang="en-US" sz="1903" dirty="0">
              <a:solidFill>
                <a:srgbClr val="000000"/>
              </a:solidFill>
              <a:latin typeface="Montserrat Classic"/>
            </a:endParaRPr>
          </a:p>
          <a:p>
            <a:pPr marL="457200" indent="-457200">
              <a:lnSpc>
                <a:spcPts val="2665"/>
              </a:lnSpc>
              <a:buFont typeface="+mj-lt"/>
              <a:buAutoNum type="alphaLcPeriod"/>
            </a:pPr>
            <a:r>
              <a:rPr lang="en-US" sz="1903" dirty="0" err="1">
                <a:solidFill>
                  <a:srgbClr val="000000"/>
                </a:solidFill>
                <a:latin typeface="Montserrat Classic"/>
              </a:rPr>
              <a:t>Menggunakan</a:t>
            </a:r>
            <a:r>
              <a:rPr lang="en-US" sz="1903" dirty="0">
                <a:solidFill>
                  <a:srgbClr val="000000"/>
                </a:solidFill>
                <a:latin typeface="Montserrat Classic"/>
              </a:rPr>
              <a:t> </a:t>
            </a:r>
            <a:r>
              <a:rPr lang="en-US" sz="1903" dirty="0" err="1">
                <a:solidFill>
                  <a:srgbClr val="000000"/>
                </a:solidFill>
                <a:latin typeface="Montserrat Classic"/>
              </a:rPr>
              <a:t>fasilitas</a:t>
            </a:r>
            <a:r>
              <a:rPr lang="en-US" sz="1903" dirty="0">
                <a:solidFill>
                  <a:srgbClr val="000000"/>
                </a:solidFill>
                <a:latin typeface="Montserrat Classic"/>
              </a:rPr>
              <a:t> </a:t>
            </a:r>
            <a:r>
              <a:rPr lang="en-US" sz="1903" dirty="0" err="1">
                <a:solidFill>
                  <a:srgbClr val="000000"/>
                </a:solidFill>
                <a:latin typeface="Montserrat Classic"/>
              </a:rPr>
              <a:t>hanya</a:t>
            </a:r>
            <a:r>
              <a:rPr lang="en-US" sz="1903" dirty="0">
                <a:solidFill>
                  <a:srgbClr val="000000"/>
                </a:solidFill>
                <a:latin typeface="Montserrat Classic"/>
              </a:rPr>
              <a:t> </a:t>
            </a:r>
            <a:r>
              <a:rPr lang="en-US" sz="1903" dirty="0" err="1">
                <a:solidFill>
                  <a:srgbClr val="000000"/>
                </a:solidFill>
                <a:latin typeface="Montserrat Classic"/>
              </a:rPr>
              <a:t>semata-mata</a:t>
            </a:r>
            <a:r>
              <a:rPr lang="en-US" sz="1903" dirty="0">
                <a:solidFill>
                  <a:srgbClr val="000000"/>
                </a:solidFill>
                <a:latin typeface="Montserrat Classic"/>
              </a:rPr>
              <a:t> </a:t>
            </a:r>
            <a:r>
              <a:rPr lang="en-US" sz="1903" dirty="0" err="1">
                <a:solidFill>
                  <a:srgbClr val="000000"/>
                </a:solidFill>
                <a:latin typeface="Montserrat Classic"/>
              </a:rPr>
              <a:t>untuk</a:t>
            </a:r>
            <a:r>
              <a:rPr lang="en-US" sz="1903" dirty="0">
                <a:solidFill>
                  <a:srgbClr val="000000"/>
                </a:solidFill>
                <a:latin typeface="Montserrat Classic"/>
              </a:rPr>
              <a:t> </a:t>
            </a:r>
            <a:r>
              <a:rPr lang="en-US" sz="1903" dirty="0" err="1">
                <a:solidFill>
                  <a:srgbClr val="000000"/>
                </a:solidFill>
                <a:latin typeface="Montserrat Classic"/>
              </a:rPr>
              <a:t>tujuan</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kepentingan</a:t>
            </a:r>
            <a:r>
              <a:rPr lang="en-US" sz="1903" dirty="0">
                <a:solidFill>
                  <a:srgbClr val="000000"/>
                </a:solidFill>
                <a:latin typeface="Montserrat Classic"/>
              </a:rPr>
              <a:t> </a:t>
            </a:r>
            <a:r>
              <a:rPr lang="en-US" sz="1903" dirty="0" err="1">
                <a:solidFill>
                  <a:srgbClr val="000000"/>
                </a:solidFill>
                <a:latin typeface="Montserrat Classic"/>
              </a:rPr>
              <a:t>bisnis</a:t>
            </a:r>
            <a:r>
              <a:rPr lang="en-US" sz="1903" dirty="0">
                <a:solidFill>
                  <a:srgbClr val="000000"/>
                </a:solidFill>
                <a:latin typeface="Montserrat Classic"/>
              </a:rPr>
              <a:t> </a:t>
            </a:r>
            <a:r>
              <a:rPr lang="en-US" sz="1903" dirty="0" err="1">
                <a:solidFill>
                  <a:srgbClr val="000000"/>
                </a:solidFill>
                <a:latin typeface="Montserrat Classic"/>
              </a:rPr>
              <a:t>serta</a:t>
            </a:r>
            <a:r>
              <a:rPr lang="en-US" sz="1903" dirty="0">
                <a:solidFill>
                  <a:srgbClr val="000000"/>
                </a:solidFill>
                <a:latin typeface="Montserrat Classic"/>
              </a:rPr>
              <a:t> </a:t>
            </a:r>
            <a:r>
              <a:rPr lang="en-US" sz="1903" dirty="0" err="1">
                <a:solidFill>
                  <a:srgbClr val="000000"/>
                </a:solidFill>
                <a:latin typeface="Montserrat Classic"/>
              </a:rPr>
              <a:t>dalam</a:t>
            </a:r>
            <a:r>
              <a:rPr lang="en-US" sz="1903" dirty="0">
                <a:solidFill>
                  <a:srgbClr val="000000"/>
                </a:solidFill>
                <a:latin typeface="Montserrat Classic"/>
              </a:rPr>
              <a:t> </a:t>
            </a:r>
            <a:r>
              <a:rPr lang="en-US" sz="1903" dirty="0" err="1">
                <a:solidFill>
                  <a:srgbClr val="000000"/>
                </a:solidFill>
                <a:latin typeface="Montserrat Classic"/>
              </a:rPr>
              <a:t>rangka</a:t>
            </a:r>
            <a:r>
              <a:rPr lang="en-US" sz="1903" dirty="0">
                <a:solidFill>
                  <a:srgbClr val="000000"/>
                </a:solidFill>
                <a:latin typeface="Montserrat Classic"/>
              </a:rPr>
              <a:t> </a:t>
            </a:r>
            <a:r>
              <a:rPr lang="en-US" sz="1903" dirty="0" err="1">
                <a:solidFill>
                  <a:srgbClr val="000000"/>
                </a:solidFill>
                <a:latin typeface="Montserrat Classic"/>
              </a:rPr>
              <a:t>memberikan</a:t>
            </a:r>
            <a:r>
              <a:rPr lang="en-US" sz="1903" dirty="0">
                <a:solidFill>
                  <a:srgbClr val="000000"/>
                </a:solidFill>
                <a:latin typeface="Montserrat Classic"/>
              </a:rPr>
              <a:t> </a:t>
            </a:r>
            <a:r>
              <a:rPr lang="en-US" sz="1903" dirty="0" err="1">
                <a:solidFill>
                  <a:srgbClr val="000000"/>
                </a:solidFill>
                <a:latin typeface="Montserrat Classic"/>
              </a:rPr>
              <a:t>pelayanan</a:t>
            </a:r>
            <a:r>
              <a:rPr lang="en-US" sz="1903" dirty="0">
                <a:solidFill>
                  <a:srgbClr val="000000"/>
                </a:solidFill>
                <a:latin typeface="Montserrat Classic"/>
              </a:rPr>
              <a:t> </a:t>
            </a:r>
            <a:r>
              <a:rPr lang="en-US" sz="1903" dirty="0" err="1">
                <a:solidFill>
                  <a:srgbClr val="000000"/>
                </a:solidFill>
                <a:latin typeface="Montserrat Classic"/>
              </a:rPr>
              <a:t>kepada</a:t>
            </a:r>
            <a:r>
              <a:rPr lang="en-US" sz="1903" dirty="0">
                <a:solidFill>
                  <a:srgbClr val="000000"/>
                </a:solidFill>
                <a:latin typeface="Montserrat Classic"/>
              </a:rPr>
              <a:t> customer yang </a:t>
            </a:r>
            <a:r>
              <a:rPr lang="en-US" sz="1903" dirty="0" err="1">
                <a:solidFill>
                  <a:srgbClr val="000000"/>
                </a:solidFill>
                <a:latin typeface="Montserrat Classic"/>
              </a:rPr>
              <a:t>lebih</a:t>
            </a:r>
            <a:r>
              <a:rPr lang="en-US" sz="1903" dirty="0">
                <a:solidFill>
                  <a:srgbClr val="000000"/>
                </a:solidFill>
                <a:latin typeface="Montserrat Classic"/>
              </a:rPr>
              <a:t> </a:t>
            </a:r>
            <a:r>
              <a:rPr lang="en-US" sz="1903" dirty="0" err="1">
                <a:solidFill>
                  <a:srgbClr val="000000"/>
                </a:solidFill>
                <a:latin typeface="Montserrat Classic"/>
              </a:rPr>
              <a:t>memuaskan</a:t>
            </a:r>
            <a:endParaRPr lang="en-US" sz="1903" dirty="0">
              <a:solidFill>
                <a:srgbClr val="000000"/>
              </a:solidFill>
              <a:latin typeface="Montserrat Classic"/>
            </a:endParaRPr>
          </a:p>
          <a:p>
            <a:pPr marL="457200" indent="-457200">
              <a:lnSpc>
                <a:spcPts val="2665"/>
              </a:lnSpc>
              <a:buFont typeface="+mj-lt"/>
              <a:buAutoNum type="alphaLcPeriod" startAt="2"/>
            </a:pPr>
            <a:r>
              <a:rPr lang="en-US" sz="1903" dirty="0" err="1">
                <a:solidFill>
                  <a:srgbClr val="000000"/>
                </a:solidFill>
                <a:latin typeface="Montserrat Classic"/>
              </a:rPr>
              <a:t>Menjaga</a:t>
            </a:r>
            <a:r>
              <a:rPr lang="en-US" sz="1903" dirty="0">
                <a:solidFill>
                  <a:srgbClr val="000000"/>
                </a:solidFill>
                <a:latin typeface="Montserrat Classic"/>
              </a:rPr>
              <a:t> </a:t>
            </a:r>
            <a:r>
              <a:rPr lang="en-US" sz="1903" dirty="0" err="1">
                <a:solidFill>
                  <a:srgbClr val="000000"/>
                </a:solidFill>
                <a:latin typeface="Montserrat Classic"/>
              </a:rPr>
              <a:t>fasilitas</a:t>
            </a:r>
            <a:r>
              <a:rPr lang="en-US" sz="1903" dirty="0">
                <a:solidFill>
                  <a:srgbClr val="000000"/>
                </a:solidFill>
                <a:latin typeface="Montserrat Classic"/>
              </a:rPr>
              <a:t> </a:t>
            </a:r>
            <a:r>
              <a:rPr lang="en-US" sz="1903" dirty="0" err="1">
                <a:solidFill>
                  <a:srgbClr val="000000"/>
                </a:solidFill>
                <a:latin typeface="Montserrat Classic"/>
              </a:rPr>
              <a:t>dari</a:t>
            </a:r>
            <a:r>
              <a:rPr lang="en-US" sz="1903" dirty="0">
                <a:solidFill>
                  <a:srgbClr val="000000"/>
                </a:solidFill>
                <a:latin typeface="Montserrat Classic"/>
              </a:rPr>
              <a:t> </a:t>
            </a:r>
            <a:r>
              <a:rPr lang="en-US" sz="1903" dirty="0" err="1">
                <a:solidFill>
                  <a:srgbClr val="000000"/>
                </a:solidFill>
                <a:latin typeface="Montserrat Classic"/>
              </a:rPr>
              <a:t>kemungkinan</a:t>
            </a:r>
            <a:r>
              <a:rPr lang="en-US" sz="1903" dirty="0">
                <a:solidFill>
                  <a:srgbClr val="000000"/>
                </a:solidFill>
                <a:latin typeface="Montserrat Classic"/>
              </a:rPr>
              <a:t> </a:t>
            </a:r>
            <a:r>
              <a:rPr lang="en-US" sz="1903" dirty="0" err="1">
                <a:solidFill>
                  <a:srgbClr val="000000"/>
                </a:solidFill>
                <a:latin typeface="Montserrat Classic"/>
              </a:rPr>
              <a:t>penyalahgunaan</a:t>
            </a:r>
            <a:r>
              <a:rPr lang="en-US" sz="1903" dirty="0">
                <a:solidFill>
                  <a:srgbClr val="000000"/>
                </a:solidFill>
                <a:latin typeface="Montserrat Classic"/>
              </a:rPr>
              <a:t> </a:t>
            </a:r>
            <a:r>
              <a:rPr lang="en-US" sz="1903" dirty="0" err="1">
                <a:solidFill>
                  <a:srgbClr val="000000"/>
                </a:solidFill>
                <a:latin typeface="Montserrat Classic"/>
              </a:rPr>
              <a:t>oleh</a:t>
            </a:r>
            <a:r>
              <a:rPr lang="en-US" sz="1903" dirty="0">
                <a:solidFill>
                  <a:srgbClr val="000000"/>
                </a:solidFill>
                <a:latin typeface="Montserrat Classic"/>
              </a:rPr>
              <a:t> </a:t>
            </a:r>
            <a:r>
              <a:rPr lang="en-US" sz="1903" dirty="0" err="1">
                <a:solidFill>
                  <a:srgbClr val="000000"/>
                </a:solidFill>
                <a:latin typeface="Montserrat Classic"/>
              </a:rPr>
              <a:t>pihak</a:t>
            </a:r>
            <a:r>
              <a:rPr lang="en-US" sz="1903" dirty="0">
                <a:solidFill>
                  <a:srgbClr val="000000"/>
                </a:solidFill>
                <a:latin typeface="Montserrat Classic"/>
              </a:rPr>
              <a:t> yang </a:t>
            </a:r>
            <a:r>
              <a:rPr lang="en-US" sz="1903" dirty="0" err="1">
                <a:solidFill>
                  <a:srgbClr val="000000"/>
                </a:solidFill>
                <a:latin typeface="Montserrat Classic"/>
              </a:rPr>
              <a:t>tidak</a:t>
            </a:r>
            <a:r>
              <a:rPr lang="en-US" sz="1903" dirty="0">
                <a:solidFill>
                  <a:srgbClr val="000000"/>
                </a:solidFill>
                <a:latin typeface="Montserrat Classic"/>
              </a:rPr>
              <a:t> </a:t>
            </a:r>
            <a:r>
              <a:rPr lang="en-US" sz="1903" dirty="0" err="1">
                <a:solidFill>
                  <a:srgbClr val="000000"/>
                </a:solidFill>
                <a:latin typeface="Montserrat Classic"/>
              </a:rPr>
              <a:t>berwenang</a:t>
            </a:r>
            <a:r>
              <a:rPr lang="en-US" sz="1903" dirty="0">
                <a:solidFill>
                  <a:srgbClr val="000000"/>
                </a:solidFill>
                <a:latin typeface="Montserrat Classic"/>
              </a:rPr>
              <a:t> yang </a:t>
            </a:r>
            <a:r>
              <a:rPr lang="en-US" sz="1903" dirty="0" err="1">
                <a:solidFill>
                  <a:srgbClr val="000000"/>
                </a:solidFill>
                <a:latin typeface="Montserrat Classic"/>
              </a:rPr>
              <a:t>dapat</a:t>
            </a:r>
            <a:r>
              <a:rPr lang="en-US" sz="1903" dirty="0">
                <a:solidFill>
                  <a:srgbClr val="000000"/>
                </a:solidFill>
                <a:latin typeface="Montserrat Classic"/>
              </a:rPr>
              <a:t> </a:t>
            </a:r>
            <a:r>
              <a:rPr lang="en-US" sz="1903" dirty="0" err="1">
                <a:solidFill>
                  <a:srgbClr val="000000"/>
                </a:solidFill>
                <a:latin typeface="Montserrat Classic"/>
              </a:rPr>
              <a:t>mempengaruhi</a:t>
            </a:r>
            <a:r>
              <a:rPr lang="en-US" sz="1903" dirty="0">
                <a:solidFill>
                  <a:srgbClr val="000000"/>
                </a:solidFill>
                <a:latin typeface="Montserrat Classic"/>
              </a:rPr>
              <a:t> </a:t>
            </a:r>
            <a:r>
              <a:rPr lang="en-US" sz="1903" dirty="0" err="1">
                <a:solidFill>
                  <a:srgbClr val="000000"/>
                </a:solidFill>
                <a:latin typeface="Montserrat Classic"/>
              </a:rPr>
              <a:t>keamanan</a:t>
            </a:r>
            <a:r>
              <a:rPr lang="en-US" sz="1903" dirty="0">
                <a:solidFill>
                  <a:srgbClr val="000000"/>
                </a:solidFill>
                <a:latin typeface="Montserrat Classic"/>
              </a:rPr>
              <a:t> data Perusahaan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dapat</a:t>
            </a:r>
            <a:r>
              <a:rPr lang="en-US" sz="1903" dirty="0">
                <a:solidFill>
                  <a:srgbClr val="000000"/>
                </a:solidFill>
                <a:latin typeface="Montserrat Classic"/>
              </a:rPr>
              <a:t> </a:t>
            </a:r>
            <a:r>
              <a:rPr lang="en-US" sz="1903" dirty="0" err="1">
                <a:solidFill>
                  <a:srgbClr val="000000"/>
                </a:solidFill>
                <a:latin typeface="Montserrat Classic"/>
              </a:rPr>
              <a:t>mengakibatkan</a:t>
            </a:r>
            <a:r>
              <a:rPr lang="en-US" sz="1903" dirty="0">
                <a:solidFill>
                  <a:srgbClr val="000000"/>
                </a:solidFill>
                <a:latin typeface="Montserrat Classic"/>
              </a:rPr>
              <a:t> </a:t>
            </a:r>
            <a:r>
              <a:rPr lang="en-US" sz="1903" dirty="0" err="1">
                <a:solidFill>
                  <a:srgbClr val="000000"/>
                </a:solidFill>
                <a:latin typeface="Montserrat Classic"/>
              </a:rPr>
              <a:t>kerugian</a:t>
            </a:r>
            <a:r>
              <a:rPr lang="en-US" sz="1903" dirty="0">
                <a:solidFill>
                  <a:srgbClr val="000000"/>
                </a:solidFill>
                <a:latin typeface="Montserrat Classic"/>
              </a:rPr>
              <a:t> Perusahaan.</a:t>
            </a:r>
          </a:p>
          <a:p>
            <a:pPr marL="457200" indent="-457200">
              <a:lnSpc>
                <a:spcPts val="2665"/>
              </a:lnSpc>
              <a:buFont typeface="+mj-lt"/>
              <a:buAutoNum type="alphaLcPeriod" startAt="3"/>
            </a:pPr>
            <a:r>
              <a:rPr lang="en-US" sz="1903" dirty="0" err="1">
                <a:solidFill>
                  <a:srgbClr val="000000"/>
                </a:solidFill>
                <a:latin typeface="Montserrat Classic"/>
              </a:rPr>
              <a:t>Memiliki</a:t>
            </a:r>
            <a:r>
              <a:rPr lang="en-US" sz="1903" dirty="0">
                <a:solidFill>
                  <a:srgbClr val="000000"/>
                </a:solidFill>
                <a:latin typeface="Montserrat Classic"/>
              </a:rPr>
              <a:t> </a:t>
            </a:r>
            <a:r>
              <a:rPr lang="en-US" sz="1903" dirty="0" err="1">
                <a:solidFill>
                  <a:srgbClr val="000000"/>
                </a:solidFill>
                <a:latin typeface="Montserrat Classic"/>
              </a:rPr>
              <a:t>komitmen</a:t>
            </a:r>
            <a:r>
              <a:rPr lang="en-US" sz="1903" dirty="0">
                <a:solidFill>
                  <a:srgbClr val="000000"/>
                </a:solidFill>
                <a:latin typeface="Montserrat Classic"/>
              </a:rPr>
              <a:t>, </a:t>
            </a:r>
            <a:r>
              <a:rPr lang="en-US" sz="1903" dirty="0" err="1">
                <a:solidFill>
                  <a:srgbClr val="000000"/>
                </a:solidFill>
                <a:latin typeface="Montserrat Classic"/>
              </a:rPr>
              <a:t>tanggung</a:t>
            </a:r>
            <a:r>
              <a:rPr lang="en-US" sz="1903" dirty="0">
                <a:solidFill>
                  <a:srgbClr val="000000"/>
                </a:solidFill>
                <a:latin typeface="Montserrat Classic"/>
              </a:rPr>
              <a:t> </a:t>
            </a:r>
            <a:r>
              <a:rPr lang="en-US" sz="1903" dirty="0" err="1">
                <a:solidFill>
                  <a:srgbClr val="000000"/>
                </a:solidFill>
                <a:latin typeface="Montserrat Classic"/>
              </a:rPr>
              <a:t>jawab</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bersedia</a:t>
            </a:r>
            <a:r>
              <a:rPr lang="en-US" sz="1903" dirty="0">
                <a:solidFill>
                  <a:srgbClr val="000000"/>
                </a:solidFill>
                <a:latin typeface="Montserrat Classic"/>
              </a:rPr>
              <a:t> </a:t>
            </a:r>
            <a:r>
              <a:rPr lang="en-US" sz="1903" dirty="0" err="1">
                <a:solidFill>
                  <a:srgbClr val="000000"/>
                </a:solidFill>
                <a:latin typeface="Montserrat Classic"/>
              </a:rPr>
              <a:t>menanggung</a:t>
            </a:r>
            <a:r>
              <a:rPr lang="en-US" sz="1903" dirty="0">
                <a:solidFill>
                  <a:srgbClr val="000000"/>
                </a:solidFill>
                <a:latin typeface="Montserrat Classic"/>
              </a:rPr>
              <a:t> </a:t>
            </a:r>
            <a:r>
              <a:rPr lang="en-US" sz="1903" dirty="0" err="1">
                <a:solidFill>
                  <a:srgbClr val="000000"/>
                </a:solidFill>
                <a:latin typeface="Montserrat Classic"/>
              </a:rPr>
              <a:t>kerugian</a:t>
            </a:r>
            <a:r>
              <a:rPr lang="en-US" sz="1903" dirty="0">
                <a:solidFill>
                  <a:srgbClr val="000000"/>
                </a:solidFill>
                <a:latin typeface="Montserrat Classic"/>
              </a:rPr>
              <a:t> </a:t>
            </a:r>
            <a:r>
              <a:rPr lang="en-US" sz="1903" dirty="0" err="1">
                <a:solidFill>
                  <a:srgbClr val="000000"/>
                </a:solidFill>
                <a:latin typeface="Montserrat Classic"/>
              </a:rPr>
              <a:t>apabila</a:t>
            </a:r>
            <a:r>
              <a:rPr lang="en-US" sz="1903" dirty="0">
                <a:solidFill>
                  <a:srgbClr val="000000"/>
                </a:solidFill>
                <a:latin typeface="Montserrat Classic"/>
              </a:rPr>
              <a:t> </a:t>
            </a:r>
            <a:r>
              <a:rPr lang="en-US" sz="1903" dirty="0" err="1">
                <a:solidFill>
                  <a:srgbClr val="000000"/>
                </a:solidFill>
                <a:latin typeface="Montserrat Classic"/>
              </a:rPr>
              <a:t>terjadi</a:t>
            </a:r>
            <a:r>
              <a:rPr lang="en-US" sz="1903" dirty="0">
                <a:solidFill>
                  <a:srgbClr val="000000"/>
                </a:solidFill>
                <a:latin typeface="Montserrat Classic"/>
              </a:rPr>
              <a:t> </a:t>
            </a:r>
            <a:r>
              <a:rPr lang="en-US" sz="1903" dirty="0" err="1">
                <a:solidFill>
                  <a:srgbClr val="000000"/>
                </a:solidFill>
                <a:latin typeface="Montserrat Classic"/>
              </a:rPr>
              <a:t>penyalahgunaan</a:t>
            </a:r>
            <a:r>
              <a:rPr lang="en-US" sz="1903" dirty="0">
                <a:solidFill>
                  <a:srgbClr val="000000"/>
                </a:solidFill>
                <a:latin typeface="Montserrat Classic"/>
              </a:rPr>
              <a:t> </a:t>
            </a:r>
            <a:r>
              <a:rPr lang="en-US" sz="1903" dirty="0" err="1">
                <a:solidFill>
                  <a:srgbClr val="000000"/>
                </a:solidFill>
                <a:latin typeface="Montserrat Classic"/>
              </a:rPr>
              <a:t>oleh</a:t>
            </a:r>
            <a:r>
              <a:rPr lang="en-US" sz="1903" dirty="0">
                <a:solidFill>
                  <a:srgbClr val="000000"/>
                </a:solidFill>
                <a:latin typeface="Montserrat Classic"/>
              </a:rPr>
              <a:t> </a:t>
            </a:r>
            <a:r>
              <a:rPr lang="en-US" sz="1903" dirty="0" err="1">
                <a:solidFill>
                  <a:srgbClr val="000000"/>
                </a:solidFill>
                <a:latin typeface="Montserrat Classic"/>
              </a:rPr>
              <a:t>pihak</a:t>
            </a:r>
            <a:r>
              <a:rPr lang="en-US" sz="1903" dirty="0">
                <a:solidFill>
                  <a:srgbClr val="000000"/>
                </a:solidFill>
                <a:latin typeface="Montserrat Classic"/>
              </a:rPr>
              <a:t> lain </a:t>
            </a:r>
            <a:r>
              <a:rPr lang="en-US" sz="1903" dirty="0" err="1">
                <a:solidFill>
                  <a:srgbClr val="000000"/>
                </a:solidFill>
                <a:latin typeface="Montserrat Classic"/>
              </a:rPr>
              <a:t>sebagai</a:t>
            </a:r>
            <a:r>
              <a:rPr lang="en-US" sz="1903" dirty="0">
                <a:solidFill>
                  <a:srgbClr val="000000"/>
                </a:solidFill>
                <a:latin typeface="Montserrat Classic"/>
              </a:rPr>
              <a:t> </a:t>
            </a:r>
            <a:r>
              <a:rPr lang="en-US" sz="1903" dirty="0" err="1">
                <a:solidFill>
                  <a:srgbClr val="000000"/>
                </a:solidFill>
                <a:latin typeface="Montserrat Classic"/>
              </a:rPr>
              <a:t>akibat</a:t>
            </a:r>
            <a:r>
              <a:rPr lang="en-US" sz="1903" dirty="0">
                <a:solidFill>
                  <a:srgbClr val="000000"/>
                </a:solidFill>
                <a:latin typeface="Montserrat Classic"/>
              </a:rPr>
              <a:t> </a:t>
            </a:r>
            <a:r>
              <a:rPr lang="en-US" sz="1903" dirty="0" err="1">
                <a:solidFill>
                  <a:srgbClr val="000000"/>
                </a:solidFill>
                <a:latin typeface="Montserrat Classic"/>
              </a:rPr>
              <a:t>kelalaian</a:t>
            </a:r>
            <a:r>
              <a:rPr lang="en-US" sz="1903" dirty="0">
                <a:solidFill>
                  <a:srgbClr val="000000"/>
                </a:solidFill>
                <a:latin typeface="Montserrat Classic"/>
              </a:rPr>
              <a:t> </a:t>
            </a:r>
            <a:r>
              <a:rPr lang="en-US" sz="1903" dirty="0" err="1">
                <a:solidFill>
                  <a:srgbClr val="000000"/>
                </a:solidFill>
                <a:latin typeface="Montserrat Classic"/>
              </a:rPr>
              <a:t>dalam</a:t>
            </a:r>
            <a:r>
              <a:rPr lang="en-US" sz="1903" dirty="0">
                <a:solidFill>
                  <a:srgbClr val="000000"/>
                </a:solidFill>
                <a:latin typeface="Montserrat Classic"/>
              </a:rPr>
              <a:t> </a:t>
            </a:r>
            <a:r>
              <a:rPr lang="en-US" sz="1903" dirty="0" err="1">
                <a:solidFill>
                  <a:srgbClr val="000000"/>
                </a:solidFill>
                <a:latin typeface="Montserrat Classic"/>
              </a:rPr>
              <a:t>melaksanakan</a:t>
            </a:r>
            <a:r>
              <a:rPr lang="en-US" sz="1903" dirty="0">
                <a:solidFill>
                  <a:srgbClr val="000000"/>
                </a:solidFill>
                <a:latin typeface="Montserrat Classic"/>
              </a:rPr>
              <a:t> </a:t>
            </a:r>
            <a:r>
              <a:rPr lang="en-US" sz="1903" dirty="0" err="1">
                <a:solidFill>
                  <a:srgbClr val="000000"/>
                </a:solidFill>
                <a:latin typeface="Montserrat Classic"/>
              </a:rPr>
              <a:t>tugas</a:t>
            </a:r>
            <a:r>
              <a:rPr lang="en-US" sz="1903" dirty="0">
                <a:solidFill>
                  <a:srgbClr val="000000"/>
                </a:solidFill>
                <a:latin typeface="Montserrat Classic"/>
              </a:rPr>
              <a:t>.</a:t>
            </a:r>
          </a:p>
          <a:p>
            <a:pPr marL="457200" indent="-457200">
              <a:lnSpc>
                <a:spcPts val="2665"/>
              </a:lnSpc>
              <a:buFont typeface="+mj-lt"/>
              <a:buAutoNum type="alphaLcPeriod" startAt="4"/>
            </a:pPr>
            <a:r>
              <a:rPr lang="en-US" sz="1903" dirty="0" err="1">
                <a:solidFill>
                  <a:srgbClr val="000000"/>
                </a:solidFill>
                <a:latin typeface="Montserrat Classic"/>
              </a:rPr>
              <a:t>Tidak</a:t>
            </a:r>
            <a:r>
              <a:rPr lang="en-US" sz="1903" dirty="0">
                <a:solidFill>
                  <a:srgbClr val="000000"/>
                </a:solidFill>
                <a:latin typeface="Montserrat Classic"/>
              </a:rPr>
              <a:t> </a:t>
            </a:r>
            <a:r>
              <a:rPr lang="en-US" sz="1903" dirty="0" err="1">
                <a:solidFill>
                  <a:srgbClr val="000000"/>
                </a:solidFill>
                <a:latin typeface="Montserrat Classic"/>
              </a:rPr>
              <a:t>diperkenankan</a:t>
            </a:r>
            <a:r>
              <a:rPr lang="en-US" sz="1903" dirty="0">
                <a:solidFill>
                  <a:srgbClr val="000000"/>
                </a:solidFill>
                <a:latin typeface="Montserrat Classic"/>
              </a:rPr>
              <a:t> </a:t>
            </a:r>
            <a:r>
              <a:rPr lang="en-US" sz="1903" dirty="0" err="1">
                <a:solidFill>
                  <a:srgbClr val="000000"/>
                </a:solidFill>
                <a:latin typeface="Montserrat Classic"/>
              </a:rPr>
              <a:t>menggunakan</a:t>
            </a:r>
            <a:r>
              <a:rPr lang="en-US" sz="1903" dirty="0">
                <a:solidFill>
                  <a:srgbClr val="000000"/>
                </a:solidFill>
                <a:latin typeface="Montserrat Classic"/>
              </a:rPr>
              <a:t> </a:t>
            </a:r>
            <a:r>
              <a:rPr lang="en-US" sz="1903" dirty="0" err="1">
                <a:solidFill>
                  <a:srgbClr val="000000"/>
                </a:solidFill>
                <a:latin typeface="Montserrat Classic"/>
              </a:rPr>
              <a:t>teknologi</a:t>
            </a:r>
            <a:r>
              <a:rPr lang="en-US" sz="1903" dirty="0">
                <a:solidFill>
                  <a:srgbClr val="000000"/>
                </a:solidFill>
                <a:latin typeface="Montserrat Classic"/>
              </a:rPr>
              <a:t> </a:t>
            </a:r>
            <a:r>
              <a:rPr lang="en-US" sz="1903" dirty="0" err="1">
                <a:solidFill>
                  <a:srgbClr val="000000"/>
                </a:solidFill>
                <a:latin typeface="Montserrat Classic"/>
              </a:rPr>
              <a:t>informasi</a:t>
            </a:r>
            <a:r>
              <a:rPr lang="en-US" sz="1903" dirty="0">
                <a:solidFill>
                  <a:srgbClr val="000000"/>
                </a:solidFill>
                <a:latin typeface="Montserrat Classic"/>
              </a:rPr>
              <a:t> </a:t>
            </a:r>
            <a:r>
              <a:rPr lang="en-US" sz="1903" dirty="0" err="1">
                <a:solidFill>
                  <a:srgbClr val="000000"/>
                </a:solidFill>
                <a:latin typeface="Montserrat Classic"/>
              </a:rPr>
              <a:t>untuk</a:t>
            </a:r>
            <a:r>
              <a:rPr lang="en-US" sz="1903" dirty="0">
                <a:solidFill>
                  <a:srgbClr val="000000"/>
                </a:solidFill>
                <a:latin typeface="Montserrat Classic"/>
              </a:rPr>
              <a:t> </a:t>
            </a:r>
            <a:r>
              <a:rPr lang="en-US" sz="1903" dirty="0" err="1">
                <a:solidFill>
                  <a:srgbClr val="000000"/>
                </a:solidFill>
                <a:latin typeface="Montserrat Classic"/>
              </a:rPr>
              <a:t>menciptakan</a:t>
            </a:r>
            <a:r>
              <a:rPr lang="en-US" sz="1903" dirty="0">
                <a:solidFill>
                  <a:srgbClr val="000000"/>
                </a:solidFill>
                <a:latin typeface="Montserrat Classic"/>
              </a:rPr>
              <a:t>, </a:t>
            </a:r>
            <a:r>
              <a:rPr lang="en-US" sz="1903" dirty="0" err="1">
                <a:solidFill>
                  <a:srgbClr val="000000"/>
                </a:solidFill>
                <a:latin typeface="Montserrat Classic"/>
              </a:rPr>
              <a:t>memperbanyak</a:t>
            </a:r>
            <a:r>
              <a:rPr lang="en-US" sz="1903" dirty="0">
                <a:solidFill>
                  <a:srgbClr val="000000"/>
                </a:solidFill>
                <a:latin typeface="Montserrat Classic"/>
              </a:rPr>
              <a:t>, </a:t>
            </a:r>
            <a:r>
              <a:rPr lang="en-US" sz="1903" dirty="0" err="1">
                <a:solidFill>
                  <a:srgbClr val="000000"/>
                </a:solidFill>
                <a:latin typeface="Montserrat Classic"/>
              </a:rPr>
              <a:t>menyimpan</a:t>
            </a:r>
            <a:r>
              <a:rPr lang="en-US" sz="1903" dirty="0">
                <a:solidFill>
                  <a:srgbClr val="000000"/>
                </a:solidFill>
                <a:latin typeface="Montserrat Classic"/>
              </a:rPr>
              <a:t> </a:t>
            </a:r>
            <a:r>
              <a:rPr lang="en-US" sz="1903" dirty="0" err="1">
                <a:solidFill>
                  <a:srgbClr val="000000"/>
                </a:solidFill>
                <a:latin typeface="Montserrat Classic"/>
              </a:rPr>
              <a:t>atau</a:t>
            </a:r>
            <a:r>
              <a:rPr lang="en-US" sz="1903" dirty="0">
                <a:solidFill>
                  <a:srgbClr val="000000"/>
                </a:solidFill>
                <a:latin typeface="Montserrat Classic"/>
              </a:rPr>
              <a:t> </a:t>
            </a:r>
            <a:r>
              <a:rPr lang="en-US" sz="1903" dirty="0" err="1">
                <a:solidFill>
                  <a:srgbClr val="000000"/>
                </a:solidFill>
                <a:latin typeface="Montserrat Classic"/>
              </a:rPr>
              <a:t>memindahkan</a:t>
            </a:r>
            <a:r>
              <a:rPr lang="en-US" sz="1903" dirty="0">
                <a:solidFill>
                  <a:srgbClr val="000000"/>
                </a:solidFill>
                <a:latin typeface="Montserrat Classic"/>
              </a:rPr>
              <a:t> </a:t>
            </a:r>
            <a:r>
              <a:rPr lang="en-US" sz="1903" dirty="0" err="1">
                <a:solidFill>
                  <a:srgbClr val="000000"/>
                </a:solidFill>
                <a:latin typeface="Montserrat Classic"/>
              </a:rPr>
              <a:t>informasi</a:t>
            </a:r>
            <a:r>
              <a:rPr lang="en-US" sz="1903" dirty="0">
                <a:solidFill>
                  <a:srgbClr val="000000"/>
                </a:solidFill>
                <a:latin typeface="Montserrat Classic"/>
              </a:rPr>
              <a:t> yang </a:t>
            </a:r>
            <a:r>
              <a:rPr lang="en-US" sz="1903" dirty="0" err="1">
                <a:solidFill>
                  <a:srgbClr val="000000"/>
                </a:solidFill>
                <a:latin typeface="Montserrat Classic"/>
              </a:rPr>
              <a:t>bersifat</a:t>
            </a:r>
            <a:r>
              <a:rPr lang="en-US" sz="1903" dirty="0">
                <a:solidFill>
                  <a:srgbClr val="000000"/>
                </a:solidFill>
                <a:latin typeface="Montserrat Classic"/>
              </a:rPr>
              <a:t> </a:t>
            </a:r>
            <a:r>
              <a:rPr lang="en-US" sz="1903" dirty="0" err="1">
                <a:solidFill>
                  <a:srgbClr val="000000"/>
                </a:solidFill>
                <a:latin typeface="Montserrat Classic"/>
              </a:rPr>
              <a:t>terlarang</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melanggar</a:t>
            </a:r>
            <a:r>
              <a:rPr lang="en-US" sz="1903" dirty="0">
                <a:solidFill>
                  <a:srgbClr val="000000"/>
                </a:solidFill>
                <a:latin typeface="Montserrat Classic"/>
              </a:rPr>
              <a:t> </a:t>
            </a:r>
            <a:r>
              <a:rPr lang="en-US" sz="1903" dirty="0" err="1">
                <a:solidFill>
                  <a:srgbClr val="000000"/>
                </a:solidFill>
                <a:latin typeface="Montserrat Classic"/>
              </a:rPr>
              <a:t>hukum</a:t>
            </a:r>
            <a:r>
              <a:rPr lang="en-US" sz="1903" dirty="0">
                <a:solidFill>
                  <a:srgbClr val="000000"/>
                </a:solidFill>
                <a:latin typeface="Montserrat Classic"/>
              </a:rPr>
              <a:t>, </a:t>
            </a:r>
            <a:r>
              <a:rPr lang="en-US" sz="1903" dirty="0" err="1">
                <a:solidFill>
                  <a:srgbClr val="000000"/>
                </a:solidFill>
                <a:latin typeface="Montserrat Classic"/>
              </a:rPr>
              <a:t>bersifat</a:t>
            </a:r>
            <a:r>
              <a:rPr lang="en-US" sz="1903" dirty="0">
                <a:solidFill>
                  <a:srgbClr val="000000"/>
                </a:solidFill>
                <a:latin typeface="Montserrat Classic"/>
              </a:rPr>
              <a:t> </a:t>
            </a:r>
            <a:r>
              <a:rPr lang="en-US" sz="1903" dirty="0" err="1">
                <a:solidFill>
                  <a:srgbClr val="000000"/>
                </a:solidFill>
                <a:latin typeface="Montserrat Classic"/>
              </a:rPr>
              <a:t>diskriminatif</a:t>
            </a:r>
            <a:r>
              <a:rPr lang="en-US" sz="1903" dirty="0">
                <a:solidFill>
                  <a:srgbClr val="000000"/>
                </a:solidFill>
                <a:latin typeface="Montserrat Classic"/>
              </a:rPr>
              <a:t>, </a:t>
            </a:r>
            <a:r>
              <a:rPr lang="en-US" sz="1903" dirty="0" err="1">
                <a:solidFill>
                  <a:srgbClr val="000000"/>
                </a:solidFill>
                <a:latin typeface="Montserrat Classic"/>
              </a:rPr>
              <a:t>dan</a:t>
            </a:r>
            <a:r>
              <a:rPr lang="en-US" sz="1903" dirty="0">
                <a:solidFill>
                  <a:srgbClr val="000000"/>
                </a:solidFill>
                <a:latin typeface="Montserrat Classic"/>
              </a:rPr>
              <a:t> </a:t>
            </a:r>
            <a:r>
              <a:rPr lang="en-US" sz="1903" dirty="0" err="1">
                <a:solidFill>
                  <a:srgbClr val="000000"/>
                </a:solidFill>
                <a:latin typeface="Montserrat Classic"/>
              </a:rPr>
              <a:t>intimidasi</a:t>
            </a:r>
            <a:r>
              <a:rPr lang="en-US" sz="1903" dirty="0">
                <a:solidFill>
                  <a:srgbClr val="000000"/>
                </a:solidFill>
                <a:latin typeface="Montserrat Classic"/>
              </a:rPr>
              <a:t> </a:t>
            </a:r>
            <a:r>
              <a:rPr lang="en-US" sz="1903" dirty="0" err="1">
                <a:solidFill>
                  <a:srgbClr val="000000"/>
                </a:solidFill>
                <a:latin typeface="Montserrat Classic"/>
              </a:rPr>
              <a:t>untuk</a:t>
            </a:r>
            <a:r>
              <a:rPr lang="en-US" sz="1903" dirty="0">
                <a:solidFill>
                  <a:srgbClr val="000000"/>
                </a:solidFill>
                <a:latin typeface="Montserrat Classic"/>
              </a:rPr>
              <a:t> </a:t>
            </a:r>
            <a:r>
              <a:rPr lang="en-US" sz="1903" dirty="0" err="1">
                <a:solidFill>
                  <a:srgbClr val="000000"/>
                </a:solidFill>
                <a:latin typeface="Montserrat Classic"/>
              </a:rPr>
              <a:t>tujuan</a:t>
            </a:r>
            <a:r>
              <a:rPr lang="en-US" sz="1903" dirty="0">
                <a:solidFill>
                  <a:srgbClr val="000000"/>
                </a:solidFill>
                <a:latin typeface="Montserrat Classic"/>
              </a:rPr>
              <a:t> </a:t>
            </a:r>
            <a:r>
              <a:rPr lang="en-US" sz="1903" dirty="0" err="1">
                <a:solidFill>
                  <a:srgbClr val="000000"/>
                </a:solidFill>
                <a:latin typeface="Montserrat Classic"/>
              </a:rPr>
              <a:t>pribadi</a:t>
            </a:r>
            <a:r>
              <a:rPr lang="en-US" sz="1903" dirty="0">
                <a:solidFill>
                  <a:srgbClr val="000000"/>
                </a:solidFill>
                <a:latin typeface="Montserrat Classic"/>
              </a:rPr>
              <a:t> </a:t>
            </a:r>
            <a:r>
              <a:rPr lang="en-US" sz="1903" dirty="0" err="1">
                <a:solidFill>
                  <a:srgbClr val="000000"/>
                </a:solidFill>
                <a:latin typeface="Montserrat Classic"/>
              </a:rPr>
              <a:t>maupun</a:t>
            </a:r>
            <a:r>
              <a:rPr lang="en-US" sz="1903" dirty="0">
                <a:solidFill>
                  <a:srgbClr val="000000"/>
                </a:solidFill>
                <a:latin typeface="Montserrat Classic"/>
              </a:rPr>
              <a:t> </a:t>
            </a:r>
            <a:r>
              <a:rPr lang="en-US" sz="1903" dirty="0" err="1">
                <a:solidFill>
                  <a:srgbClr val="000000"/>
                </a:solidFill>
                <a:latin typeface="Montserrat Classic"/>
              </a:rPr>
              <a:t>pihak</a:t>
            </a:r>
            <a:r>
              <a:rPr lang="en-US" sz="1903" dirty="0">
                <a:solidFill>
                  <a:srgbClr val="000000"/>
                </a:solidFill>
                <a:latin typeface="Montserrat Classic"/>
              </a:rPr>
              <a:t> lain.</a:t>
            </a:r>
          </a:p>
          <a:p>
            <a:pPr marL="457200" indent="-457200">
              <a:lnSpc>
                <a:spcPts val="2940"/>
              </a:lnSpc>
              <a:buFont typeface="+mj-lt"/>
              <a:buAutoNum type="alphaLcPeriod" startAt="5"/>
            </a:pPr>
            <a:r>
              <a:rPr lang="en-US" sz="1900" dirty="0" err="1">
                <a:solidFill>
                  <a:srgbClr val="000000"/>
                </a:solidFill>
                <a:latin typeface="Montserrat Classic"/>
              </a:rPr>
              <a:t>Mengoptimalkan</a:t>
            </a:r>
            <a:r>
              <a:rPr lang="en-US" sz="1900" dirty="0">
                <a:solidFill>
                  <a:srgbClr val="000000"/>
                </a:solidFill>
                <a:latin typeface="Montserrat Classic"/>
              </a:rPr>
              <a:t> </a:t>
            </a:r>
            <a:r>
              <a:rPr lang="en-US" sz="1900" dirty="0" err="1">
                <a:solidFill>
                  <a:srgbClr val="000000"/>
                </a:solidFill>
                <a:latin typeface="Montserrat Classic"/>
              </a:rPr>
              <a:t>penggunaan</a:t>
            </a:r>
            <a:r>
              <a:rPr lang="en-US" sz="1900" dirty="0">
                <a:solidFill>
                  <a:srgbClr val="000000"/>
                </a:solidFill>
                <a:latin typeface="Montserrat Classic"/>
              </a:rPr>
              <a:t> </a:t>
            </a:r>
            <a:r>
              <a:rPr lang="en-US" sz="1900" dirty="0" err="1">
                <a:solidFill>
                  <a:srgbClr val="000000"/>
                </a:solidFill>
                <a:latin typeface="Montserrat Classic"/>
              </a:rPr>
              <a:t>fasilitas</a:t>
            </a:r>
            <a:r>
              <a:rPr lang="en-US" sz="1900" dirty="0">
                <a:solidFill>
                  <a:srgbClr val="000000"/>
                </a:solidFill>
                <a:latin typeface="Montserrat Classic"/>
              </a:rPr>
              <a:t> </a:t>
            </a:r>
            <a:r>
              <a:rPr lang="en-US" sz="1900" dirty="0" err="1">
                <a:solidFill>
                  <a:srgbClr val="000000"/>
                </a:solidFill>
                <a:latin typeface="Montserrat Classic"/>
              </a:rPr>
              <a:t>Teknologi</a:t>
            </a:r>
            <a:r>
              <a:rPr lang="en-US" sz="1900" dirty="0">
                <a:solidFill>
                  <a:srgbClr val="000000"/>
                </a:solidFill>
                <a:latin typeface="Montserrat Classic"/>
              </a:rPr>
              <a:t> </a:t>
            </a:r>
            <a:r>
              <a:rPr lang="en-US" sz="1900" dirty="0" err="1">
                <a:solidFill>
                  <a:srgbClr val="000000"/>
                </a:solidFill>
                <a:latin typeface="Montserrat Classic"/>
              </a:rPr>
              <a:t>Informasi</a:t>
            </a:r>
            <a:r>
              <a:rPr lang="en-US" sz="1900" dirty="0">
                <a:solidFill>
                  <a:srgbClr val="000000"/>
                </a:solidFill>
                <a:latin typeface="Montserrat Classic"/>
              </a:rPr>
              <a:t> </a:t>
            </a:r>
            <a:r>
              <a:rPr lang="en-US" sz="1900" dirty="0" err="1">
                <a:solidFill>
                  <a:srgbClr val="000000"/>
                </a:solidFill>
                <a:latin typeface="Montserrat Classic"/>
              </a:rPr>
              <a:t>secara</a:t>
            </a:r>
            <a:r>
              <a:rPr lang="en-US" sz="1900" dirty="0">
                <a:solidFill>
                  <a:srgbClr val="000000"/>
                </a:solidFill>
                <a:latin typeface="Montserrat Classic"/>
              </a:rPr>
              <a:t> </a:t>
            </a:r>
            <a:r>
              <a:rPr lang="en-US" sz="1900" dirty="0" err="1">
                <a:solidFill>
                  <a:srgbClr val="000000"/>
                </a:solidFill>
                <a:latin typeface="Montserrat Classic"/>
              </a:rPr>
              <a:t>bertanggung</a:t>
            </a:r>
            <a:r>
              <a:rPr lang="en-US" sz="1900" dirty="0">
                <a:solidFill>
                  <a:srgbClr val="000000"/>
                </a:solidFill>
                <a:latin typeface="Montserrat Classic"/>
              </a:rPr>
              <a:t> </a:t>
            </a:r>
            <a:r>
              <a:rPr lang="en-US" sz="1900" dirty="0" err="1">
                <a:solidFill>
                  <a:srgbClr val="000000"/>
                </a:solidFill>
                <a:latin typeface="Montserrat Classic"/>
              </a:rPr>
              <a:t>jawab</a:t>
            </a:r>
            <a:r>
              <a:rPr lang="en-US" sz="1900" dirty="0">
                <a:solidFill>
                  <a:srgbClr val="000000"/>
                </a:solidFill>
                <a:latin typeface="Montserrat Classic"/>
              </a:rPr>
              <a:t> </a:t>
            </a:r>
            <a:r>
              <a:rPr lang="en-US" sz="1900" dirty="0" err="1">
                <a:solidFill>
                  <a:srgbClr val="000000"/>
                </a:solidFill>
                <a:latin typeface="Montserrat Classic"/>
              </a:rPr>
              <a:t>dan</a:t>
            </a:r>
            <a:r>
              <a:rPr lang="en-US" sz="1900" dirty="0">
                <a:solidFill>
                  <a:srgbClr val="000000"/>
                </a:solidFill>
                <a:latin typeface="Montserrat Classic"/>
              </a:rPr>
              <a:t> </a:t>
            </a:r>
            <a:r>
              <a:rPr lang="en-US" sz="1900" dirty="0" err="1">
                <a:solidFill>
                  <a:srgbClr val="000000"/>
                </a:solidFill>
                <a:latin typeface="Montserrat Classic"/>
              </a:rPr>
              <a:t>tidak</a:t>
            </a:r>
            <a:r>
              <a:rPr lang="en-US" sz="1900" dirty="0">
                <a:solidFill>
                  <a:srgbClr val="000000"/>
                </a:solidFill>
                <a:latin typeface="Montserrat Classic"/>
              </a:rPr>
              <a:t> </a:t>
            </a:r>
            <a:r>
              <a:rPr lang="en-US" sz="1900" dirty="0" err="1">
                <a:solidFill>
                  <a:srgbClr val="000000"/>
                </a:solidFill>
                <a:latin typeface="Montserrat Classic"/>
              </a:rPr>
              <a:t>diperkenankan</a:t>
            </a:r>
            <a:r>
              <a:rPr lang="en-US" sz="1900" dirty="0">
                <a:solidFill>
                  <a:srgbClr val="000000"/>
                </a:solidFill>
                <a:latin typeface="Montserrat Classic"/>
              </a:rPr>
              <a:t> </a:t>
            </a:r>
            <a:r>
              <a:rPr lang="en-US" sz="1900" dirty="0" err="1">
                <a:solidFill>
                  <a:srgbClr val="000000"/>
                </a:solidFill>
                <a:latin typeface="Montserrat Classic"/>
              </a:rPr>
              <a:t>menggunakan</a:t>
            </a:r>
            <a:r>
              <a:rPr lang="en-US" sz="1900" dirty="0">
                <a:solidFill>
                  <a:srgbClr val="000000"/>
                </a:solidFill>
                <a:latin typeface="Montserrat Classic"/>
              </a:rPr>
              <a:t> </a:t>
            </a:r>
            <a:r>
              <a:rPr lang="en-US" sz="1900" dirty="0" err="1">
                <a:solidFill>
                  <a:srgbClr val="000000"/>
                </a:solidFill>
                <a:latin typeface="Montserrat Classic"/>
              </a:rPr>
              <a:t>Teknologi</a:t>
            </a:r>
            <a:r>
              <a:rPr lang="en-US" sz="1900" dirty="0">
                <a:solidFill>
                  <a:srgbClr val="000000"/>
                </a:solidFill>
                <a:latin typeface="Montserrat Classic"/>
              </a:rPr>
              <a:t> </a:t>
            </a:r>
            <a:r>
              <a:rPr lang="en-US" sz="1900" dirty="0" err="1">
                <a:solidFill>
                  <a:srgbClr val="000000"/>
                </a:solidFill>
                <a:latin typeface="Montserrat Classic"/>
              </a:rPr>
              <a:t>Informasi</a:t>
            </a:r>
            <a:r>
              <a:rPr lang="en-US" sz="1900" dirty="0">
                <a:solidFill>
                  <a:srgbClr val="000000"/>
                </a:solidFill>
                <a:latin typeface="Montserrat Classic"/>
              </a:rPr>
              <a:t> </a:t>
            </a:r>
            <a:r>
              <a:rPr lang="en-US" sz="1900" dirty="0" err="1">
                <a:solidFill>
                  <a:srgbClr val="000000"/>
                </a:solidFill>
                <a:latin typeface="Montserrat Classic"/>
              </a:rPr>
              <a:t>untuk</a:t>
            </a:r>
            <a:r>
              <a:rPr lang="en-US" sz="1900" dirty="0">
                <a:solidFill>
                  <a:srgbClr val="000000"/>
                </a:solidFill>
                <a:latin typeface="Montserrat Classic"/>
              </a:rPr>
              <a:t> </a:t>
            </a:r>
            <a:r>
              <a:rPr lang="en-US" sz="1900" dirty="0" err="1">
                <a:solidFill>
                  <a:srgbClr val="000000"/>
                </a:solidFill>
                <a:latin typeface="Montserrat Classic"/>
              </a:rPr>
              <a:t>mengakses</a:t>
            </a:r>
            <a:r>
              <a:rPr lang="en-US" sz="1900" dirty="0">
                <a:solidFill>
                  <a:srgbClr val="000000"/>
                </a:solidFill>
                <a:latin typeface="Montserrat Classic"/>
              </a:rPr>
              <a:t> </a:t>
            </a:r>
            <a:r>
              <a:rPr lang="en-US" sz="1900" dirty="0" err="1">
                <a:solidFill>
                  <a:srgbClr val="000000"/>
                </a:solidFill>
                <a:latin typeface="Montserrat Classic"/>
              </a:rPr>
              <a:t>situs</a:t>
            </a:r>
            <a:r>
              <a:rPr lang="en-US" sz="1900" dirty="0">
                <a:solidFill>
                  <a:srgbClr val="000000"/>
                </a:solidFill>
                <a:latin typeface="Montserrat Classic"/>
              </a:rPr>
              <a:t> yang </a:t>
            </a:r>
            <a:r>
              <a:rPr lang="en-US" sz="1900" dirty="0" err="1">
                <a:solidFill>
                  <a:srgbClr val="000000"/>
                </a:solidFill>
                <a:latin typeface="Montserrat Classic"/>
              </a:rPr>
              <a:t>berisi</a:t>
            </a:r>
            <a:r>
              <a:rPr lang="en-US" sz="1900" dirty="0">
                <a:solidFill>
                  <a:srgbClr val="000000"/>
                </a:solidFill>
                <a:latin typeface="Montserrat Classic"/>
              </a:rPr>
              <a:t> </a:t>
            </a:r>
            <a:r>
              <a:rPr lang="en-US" sz="1900" dirty="0" err="1">
                <a:solidFill>
                  <a:srgbClr val="000000"/>
                </a:solidFill>
                <a:latin typeface="Montserrat Classic"/>
              </a:rPr>
              <a:t>informasi</a:t>
            </a:r>
            <a:r>
              <a:rPr lang="en-US" sz="1900" dirty="0">
                <a:solidFill>
                  <a:srgbClr val="000000"/>
                </a:solidFill>
                <a:latin typeface="Montserrat Classic"/>
              </a:rPr>
              <a:t> yang </a:t>
            </a:r>
            <a:r>
              <a:rPr lang="en-US" sz="1900" dirty="0" err="1">
                <a:solidFill>
                  <a:srgbClr val="000000"/>
                </a:solidFill>
                <a:latin typeface="Montserrat Classic"/>
              </a:rPr>
              <a:t>melanggar</a:t>
            </a:r>
            <a:r>
              <a:rPr lang="en-US" sz="1900" dirty="0">
                <a:solidFill>
                  <a:srgbClr val="000000"/>
                </a:solidFill>
                <a:latin typeface="Montserrat Classic"/>
              </a:rPr>
              <a:t> </a:t>
            </a:r>
            <a:r>
              <a:rPr lang="en-US" sz="1900" dirty="0" err="1">
                <a:solidFill>
                  <a:srgbClr val="000000"/>
                </a:solidFill>
                <a:latin typeface="Montserrat Classic"/>
              </a:rPr>
              <a:t>hukum</a:t>
            </a:r>
            <a:r>
              <a:rPr lang="en-US" sz="1900" dirty="0">
                <a:solidFill>
                  <a:srgbClr val="000000"/>
                </a:solidFill>
                <a:latin typeface="Montserrat Classic"/>
              </a:rPr>
              <a:t> </a:t>
            </a:r>
            <a:r>
              <a:rPr lang="en-US" sz="1900" dirty="0" err="1">
                <a:solidFill>
                  <a:srgbClr val="000000"/>
                </a:solidFill>
                <a:latin typeface="Montserrat Classic"/>
              </a:rPr>
              <a:t>dan</a:t>
            </a:r>
            <a:r>
              <a:rPr lang="en-US" sz="1900" dirty="0">
                <a:solidFill>
                  <a:srgbClr val="000000"/>
                </a:solidFill>
                <a:latin typeface="Montserrat Classic"/>
              </a:rPr>
              <a:t> </a:t>
            </a:r>
            <a:r>
              <a:rPr lang="en-US" sz="1900" dirty="0" err="1">
                <a:solidFill>
                  <a:srgbClr val="000000"/>
                </a:solidFill>
                <a:latin typeface="Montserrat Classic"/>
              </a:rPr>
              <a:t>nilai</a:t>
            </a:r>
            <a:r>
              <a:rPr lang="en-US" sz="1900" dirty="0">
                <a:solidFill>
                  <a:srgbClr val="000000"/>
                </a:solidFill>
                <a:latin typeface="Montserrat Classic"/>
              </a:rPr>
              <a:t> </a:t>
            </a:r>
            <a:r>
              <a:rPr lang="en-US" sz="1900" dirty="0" err="1">
                <a:solidFill>
                  <a:srgbClr val="000000"/>
                </a:solidFill>
                <a:latin typeface="Montserrat Classic"/>
              </a:rPr>
              <a:t>susila</a:t>
            </a:r>
            <a:r>
              <a:rPr lang="en-US" sz="1900" dirty="0">
                <a:solidFill>
                  <a:srgbClr val="000000"/>
                </a:solidFill>
                <a:latin typeface="Montserrat Classic"/>
              </a:rPr>
              <a:t> (</a:t>
            </a:r>
            <a:r>
              <a:rPr lang="en-US" sz="1900" dirty="0" err="1">
                <a:solidFill>
                  <a:srgbClr val="000000"/>
                </a:solidFill>
                <a:latin typeface="Montserrat Classic"/>
              </a:rPr>
              <a:t>termasuk</a:t>
            </a:r>
            <a:r>
              <a:rPr lang="en-US" sz="1900" dirty="0">
                <a:solidFill>
                  <a:srgbClr val="000000"/>
                </a:solidFill>
                <a:latin typeface="Montserrat Classic"/>
              </a:rPr>
              <a:t> </a:t>
            </a:r>
            <a:r>
              <a:rPr lang="en-US" sz="1900" dirty="0" err="1">
                <a:solidFill>
                  <a:srgbClr val="000000"/>
                </a:solidFill>
                <a:latin typeface="Montserrat Classic"/>
              </a:rPr>
              <a:t>pengungkapan</a:t>
            </a:r>
            <a:r>
              <a:rPr lang="en-US" sz="1900" dirty="0">
                <a:solidFill>
                  <a:srgbClr val="000000"/>
                </a:solidFill>
                <a:latin typeface="Montserrat Classic"/>
              </a:rPr>
              <a:t> </a:t>
            </a:r>
            <a:r>
              <a:rPr lang="en-US" sz="1900" dirty="0" err="1">
                <a:solidFill>
                  <a:srgbClr val="000000"/>
                </a:solidFill>
                <a:latin typeface="Montserrat Classic"/>
              </a:rPr>
              <a:t>seksual</a:t>
            </a:r>
            <a:r>
              <a:rPr lang="en-US" sz="1900" dirty="0">
                <a:solidFill>
                  <a:srgbClr val="000000"/>
                </a:solidFill>
                <a:latin typeface="Montserrat Classic"/>
              </a:rPr>
              <a:t>).</a:t>
            </a:r>
          </a:p>
          <a:p>
            <a:pPr>
              <a:lnSpc>
                <a:spcPts val="2665"/>
              </a:lnSpc>
            </a:pPr>
            <a:endParaRPr lang="en-US" sz="2100" dirty="0">
              <a:solidFill>
                <a:srgbClr val="000000"/>
              </a:solidFill>
              <a:latin typeface="Montserrat Classic"/>
            </a:endParaRPr>
          </a:p>
          <a:p>
            <a:pPr>
              <a:lnSpc>
                <a:spcPts val="2665"/>
              </a:lnSpc>
            </a:pPr>
            <a:endParaRPr lang="en-US" sz="2100" dirty="0">
              <a:solidFill>
                <a:srgbClr val="000000"/>
              </a:solidFill>
              <a:latin typeface="Montserrat Classic"/>
            </a:endParaRPr>
          </a:p>
          <a:p>
            <a:pPr>
              <a:lnSpc>
                <a:spcPts val="2968"/>
              </a:lnSpc>
            </a:pPr>
            <a:endParaRPr lang="en-US" sz="2100" dirty="0">
              <a:solidFill>
                <a:srgbClr val="000000"/>
              </a:solidFill>
              <a:latin typeface="Montserrat Classic"/>
            </a:endParaRPr>
          </a:p>
          <a:p>
            <a:pPr>
              <a:lnSpc>
                <a:spcPts val="2968"/>
              </a:lnSpc>
              <a:spcBef>
                <a:spcPct val="0"/>
              </a:spcBef>
            </a:pPr>
            <a:endParaRPr lang="en-US" sz="2100" dirty="0">
              <a:solidFill>
                <a:srgbClr val="000000"/>
              </a:solidFill>
              <a:latin typeface="Montserrat Classic"/>
            </a:endParaRPr>
          </a:p>
        </p:txBody>
      </p:sp>
      <p:sp>
        <p:nvSpPr>
          <p:cNvPr id="6"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44</a:t>
            </a:r>
            <a:endParaRPr lang="en-US" sz="3319" dirty="0">
              <a:solidFill>
                <a:srgbClr val="000000"/>
              </a:solidFill>
              <a:latin typeface="Telegraf"/>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85850" y="1830229"/>
            <a:ext cx="15746450" cy="8102539"/>
          </a:xfrm>
          <a:prstGeom prst="rect">
            <a:avLst/>
          </a:prstGeom>
        </p:spPr>
        <p:txBody>
          <a:bodyPr lIns="0" tIns="0" rIns="0" bIns="0" rtlCol="0" anchor="t">
            <a:spAutoFit/>
          </a:bodyPr>
          <a:lstStyle/>
          <a:p>
            <a:pPr algn="just">
              <a:lnSpc>
                <a:spcPts val="2940"/>
              </a:lnSpc>
              <a:spcBef>
                <a:spcPct val="0"/>
              </a:spcBef>
            </a:pPr>
            <a:r>
              <a:rPr lang="en-US" sz="2100" dirty="0" err="1">
                <a:solidFill>
                  <a:srgbClr val="000000"/>
                </a:solidFill>
                <a:latin typeface="Montserrat Classic"/>
              </a:rPr>
              <a:t>Kebijakan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aktivitas</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bersikap</a:t>
            </a:r>
            <a:r>
              <a:rPr lang="en-US" sz="2100" dirty="0">
                <a:solidFill>
                  <a:srgbClr val="000000"/>
                </a:solidFill>
                <a:latin typeface="Montserrat Classic"/>
              </a:rPr>
              <a:t> </a:t>
            </a:r>
            <a:r>
              <a:rPr lang="en-US" sz="2100" dirty="0" err="1">
                <a:solidFill>
                  <a:srgbClr val="000000"/>
                </a:solidFill>
                <a:latin typeface="Montserrat Classic"/>
              </a:rPr>
              <a:t>netral</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semua</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Perusahaan </a:t>
            </a:r>
            <a:r>
              <a:rPr lang="en-US" sz="2100" dirty="0" err="1">
                <a:solidFill>
                  <a:srgbClr val="000000"/>
                </a:solidFill>
                <a:latin typeface="Montserrat Classic"/>
              </a:rPr>
              <a:t>menjamin</a:t>
            </a:r>
            <a:r>
              <a:rPr lang="en-US" sz="2100" dirty="0">
                <a:solidFill>
                  <a:srgbClr val="000000"/>
                </a:solidFill>
                <a:latin typeface="Montserrat Classic"/>
              </a:rPr>
              <a:t> </a:t>
            </a:r>
            <a:r>
              <a:rPr lang="en-US" sz="2100" dirty="0" err="1">
                <a:solidFill>
                  <a:srgbClr val="000000"/>
                </a:solidFill>
                <a:latin typeface="Montserrat Classic"/>
              </a:rPr>
              <a:t>bahwa</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hak</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kebebasan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menyalurkan</a:t>
            </a:r>
            <a:r>
              <a:rPr lang="en-US" sz="2100" dirty="0">
                <a:solidFill>
                  <a:srgbClr val="000000"/>
                </a:solidFill>
                <a:latin typeface="Montserrat Classic"/>
              </a:rPr>
              <a:t> </a:t>
            </a:r>
            <a:r>
              <a:rPr lang="en-US" sz="2100" dirty="0" err="1">
                <a:solidFill>
                  <a:srgbClr val="000000"/>
                </a:solidFill>
                <a:latin typeface="Montserrat Classic"/>
              </a:rPr>
              <a:t>aspirasi</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pilihannya</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karena</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ataupun</a:t>
            </a:r>
            <a:r>
              <a:rPr lang="en-US" sz="2100" dirty="0">
                <a:solidFill>
                  <a:srgbClr val="000000"/>
                </a:solidFill>
                <a:latin typeface="Montserrat Classic"/>
              </a:rPr>
              <a:t> </a:t>
            </a:r>
            <a:r>
              <a:rPr lang="en-US" sz="2100" dirty="0" err="1">
                <a:solidFill>
                  <a:srgbClr val="000000"/>
                </a:solidFill>
                <a:latin typeface="Montserrat Classic"/>
              </a:rPr>
              <a:t>sesama</a:t>
            </a:r>
            <a:r>
              <a:rPr lang="en-US" sz="2100" dirty="0">
                <a:solidFill>
                  <a:srgbClr val="000000"/>
                </a:solidFill>
                <a:latin typeface="Montserrat Classic"/>
              </a:rPr>
              <a:t> </a:t>
            </a:r>
            <a:r>
              <a:rPr lang="en-US" sz="2100" dirty="0" err="1">
                <a:solidFill>
                  <a:srgbClr val="000000"/>
                </a:solidFill>
                <a:latin typeface="Montserrat Classic"/>
              </a:rPr>
              <a:t>rekan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pemaksaan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mengikuti</a:t>
            </a:r>
            <a:r>
              <a:rPr lang="en-US" sz="2100" dirty="0">
                <a:solidFill>
                  <a:srgbClr val="000000"/>
                </a:solidFill>
                <a:latin typeface="Montserrat Classic"/>
              </a:rPr>
              <a:t> </a:t>
            </a:r>
            <a:r>
              <a:rPr lang="en-US" sz="2100" dirty="0" err="1">
                <a:solidFill>
                  <a:srgbClr val="000000"/>
                </a:solidFill>
                <a:latin typeface="Montserrat Classic"/>
              </a:rPr>
              <a:t>pilihan</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membatasi</a:t>
            </a:r>
            <a:r>
              <a:rPr lang="en-US" sz="2100" dirty="0">
                <a:solidFill>
                  <a:srgbClr val="000000"/>
                </a:solidFill>
                <a:latin typeface="Montserrat Classic"/>
              </a:rPr>
              <a:t> </a:t>
            </a:r>
            <a:r>
              <a:rPr lang="en-US" sz="2100" dirty="0" err="1">
                <a:solidFill>
                  <a:srgbClr val="000000"/>
                </a:solidFill>
                <a:latin typeface="Montserrat Classic"/>
              </a:rPr>
              <a:t>hak</a:t>
            </a:r>
            <a:r>
              <a:rPr lang="en-US" sz="2100" dirty="0">
                <a:solidFill>
                  <a:srgbClr val="000000"/>
                </a:solidFill>
                <a:latin typeface="Montserrat Classic"/>
              </a:rPr>
              <a:t> </a:t>
            </a:r>
            <a:r>
              <a:rPr lang="en-US" sz="2100" dirty="0" err="1">
                <a:solidFill>
                  <a:srgbClr val="000000"/>
                </a:solidFill>
                <a:latin typeface="Montserrat Classic"/>
              </a:rPr>
              <a:t>individu</a:t>
            </a:r>
            <a:r>
              <a:rPr lang="en-US" sz="2100" dirty="0">
                <a:solidFill>
                  <a:srgbClr val="000000"/>
                </a:solidFill>
                <a:latin typeface="Montserrat Classic"/>
              </a:rPr>
              <a:t> yang </a:t>
            </a:r>
            <a:r>
              <a:rPr lang="en-US" sz="2100" dirty="0" err="1">
                <a:solidFill>
                  <a:srgbClr val="000000"/>
                </a:solidFill>
                <a:latin typeface="Montserrat Classic"/>
              </a:rPr>
              <a:t>bersangkutan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menyalurkan</a:t>
            </a:r>
            <a:r>
              <a:rPr lang="en-US" sz="2100" dirty="0">
                <a:solidFill>
                  <a:srgbClr val="000000"/>
                </a:solidFill>
                <a:latin typeface="Montserrat Classic"/>
              </a:rPr>
              <a:t> </a:t>
            </a:r>
            <a:r>
              <a:rPr lang="en-US" sz="2100" dirty="0" err="1">
                <a:solidFill>
                  <a:srgbClr val="000000"/>
                </a:solidFill>
                <a:latin typeface="Montserrat Classic"/>
              </a:rPr>
              <a:t>aspirasi</a:t>
            </a:r>
            <a:r>
              <a:rPr lang="en-US" sz="2100" dirty="0">
                <a:solidFill>
                  <a:srgbClr val="000000"/>
                </a:solidFill>
                <a:latin typeface="Montserrat Classic"/>
              </a:rPr>
              <a:t> </a:t>
            </a:r>
            <a:r>
              <a:rPr lang="en-US" sz="2100" dirty="0" err="1">
                <a:solidFill>
                  <a:srgbClr val="000000"/>
                </a:solidFill>
                <a:latin typeface="Montserrat Classic"/>
              </a:rPr>
              <a:t>politiknya</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hal</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ketika</a:t>
            </a:r>
            <a:r>
              <a:rPr lang="en-US" sz="2100" dirty="0">
                <a:solidFill>
                  <a:srgbClr val="000000"/>
                </a:solidFill>
                <a:latin typeface="Montserrat Classic"/>
              </a:rPr>
              <a:t> </a:t>
            </a:r>
            <a:r>
              <a:rPr lang="en-US" sz="2100" dirty="0" err="1">
                <a:solidFill>
                  <a:srgbClr val="000000"/>
                </a:solidFill>
                <a:latin typeface="Montserrat Classic"/>
              </a:rPr>
              <a:t>seorang</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memilih</a:t>
            </a:r>
            <a:r>
              <a:rPr lang="en-US" sz="2100" dirty="0">
                <a:solidFill>
                  <a:srgbClr val="000000"/>
                </a:solidFill>
                <a:latin typeface="Montserrat Classic"/>
              </a:rPr>
              <a:t> </a:t>
            </a:r>
            <a:r>
              <a:rPr lang="en-US" sz="2100" dirty="0" err="1">
                <a:solidFill>
                  <a:srgbClr val="000000"/>
                </a:solidFill>
                <a:latin typeface="Montserrat Classic"/>
              </a:rPr>
              <a:t>aktif</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pengurus</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memilih</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legislatif</a:t>
            </a:r>
            <a:r>
              <a:rPr lang="en-US" sz="2100" dirty="0">
                <a:solidFill>
                  <a:srgbClr val="000000"/>
                </a:solidFill>
                <a:latin typeface="Montserrat Classic"/>
              </a:rPr>
              <a:t>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yang </a:t>
            </a:r>
            <a:r>
              <a:rPr lang="en-US" sz="2100" dirty="0" err="1">
                <a:solidFill>
                  <a:srgbClr val="000000"/>
                </a:solidFill>
                <a:latin typeface="Montserrat Classic"/>
              </a:rPr>
              <a:t>bersangkutan</a:t>
            </a:r>
            <a:r>
              <a:rPr lang="en-US" sz="2100" dirty="0">
                <a:solidFill>
                  <a:srgbClr val="000000"/>
                </a:solidFill>
                <a:latin typeface="Montserrat Classic"/>
              </a:rPr>
              <a:t>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mengundurkan</a:t>
            </a:r>
            <a:r>
              <a:rPr lang="en-US" sz="2100" dirty="0">
                <a:solidFill>
                  <a:srgbClr val="000000"/>
                </a:solidFill>
                <a:latin typeface="Montserrat Classic"/>
              </a:rPr>
              <a:t> </a:t>
            </a:r>
            <a:r>
              <a:rPr lang="en-US" sz="2100" dirty="0" err="1">
                <a:solidFill>
                  <a:srgbClr val="000000"/>
                </a:solidFill>
                <a:latin typeface="Montserrat Classic"/>
              </a:rPr>
              <a:t>diri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Perusahaan.</a:t>
            </a: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menghindari</a:t>
            </a:r>
            <a:r>
              <a:rPr lang="en-US" sz="2100" dirty="0">
                <a:solidFill>
                  <a:srgbClr val="000000"/>
                </a:solidFill>
                <a:latin typeface="Montserrat Classic"/>
              </a:rPr>
              <a:t> </a:t>
            </a:r>
            <a:r>
              <a:rPr lang="en-US" sz="2100" dirty="0" err="1">
                <a:solidFill>
                  <a:srgbClr val="000000"/>
                </a:solidFill>
                <a:latin typeface="Montserrat Classic"/>
              </a:rPr>
              <a:t>konflik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aspirasi</a:t>
            </a:r>
            <a:r>
              <a:rPr lang="en-US" sz="2100" dirty="0">
                <a:solidFill>
                  <a:srgbClr val="000000"/>
                </a:solidFill>
                <a:latin typeface="Montserrat Classic"/>
              </a:rPr>
              <a:t> </a:t>
            </a:r>
            <a:r>
              <a:rPr lang="en-US" sz="2100" dirty="0" err="1">
                <a:solidFill>
                  <a:srgbClr val="000000"/>
                </a:solidFill>
                <a:latin typeface="Montserrat Classic"/>
              </a:rPr>
              <a:t>politiknya</a:t>
            </a:r>
            <a:r>
              <a:rPr lang="en-US" sz="2100" dirty="0">
                <a:solidFill>
                  <a:srgbClr val="000000"/>
                </a:solidFill>
                <a:latin typeface="Montserrat Classic"/>
              </a:rPr>
              <a:t>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berikut</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342900" indent="-342900" algn="just">
              <a:lnSpc>
                <a:spcPts val="4263"/>
              </a:lnSpc>
              <a:buFontTx/>
              <a:buChar char="-"/>
            </a:pP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pengurus</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calon</a:t>
            </a:r>
            <a:r>
              <a:rPr lang="en-US" sz="2100" dirty="0">
                <a:solidFill>
                  <a:srgbClr val="000000"/>
                </a:solidFill>
                <a:latin typeface="Montserrat Classic"/>
              </a:rPr>
              <a:t> </a:t>
            </a:r>
            <a:r>
              <a:rPr lang="en-US" sz="2100" dirty="0" err="1">
                <a:solidFill>
                  <a:srgbClr val="000000"/>
                </a:solidFill>
                <a:latin typeface="Montserrat Classic"/>
              </a:rPr>
              <a:t>legislatif</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eksekutif</a:t>
            </a:r>
            <a:endParaRPr lang="id-ID" sz="2100" dirty="0">
              <a:solidFill>
                <a:srgbClr val="000000"/>
              </a:solidFill>
              <a:latin typeface="Montserrat Classic"/>
            </a:endParaRPr>
          </a:p>
          <a:p>
            <a:pPr marL="342900" indent="-342900" algn="just">
              <a:lnSpc>
                <a:spcPts val="4263"/>
              </a:lnSpc>
              <a:buFontTx/>
              <a:buChar char="-"/>
            </a:pPr>
            <a:r>
              <a:rPr lang="en-US" sz="2100" dirty="0" err="1">
                <a:solidFill>
                  <a:srgbClr val="000000"/>
                </a:solidFill>
                <a:latin typeface="Montserrat Classic"/>
              </a:rPr>
              <a:t>Menggunakan</a:t>
            </a:r>
            <a:r>
              <a:rPr lang="en-US" sz="2100" dirty="0">
                <a:solidFill>
                  <a:srgbClr val="000000"/>
                </a:solidFill>
                <a:latin typeface="Montserrat Classic"/>
              </a:rPr>
              <a:t> </a:t>
            </a:r>
            <a:r>
              <a:rPr lang="en-US" sz="2100" dirty="0" err="1">
                <a:solidFill>
                  <a:srgbClr val="000000"/>
                </a:solidFill>
                <a:latin typeface="Montserrat Classic"/>
              </a:rPr>
              <a:t>fasilitas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jabatan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a:t>
            </a:r>
            <a:r>
              <a:rPr lang="en-US" sz="2100" dirty="0" err="1">
                <a:solidFill>
                  <a:srgbClr val="000000"/>
                </a:solidFill>
                <a:latin typeface="Montserrat Classic"/>
              </a:rPr>
              <a:t>tertentu</a:t>
            </a:r>
            <a:endParaRPr lang="id-ID" sz="2100" dirty="0">
              <a:solidFill>
                <a:srgbClr val="000000"/>
              </a:solidFill>
              <a:latin typeface="Montserrat Classic"/>
            </a:endParaRPr>
          </a:p>
          <a:p>
            <a:pPr marL="342900" indent="-342900" algn="just">
              <a:lnSpc>
                <a:spcPts val="4263"/>
              </a:lnSpc>
              <a:buFontTx/>
              <a:buChar char="-"/>
            </a:pPr>
            <a:r>
              <a:rPr lang="en-US" sz="2100" dirty="0" err="1">
                <a:solidFill>
                  <a:srgbClr val="000000"/>
                </a:solidFill>
                <a:latin typeface="Montserrat Classic"/>
              </a:rPr>
              <a:t>Memanfaatkan</a:t>
            </a:r>
            <a:r>
              <a:rPr lang="en-US" sz="2100" dirty="0">
                <a:solidFill>
                  <a:srgbClr val="000000"/>
                </a:solidFill>
                <a:latin typeface="Montserrat Classic"/>
              </a:rPr>
              <a:t> </a:t>
            </a:r>
            <a:r>
              <a:rPr lang="en-US" sz="2100" dirty="0" err="1">
                <a:solidFill>
                  <a:srgbClr val="000000"/>
                </a:solidFill>
                <a:latin typeface="Montserrat Classic"/>
              </a:rPr>
              <a:t>organisasi</a:t>
            </a:r>
            <a:r>
              <a:rPr lang="en-US" sz="2100" dirty="0">
                <a:solidFill>
                  <a:srgbClr val="000000"/>
                </a:solidFill>
                <a:latin typeface="Montserrat Classic"/>
              </a:rPr>
              <a:t> </a:t>
            </a:r>
            <a:r>
              <a:rPr lang="en-US" sz="2100" dirty="0" err="1">
                <a:solidFill>
                  <a:srgbClr val="000000"/>
                </a:solidFill>
                <a:latin typeface="Montserrat Classic"/>
              </a:rPr>
              <a:t>serikat</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berafiliasi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bekerjasama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endParaRPr lang="id-ID" sz="2100" dirty="0">
              <a:solidFill>
                <a:srgbClr val="000000"/>
              </a:solidFill>
              <a:latin typeface="Montserrat Classic"/>
            </a:endParaRPr>
          </a:p>
          <a:p>
            <a:pPr marL="342900" indent="-342900" algn="just">
              <a:lnSpc>
                <a:spcPts val="4263"/>
              </a:lnSpc>
              <a:buFontTx/>
              <a:buChar char="-"/>
            </a:pP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sumbangan</a:t>
            </a:r>
            <a:r>
              <a:rPr lang="en-US" sz="2100" dirty="0">
                <a:solidFill>
                  <a:srgbClr val="000000"/>
                </a:solidFill>
                <a:latin typeface="Montserrat Classic"/>
              </a:rPr>
              <a:t>/</a:t>
            </a:r>
            <a:r>
              <a:rPr lang="en-US" sz="2100" dirty="0" err="1">
                <a:solidFill>
                  <a:srgbClr val="000000"/>
                </a:solidFill>
                <a:latin typeface="Montserrat Classic"/>
              </a:rPr>
              <a:t>bantuan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nama</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endParaRPr lang="id-ID" sz="2100" dirty="0">
              <a:solidFill>
                <a:srgbClr val="000000"/>
              </a:solidFill>
              <a:latin typeface="Montserrat Classic"/>
            </a:endParaRPr>
          </a:p>
          <a:p>
            <a:pPr marL="342900" indent="-342900" algn="just">
              <a:lnSpc>
                <a:spcPts val="4263"/>
              </a:lnSpc>
              <a:buFontTx/>
              <a:buChar char="-"/>
            </a:pPr>
            <a:r>
              <a:rPr lang="en-US" sz="2100" dirty="0" err="1">
                <a:solidFill>
                  <a:srgbClr val="000000"/>
                </a:solidFill>
                <a:latin typeface="Montserrat Classic"/>
              </a:rPr>
              <a:t>Membawa</a:t>
            </a:r>
            <a:r>
              <a:rPr lang="en-US" sz="2100" dirty="0">
                <a:solidFill>
                  <a:srgbClr val="000000"/>
                </a:solidFill>
                <a:latin typeface="Montserrat Classic"/>
              </a:rPr>
              <a:t>, </a:t>
            </a:r>
            <a:r>
              <a:rPr lang="en-US" sz="2100" dirty="0" err="1">
                <a:solidFill>
                  <a:srgbClr val="000000"/>
                </a:solidFill>
                <a:latin typeface="Montserrat Classic"/>
              </a:rPr>
              <a:t>mempertontonkan</a:t>
            </a:r>
            <a:r>
              <a:rPr lang="en-US" sz="2100" dirty="0">
                <a:solidFill>
                  <a:srgbClr val="000000"/>
                </a:solidFill>
                <a:latin typeface="Montserrat Classic"/>
              </a:rPr>
              <a:t>, </a:t>
            </a:r>
            <a:r>
              <a:rPr lang="en-US" sz="2100" dirty="0" err="1">
                <a:solidFill>
                  <a:srgbClr val="000000"/>
                </a:solidFill>
                <a:latin typeface="Montserrat Classic"/>
              </a:rPr>
              <a:t>memasang</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mengedarkan</a:t>
            </a:r>
            <a:r>
              <a:rPr lang="en-US" sz="2100" dirty="0">
                <a:solidFill>
                  <a:srgbClr val="000000"/>
                </a:solidFill>
                <a:latin typeface="Montserrat Classic"/>
              </a:rPr>
              <a:t> </a:t>
            </a:r>
            <a:r>
              <a:rPr lang="en-US" sz="2100" dirty="0" err="1">
                <a:solidFill>
                  <a:srgbClr val="000000"/>
                </a:solidFill>
                <a:latin typeface="Montserrat Classic"/>
              </a:rPr>
              <a:t>simbol</a:t>
            </a:r>
            <a:r>
              <a:rPr lang="en-US" sz="2100" dirty="0">
                <a:solidFill>
                  <a:srgbClr val="000000"/>
                </a:solidFill>
                <a:latin typeface="Montserrat Classic"/>
              </a:rPr>
              <a:t>, </a:t>
            </a:r>
            <a:r>
              <a:rPr lang="en-US" sz="2100" dirty="0" err="1">
                <a:solidFill>
                  <a:srgbClr val="000000"/>
                </a:solidFill>
                <a:latin typeface="Montserrat Classic"/>
              </a:rPr>
              <a:t>gambar</a:t>
            </a:r>
            <a:r>
              <a:rPr lang="en-US" sz="2100" dirty="0">
                <a:solidFill>
                  <a:srgbClr val="000000"/>
                </a:solidFill>
                <a:latin typeface="Montserrat Classic"/>
              </a:rPr>
              <a:t>, </a:t>
            </a:r>
            <a:r>
              <a:rPr lang="en-US" sz="2100" dirty="0" err="1">
                <a:solidFill>
                  <a:srgbClr val="000000"/>
                </a:solidFill>
                <a:latin typeface="Montserrat Classic"/>
              </a:rPr>
              <a:t>ornamen</a:t>
            </a:r>
            <a:r>
              <a:rPr lang="en-US" sz="2100" dirty="0">
                <a:solidFill>
                  <a:srgbClr val="000000"/>
                </a:solidFill>
                <a:latin typeface="Montserrat Classic"/>
              </a:rPr>
              <a:t> </a:t>
            </a:r>
            <a:r>
              <a:rPr lang="en-US" sz="2100" dirty="0" err="1">
                <a:solidFill>
                  <a:srgbClr val="000000"/>
                </a:solidFill>
                <a:latin typeface="Montserrat Classic"/>
              </a:rPr>
              <a:t>partai</a:t>
            </a:r>
            <a:r>
              <a:rPr lang="en-US" sz="2100" dirty="0">
                <a:solidFill>
                  <a:srgbClr val="000000"/>
                </a:solidFill>
                <a:latin typeface="Montserrat Classic"/>
              </a:rPr>
              <a:t> </a:t>
            </a:r>
            <a:r>
              <a:rPr lang="en-US" sz="2100" dirty="0" err="1">
                <a:solidFill>
                  <a:srgbClr val="000000"/>
                </a:solidFill>
                <a:latin typeface="Montserrat Classic"/>
              </a:rPr>
              <a:t>politik</a:t>
            </a:r>
            <a:r>
              <a:rPr lang="en-US" sz="2100" dirty="0">
                <a:solidFill>
                  <a:srgbClr val="000000"/>
                </a:solidFill>
                <a:latin typeface="Montserrat Classic"/>
              </a:rPr>
              <a:t> di </a:t>
            </a:r>
            <a:r>
              <a:rPr lang="en-US" sz="2100" dirty="0" err="1">
                <a:solidFill>
                  <a:srgbClr val="000000"/>
                </a:solidFill>
                <a:latin typeface="Montserrat Classic"/>
              </a:rPr>
              <a:t>lingkungan</a:t>
            </a:r>
            <a:r>
              <a:rPr lang="en-US" sz="2100" dirty="0">
                <a:solidFill>
                  <a:srgbClr val="000000"/>
                </a:solidFill>
                <a:latin typeface="Montserrat Classic"/>
              </a:rPr>
              <a:t> Perusahaan</a:t>
            </a: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085850" y="981075"/>
            <a:ext cx="16116300" cy="42227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M. Etika Tidak Melakukan Ikatan dalam Fasilitas Politik</a:t>
            </a:r>
          </a:p>
        </p:txBody>
      </p:sp>
      <p:sp>
        <p:nvSpPr>
          <p:cNvPr id="8"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45</a:t>
            </a:r>
            <a:endParaRPr lang="en-US" sz="3319" dirty="0">
              <a:solidFill>
                <a:srgbClr val="000000"/>
              </a:solidFill>
              <a:latin typeface="Telegraf"/>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152525" y="2137726"/>
            <a:ext cx="15689300" cy="8528685"/>
          </a:xfrm>
          <a:prstGeom prst="rect">
            <a:avLst/>
          </a:prstGeom>
        </p:spPr>
        <p:txBody>
          <a:bodyPr lIns="0" tIns="0" rIns="0" bIns="0" rtlCol="0" anchor="t">
            <a:spAutoFit/>
          </a:bodyPr>
          <a:lstStyle/>
          <a:p>
            <a:pPr algn="just">
              <a:lnSpc>
                <a:spcPts val="2940"/>
              </a:lnSpc>
            </a:pPr>
            <a:r>
              <a:rPr lang="en-US" sz="2100" dirty="0" err="1">
                <a:solidFill>
                  <a:srgbClr val="000000"/>
                </a:solidFill>
                <a:latin typeface="Montserrat Classic"/>
              </a:rPr>
              <a:t>Perilaku</a:t>
            </a:r>
            <a:r>
              <a:rPr lang="en-US" sz="2100" dirty="0">
                <a:solidFill>
                  <a:srgbClr val="000000"/>
                </a:solidFill>
                <a:latin typeface="Montserrat Classic"/>
              </a:rPr>
              <a:t> </a:t>
            </a:r>
            <a:r>
              <a:rPr lang="en-US" sz="2100" dirty="0" err="1">
                <a:solidFill>
                  <a:srgbClr val="000000"/>
                </a:solidFill>
                <a:latin typeface="Montserrat Classic"/>
              </a:rPr>
              <a:t>sehat</a:t>
            </a:r>
            <a:r>
              <a:rPr lang="en-US" sz="2100" dirty="0">
                <a:solidFill>
                  <a:srgbClr val="000000"/>
                </a:solidFill>
                <a:latin typeface="Montserrat Classic"/>
              </a:rPr>
              <a:t> yang </a:t>
            </a:r>
            <a:r>
              <a:rPr lang="en-US" sz="2100" dirty="0" err="1">
                <a:solidFill>
                  <a:srgbClr val="000000"/>
                </a:solidFill>
                <a:latin typeface="Montserrat Classic"/>
              </a:rPr>
              <a:t>dilandasi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nilai-nilai</a:t>
            </a:r>
            <a:r>
              <a:rPr lang="en-US" sz="2100" dirty="0">
                <a:solidFill>
                  <a:srgbClr val="000000"/>
                </a:solidFill>
                <a:latin typeface="Montserrat Classic"/>
              </a:rPr>
              <a:t> moral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kesusilaan</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diyakini</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mempengaruhi</a:t>
            </a:r>
            <a:r>
              <a:rPr lang="en-US" sz="2100" dirty="0">
                <a:solidFill>
                  <a:srgbClr val="000000"/>
                </a:solidFill>
                <a:latin typeface="Montserrat Classic"/>
              </a:rPr>
              <a:t> </a:t>
            </a:r>
            <a:r>
              <a:rPr lang="en-US" sz="2100" dirty="0" err="1">
                <a:solidFill>
                  <a:srgbClr val="000000"/>
                </a:solidFill>
                <a:latin typeface="Montserrat Classic"/>
              </a:rPr>
              <a:t>kontribusi</a:t>
            </a:r>
            <a:r>
              <a:rPr lang="en-US" sz="2100" dirty="0">
                <a:solidFill>
                  <a:srgbClr val="000000"/>
                </a:solidFill>
                <a:latin typeface="Montserrat Classic"/>
              </a:rPr>
              <a:t> </a:t>
            </a:r>
            <a:r>
              <a:rPr lang="en-US" sz="2100" dirty="0" err="1">
                <a:solidFill>
                  <a:srgbClr val="000000"/>
                </a:solidFill>
                <a:latin typeface="Montserrat Classic"/>
              </a:rPr>
              <a:t>kinerja</a:t>
            </a:r>
            <a:r>
              <a:rPr lang="en-US" sz="2100" dirty="0">
                <a:solidFill>
                  <a:srgbClr val="000000"/>
                </a:solidFill>
                <a:latin typeface="Montserrat Classic"/>
              </a:rPr>
              <a:t> yang </a:t>
            </a:r>
            <a:r>
              <a:rPr lang="en-US" sz="2100" dirty="0" err="1">
                <a:solidFill>
                  <a:srgbClr val="000000"/>
                </a:solidFill>
                <a:latin typeface="Montserrat Classic"/>
              </a:rPr>
              <a:t>diberikan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Perusahaan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berpengaruh</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pembentukan</a:t>
            </a:r>
            <a:r>
              <a:rPr lang="en-US" sz="2100" dirty="0">
                <a:solidFill>
                  <a:srgbClr val="000000"/>
                </a:solidFill>
                <a:latin typeface="Montserrat Classic"/>
              </a:rPr>
              <a:t> </a:t>
            </a:r>
            <a:r>
              <a:rPr lang="en-US" sz="2100" dirty="0" err="1">
                <a:solidFill>
                  <a:srgbClr val="000000"/>
                </a:solidFill>
                <a:latin typeface="Montserrat Classic"/>
              </a:rPr>
              <a:t>citra</a:t>
            </a:r>
            <a:r>
              <a:rPr lang="en-US" sz="2100" dirty="0">
                <a:solidFill>
                  <a:srgbClr val="000000"/>
                </a:solidFill>
                <a:latin typeface="Montserrat Classic"/>
              </a:rPr>
              <a:t> Perusahaan.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Karena</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a:pP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segala</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yang </a:t>
            </a:r>
            <a:r>
              <a:rPr lang="en-US" sz="2100" dirty="0" err="1">
                <a:solidFill>
                  <a:srgbClr val="000000"/>
                </a:solidFill>
                <a:latin typeface="Montserrat Classic"/>
              </a:rPr>
              <a:t>melanggar</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a:t>
            </a:r>
            <a:r>
              <a:rPr lang="en-US" sz="2100" dirty="0" err="1">
                <a:solidFill>
                  <a:srgbClr val="000000"/>
                </a:solidFill>
                <a:latin typeface="Montserrat Classic"/>
              </a:rPr>
              <a:t>kesusilaan</a:t>
            </a:r>
            <a:r>
              <a:rPr lang="en-US" sz="2100" dirty="0">
                <a:solidFill>
                  <a:srgbClr val="000000"/>
                </a:solidFill>
                <a:latin typeface="Montserrat Classic"/>
              </a:rPr>
              <a:t> </a:t>
            </a:r>
            <a:r>
              <a:rPr lang="en-US" sz="2100" dirty="0" err="1">
                <a:solidFill>
                  <a:srgbClr val="000000"/>
                </a:solidFill>
                <a:latin typeface="Montserrat Classic"/>
              </a:rPr>
              <a:t>antara</a:t>
            </a:r>
            <a:r>
              <a:rPr lang="en-US" sz="2100" dirty="0">
                <a:solidFill>
                  <a:srgbClr val="000000"/>
                </a:solidFill>
                <a:latin typeface="Montserrat Classic"/>
              </a:rPr>
              <a:t> lain </a:t>
            </a:r>
            <a:r>
              <a:rPr lang="en-US" sz="2100" dirty="0" err="1">
                <a:solidFill>
                  <a:srgbClr val="000000"/>
                </a:solidFill>
                <a:latin typeface="Montserrat Classic"/>
              </a:rPr>
              <a:t>pelecehan</a:t>
            </a:r>
            <a:r>
              <a:rPr lang="en-US" sz="2100" dirty="0">
                <a:solidFill>
                  <a:srgbClr val="000000"/>
                </a:solidFill>
                <a:latin typeface="Montserrat Classic"/>
              </a:rPr>
              <a:t>, </a:t>
            </a:r>
            <a:r>
              <a:rPr lang="en-US" sz="2100" dirty="0" err="1">
                <a:solidFill>
                  <a:srgbClr val="000000"/>
                </a:solidFill>
                <a:latin typeface="Montserrat Classic"/>
              </a:rPr>
              <a:t>penghinaan</a:t>
            </a:r>
            <a:r>
              <a:rPr lang="en-US" sz="2100" dirty="0">
                <a:solidFill>
                  <a:srgbClr val="000000"/>
                </a:solidFill>
                <a:latin typeface="Montserrat Classic"/>
              </a:rPr>
              <a:t>, </a:t>
            </a:r>
            <a:r>
              <a:rPr lang="en-US" sz="2100" dirty="0" err="1">
                <a:solidFill>
                  <a:srgbClr val="000000"/>
                </a:solidFill>
                <a:latin typeface="Montserrat Classic"/>
              </a:rPr>
              <a:t>fitnah</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perilaku</a:t>
            </a:r>
            <a:r>
              <a:rPr lang="en-US" sz="2100" dirty="0">
                <a:solidFill>
                  <a:srgbClr val="000000"/>
                </a:solidFill>
                <a:latin typeface="Montserrat Classic"/>
              </a:rPr>
              <a:t> yang </a:t>
            </a:r>
            <a:r>
              <a:rPr lang="en-US" sz="2100" dirty="0" err="1">
                <a:solidFill>
                  <a:srgbClr val="000000"/>
                </a:solidFill>
                <a:latin typeface="Montserrat Classic"/>
              </a:rPr>
              <a:t>mengarah</a:t>
            </a:r>
            <a:r>
              <a:rPr lang="en-US" sz="2100" dirty="0">
                <a:solidFill>
                  <a:srgbClr val="000000"/>
                </a:solidFill>
                <a:latin typeface="Montserrat Classic"/>
              </a:rPr>
              <a:t> </a:t>
            </a:r>
            <a:r>
              <a:rPr lang="en-US" sz="2100" dirty="0" err="1">
                <a:solidFill>
                  <a:srgbClr val="000000"/>
                </a:solidFill>
                <a:latin typeface="Montserrat Classic"/>
              </a:rPr>
              <a:t>pada</a:t>
            </a:r>
            <a:r>
              <a:rPr lang="en-US" sz="2100" dirty="0">
                <a:solidFill>
                  <a:srgbClr val="000000"/>
                </a:solidFill>
                <a:latin typeface="Montserrat Classic"/>
              </a:rPr>
              <a:t> </a:t>
            </a:r>
            <a:r>
              <a:rPr lang="en-US" sz="2100" dirty="0" err="1">
                <a:solidFill>
                  <a:srgbClr val="000000"/>
                </a:solidFill>
                <a:latin typeface="Montserrat Classic"/>
              </a:rPr>
              <a:t>seksualitas</a:t>
            </a:r>
            <a:r>
              <a:rPr lang="en-US" sz="2100" dirty="0">
                <a:solidFill>
                  <a:srgbClr val="000000"/>
                </a:solidFill>
                <a:latin typeface="Montserrat Classic"/>
              </a:rPr>
              <a:t> yang </a:t>
            </a:r>
            <a:r>
              <a:rPr lang="en-US" sz="2100" dirty="0" err="1">
                <a:solidFill>
                  <a:srgbClr val="000000"/>
                </a:solidFill>
                <a:latin typeface="Montserrat Classic"/>
              </a:rPr>
              <a:t>mengganggu</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startAt="2"/>
            </a:pP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menggunakan</a:t>
            </a:r>
            <a:r>
              <a:rPr lang="en-US" sz="2100" dirty="0">
                <a:solidFill>
                  <a:srgbClr val="000000"/>
                </a:solidFill>
                <a:latin typeface="Montserrat Classic"/>
              </a:rPr>
              <a:t>, </a:t>
            </a:r>
            <a:r>
              <a:rPr lang="en-US" sz="2100" dirty="0" err="1">
                <a:solidFill>
                  <a:srgbClr val="000000"/>
                </a:solidFill>
                <a:latin typeface="Montserrat Classic"/>
              </a:rPr>
              <a:t>mengedarkan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menjual</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narkotika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obat-obatan</a:t>
            </a:r>
            <a:r>
              <a:rPr lang="en-US" sz="2100" dirty="0">
                <a:solidFill>
                  <a:srgbClr val="000000"/>
                </a:solidFill>
                <a:latin typeface="Montserrat Classic"/>
              </a:rPr>
              <a:t> </a:t>
            </a:r>
            <a:r>
              <a:rPr lang="en-US" sz="2100" dirty="0" err="1">
                <a:solidFill>
                  <a:srgbClr val="000000"/>
                </a:solidFill>
                <a:latin typeface="Montserrat Classic"/>
              </a:rPr>
              <a:t>terlarang</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minuman</a:t>
            </a:r>
            <a:r>
              <a:rPr lang="en-US" sz="2100" dirty="0">
                <a:solidFill>
                  <a:srgbClr val="000000"/>
                </a:solidFill>
                <a:latin typeface="Montserrat Classic"/>
              </a:rPr>
              <a:t> </a:t>
            </a:r>
            <a:r>
              <a:rPr lang="en-US" sz="2100" dirty="0" err="1">
                <a:solidFill>
                  <a:srgbClr val="000000"/>
                </a:solidFill>
                <a:latin typeface="Montserrat Classic"/>
              </a:rPr>
              <a:t>keras</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startAt="3"/>
            </a:pP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mengunduh</a:t>
            </a:r>
            <a:r>
              <a:rPr lang="en-US" sz="2100" dirty="0">
                <a:solidFill>
                  <a:srgbClr val="000000"/>
                </a:solidFill>
                <a:latin typeface="Montserrat Classic"/>
              </a:rPr>
              <a:t>/download, </a:t>
            </a:r>
            <a:r>
              <a:rPr lang="en-US" sz="2100" dirty="0" err="1">
                <a:solidFill>
                  <a:srgbClr val="000000"/>
                </a:solidFill>
                <a:latin typeface="Montserrat Classic"/>
              </a:rPr>
              <a:t>membuka</a:t>
            </a:r>
            <a:r>
              <a:rPr lang="en-US" sz="2100" dirty="0">
                <a:solidFill>
                  <a:srgbClr val="000000"/>
                </a:solidFill>
                <a:latin typeface="Montserrat Classic"/>
              </a:rPr>
              <a:t>, </a:t>
            </a:r>
            <a:r>
              <a:rPr lang="en-US" sz="2100" dirty="0" err="1">
                <a:solidFill>
                  <a:srgbClr val="000000"/>
                </a:solidFill>
                <a:latin typeface="Montserrat Classic"/>
              </a:rPr>
              <a:t>menyimpan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mengedarkan</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yang </a:t>
            </a:r>
            <a:r>
              <a:rPr lang="en-US" sz="2100" dirty="0" err="1">
                <a:solidFill>
                  <a:srgbClr val="000000"/>
                </a:solidFill>
                <a:latin typeface="Montserrat Classic"/>
              </a:rPr>
              <a:t>berkaitan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bentuk-bentuk</a:t>
            </a:r>
            <a:r>
              <a:rPr lang="en-US" sz="2100" dirty="0">
                <a:solidFill>
                  <a:srgbClr val="000000"/>
                </a:solidFill>
                <a:latin typeface="Montserrat Classic"/>
              </a:rPr>
              <a:t> </a:t>
            </a:r>
            <a:r>
              <a:rPr lang="en-US" sz="2100" dirty="0" err="1">
                <a:solidFill>
                  <a:srgbClr val="000000"/>
                </a:solidFill>
                <a:latin typeface="Montserrat Classic"/>
              </a:rPr>
              <a:t>pornografi</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segala</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media </a:t>
            </a:r>
            <a:r>
              <a:rPr lang="en-US" sz="2100" dirty="0" err="1">
                <a:solidFill>
                  <a:srgbClr val="000000"/>
                </a:solidFill>
                <a:latin typeface="Montserrat Classic"/>
              </a:rPr>
              <a:t>elektronik</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startAt="4"/>
            </a:pP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perjudian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startAt="5"/>
            </a:pPr>
            <a:r>
              <a:rPr lang="en-US" sz="2100" dirty="0" err="1">
                <a:solidFill>
                  <a:srgbClr val="000000"/>
                </a:solidFill>
                <a:latin typeface="Montserrat Classic"/>
              </a:rPr>
              <a:t>Mematuhi</a:t>
            </a:r>
            <a:r>
              <a:rPr lang="en-US" sz="2100" dirty="0">
                <a:solidFill>
                  <a:srgbClr val="000000"/>
                </a:solidFill>
                <a:latin typeface="Montserrat Classic"/>
              </a:rPr>
              <a:t> </a:t>
            </a:r>
            <a:r>
              <a:rPr lang="en-US" sz="2100" dirty="0" err="1">
                <a:solidFill>
                  <a:srgbClr val="000000"/>
                </a:solidFill>
                <a:latin typeface="Montserrat Classic"/>
              </a:rPr>
              <a:t>pelarangan</a:t>
            </a:r>
            <a:r>
              <a:rPr lang="en-US" sz="2100" dirty="0">
                <a:solidFill>
                  <a:srgbClr val="000000"/>
                </a:solidFill>
                <a:latin typeface="Montserrat Classic"/>
              </a:rPr>
              <a:t> </a:t>
            </a:r>
            <a:r>
              <a:rPr lang="en-US" sz="2100" dirty="0" err="1">
                <a:solidFill>
                  <a:srgbClr val="000000"/>
                </a:solidFill>
                <a:latin typeface="Montserrat Classic"/>
              </a:rPr>
              <a:t>merokok</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marL="457200" indent="-457200" algn="just">
              <a:lnSpc>
                <a:spcPts val="2940"/>
              </a:lnSpc>
              <a:spcBef>
                <a:spcPct val="0"/>
              </a:spcBef>
              <a:buFont typeface="+mj-lt"/>
              <a:buAutoNum type="arabicPeriod" startAt="6"/>
            </a:pP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membawa</a:t>
            </a:r>
            <a:r>
              <a:rPr lang="en-US" sz="2100" dirty="0">
                <a:solidFill>
                  <a:srgbClr val="000000"/>
                </a:solidFill>
                <a:latin typeface="Montserrat Classic"/>
              </a:rPr>
              <a:t> </a:t>
            </a:r>
            <a:r>
              <a:rPr lang="en-US" sz="2100" dirty="0" err="1">
                <a:solidFill>
                  <a:srgbClr val="000000"/>
                </a:solidFill>
                <a:latin typeface="Montserrat Classic"/>
              </a:rPr>
              <a:t>senjata</a:t>
            </a:r>
            <a:r>
              <a:rPr lang="en-US" sz="2100" dirty="0">
                <a:solidFill>
                  <a:srgbClr val="000000"/>
                </a:solidFill>
                <a:latin typeface="Montserrat Classic"/>
              </a:rPr>
              <a:t> </a:t>
            </a:r>
            <a:r>
              <a:rPr lang="en-US" sz="2100" dirty="0" err="1">
                <a:solidFill>
                  <a:srgbClr val="000000"/>
                </a:solidFill>
                <a:latin typeface="Montserrat Classic"/>
              </a:rPr>
              <a:t>tajam</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senjata</a:t>
            </a:r>
            <a:r>
              <a:rPr lang="en-US" sz="2100" dirty="0">
                <a:solidFill>
                  <a:srgbClr val="000000"/>
                </a:solidFill>
                <a:latin typeface="Montserrat Classic"/>
              </a:rPr>
              <a:t> </a:t>
            </a:r>
            <a:r>
              <a:rPr lang="en-US" sz="2100" dirty="0" err="1">
                <a:solidFill>
                  <a:srgbClr val="000000"/>
                </a:solidFill>
                <a:latin typeface="Montserrat Classic"/>
              </a:rPr>
              <a:t>api</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senjata</a:t>
            </a:r>
            <a:r>
              <a:rPr lang="en-US" sz="2100" dirty="0">
                <a:solidFill>
                  <a:srgbClr val="000000"/>
                </a:solidFill>
                <a:latin typeface="Montserrat Classic"/>
              </a:rPr>
              <a:t> </a:t>
            </a:r>
            <a:r>
              <a:rPr lang="en-US" sz="2100" dirty="0" err="1">
                <a:solidFill>
                  <a:srgbClr val="000000"/>
                </a:solidFill>
                <a:latin typeface="Montserrat Classic"/>
              </a:rPr>
              <a:t>lainnya</a:t>
            </a:r>
            <a:r>
              <a:rPr lang="en-US" sz="2100" dirty="0">
                <a:solidFill>
                  <a:srgbClr val="000000"/>
                </a:solidFill>
                <a:latin typeface="Montserrat Classic"/>
              </a:rPr>
              <a:t> di </a:t>
            </a:r>
            <a:r>
              <a:rPr lang="en-US" sz="2100" dirty="0" err="1">
                <a:solidFill>
                  <a:srgbClr val="000000"/>
                </a:solidFill>
                <a:latin typeface="Montserrat Classic"/>
              </a:rPr>
              <a:t>lingkungan</a:t>
            </a:r>
            <a:r>
              <a:rPr lang="en-US" sz="2100" dirty="0">
                <a:solidFill>
                  <a:srgbClr val="000000"/>
                </a:solidFill>
                <a:latin typeface="Montserrat Classic"/>
              </a:rPr>
              <a:t> Perusahaan, </a:t>
            </a:r>
            <a:r>
              <a:rPr lang="en-US" sz="2100" dirty="0" err="1">
                <a:solidFill>
                  <a:srgbClr val="000000"/>
                </a:solidFill>
                <a:latin typeface="Montserrat Classic"/>
              </a:rPr>
              <a:t>kecuali</a:t>
            </a:r>
            <a:r>
              <a:rPr lang="en-US" sz="2100" dirty="0">
                <a:solidFill>
                  <a:srgbClr val="000000"/>
                </a:solidFill>
                <a:latin typeface="Montserrat Classic"/>
              </a:rPr>
              <a:t> yang </a:t>
            </a:r>
            <a:r>
              <a:rPr lang="en-US" sz="2100" dirty="0" err="1">
                <a:solidFill>
                  <a:srgbClr val="000000"/>
                </a:solidFill>
                <a:latin typeface="Montserrat Classic"/>
              </a:rPr>
              <a:t>berhubungan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tempat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tugasnya</a:t>
            </a:r>
            <a:r>
              <a:rPr lang="en-US" sz="2100" dirty="0">
                <a:solidFill>
                  <a:srgbClr val="000000"/>
                </a:solidFill>
                <a:latin typeface="Montserrat Classic"/>
              </a:rPr>
              <a:t>/</a:t>
            </a:r>
            <a:r>
              <a:rPr lang="en-US" sz="2100" dirty="0" err="1">
                <a:solidFill>
                  <a:srgbClr val="000000"/>
                </a:solidFill>
                <a:latin typeface="Montserrat Classic"/>
              </a:rPr>
              <a:t>pekerjaannya</a:t>
            </a:r>
            <a:r>
              <a:rPr lang="en-US" sz="2100" dirty="0">
                <a:solidFill>
                  <a:srgbClr val="000000"/>
                </a:solidFill>
                <a:latin typeface="Montserrat Classic"/>
              </a:rPr>
              <a:t>.</a:t>
            </a:r>
          </a:p>
          <a:p>
            <a:pPr algn="just">
              <a:lnSpc>
                <a:spcPts val="2940"/>
              </a:lnSpc>
              <a:spcBef>
                <a:spcPct val="0"/>
              </a:spcBef>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143000" y="793800"/>
            <a:ext cx="16116300" cy="860425"/>
          </a:xfrm>
          <a:prstGeom prst="rect">
            <a:avLst/>
          </a:prstGeom>
        </p:spPr>
        <p:txBody>
          <a:bodyPr lIns="0" tIns="0" rIns="0" bIns="0" rtlCol="0" anchor="t">
            <a:spAutoFit/>
          </a:bodyPr>
          <a:lstStyle/>
          <a:p>
            <a:pPr>
              <a:lnSpc>
                <a:spcPts val="3499"/>
              </a:lnSpc>
              <a:spcBef>
                <a:spcPct val="0"/>
              </a:spcBef>
            </a:pPr>
            <a:r>
              <a:rPr lang="en-US" sz="2499">
                <a:solidFill>
                  <a:srgbClr val="000000"/>
                </a:solidFill>
                <a:latin typeface="Montserrat Classic Bold"/>
              </a:rPr>
              <a:t>N. Perilaku Asusila,Penyalahgunaan Narkotika dan Obat Terlarang (Narkoba), Minuman Terlarang (Miras) Perjuadian dan Merokok</a:t>
            </a:r>
          </a:p>
        </p:txBody>
      </p:sp>
      <p:sp>
        <p:nvSpPr>
          <p:cNvPr id="8"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46</a:t>
            </a:r>
            <a:endParaRPr lang="en-US" sz="3319" dirty="0">
              <a:solidFill>
                <a:srgbClr val="000000"/>
              </a:solidFill>
              <a:latin typeface="Telegraf"/>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028700" y="4947275"/>
            <a:ext cx="14994449" cy="802968"/>
          </a:xfrm>
          <a:prstGeom prst="rect">
            <a:avLst/>
          </a:prstGeom>
        </p:spPr>
        <p:txBody>
          <a:bodyPr lIns="0" tIns="0" rIns="0" bIns="0" rtlCol="0" anchor="t">
            <a:spAutoFit/>
          </a:bodyPr>
          <a:lstStyle/>
          <a:p>
            <a:pPr>
              <a:lnSpc>
                <a:spcPts val="5986"/>
              </a:lnSpc>
            </a:pPr>
            <a:r>
              <a:rPr lang="en-US" sz="6047">
                <a:solidFill>
                  <a:srgbClr val="2BB4D4"/>
                </a:solidFill>
                <a:latin typeface="Montserrat Classic"/>
              </a:rPr>
              <a:t>IV. PENERAPAN DAN PENEGAKAN </a:t>
            </a: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47</a:t>
            </a:r>
            <a:endParaRPr lang="en-US" sz="3319" dirty="0">
              <a:solidFill>
                <a:srgbClr val="000000"/>
              </a:solidFill>
              <a:latin typeface="Telegraf"/>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8905814" flipH="1">
            <a:off x="-5650328" y="7422025"/>
            <a:ext cx="11300655" cy="9184351"/>
          </a:xfrm>
          <a:prstGeom prst="rect">
            <a:avLst/>
          </a:prstGeom>
        </p:spPr>
      </p:pic>
      <p:pic>
        <p:nvPicPr>
          <p:cNvPr id="3" name="Picture 3"/>
          <p:cNvPicPr>
            <a:picLocks noChangeAspect="1"/>
          </p:cNvPicPr>
          <p:nvPr/>
        </p:nvPicPr>
        <p:blipFill>
          <a:blip r:embed="rId4">
            <a:alphaModFix amt="35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6144593">
            <a:off x="11928953" y="-1524862"/>
            <a:ext cx="17617704" cy="17617704"/>
          </a:xfrm>
          <a:prstGeom prst="rect">
            <a:avLst/>
          </a:prstGeom>
        </p:spPr>
      </p:pic>
      <p:sp>
        <p:nvSpPr>
          <p:cNvPr id="4" name="TextBox 4"/>
          <p:cNvSpPr txBox="1"/>
          <p:nvPr/>
        </p:nvSpPr>
        <p:spPr>
          <a:xfrm>
            <a:off x="1268656" y="548640"/>
            <a:ext cx="15990644" cy="10262235"/>
          </a:xfrm>
          <a:prstGeom prst="rect">
            <a:avLst/>
          </a:prstGeom>
        </p:spPr>
        <p:txBody>
          <a:bodyPr lIns="0" tIns="0" rIns="0" bIns="0" rtlCol="0" anchor="t">
            <a:spAutoFit/>
          </a:bodyPr>
          <a:lstStyle/>
          <a:p>
            <a:pPr>
              <a:lnSpc>
                <a:spcPts val="2940"/>
              </a:lnSpc>
            </a:pPr>
            <a:r>
              <a:rPr lang="en-US" sz="2100">
                <a:solidFill>
                  <a:srgbClr val="000000"/>
                </a:solidFill>
                <a:latin typeface="Montserrat Classic Bold"/>
              </a:rPr>
              <a:t>A. SOSIALISASI </a:t>
            </a:r>
          </a:p>
          <a:p>
            <a:pPr>
              <a:lnSpc>
                <a:spcPts val="2940"/>
              </a:lnSpc>
            </a:pPr>
            <a:endParaRPr lang="en-US" sz="2100">
              <a:solidFill>
                <a:srgbClr val="000000"/>
              </a:solidFill>
              <a:latin typeface="Montserrat Classic Bold"/>
            </a:endParaRPr>
          </a:p>
          <a:p>
            <a:pPr>
              <a:lnSpc>
                <a:spcPts val="2940"/>
              </a:lnSpc>
            </a:pPr>
            <a:r>
              <a:rPr lang="en-US" sz="2100">
                <a:solidFill>
                  <a:srgbClr val="000000"/>
                </a:solidFill>
                <a:latin typeface="Montserrat Classic"/>
              </a:rPr>
              <a:t>Sosialisasi merupakan tahapan penting dari penerapan Code of Conduct. Pelaksanaan Sosialisasi Code of Conduct ini dilakukan oleh Tim GCG Perusahaan yang dikordinasikan oleh Divisi Manajemen Bisnis. Nusantara Sakti Grup berkomitmen untuk melaksanakan sosialisasi secara efektif dan menyeluruh dengan memperhatikan hal-hal sebagai berikut :</a:t>
            </a:r>
          </a:p>
          <a:p>
            <a:pPr>
              <a:lnSpc>
                <a:spcPts val="2940"/>
              </a:lnSpc>
            </a:pPr>
            <a:endParaRPr lang="en-US" sz="2100">
              <a:solidFill>
                <a:srgbClr val="000000"/>
              </a:solidFill>
              <a:latin typeface="Montserrat Classic"/>
            </a:endParaRPr>
          </a:p>
          <a:p>
            <a:pPr marL="453390" lvl="1" indent="-226695">
              <a:lnSpc>
                <a:spcPts val="3927"/>
              </a:lnSpc>
              <a:buFont typeface="Arial"/>
              <a:buChar char="•"/>
            </a:pPr>
            <a:r>
              <a:rPr lang="en-US" sz="2100">
                <a:solidFill>
                  <a:srgbClr val="000000"/>
                </a:solidFill>
                <a:latin typeface="Montserrat Classic"/>
              </a:rPr>
              <a:t>Membangun komitmen bagi seluruh pihak-pihak yang berkepentingan dengan Perusahaan.</a:t>
            </a:r>
          </a:p>
          <a:p>
            <a:pPr marL="453390" lvl="1" indent="-226695">
              <a:lnSpc>
                <a:spcPts val="3927"/>
              </a:lnSpc>
              <a:buFont typeface="Arial"/>
              <a:buChar char="•"/>
            </a:pPr>
            <a:r>
              <a:rPr lang="en-US" sz="2100">
                <a:solidFill>
                  <a:srgbClr val="000000"/>
                </a:solidFill>
                <a:latin typeface="Montserrat Classic"/>
              </a:rPr>
              <a:t>Mensosialisasikan Code of Conduct dalam program orientasi Karyawan sesuai dengan program yang diselenggarakan oleh Perusahaan dan penyegaran secara berkala bagi seluruh Karyawan Perusahaan, selain itu juga mensosialisasikannya kepada stakeholders Perusahaan untuk memberikan pemahaman terhadap Etika Bisnis dan Etika Kerja yang dimiliki oleh Perusahaan.</a:t>
            </a:r>
          </a:p>
          <a:p>
            <a:pPr marL="453390" lvl="1" indent="-226695">
              <a:lnSpc>
                <a:spcPts val="3927"/>
              </a:lnSpc>
              <a:buFont typeface="Arial"/>
              <a:buChar char="•"/>
            </a:pPr>
            <a:r>
              <a:rPr lang="en-US" sz="2100">
                <a:solidFill>
                  <a:srgbClr val="000000"/>
                </a:solidFill>
                <a:latin typeface="Montserrat Classic"/>
              </a:rPr>
              <a:t>Mengkaitkan penerapan etika sebagai bagian tidak terpisahkan dari praktik bisnis dan penilaian kinerja seluruh Karyawan Perusahaan.</a:t>
            </a:r>
          </a:p>
          <a:p>
            <a:pPr marL="453390" lvl="1" indent="-226695">
              <a:lnSpc>
                <a:spcPts val="3927"/>
              </a:lnSpc>
              <a:buFont typeface="Arial"/>
              <a:buChar char="•"/>
            </a:pPr>
            <a:r>
              <a:rPr lang="en-US" sz="2100">
                <a:solidFill>
                  <a:srgbClr val="000000"/>
                </a:solidFill>
                <a:latin typeface="Montserrat Classic"/>
              </a:rPr>
              <a:t>Mengkaitkan penerapan etika sebagai bagian tidak terpisahkan dari praktik bisnis dan penilaian kinerja seluruh Karyawan Perusahaan.</a:t>
            </a:r>
          </a:p>
          <a:p>
            <a:pPr marL="453390" lvl="1" indent="-226695">
              <a:lnSpc>
                <a:spcPts val="3927"/>
              </a:lnSpc>
              <a:buFont typeface="Arial"/>
              <a:buChar char="•"/>
            </a:pPr>
            <a:r>
              <a:rPr lang="en-US" sz="2100">
                <a:solidFill>
                  <a:srgbClr val="000000"/>
                </a:solidFill>
                <a:latin typeface="Montserrat Classic"/>
              </a:rPr>
              <a:t>5.Melengkapi peraturan Perusahaan dengan sanksi atas pelanggaran yang terjadi dan membangun sistem untuk memantau penerapan Code of Conduct</a:t>
            </a:r>
          </a:p>
          <a:p>
            <a:pPr>
              <a:lnSpc>
                <a:spcPts val="2940"/>
              </a:lnSpc>
            </a:pPr>
            <a:endParaRPr lang="en-US" sz="2100">
              <a:solidFill>
                <a:srgbClr val="000000"/>
              </a:solidFill>
              <a:latin typeface="Montserrat Classic"/>
            </a:endParaRPr>
          </a:p>
          <a:p>
            <a:pPr>
              <a:lnSpc>
                <a:spcPts val="2940"/>
              </a:lnSpc>
            </a:pPr>
            <a:r>
              <a:rPr lang="en-US" sz="2100">
                <a:solidFill>
                  <a:srgbClr val="000000"/>
                </a:solidFill>
                <a:latin typeface="Montserrat Classic"/>
              </a:rPr>
              <a:t>Dalam rangka mendorong implementasi Pedoman Etika Bisnis dan Etika Kerja (Code of Conduct) dapat berjalan baik perlu dilaksanakan program internalisasi yang dilakukan di seluruh Kantor baik di Pusat maupun Kantor Cabang.</a:t>
            </a:r>
          </a:p>
          <a:p>
            <a:pPr algn="just">
              <a:lnSpc>
                <a:spcPts val="2940"/>
              </a:lnSpc>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p:txBody>
      </p:sp>
      <p:pic>
        <p:nvPicPr>
          <p:cNvPr id="5" name="Picture 5"/>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4662819">
            <a:off x="8489744" y="-2841143"/>
            <a:ext cx="12794948" cy="8828634"/>
          </a:xfrm>
          <a:prstGeom prst="rect">
            <a:avLst/>
          </a:prstGeom>
        </p:spPr>
      </p:pic>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48</a:t>
            </a:r>
            <a:endParaRPr lang="en-US" sz="3319" dirty="0">
              <a:solidFill>
                <a:srgbClr val="000000"/>
              </a:solidFill>
              <a:latin typeface="Telegraf"/>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8905814" flipH="1">
            <a:off x="15873781" y="-2783348"/>
            <a:ext cx="11300655" cy="9184351"/>
          </a:xfrm>
          <a:prstGeom prst="rect">
            <a:avLst/>
          </a:prstGeom>
        </p:spPr>
      </p:pic>
      <p:sp>
        <p:nvSpPr>
          <p:cNvPr id="3" name="TextBox 3"/>
          <p:cNvSpPr txBox="1"/>
          <p:nvPr/>
        </p:nvSpPr>
        <p:spPr>
          <a:xfrm>
            <a:off x="1028700" y="593137"/>
            <a:ext cx="16109348" cy="10757535"/>
          </a:xfrm>
          <a:prstGeom prst="rect">
            <a:avLst/>
          </a:prstGeom>
        </p:spPr>
        <p:txBody>
          <a:bodyPr lIns="0" tIns="0" rIns="0" bIns="0" rtlCol="0" anchor="t">
            <a:spAutoFit/>
          </a:bodyPr>
          <a:lstStyle/>
          <a:p>
            <a:pPr algn="just">
              <a:lnSpc>
                <a:spcPts val="2940"/>
              </a:lnSpc>
            </a:pPr>
            <a:r>
              <a:rPr lang="en-US" sz="2100" dirty="0">
                <a:solidFill>
                  <a:srgbClr val="000000"/>
                </a:solidFill>
                <a:latin typeface="Montserrat Classic Bold"/>
              </a:rPr>
              <a:t>B. PELAPORAN ATAS PELANGGARAN </a:t>
            </a:r>
          </a:p>
          <a:p>
            <a:pPr algn="just">
              <a:lnSpc>
                <a:spcPts val="2940"/>
              </a:lnSpc>
            </a:pPr>
            <a:endParaRPr lang="en-US" sz="2100" dirty="0">
              <a:solidFill>
                <a:srgbClr val="000000"/>
              </a:solidFill>
              <a:latin typeface="Montserrat Classic Bold"/>
            </a:endParaRPr>
          </a:p>
          <a:p>
            <a:pPr algn="just">
              <a:lnSpc>
                <a:spcPts val="2940"/>
              </a:lnSpc>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memiliki</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keberhasilan</a:t>
            </a:r>
            <a:r>
              <a:rPr lang="en-US" sz="2100" dirty="0">
                <a:solidFill>
                  <a:srgbClr val="000000"/>
                </a:solidFill>
                <a:latin typeface="Montserrat Classic"/>
              </a:rPr>
              <a:t> </a:t>
            </a:r>
            <a:r>
              <a:rPr lang="en-US" sz="2100" dirty="0" err="1">
                <a:solidFill>
                  <a:srgbClr val="000000"/>
                </a:solidFill>
                <a:latin typeface="Montserrat Classic"/>
              </a:rPr>
              <a:t>penerapan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aktivitas</a:t>
            </a:r>
            <a:r>
              <a:rPr lang="en-US" sz="2100" dirty="0">
                <a:solidFill>
                  <a:srgbClr val="000000"/>
                </a:solidFill>
                <a:latin typeface="Montserrat Classic"/>
              </a:rPr>
              <a:t> </a:t>
            </a:r>
            <a:r>
              <a:rPr lang="en-US" sz="2100" dirty="0" err="1">
                <a:solidFill>
                  <a:srgbClr val="000000"/>
                </a:solidFill>
                <a:latin typeface="Montserrat Classic"/>
              </a:rPr>
              <a:t>sehari-hari</a:t>
            </a: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r>
              <a:rPr lang="en-US" sz="2100" dirty="0">
                <a:solidFill>
                  <a:srgbClr val="000000"/>
                </a:solidFill>
                <a:latin typeface="Montserrat Classic"/>
              </a:rPr>
              <a:t>Salah </a:t>
            </a:r>
            <a:r>
              <a:rPr lang="en-US" sz="2100" dirty="0" err="1">
                <a:solidFill>
                  <a:srgbClr val="000000"/>
                </a:solidFill>
                <a:latin typeface="Montserrat Classic"/>
              </a:rPr>
              <a:t>satu</a:t>
            </a:r>
            <a:r>
              <a:rPr lang="en-US" sz="2100" dirty="0">
                <a:solidFill>
                  <a:srgbClr val="000000"/>
                </a:solidFill>
                <a:latin typeface="Montserrat Classic"/>
              </a:rPr>
              <a:t> </a:t>
            </a:r>
            <a:r>
              <a:rPr lang="en-US" sz="2100" dirty="0" err="1">
                <a:solidFill>
                  <a:srgbClr val="000000"/>
                </a:solidFill>
                <a:latin typeface="Montserrat Classic"/>
              </a:rPr>
              <a:t>bentuk</a:t>
            </a:r>
            <a:r>
              <a:rPr lang="en-US" sz="2100" dirty="0">
                <a:solidFill>
                  <a:srgbClr val="000000"/>
                </a:solidFill>
                <a:latin typeface="Montserrat Classic"/>
              </a:rPr>
              <a:t> </a:t>
            </a:r>
            <a:r>
              <a:rPr lang="en-US" sz="2100" dirty="0" err="1">
                <a:solidFill>
                  <a:srgbClr val="000000"/>
                </a:solidFill>
                <a:latin typeface="Montserrat Classic"/>
              </a:rPr>
              <a:t>tanggung</a:t>
            </a:r>
            <a:r>
              <a:rPr lang="en-US" sz="2100" dirty="0">
                <a:solidFill>
                  <a:srgbClr val="000000"/>
                </a:solidFill>
                <a:latin typeface="Montserrat Classic"/>
              </a:rPr>
              <a:t> </a:t>
            </a:r>
            <a:r>
              <a:rPr lang="en-US" sz="2100" dirty="0" err="1">
                <a:solidFill>
                  <a:srgbClr val="000000"/>
                </a:solidFill>
                <a:latin typeface="Montserrat Classic"/>
              </a:rPr>
              <a:t>jawab</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adalah</a:t>
            </a:r>
            <a:r>
              <a:rPr lang="en-US" sz="2100" dirty="0">
                <a:solidFill>
                  <a:srgbClr val="000000"/>
                </a:solidFill>
                <a:latin typeface="Montserrat Classic"/>
              </a:rPr>
              <a:t> </a:t>
            </a:r>
            <a:r>
              <a:rPr lang="en-US" sz="2100" dirty="0" err="1">
                <a:solidFill>
                  <a:srgbClr val="000000"/>
                </a:solidFill>
                <a:latin typeface="Montserrat Classic"/>
              </a:rPr>
              <a:t>menyangkut</a:t>
            </a:r>
            <a:r>
              <a:rPr lang="en-US" sz="2100" dirty="0">
                <a:solidFill>
                  <a:srgbClr val="000000"/>
                </a:solidFill>
                <a:latin typeface="Montserrat Classic"/>
              </a:rPr>
              <a:t> </a:t>
            </a:r>
            <a:r>
              <a:rPr lang="en-US" sz="2100" dirty="0" err="1">
                <a:solidFill>
                  <a:srgbClr val="000000"/>
                </a:solidFill>
                <a:latin typeface="Montserrat Classic"/>
              </a:rPr>
              <a:t>kesediaan</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lain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rekan</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diyakini</a:t>
            </a:r>
            <a:r>
              <a:rPr lang="en-US" sz="2100" dirty="0">
                <a:solidFill>
                  <a:srgbClr val="000000"/>
                </a:solidFill>
                <a:latin typeface="Montserrat Classic"/>
              </a:rPr>
              <a:t>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suatu</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menyampaikan</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fakta</a:t>
            </a:r>
            <a:r>
              <a:rPr lang="en-US" sz="2100" dirty="0">
                <a:solidFill>
                  <a:srgbClr val="000000"/>
                </a:solidFill>
                <a:latin typeface="Montserrat Classic"/>
              </a:rPr>
              <a:t> </a:t>
            </a:r>
            <a:r>
              <a:rPr lang="en-US" sz="2100" dirty="0" err="1">
                <a:solidFill>
                  <a:srgbClr val="000000"/>
                </a:solidFill>
                <a:latin typeface="Montserrat Classic"/>
              </a:rPr>
              <a:t>penyimpangan</a:t>
            </a:r>
            <a:r>
              <a:rPr lang="en-US" sz="2100" dirty="0">
                <a:solidFill>
                  <a:srgbClr val="000000"/>
                </a:solidFill>
                <a:latin typeface="Montserrat Classic"/>
              </a:rPr>
              <a:t> yang </a:t>
            </a:r>
            <a:r>
              <a:rPr lang="en-US" sz="2100" dirty="0" err="1">
                <a:solidFill>
                  <a:srgbClr val="000000"/>
                </a:solidFill>
                <a:latin typeface="Montserrat Classic"/>
              </a:rPr>
              <a:t>diketahuinya</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Pimpinan</a:t>
            </a:r>
            <a:r>
              <a:rPr lang="en-US" sz="2100" dirty="0">
                <a:solidFill>
                  <a:srgbClr val="000000"/>
                </a:solidFill>
                <a:latin typeface="Montserrat Classic"/>
              </a:rPr>
              <a:t> unit </a:t>
            </a:r>
            <a:r>
              <a:rPr lang="en-US" sz="2100" dirty="0" err="1">
                <a:solidFill>
                  <a:srgbClr val="000000"/>
                </a:solidFill>
                <a:latin typeface="Montserrat Classic"/>
              </a:rPr>
              <a:t>kerja</a:t>
            </a:r>
            <a:r>
              <a:rPr lang="en-US" sz="2100" dirty="0">
                <a:solidFill>
                  <a:srgbClr val="000000"/>
                </a:solidFill>
                <a:latin typeface="Montserrat Classic"/>
              </a:rPr>
              <a:t>/</a:t>
            </a:r>
            <a:r>
              <a:rPr lang="en-US" sz="2100" dirty="0" err="1">
                <a:solidFill>
                  <a:srgbClr val="000000"/>
                </a:solidFill>
                <a:latin typeface="Montserrat Classic"/>
              </a:rPr>
              <a:t>bagian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tembusan</a:t>
            </a:r>
            <a:r>
              <a:rPr lang="en-US" sz="2100" dirty="0">
                <a:solidFill>
                  <a:srgbClr val="000000"/>
                </a:solidFill>
                <a:latin typeface="Montserrat Classic"/>
              </a:rPr>
              <a:t> </a:t>
            </a:r>
            <a:r>
              <a:rPr lang="en-US" sz="2100" dirty="0" err="1">
                <a:solidFill>
                  <a:srgbClr val="000000"/>
                </a:solidFill>
                <a:latin typeface="Montserrat Classic"/>
              </a:rPr>
              <a:t>ke</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&amp;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Code of Conduct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dilakukan</a:t>
            </a:r>
            <a:r>
              <a:rPr lang="en-US" sz="2100" dirty="0">
                <a:solidFill>
                  <a:srgbClr val="000000"/>
                </a:solidFill>
                <a:latin typeface="Montserrat Classic"/>
              </a:rPr>
              <a:t> </a:t>
            </a:r>
            <a:r>
              <a:rPr lang="en-US" sz="2100" dirty="0" err="1">
                <a:solidFill>
                  <a:srgbClr val="000000"/>
                </a:solidFill>
                <a:latin typeface="Montserrat Classic"/>
              </a:rPr>
              <a:t>tindakan-tindakan</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 </a:t>
            </a:r>
            <a:r>
              <a:rPr lang="en-US" sz="2100" dirty="0" err="1">
                <a:solidFill>
                  <a:srgbClr val="000000"/>
                </a:solidFill>
                <a:latin typeface="Montserrat Classic"/>
              </a:rPr>
              <a:t>hal-hal</a:t>
            </a:r>
            <a:r>
              <a:rPr lang="en-US" sz="2100" dirty="0">
                <a:solidFill>
                  <a:srgbClr val="000000"/>
                </a:solidFill>
                <a:latin typeface="Montserrat Classic"/>
              </a:rPr>
              <a:t> yang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diperhatikan</a:t>
            </a:r>
            <a:r>
              <a:rPr lang="en-US" sz="2100" dirty="0">
                <a:solidFill>
                  <a:srgbClr val="000000"/>
                </a:solidFill>
                <a:latin typeface="Montserrat Classic"/>
              </a:rPr>
              <a:t> </a:t>
            </a:r>
            <a:r>
              <a:rPr lang="en-US" sz="2100" dirty="0" err="1">
                <a:solidFill>
                  <a:srgbClr val="000000"/>
                </a:solidFill>
                <a:latin typeface="Montserrat Classic"/>
              </a:rPr>
              <a:t>adalah</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anggota</a:t>
            </a:r>
            <a:r>
              <a:rPr lang="en-US" sz="2100" dirty="0">
                <a:solidFill>
                  <a:srgbClr val="000000"/>
                </a:solidFill>
                <a:latin typeface="Montserrat Classic"/>
              </a:rPr>
              <a:t> Perusahaan yang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mengenai</a:t>
            </a:r>
            <a:r>
              <a:rPr lang="en-US" sz="2100" dirty="0">
                <a:solidFill>
                  <a:srgbClr val="000000"/>
                </a:solidFill>
                <a:latin typeface="Montserrat Classic"/>
              </a:rPr>
              <a:t> </a:t>
            </a:r>
            <a:r>
              <a:rPr lang="en-US" sz="2100" dirty="0" err="1">
                <a:solidFill>
                  <a:srgbClr val="000000"/>
                </a:solidFill>
                <a:latin typeface="Montserrat Classic"/>
              </a:rPr>
              <a:t>dugaan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Code of Conduct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mengungkapkan</a:t>
            </a:r>
            <a:r>
              <a:rPr lang="en-US" sz="2100" dirty="0">
                <a:solidFill>
                  <a:srgbClr val="000000"/>
                </a:solidFill>
                <a:latin typeface="Montserrat Classic"/>
              </a:rPr>
              <a:t> </a:t>
            </a:r>
            <a:r>
              <a:rPr lang="en-US" sz="2100" dirty="0" err="1">
                <a:solidFill>
                  <a:srgbClr val="000000"/>
                </a:solidFill>
                <a:latin typeface="Montserrat Classic"/>
              </a:rPr>
              <a:t>identitasnya</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jelas</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a:solidFill>
                  <a:srgbClr val="000000"/>
                </a:solidFill>
                <a:latin typeface="Montserrat Classic"/>
              </a:rPr>
              <a:t>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menjaga</a:t>
            </a:r>
            <a:r>
              <a:rPr lang="en-US" sz="2100" dirty="0">
                <a:solidFill>
                  <a:srgbClr val="000000"/>
                </a:solidFill>
                <a:latin typeface="Montserrat Classic"/>
              </a:rPr>
              <a:t> </a:t>
            </a:r>
            <a:r>
              <a:rPr lang="en-US" sz="2100" dirty="0" err="1">
                <a:solidFill>
                  <a:srgbClr val="000000"/>
                </a:solidFill>
                <a:latin typeface="Montserrat Classic"/>
              </a:rPr>
              <a:t>kerahasiaan</a:t>
            </a:r>
            <a:r>
              <a:rPr lang="en-US" sz="2100" dirty="0">
                <a:solidFill>
                  <a:srgbClr val="000000"/>
                </a:solidFill>
                <a:latin typeface="Montserrat Classic"/>
              </a:rPr>
              <a:t> </a:t>
            </a:r>
            <a:r>
              <a:rPr lang="en-US" sz="2100" dirty="0" err="1">
                <a:solidFill>
                  <a:srgbClr val="000000"/>
                </a:solidFill>
                <a:latin typeface="Montserrat Classic"/>
              </a:rPr>
              <a:t>identitas</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kecuali</a:t>
            </a:r>
            <a:r>
              <a:rPr lang="en-US" sz="2100" dirty="0">
                <a:solidFill>
                  <a:srgbClr val="000000"/>
                </a:solidFill>
                <a:latin typeface="Montserrat Classic"/>
              </a:rPr>
              <a:t> </a:t>
            </a:r>
            <a:r>
              <a:rPr lang="en-US" sz="2100" dirty="0" err="1">
                <a:solidFill>
                  <a:srgbClr val="000000"/>
                </a:solidFill>
                <a:latin typeface="Montserrat Classic"/>
              </a:rPr>
              <a:t>apabila</a:t>
            </a:r>
            <a:r>
              <a:rPr lang="en-US" sz="2100" dirty="0">
                <a:solidFill>
                  <a:srgbClr val="000000"/>
                </a:solidFill>
                <a:latin typeface="Montserrat Classic"/>
              </a:rPr>
              <a:t> </a:t>
            </a:r>
            <a:r>
              <a:rPr lang="en-US" sz="2100" dirty="0" err="1">
                <a:solidFill>
                  <a:srgbClr val="000000"/>
                </a:solidFill>
                <a:latin typeface="Montserrat Classic"/>
              </a:rPr>
              <a:t>diperlukan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tindak</a:t>
            </a:r>
            <a:r>
              <a:rPr lang="en-US" sz="2100" dirty="0">
                <a:solidFill>
                  <a:srgbClr val="000000"/>
                </a:solidFill>
                <a:latin typeface="Montserrat Classic"/>
              </a:rPr>
              <a:t> </a:t>
            </a:r>
            <a:r>
              <a:rPr lang="en-US" sz="2100" dirty="0" err="1">
                <a:solidFill>
                  <a:srgbClr val="000000"/>
                </a:solidFill>
                <a:latin typeface="Montserrat Classic"/>
              </a:rPr>
              <a:t>lanjut</a:t>
            </a:r>
            <a:r>
              <a:rPr lang="en-US" sz="2100" dirty="0">
                <a:solidFill>
                  <a:srgbClr val="000000"/>
                </a:solidFill>
                <a:latin typeface="Montserrat Classic"/>
              </a:rPr>
              <a:t> </a:t>
            </a:r>
            <a:r>
              <a:rPr lang="en-US" sz="2100" dirty="0" err="1">
                <a:solidFill>
                  <a:srgbClr val="000000"/>
                </a:solidFill>
                <a:latin typeface="Montserrat Classic"/>
              </a:rPr>
              <a:t>laporannya</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kebijakan</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Jika</a:t>
            </a:r>
            <a:r>
              <a:rPr lang="en-US" sz="2100" dirty="0">
                <a:solidFill>
                  <a:srgbClr val="000000"/>
                </a:solidFill>
                <a:latin typeface="Montserrat Classic"/>
              </a:rPr>
              <a:t> </a:t>
            </a:r>
            <a:r>
              <a:rPr lang="en-US" sz="2100" dirty="0" err="1">
                <a:solidFill>
                  <a:srgbClr val="000000"/>
                </a:solidFill>
                <a:latin typeface="Montserrat Classic"/>
              </a:rPr>
              <a:t>laporan</a:t>
            </a:r>
            <a:r>
              <a:rPr lang="en-US" sz="2100" dirty="0">
                <a:solidFill>
                  <a:srgbClr val="000000"/>
                </a:solidFill>
                <a:latin typeface="Montserrat Classic"/>
              </a:rPr>
              <a:t> </a:t>
            </a:r>
            <a:r>
              <a:rPr lang="en-US" sz="2100" dirty="0" err="1">
                <a:solidFill>
                  <a:srgbClr val="000000"/>
                </a:solidFill>
                <a:latin typeface="Montserrat Classic"/>
              </a:rPr>
              <a:t>benar</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dikenakan</a:t>
            </a:r>
            <a:r>
              <a:rPr lang="en-US" sz="2100" dirty="0">
                <a:solidFill>
                  <a:srgbClr val="000000"/>
                </a:solidFill>
                <a:latin typeface="Montserrat Classic"/>
              </a:rPr>
              <a:t> </a:t>
            </a:r>
            <a:r>
              <a:rPr lang="en-US" sz="2100" dirty="0" err="1">
                <a:solidFill>
                  <a:srgbClr val="000000"/>
                </a:solidFill>
                <a:latin typeface="Montserrat Classic"/>
              </a:rPr>
              <a:t>sanksi</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hukuman</a:t>
            </a:r>
            <a:r>
              <a:rPr lang="en-US" sz="2100" dirty="0">
                <a:solidFill>
                  <a:srgbClr val="000000"/>
                </a:solidFill>
                <a:latin typeface="Montserrat Classic"/>
              </a:rPr>
              <a:t> </a:t>
            </a:r>
            <a:r>
              <a:rPr lang="en-US" sz="2100" dirty="0" err="1">
                <a:solidFill>
                  <a:srgbClr val="000000"/>
                </a:solidFill>
                <a:latin typeface="Montserrat Classic"/>
              </a:rPr>
              <a:t>apapun</a:t>
            </a:r>
            <a:r>
              <a:rPr lang="en-US" sz="2100" dirty="0">
                <a:solidFill>
                  <a:srgbClr val="000000"/>
                </a:solidFill>
                <a:latin typeface="Montserrat Classic"/>
              </a:rPr>
              <a:t>. </a:t>
            </a:r>
            <a:r>
              <a:rPr lang="en-US" sz="2100" dirty="0" err="1">
                <a:solidFill>
                  <a:srgbClr val="000000"/>
                </a:solidFill>
                <a:latin typeface="Montserrat Classic"/>
              </a:rPr>
              <a:t>Namun</a:t>
            </a:r>
            <a:r>
              <a:rPr lang="en-US" sz="2100" dirty="0">
                <a:solidFill>
                  <a:srgbClr val="000000"/>
                </a:solidFill>
                <a:latin typeface="Montserrat Classic"/>
              </a:rPr>
              <a:t> </a:t>
            </a:r>
            <a:r>
              <a:rPr lang="en-US" sz="2100" dirty="0" err="1">
                <a:solidFill>
                  <a:srgbClr val="000000"/>
                </a:solidFill>
                <a:latin typeface="Montserrat Classic"/>
              </a:rPr>
              <a:t>apabila</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juga</a:t>
            </a:r>
            <a:r>
              <a:rPr lang="en-US" sz="2100" dirty="0">
                <a:solidFill>
                  <a:srgbClr val="000000"/>
                </a:solidFill>
                <a:latin typeface="Montserrat Classic"/>
              </a:rPr>
              <a:t> </a:t>
            </a:r>
            <a:r>
              <a:rPr lang="en-US" sz="2100" dirty="0" err="1">
                <a:solidFill>
                  <a:srgbClr val="000000"/>
                </a:solidFill>
                <a:latin typeface="Montserrat Classic"/>
              </a:rPr>
              <a:t>terlibat</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tersebut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laporannya</a:t>
            </a:r>
            <a:r>
              <a:rPr lang="en-US" sz="2100" dirty="0">
                <a:solidFill>
                  <a:srgbClr val="000000"/>
                </a:solidFill>
                <a:latin typeface="Montserrat Classic"/>
              </a:rPr>
              <a:t> </a:t>
            </a:r>
            <a:r>
              <a:rPr lang="en-US" sz="2100" dirty="0" err="1">
                <a:solidFill>
                  <a:srgbClr val="000000"/>
                </a:solidFill>
                <a:latin typeface="Montserrat Classic"/>
              </a:rPr>
              <a:t>tidak</a:t>
            </a:r>
            <a:r>
              <a:rPr lang="en-US" sz="2100" dirty="0">
                <a:solidFill>
                  <a:srgbClr val="000000"/>
                </a:solidFill>
                <a:latin typeface="Montserrat Classic"/>
              </a:rPr>
              <a:t> </a:t>
            </a:r>
            <a:r>
              <a:rPr lang="en-US" sz="2100" dirty="0" err="1">
                <a:solidFill>
                  <a:srgbClr val="000000"/>
                </a:solidFill>
                <a:latin typeface="Montserrat Classic"/>
              </a:rPr>
              <a:t>benar</a:t>
            </a:r>
            <a:r>
              <a:rPr lang="en-US" sz="2100" dirty="0">
                <a:solidFill>
                  <a:srgbClr val="000000"/>
                </a:solidFill>
                <a:latin typeface="Montserrat Classic"/>
              </a:rPr>
              <a:t>, </a:t>
            </a:r>
            <a:r>
              <a:rPr lang="en-US" sz="2100" dirty="0" err="1">
                <a:solidFill>
                  <a:srgbClr val="000000"/>
                </a:solidFill>
                <a:latin typeface="Montserrat Classic"/>
              </a:rPr>
              <a:t>maka</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dikenakan</a:t>
            </a:r>
            <a:r>
              <a:rPr lang="en-US" sz="2100" dirty="0">
                <a:solidFill>
                  <a:srgbClr val="000000"/>
                </a:solidFill>
                <a:latin typeface="Montserrat Classic"/>
              </a:rPr>
              <a:t> </a:t>
            </a:r>
            <a:r>
              <a:rPr lang="en-US" sz="2100" dirty="0" err="1">
                <a:solidFill>
                  <a:srgbClr val="000000"/>
                </a:solidFill>
                <a:latin typeface="Montserrat Classic"/>
              </a:rPr>
              <a:t>sanksi</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menindaklanjuti</a:t>
            </a:r>
            <a:r>
              <a:rPr lang="en-US" sz="2100" dirty="0">
                <a:solidFill>
                  <a:srgbClr val="000000"/>
                </a:solidFill>
                <a:latin typeface="Montserrat Classic"/>
              </a:rPr>
              <a:t> </a:t>
            </a:r>
            <a:r>
              <a:rPr lang="en-US" sz="2100" dirty="0" err="1">
                <a:solidFill>
                  <a:srgbClr val="000000"/>
                </a:solidFill>
                <a:latin typeface="Montserrat Classic"/>
              </a:rPr>
              <a:t>laporan</a:t>
            </a:r>
            <a:r>
              <a:rPr lang="en-US" sz="2100" dirty="0">
                <a:solidFill>
                  <a:srgbClr val="000000"/>
                </a:solidFill>
                <a:latin typeface="Montserrat Classic"/>
              </a:rPr>
              <a:t> </a:t>
            </a:r>
            <a:r>
              <a:rPr lang="en-US" sz="2100" dirty="0" err="1">
                <a:solidFill>
                  <a:srgbClr val="000000"/>
                </a:solidFill>
                <a:latin typeface="Montserrat Classic"/>
              </a:rPr>
              <a:t>tersebut</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segera</a:t>
            </a:r>
            <a:r>
              <a:rPr lang="en-US" sz="2100" dirty="0">
                <a:solidFill>
                  <a:srgbClr val="000000"/>
                </a:solidFill>
                <a:latin typeface="Montserrat Classic"/>
              </a:rPr>
              <a:t>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diambil</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ketentuan</a:t>
            </a:r>
            <a:r>
              <a:rPr lang="en-US" sz="2100" dirty="0">
                <a:solidFill>
                  <a:srgbClr val="000000"/>
                </a:solidFill>
                <a:latin typeface="Montserrat Classic"/>
              </a:rPr>
              <a:t> yang </a:t>
            </a:r>
            <a:r>
              <a:rPr lang="en-US" sz="2100" dirty="0" err="1">
                <a:solidFill>
                  <a:srgbClr val="000000"/>
                </a:solidFill>
                <a:latin typeface="Montserrat Classic"/>
              </a:rPr>
              <a:t>berlaku</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5"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49</a:t>
            </a:r>
            <a:endParaRPr lang="en-US" sz="3319" dirty="0">
              <a:solidFill>
                <a:srgbClr val="000000"/>
              </a:solidFill>
              <a:latin typeface="Telegraf"/>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8905814" flipH="1">
            <a:off x="15873781" y="-2783348"/>
            <a:ext cx="11300655" cy="9184351"/>
          </a:xfrm>
          <a:prstGeom prst="rect">
            <a:avLst/>
          </a:prstGeom>
        </p:spPr>
      </p:pic>
      <p:sp>
        <p:nvSpPr>
          <p:cNvPr id="3" name="TextBox 3"/>
          <p:cNvSpPr txBox="1"/>
          <p:nvPr/>
        </p:nvSpPr>
        <p:spPr>
          <a:xfrm>
            <a:off x="1028700" y="1446340"/>
            <a:ext cx="16487675" cy="1099185"/>
          </a:xfrm>
          <a:prstGeom prst="rect">
            <a:avLst/>
          </a:prstGeom>
        </p:spPr>
        <p:txBody>
          <a:bodyPr lIns="0" tIns="0" rIns="0" bIns="0" rtlCol="0" anchor="t">
            <a:spAutoFit/>
          </a:bodyPr>
          <a:lstStyle/>
          <a:p>
            <a:pPr marL="342900" indent="-342900">
              <a:lnSpc>
                <a:spcPts val="2940"/>
              </a:lnSpc>
              <a:spcBef>
                <a:spcPct val="0"/>
              </a:spcBef>
              <a:buFont typeface="Arial" panose="020B0604020202020204" pitchFamily="34" charset="0"/>
              <a:buChar char="•"/>
            </a:pP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proaktif</a:t>
            </a:r>
            <a:r>
              <a:rPr lang="en-US" sz="2100" dirty="0">
                <a:solidFill>
                  <a:srgbClr val="000000"/>
                </a:solidFill>
                <a:latin typeface="Montserrat Classic"/>
              </a:rPr>
              <a:t> </a:t>
            </a:r>
            <a:r>
              <a:rPr lang="en-US" sz="2100" dirty="0" err="1">
                <a:solidFill>
                  <a:srgbClr val="000000"/>
                </a:solidFill>
                <a:latin typeface="Montserrat Classic"/>
              </a:rPr>
              <a:t>meneliti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mengawasi</a:t>
            </a:r>
            <a:r>
              <a:rPr lang="en-US" sz="2100" dirty="0">
                <a:solidFill>
                  <a:srgbClr val="000000"/>
                </a:solidFill>
                <a:latin typeface="Montserrat Classic"/>
              </a:rPr>
              <a:t> </a:t>
            </a:r>
            <a:r>
              <a:rPr lang="en-US" sz="2100" dirty="0" err="1">
                <a:solidFill>
                  <a:srgbClr val="000000"/>
                </a:solidFill>
                <a:latin typeface="Montserrat Classic"/>
              </a:rPr>
              <a:t>seluruh</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 Perusahaan yang </a:t>
            </a:r>
            <a:r>
              <a:rPr lang="en-US" sz="2100" dirty="0" err="1">
                <a:solidFill>
                  <a:srgbClr val="000000"/>
                </a:solidFill>
                <a:latin typeface="Montserrat Classic"/>
              </a:rPr>
              <a:t>kemungkinan</a:t>
            </a:r>
            <a:r>
              <a:rPr lang="en-US" sz="2100" dirty="0">
                <a:solidFill>
                  <a:srgbClr val="000000"/>
                </a:solidFill>
                <a:latin typeface="Montserrat Classic"/>
              </a:rPr>
              <a:t> </a:t>
            </a:r>
            <a:r>
              <a:rPr lang="en-US" sz="2100" dirty="0" err="1">
                <a:solidFill>
                  <a:srgbClr val="000000"/>
                </a:solidFill>
                <a:latin typeface="Montserrat Classic"/>
              </a:rPr>
              <a:t>terkait</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Code of Conduct, </a:t>
            </a:r>
            <a:r>
              <a:rPr lang="en-US" sz="2100" dirty="0" err="1">
                <a:solidFill>
                  <a:srgbClr val="000000"/>
                </a:solidFill>
                <a:latin typeface="Montserrat Classic"/>
              </a:rPr>
              <a:t>tanpa</a:t>
            </a:r>
            <a:r>
              <a:rPr lang="en-US" sz="2100" dirty="0">
                <a:solidFill>
                  <a:srgbClr val="000000"/>
                </a:solidFill>
                <a:latin typeface="Montserrat Classic"/>
              </a:rPr>
              <a:t> </a:t>
            </a:r>
            <a:r>
              <a:rPr lang="en-US" sz="2100" dirty="0" err="1">
                <a:solidFill>
                  <a:srgbClr val="000000"/>
                </a:solidFill>
                <a:latin typeface="Montserrat Classic"/>
              </a:rPr>
              <a:t>menunggu</a:t>
            </a:r>
            <a:r>
              <a:rPr lang="en-US" sz="2100" dirty="0">
                <a:solidFill>
                  <a:srgbClr val="000000"/>
                </a:solidFill>
                <a:latin typeface="Montserrat Classic"/>
              </a:rPr>
              <a:t> </a:t>
            </a:r>
            <a:r>
              <a:rPr lang="en-US" sz="2100" dirty="0" err="1">
                <a:solidFill>
                  <a:srgbClr val="000000"/>
                </a:solidFill>
                <a:latin typeface="Montserrat Classic"/>
              </a:rPr>
              <a:t>laporan</a:t>
            </a:r>
            <a:r>
              <a:rPr lang="en-US" sz="2100" dirty="0">
                <a:solidFill>
                  <a:srgbClr val="000000"/>
                </a:solidFill>
                <a:latin typeface="Montserrat Classic"/>
              </a:rPr>
              <a:t> </a:t>
            </a:r>
            <a:r>
              <a:rPr lang="en-US" sz="2100" dirty="0" err="1">
                <a:solidFill>
                  <a:srgbClr val="000000"/>
                </a:solidFill>
                <a:latin typeface="Montserrat Classic"/>
              </a:rPr>
              <a:t>tentang</a:t>
            </a:r>
            <a:r>
              <a:rPr lang="en-US" sz="2100" dirty="0">
                <a:solidFill>
                  <a:srgbClr val="000000"/>
                </a:solidFill>
                <a:latin typeface="Montserrat Classic"/>
              </a:rPr>
              <a:t> </a:t>
            </a:r>
            <a:r>
              <a:rPr lang="en-US" sz="2100" dirty="0" err="1">
                <a:solidFill>
                  <a:srgbClr val="000000"/>
                </a:solidFill>
                <a:latin typeface="Montserrat Classic"/>
              </a:rPr>
              <a:t>dugaan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Code of Conduct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Karyawan</a:t>
            </a:r>
            <a:r>
              <a:rPr lang="en-US" sz="2100" dirty="0">
                <a:solidFill>
                  <a:srgbClr val="000000"/>
                </a:solidFill>
                <a:latin typeface="Montserrat Classic"/>
              </a:rPr>
              <a:t>/</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berdasarkan</a:t>
            </a:r>
            <a:r>
              <a:rPr lang="en-US" sz="2100" dirty="0">
                <a:solidFill>
                  <a:srgbClr val="000000"/>
                </a:solidFill>
                <a:latin typeface="Montserrat Classic"/>
              </a:rPr>
              <a:t> </a:t>
            </a:r>
            <a:r>
              <a:rPr lang="en-US" sz="2100" dirty="0" err="1">
                <a:solidFill>
                  <a:srgbClr val="000000"/>
                </a:solidFill>
                <a:latin typeface="Montserrat Classic"/>
              </a:rPr>
              <a:t>informasi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pihak</a:t>
            </a:r>
            <a:r>
              <a:rPr lang="en-US" sz="2100" dirty="0">
                <a:solidFill>
                  <a:srgbClr val="000000"/>
                </a:solidFill>
                <a:latin typeface="Montserrat Classic"/>
              </a:rPr>
              <a:t> </a:t>
            </a:r>
            <a:r>
              <a:rPr lang="en-US" sz="2100" dirty="0" err="1">
                <a:solidFill>
                  <a:srgbClr val="000000"/>
                </a:solidFill>
                <a:latin typeface="Montserrat Classic"/>
              </a:rPr>
              <a:t>luar</a:t>
            </a:r>
            <a:r>
              <a:rPr lang="en-US" sz="2100" dirty="0">
                <a:solidFill>
                  <a:srgbClr val="000000"/>
                </a:solidFill>
                <a:latin typeface="Montserrat Classic"/>
              </a:rPr>
              <a:t> Perusahaan.</a:t>
            </a:r>
            <a:endParaRPr lang="en-US" sz="2100" dirty="0">
              <a:solidFill>
                <a:srgbClr val="000000"/>
              </a:solidFill>
              <a:latin typeface="Montserrat Classic"/>
            </a:endParaRPr>
          </a:p>
        </p:txBody>
      </p:sp>
      <p:sp>
        <p:nvSpPr>
          <p:cNvPr id="4" name="TextBox 4"/>
          <p:cNvSpPr txBox="1"/>
          <p:nvPr/>
        </p:nvSpPr>
        <p:spPr>
          <a:xfrm>
            <a:off x="997818" y="672465"/>
            <a:ext cx="5103614" cy="35623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Montserrat Classic Bold"/>
              </a:rPr>
              <a:t>B. PELAPORAN ATAS PELANGGARAN </a:t>
            </a:r>
          </a:p>
        </p:txBody>
      </p:sp>
      <p:sp>
        <p:nvSpPr>
          <p:cNvPr id="5" name="TextBox 5"/>
          <p:cNvSpPr txBox="1"/>
          <p:nvPr/>
        </p:nvSpPr>
        <p:spPr>
          <a:xfrm>
            <a:off x="1028700" y="2298605"/>
            <a:ext cx="15990644" cy="8900160"/>
          </a:xfrm>
          <a:prstGeom prst="rect">
            <a:avLst/>
          </a:prstGeom>
        </p:spPr>
        <p:txBody>
          <a:bodyPr lIns="0" tIns="0" rIns="0" bIns="0" rtlCol="0" anchor="t">
            <a:spAutoFit/>
          </a:bodyPr>
          <a:lstStyle/>
          <a:p>
            <a:pPr algn="just">
              <a:lnSpc>
                <a:spcPts val="2940"/>
              </a:lnSpc>
            </a:pPr>
            <a:endParaRPr dirty="0"/>
          </a:p>
          <a:p>
            <a:pPr algn="just">
              <a:lnSpc>
                <a:spcPts val="2940"/>
              </a:lnSpc>
            </a:pPr>
            <a:endParaRPr dirty="0"/>
          </a:p>
          <a:p>
            <a:pPr algn="just">
              <a:lnSpc>
                <a:spcPts val="2940"/>
              </a:lnSpc>
            </a:pPr>
            <a:r>
              <a:rPr lang="en-US" sz="2100" dirty="0" err="1">
                <a:solidFill>
                  <a:srgbClr val="000000"/>
                </a:solidFill>
                <a:latin typeface="Montserrat Classic"/>
              </a:rPr>
              <a:t>Pelaporan</a:t>
            </a:r>
            <a:r>
              <a:rPr lang="en-US" sz="2100" dirty="0">
                <a:solidFill>
                  <a:srgbClr val="000000"/>
                </a:solidFill>
                <a:latin typeface="Montserrat Classic"/>
              </a:rPr>
              <a:t> </a:t>
            </a:r>
            <a:r>
              <a:rPr lang="en-US" sz="2100" dirty="0" err="1">
                <a:solidFill>
                  <a:srgbClr val="000000"/>
                </a:solidFill>
                <a:latin typeface="Montserrat Classic"/>
              </a:rPr>
              <a:t>dugaan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dilakukan</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jujur</a:t>
            </a:r>
            <a:r>
              <a:rPr lang="en-US" sz="2100" dirty="0">
                <a:solidFill>
                  <a:srgbClr val="000000"/>
                </a:solidFill>
                <a:latin typeface="Montserrat Classic"/>
              </a:rPr>
              <a:t>, </a:t>
            </a:r>
            <a:r>
              <a:rPr lang="en-US" sz="2100" dirty="0" err="1">
                <a:solidFill>
                  <a:srgbClr val="000000"/>
                </a:solidFill>
                <a:latin typeface="Montserrat Classic"/>
              </a:rPr>
              <a:t>dilandasi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niat</a:t>
            </a:r>
            <a:r>
              <a:rPr lang="en-US" sz="2100" dirty="0">
                <a:solidFill>
                  <a:srgbClr val="000000"/>
                </a:solidFill>
                <a:latin typeface="Montserrat Classic"/>
              </a:rPr>
              <a:t> </a:t>
            </a:r>
            <a:r>
              <a:rPr lang="en-US" sz="2100" dirty="0" err="1">
                <a:solidFill>
                  <a:srgbClr val="000000"/>
                </a:solidFill>
                <a:latin typeface="Montserrat Classic"/>
              </a:rPr>
              <a:t>baik</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semata-mata</a:t>
            </a:r>
            <a:r>
              <a:rPr lang="en-US" sz="2100" dirty="0">
                <a:solidFill>
                  <a:srgbClr val="000000"/>
                </a:solidFill>
                <a:latin typeface="Montserrat Classic"/>
              </a:rPr>
              <a:t> </a:t>
            </a:r>
            <a:r>
              <a:rPr lang="en-US" sz="2100" dirty="0" err="1">
                <a:solidFill>
                  <a:srgbClr val="000000"/>
                </a:solidFill>
                <a:latin typeface="Montserrat Classic"/>
              </a:rPr>
              <a:t>dilakukan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pencegahan</a:t>
            </a:r>
            <a:r>
              <a:rPr lang="en-US" sz="2100" dirty="0">
                <a:solidFill>
                  <a:srgbClr val="000000"/>
                </a:solidFill>
                <a:latin typeface="Montserrat Classic"/>
              </a:rPr>
              <a:t> </a:t>
            </a:r>
            <a:r>
              <a:rPr lang="en-US" sz="2100" dirty="0" err="1">
                <a:solidFill>
                  <a:srgbClr val="000000"/>
                </a:solidFill>
                <a:latin typeface="Montserrat Classic"/>
              </a:rPr>
              <a:t>terjadinya</a:t>
            </a:r>
            <a:r>
              <a:rPr lang="en-US" sz="2100" dirty="0">
                <a:solidFill>
                  <a:srgbClr val="000000"/>
                </a:solidFill>
                <a:latin typeface="Montserrat Classic"/>
              </a:rPr>
              <a:t> </a:t>
            </a:r>
            <a:r>
              <a:rPr lang="en-US" sz="2100" dirty="0" err="1">
                <a:solidFill>
                  <a:srgbClr val="000000"/>
                </a:solidFill>
                <a:latin typeface="Montserrat Classic"/>
              </a:rPr>
              <a:t>kerugian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Perusahaan,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rusaknya</a:t>
            </a:r>
            <a:r>
              <a:rPr lang="en-US" sz="2100" dirty="0">
                <a:solidFill>
                  <a:srgbClr val="000000"/>
                </a:solidFill>
                <a:latin typeface="Montserrat Classic"/>
              </a:rPr>
              <a:t> </a:t>
            </a:r>
            <a:r>
              <a:rPr lang="en-US" sz="2100" dirty="0" err="1">
                <a:solidFill>
                  <a:srgbClr val="000000"/>
                </a:solidFill>
                <a:latin typeface="Montserrat Classic"/>
              </a:rPr>
              <a:t>kinerja</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jauh</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maksud-maksud</a:t>
            </a:r>
            <a:r>
              <a:rPr lang="en-US" sz="2100" dirty="0">
                <a:solidFill>
                  <a:srgbClr val="000000"/>
                </a:solidFill>
                <a:latin typeface="Montserrat Classic"/>
              </a:rPr>
              <a:t> </a:t>
            </a:r>
            <a:r>
              <a:rPr lang="en-US" sz="2100" dirty="0" err="1">
                <a:solidFill>
                  <a:srgbClr val="000000"/>
                </a:solidFill>
                <a:latin typeface="Montserrat Classic"/>
              </a:rPr>
              <a:t>tertentu</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keuntungan</a:t>
            </a:r>
            <a:r>
              <a:rPr lang="en-US" sz="2100" dirty="0">
                <a:solidFill>
                  <a:srgbClr val="000000"/>
                </a:solidFill>
                <a:latin typeface="Montserrat Classic"/>
              </a:rPr>
              <a:t> </a:t>
            </a:r>
            <a:r>
              <a:rPr lang="en-US" sz="2100" dirty="0" err="1">
                <a:solidFill>
                  <a:srgbClr val="000000"/>
                </a:solidFill>
                <a:latin typeface="Montserrat Classic"/>
              </a:rPr>
              <a:t>pribadi</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pelaporan</a:t>
            </a:r>
            <a:r>
              <a:rPr lang="en-US" sz="2100" dirty="0">
                <a:solidFill>
                  <a:srgbClr val="000000"/>
                </a:solidFill>
                <a:latin typeface="Montserrat Classic"/>
              </a:rPr>
              <a:t> </a:t>
            </a:r>
            <a:r>
              <a:rPr lang="en-US" sz="2100" dirty="0" err="1">
                <a:solidFill>
                  <a:srgbClr val="000000"/>
                </a:solidFill>
                <a:latin typeface="Montserrat Classic"/>
              </a:rPr>
              <a:t>dugaan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seluruhnya</a:t>
            </a:r>
            <a:r>
              <a:rPr lang="en-US" sz="2100" dirty="0">
                <a:solidFill>
                  <a:srgbClr val="000000"/>
                </a:solidFill>
                <a:latin typeface="Montserrat Classic"/>
              </a:rPr>
              <a:t> </a:t>
            </a:r>
            <a:r>
              <a:rPr lang="en-US" sz="2100" dirty="0" err="1">
                <a:solidFill>
                  <a:srgbClr val="000000"/>
                </a:solidFill>
                <a:latin typeface="Montserrat Classic"/>
              </a:rPr>
              <a:t>disertai</a:t>
            </a:r>
            <a:r>
              <a:rPr lang="en-US" sz="2100" dirty="0">
                <a:solidFill>
                  <a:srgbClr val="000000"/>
                </a:solidFill>
                <a:latin typeface="Montserrat Classic"/>
              </a:rPr>
              <a:t> data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bukti-bukti</a:t>
            </a:r>
            <a:r>
              <a:rPr lang="en-US" sz="2100" dirty="0">
                <a:solidFill>
                  <a:srgbClr val="000000"/>
                </a:solidFill>
                <a:latin typeface="Montserrat Classic"/>
              </a:rPr>
              <a:t> </a:t>
            </a:r>
            <a:r>
              <a:rPr lang="en-US" sz="2100" dirty="0" err="1">
                <a:solidFill>
                  <a:srgbClr val="000000"/>
                </a:solidFill>
                <a:latin typeface="Montserrat Classic"/>
              </a:rPr>
              <a:t>akurat</a:t>
            </a:r>
            <a:r>
              <a:rPr lang="en-US" sz="2100" dirty="0">
                <a:solidFill>
                  <a:srgbClr val="000000"/>
                </a:solidFill>
                <a:latin typeface="Montserrat Classic"/>
              </a:rPr>
              <a:t> agar </a:t>
            </a:r>
            <a:r>
              <a:rPr lang="en-US" sz="2100" dirty="0" err="1">
                <a:solidFill>
                  <a:srgbClr val="000000"/>
                </a:solidFill>
                <a:latin typeface="Montserrat Classic"/>
              </a:rPr>
              <a:t>segera</a:t>
            </a:r>
            <a:r>
              <a:rPr lang="en-US" sz="2100" dirty="0">
                <a:solidFill>
                  <a:srgbClr val="000000"/>
                </a:solidFill>
                <a:latin typeface="Montserrat Classic"/>
              </a:rPr>
              <a:t>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diproses</a:t>
            </a:r>
            <a:r>
              <a:rPr lang="en-US" sz="2100" dirty="0">
                <a:solidFill>
                  <a:srgbClr val="000000"/>
                </a:solidFill>
                <a:latin typeface="Montserrat Classic"/>
              </a:rPr>
              <a:t> </a:t>
            </a:r>
            <a:r>
              <a:rPr lang="en-US" sz="2100" dirty="0" err="1">
                <a:solidFill>
                  <a:srgbClr val="000000"/>
                </a:solidFill>
                <a:latin typeface="Montserrat Classic"/>
              </a:rPr>
              <a:t>lebih</a:t>
            </a:r>
            <a:r>
              <a:rPr lang="en-US" sz="2100" dirty="0">
                <a:solidFill>
                  <a:srgbClr val="000000"/>
                </a:solidFill>
                <a:latin typeface="Montserrat Classic"/>
              </a:rPr>
              <a:t> </a:t>
            </a:r>
            <a:r>
              <a:rPr lang="en-US" sz="2100" dirty="0" err="1">
                <a:solidFill>
                  <a:srgbClr val="000000"/>
                </a:solidFill>
                <a:latin typeface="Montserrat Classic"/>
              </a:rPr>
              <a:t>lanjut</a:t>
            </a:r>
            <a:r>
              <a:rPr lang="en-US" sz="2100" dirty="0">
                <a:solidFill>
                  <a:srgbClr val="000000"/>
                </a:solidFill>
                <a:latin typeface="Montserrat Classic"/>
              </a:rPr>
              <a:t> demi </a:t>
            </a:r>
            <a:r>
              <a:rPr lang="en-US" sz="2100" dirty="0" err="1">
                <a:solidFill>
                  <a:srgbClr val="000000"/>
                </a:solidFill>
                <a:latin typeface="Montserrat Classic"/>
              </a:rPr>
              <a:t>keselamatan</a:t>
            </a:r>
            <a:r>
              <a:rPr lang="en-US" sz="2100" dirty="0">
                <a:solidFill>
                  <a:srgbClr val="000000"/>
                </a:solidFill>
                <a:latin typeface="Montserrat Classic"/>
              </a:rPr>
              <a:t> </a:t>
            </a:r>
            <a:r>
              <a:rPr lang="en-US" sz="2100" dirty="0" err="1">
                <a:solidFill>
                  <a:srgbClr val="000000"/>
                </a:solidFill>
                <a:latin typeface="Montserrat Classic"/>
              </a:rPr>
              <a:t>jalannya</a:t>
            </a:r>
            <a:r>
              <a:rPr lang="en-US" sz="2100" dirty="0">
                <a:solidFill>
                  <a:srgbClr val="000000"/>
                </a:solidFill>
                <a:latin typeface="Montserrat Classic"/>
              </a:rPr>
              <a:t> </a:t>
            </a:r>
            <a:r>
              <a:rPr lang="en-US" sz="2100" dirty="0" err="1">
                <a:solidFill>
                  <a:srgbClr val="000000"/>
                </a:solidFill>
                <a:latin typeface="Montserrat Classic"/>
              </a:rPr>
              <a:t>usaha</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algn="just">
              <a:lnSpc>
                <a:spcPts val="2940"/>
              </a:lnSpc>
            </a:pP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dilarang</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permusuhan</a:t>
            </a:r>
            <a:r>
              <a:rPr lang="en-US" sz="2100" dirty="0">
                <a:solidFill>
                  <a:srgbClr val="000000"/>
                </a:solidFill>
                <a:latin typeface="Montserrat Classic"/>
              </a:rPr>
              <a:t>, </a:t>
            </a:r>
            <a:r>
              <a:rPr lang="en-US" sz="2100" dirty="0" err="1">
                <a:solidFill>
                  <a:srgbClr val="000000"/>
                </a:solidFill>
                <a:latin typeface="Montserrat Classic"/>
              </a:rPr>
              <a:t>pembalasan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lain yang </a:t>
            </a:r>
            <a:r>
              <a:rPr lang="en-US" sz="2100" dirty="0" err="1">
                <a:solidFill>
                  <a:srgbClr val="000000"/>
                </a:solidFill>
                <a:latin typeface="Montserrat Classic"/>
              </a:rPr>
              <a:t>merugikan</a:t>
            </a:r>
            <a:r>
              <a:rPr lang="en-US" sz="2100" dirty="0">
                <a:solidFill>
                  <a:srgbClr val="000000"/>
                </a:solidFill>
                <a:latin typeface="Montserrat Classic"/>
              </a:rPr>
              <a:t> </a:t>
            </a:r>
            <a:r>
              <a:rPr lang="en-US" sz="2100" dirty="0" err="1">
                <a:solidFill>
                  <a:srgbClr val="000000"/>
                </a:solidFill>
                <a:latin typeface="Montserrat Classic"/>
              </a:rPr>
              <a:t>seperti</a:t>
            </a:r>
            <a:r>
              <a:rPr lang="en-US" sz="2100" dirty="0">
                <a:solidFill>
                  <a:srgbClr val="000000"/>
                </a:solidFill>
                <a:latin typeface="Montserrat Classic"/>
              </a:rPr>
              <a:t> </a:t>
            </a:r>
            <a:r>
              <a:rPr lang="en-US" sz="2100" dirty="0" err="1">
                <a:solidFill>
                  <a:srgbClr val="000000"/>
                </a:solidFill>
                <a:latin typeface="Montserrat Classic"/>
              </a:rPr>
              <a:t>ancaman</a:t>
            </a:r>
            <a:r>
              <a:rPr lang="en-US" sz="2100" dirty="0">
                <a:solidFill>
                  <a:srgbClr val="000000"/>
                </a:solidFill>
                <a:latin typeface="Montserrat Classic"/>
              </a:rPr>
              <a:t> </a:t>
            </a:r>
            <a:r>
              <a:rPr lang="en-US" sz="2100" dirty="0" err="1">
                <a:solidFill>
                  <a:srgbClr val="000000"/>
                </a:solidFill>
                <a:latin typeface="Montserrat Classic"/>
              </a:rPr>
              <a:t>fisik</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verbal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lain yang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terjadinya</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ataupun</a:t>
            </a:r>
            <a:r>
              <a:rPr lang="en-US" sz="2100" dirty="0">
                <a:solidFill>
                  <a:srgbClr val="000000"/>
                </a:solidFill>
                <a:latin typeface="Montserrat Classic"/>
              </a:rPr>
              <a:t> yang </a:t>
            </a:r>
            <a:r>
              <a:rPr lang="en-US" sz="2100" dirty="0" err="1">
                <a:solidFill>
                  <a:srgbClr val="000000"/>
                </a:solidFill>
                <a:latin typeface="Montserrat Classic"/>
              </a:rPr>
              <a:t>bekerjasama</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penyelidikan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r>
              <a:rPr lang="en-US" sz="2100" dirty="0">
                <a:solidFill>
                  <a:srgbClr val="000000"/>
                </a:solidFill>
                <a:latin typeface="Montserrat Classic"/>
              </a:rPr>
              <a:t>Hal-</a:t>
            </a:r>
            <a:r>
              <a:rPr lang="en-US" sz="2100" dirty="0" err="1">
                <a:solidFill>
                  <a:srgbClr val="000000"/>
                </a:solidFill>
                <a:latin typeface="Montserrat Classic"/>
              </a:rPr>
              <a:t>hal</a:t>
            </a:r>
            <a:r>
              <a:rPr lang="en-US" sz="2100" dirty="0">
                <a:solidFill>
                  <a:srgbClr val="000000"/>
                </a:solidFill>
                <a:latin typeface="Montserrat Classic"/>
              </a:rPr>
              <a:t> yang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dilakukan</a:t>
            </a:r>
            <a:r>
              <a:rPr lang="en-US" sz="2100" dirty="0">
                <a:solidFill>
                  <a:srgbClr val="000000"/>
                </a:solidFill>
                <a:latin typeface="Montserrat Classic"/>
              </a:rPr>
              <a:t> Perusahaan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menangani</a:t>
            </a:r>
            <a:r>
              <a:rPr lang="en-US" sz="2100" dirty="0">
                <a:solidFill>
                  <a:srgbClr val="000000"/>
                </a:solidFill>
                <a:latin typeface="Montserrat Classic"/>
              </a:rPr>
              <a:t> </a:t>
            </a:r>
            <a:r>
              <a:rPr lang="en-US" sz="2100" dirty="0" err="1">
                <a:solidFill>
                  <a:srgbClr val="000000"/>
                </a:solidFill>
                <a:latin typeface="Montserrat Classic"/>
              </a:rPr>
              <a:t>laporan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adalah</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lvl="1" indent="-457200" algn="just">
              <a:lnSpc>
                <a:spcPts val="2940"/>
              </a:lnSpc>
              <a:buFont typeface="+mj-lt"/>
              <a:buAutoNum type="arabicPeriod"/>
            </a:pPr>
            <a:r>
              <a:rPr lang="en-US" sz="2100" dirty="0">
                <a:solidFill>
                  <a:srgbClr val="000000"/>
                </a:solidFill>
                <a:latin typeface="Montserrat Classic"/>
              </a:rPr>
              <a:t>Perusahaan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menjamin</a:t>
            </a:r>
            <a:r>
              <a:rPr lang="en-US" sz="2100" dirty="0">
                <a:solidFill>
                  <a:srgbClr val="000000"/>
                </a:solidFill>
                <a:latin typeface="Montserrat Classic"/>
              </a:rPr>
              <a:t> </a:t>
            </a:r>
            <a:r>
              <a:rPr lang="en-US" sz="2100" dirty="0" err="1">
                <a:solidFill>
                  <a:srgbClr val="000000"/>
                </a:solidFill>
                <a:latin typeface="Montserrat Classic"/>
              </a:rPr>
              <a:t>sepenuhnya</a:t>
            </a:r>
            <a:r>
              <a:rPr lang="en-US" sz="2100" dirty="0">
                <a:solidFill>
                  <a:srgbClr val="000000"/>
                </a:solidFill>
                <a:latin typeface="Montserrat Classic"/>
              </a:rPr>
              <a:t> </a:t>
            </a:r>
            <a:r>
              <a:rPr lang="en-US" sz="2100" dirty="0" err="1">
                <a:solidFill>
                  <a:srgbClr val="000000"/>
                </a:solidFill>
                <a:latin typeface="Montserrat Classic"/>
              </a:rPr>
              <a:t>kerahasiaan</a:t>
            </a:r>
            <a:r>
              <a:rPr lang="en-US" sz="2100" dirty="0">
                <a:solidFill>
                  <a:srgbClr val="000000"/>
                </a:solidFill>
                <a:latin typeface="Montserrat Classic"/>
              </a:rPr>
              <a:t> </a:t>
            </a:r>
            <a:r>
              <a:rPr lang="en-US" sz="2100" dirty="0" err="1">
                <a:solidFill>
                  <a:srgbClr val="000000"/>
                </a:solidFill>
                <a:latin typeface="Montserrat Classic"/>
              </a:rPr>
              <a:t>identitas</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data yang </a:t>
            </a:r>
            <a:r>
              <a:rPr lang="en-US" sz="2100" dirty="0" err="1">
                <a:solidFill>
                  <a:srgbClr val="000000"/>
                </a:solidFill>
                <a:latin typeface="Montserrat Classic"/>
              </a:rPr>
              <a:t>dilaporkan</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melindungi</a:t>
            </a:r>
            <a:r>
              <a:rPr lang="en-US" sz="2100" dirty="0">
                <a:solidFill>
                  <a:srgbClr val="000000"/>
                </a:solidFill>
                <a:latin typeface="Montserrat Classic"/>
              </a:rPr>
              <a:t> </a:t>
            </a:r>
            <a:r>
              <a:rPr lang="en-US" sz="2100" dirty="0" err="1">
                <a:solidFill>
                  <a:srgbClr val="000000"/>
                </a:solidFill>
                <a:latin typeface="Montserrat Classic"/>
              </a:rPr>
              <a:t>pelapor</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kemungkinan</a:t>
            </a:r>
            <a:r>
              <a:rPr lang="en-US" sz="2100" dirty="0">
                <a:solidFill>
                  <a:srgbClr val="000000"/>
                </a:solidFill>
                <a:latin typeface="Montserrat Classic"/>
              </a:rPr>
              <a:t> </a:t>
            </a:r>
            <a:r>
              <a:rPr lang="en-US" sz="2100" dirty="0" err="1">
                <a:solidFill>
                  <a:srgbClr val="000000"/>
                </a:solidFill>
                <a:latin typeface="Montserrat Classic"/>
              </a:rPr>
              <a:t>ancaman</a:t>
            </a:r>
            <a:r>
              <a:rPr lang="en-US" sz="2100" dirty="0">
                <a:solidFill>
                  <a:srgbClr val="000000"/>
                </a:solidFill>
                <a:latin typeface="Montserrat Classic"/>
              </a:rPr>
              <a:t> </a:t>
            </a:r>
            <a:r>
              <a:rPr lang="en-US" sz="2100" dirty="0" err="1">
                <a:solidFill>
                  <a:srgbClr val="000000"/>
                </a:solidFill>
                <a:latin typeface="Montserrat Classic"/>
              </a:rPr>
              <a:t>fisik</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50</a:t>
            </a:r>
            <a:endParaRPr lang="en-US" sz="3319" dirty="0">
              <a:solidFill>
                <a:srgbClr val="000000"/>
              </a:solidFill>
              <a:latin typeface="Telegraf"/>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7818" y="767715"/>
            <a:ext cx="5103614" cy="35623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Montserrat Classic Bold"/>
              </a:rPr>
              <a:t>B. PELAPORAN ATAS PELANGGARAN </a:t>
            </a:r>
          </a:p>
        </p:txBody>
      </p:sp>
      <p:pic>
        <p:nvPicPr>
          <p:cNvPr id="3" name="Picture 3"/>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8905814" flipH="1">
            <a:off x="15873781" y="-2783348"/>
            <a:ext cx="11300655" cy="9184351"/>
          </a:xfrm>
          <a:prstGeom prst="rect">
            <a:avLst/>
          </a:prstGeom>
        </p:spPr>
      </p:pic>
      <p:sp>
        <p:nvSpPr>
          <p:cNvPr id="4" name="TextBox 4"/>
          <p:cNvSpPr txBox="1"/>
          <p:nvPr/>
        </p:nvSpPr>
        <p:spPr>
          <a:xfrm>
            <a:off x="1028700" y="1123950"/>
            <a:ext cx="15681994" cy="6671310"/>
          </a:xfrm>
          <a:prstGeom prst="rect">
            <a:avLst/>
          </a:prstGeom>
        </p:spPr>
        <p:txBody>
          <a:bodyPr lIns="0" tIns="0" rIns="0" bIns="0" rtlCol="0" anchor="t">
            <a:spAutoFit/>
          </a:bodyPr>
          <a:lstStyle/>
          <a:p>
            <a:pPr algn="just">
              <a:lnSpc>
                <a:spcPts val="2940"/>
              </a:lnSpc>
            </a:pPr>
            <a:endParaRPr dirty="0"/>
          </a:p>
          <a:p>
            <a:pPr marL="457200" indent="-457200" algn="just">
              <a:lnSpc>
                <a:spcPts val="2940"/>
              </a:lnSpc>
              <a:buFont typeface="+mj-lt"/>
              <a:buAutoNum type="arabicPeriod" startAt="2"/>
            </a:pPr>
            <a:r>
              <a:rPr lang="en-US" sz="2100" dirty="0" err="1">
                <a:solidFill>
                  <a:srgbClr val="000000"/>
                </a:solidFill>
                <a:latin typeface="Montserrat Classic"/>
              </a:rPr>
              <a:t>Pimpinan</a:t>
            </a:r>
            <a:r>
              <a:rPr lang="en-US" sz="2100" dirty="0">
                <a:solidFill>
                  <a:srgbClr val="000000"/>
                </a:solidFill>
                <a:latin typeface="Montserrat Classic"/>
              </a:rPr>
              <a:t> unit </a:t>
            </a:r>
            <a:r>
              <a:rPr lang="en-US" sz="2100" dirty="0" err="1">
                <a:solidFill>
                  <a:srgbClr val="000000"/>
                </a:solidFill>
                <a:latin typeface="Montserrat Classic"/>
              </a:rPr>
              <a:t>kerja</a:t>
            </a:r>
            <a:r>
              <a:rPr lang="en-US" sz="2100" dirty="0">
                <a:solidFill>
                  <a:srgbClr val="000000"/>
                </a:solidFill>
                <a:latin typeface="Montserrat Classic"/>
              </a:rPr>
              <a:t>/</a:t>
            </a:r>
            <a:r>
              <a:rPr lang="en-US" sz="2100" dirty="0" err="1">
                <a:solidFill>
                  <a:srgbClr val="000000"/>
                </a:solidFill>
                <a:latin typeface="Montserrat Classic"/>
              </a:rPr>
              <a:t>bagian</a:t>
            </a:r>
            <a:r>
              <a:rPr lang="en-US" sz="2100" dirty="0">
                <a:solidFill>
                  <a:srgbClr val="000000"/>
                </a:solidFill>
                <a:latin typeface="Montserrat Classic"/>
              </a:rPr>
              <a:t> yang </a:t>
            </a:r>
            <a:r>
              <a:rPr lang="en-US" sz="2100" dirty="0" err="1">
                <a:solidFill>
                  <a:srgbClr val="000000"/>
                </a:solidFill>
                <a:latin typeface="Montserrat Classic"/>
              </a:rPr>
              <a:t>menerima</a:t>
            </a:r>
            <a:r>
              <a:rPr lang="en-US" sz="2100" dirty="0">
                <a:solidFill>
                  <a:srgbClr val="000000"/>
                </a:solidFill>
                <a:latin typeface="Montserrat Classic"/>
              </a:rPr>
              <a:t> </a:t>
            </a:r>
            <a:r>
              <a:rPr lang="en-US" sz="2100" dirty="0" err="1">
                <a:solidFill>
                  <a:srgbClr val="000000"/>
                </a:solidFill>
                <a:latin typeface="Montserrat Classic"/>
              </a:rPr>
              <a:t>laporan</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Code of Conduct </a:t>
            </a:r>
            <a:r>
              <a:rPr lang="en-US" sz="2100" dirty="0" err="1">
                <a:solidFill>
                  <a:srgbClr val="000000"/>
                </a:solidFill>
                <a:latin typeface="Montserrat Classic"/>
              </a:rPr>
              <a:t>menyampaikan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&amp;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menangani</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yang </a:t>
            </a:r>
            <a:r>
              <a:rPr lang="en-US" sz="2100" dirty="0" err="1">
                <a:solidFill>
                  <a:srgbClr val="000000"/>
                </a:solidFill>
                <a:latin typeface="Montserrat Classic"/>
              </a:rPr>
              <a:t>dibentuk</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Direktur</a:t>
            </a:r>
            <a:r>
              <a:rPr lang="en-US" sz="2100" dirty="0">
                <a:solidFill>
                  <a:srgbClr val="000000"/>
                </a:solidFill>
                <a:latin typeface="Montserrat Classic"/>
              </a:rPr>
              <a:t> </a:t>
            </a:r>
            <a:r>
              <a:rPr lang="en-US" sz="2100" dirty="0" err="1">
                <a:solidFill>
                  <a:srgbClr val="000000"/>
                </a:solidFill>
                <a:latin typeface="Montserrat Classic"/>
              </a:rPr>
              <a:t>Utama</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selanjutnya</a:t>
            </a:r>
            <a:r>
              <a:rPr lang="en-US" sz="2100" dirty="0">
                <a:solidFill>
                  <a:srgbClr val="000000"/>
                </a:solidFill>
                <a:latin typeface="Montserrat Classic"/>
              </a:rPr>
              <a:t> </a:t>
            </a:r>
            <a:r>
              <a:rPr lang="en-US" sz="2100" dirty="0" err="1">
                <a:solidFill>
                  <a:srgbClr val="000000"/>
                </a:solidFill>
                <a:latin typeface="Montserrat Classic"/>
              </a:rPr>
              <a:t>diproses</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prosedur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mekanisme</a:t>
            </a:r>
            <a:r>
              <a:rPr lang="en-US" sz="2100" dirty="0">
                <a:solidFill>
                  <a:srgbClr val="000000"/>
                </a:solidFill>
                <a:latin typeface="Montserrat Classic"/>
              </a:rPr>
              <a:t>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berlaku</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marL="457200" indent="-457200" algn="just">
              <a:lnSpc>
                <a:spcPts val="2940"/>
              </a:lnSpc>
              <a:buFont typeface="+mj-lt"/>
              <a:buAutoNum type="arabicPeriod" startAt="3"/>
            </a:pPr>
            <a:r>
              <a:rPr lang="en-US" sz="2100" dirty="0" err="1">
                <a:solidFill>
                  <a:srgbClr val="000000"/>
                </a:solidFill>
                <a:latin typeface="Montserrat Classic"/>
              </a:rPr>
              <a:t>Insan</a:t>
            </a:r>
            <a:r>
              <a:rPr lang="en-US" sz="2100" dirty="0">
                <a:solidFill>
                  <a:srgbClr val="000000"/>
                </a:solidFill>
                <a:latin typeface="Montserrat Classic"/>
              </a:rPr>
              <a:t> Perusahaan yang </a:t>
            </a:r>
            <a:r>
              <a:rPr lang="en-US" sz="2100" dirty="0" err="1">
                <a:solidFill>
                  <a:srgbClr val="000000"/>
                </a:solidFill>
                <a:latin typeface="Montserrat Classic"/>
              </a:rPr>
              <a:t>diduga</a:t>
            </a:r>
            <a:r>
              <a:rPr lang="en-US" sz="2100" dirty="0">
                <a:solidFill>
                  <a:srgbClr val="000000"/>
                </a:solidFill>
                <a:latin typeface="Montserrat Classic"/>
              </a:rPr>
              <a:t> </a:t>
            </a:r>
            <a:r>
              <a:rPr lang="en-US" sz="2100" dirty="0" err="1">
                <a:solidFill>
                  <a:srgbClr val="000000"/>
                </a:solidFill>
                <a:latin typeface="Montserrat Classic"/>
              </a:rPr>
              <a:t>melanggar</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melakukan</a:t>
            </a:r>
            <a:r>
              <a:rPr lang="en-US" sz="2100" dirty="0">
                <a:solidFill>
                  <a:srgbClr val="000000"/>
                </a:solidFill>
                <a:latin typeface="Montserrat Classic"/>
              </a:rPr>
              <a:t> </a:t>
            </a:r>
            <a:r>
              <a:rPr lang="en-US" sz="2100" dirty="0" err="1">
                <a:solidFill>
                  <a:srgbClr val="000000"/>
                </a:solidFill>
                <a:latin typeface="Montserrat Classic"/>
              </a:rPr>
              <a:t>penyimpangan</a:t>
            </a:r>
            <a:r>
              <a:rPr lang="en-US" sz="2100" dirty="0">
                <a:solidFill>
                  <a:srgbClr val="000000"/>
                </a:solidFill>
                <a:latin typeface="Montserrat Classic"/>
              </a:rPr>
              <a:t> Code of Conduct </a:t>
            </a:r>
            <a:r>
              <a:rPr lang="en-US" sz="2100" dirty="0" err="1">
                <a:solidFill>
                  <a:srgbClr val="000000"/>
                </a:solidFill>
                <a:latin typeface="Montserrat Classic"/>
              </a:rPr>
              <a:t>diberikan</a:t>
            </a:r>
            <a:r>
              <a:rPr lang="en-US" sz="2100" dirty="0">
                <a:solidFill>
                  <a:srgbClr val="000000"/>
                </a:solidFill>
                <a:latin typeface="Montserrat Classic"/>
              </a:rPr>
              <a:t> </a:t>
            </a:r>
            <a:r>
              <a:rPr lang="en-US" sz="2100" dirty="0" err="1">
                <a:solidFill>
                  <a:srgbClr val="000000"/>
                </a:solidFill>
                <a:latin typeface="Montserrat Classic"/>
              </a:rPr>
              <a:t>hak</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didengar</a:t>
            </a:r>
            <a:r>
              <a:rPr lang="en-US" sz="2100" dirty="0">
                <a:solidFill>
                  <a:srgbClr val="000000"/>
                </a:solidFill>
                <a:latin typeface="Montserrat Classic"/>
              </a:rPr>
              <a:t> </a:t>
            </a:r>
            <a:r>
              <a:rPr lang="en-US" sz="2100" dirty="0" err="1">
                <a:solidFill>
                  <a:srgbClr val="000000"/>
                </a:solidFill>
                <a:latin typeface="Montserrat Classic"/>
              </a:rPr>
              <a:t>penjelasannya</a:t>
            </a:r>
            <a:r>
              <a:rPr lang="en-US" sz="2100" dirty="0">
                <a:solidFill>
                  <a:srgbClr val="000000"/>
                </a:solidFill>
                <a:latin typeface="Montserrat Classic"/>
              </a:rPr>
              <a:t> </a:t>
            </a:r>
            <a:r>
              <a:rPr lang="en-US" sz="2100" dirty="0" err="1">
                <a:solidFill>
                  <a:srgbClr val="000000"/>
                </a:solidFill>
                <a:latin typeface="Montserrat Classic"/>
              </a:rPr>
              <a:t>maupun</a:t>
            </a:r>
            <a:r>
              <a:rPr lang="en-US" sz="2100" dirty="0">
                <a:solidFill>
                  <a:srgbClr val="000000"/>
                </a:solidFill>
                <a:latin typeface="Montserrat Classic"/>
              </a:rPr>
              <a:t> </a:t>
            </a:r>
            <a:r>
              <a:rPr lang="en-US" sz="2100" dirty="0" err="1">
                <a:solidFill>
                  <a:srgbClr val="000000"/>
                </a:solidFill>
                <a:latin typeface="Montserrat Classic"/>
              </a:rPr>
              <a:t>menyatakan</a:t>
            </a:r>
            <a:r>
              <a:rPr lang="en-US" sz="2100" dirty="0">
                <a:solidFill>
                  <a:srgbClr val="000000"/>
                </a:solidFill>
                <a:latin typeface="Montserrat Classic"/>
              </a:rPr>
              <a:t> </a:t>
            </a:r>
            <a:r>
              <a:rPr lang="en-US" sz="2100" dirty="0" err="1">
                <a:solidFill>
                  <a:srgbClr val="000000"/>
                </a:solidFill>
                <a:latin typeface="Montserrat Classic"/>
              </a:rPr>
              <a:t>pendapatnya</a:t>
            </a:r>
            <a:r>
              <a:rPr lang="en-US" sz="2100" dirty="0">
                <a:solidFill>
                  <a:srgbClr val="000000"/>
                </a:solidFill>
                <a:latin typeface="Montserrat Classic"/>
              </a:rPr>
              <a:t> </a:t>
            </a:r>
            <a:r>
              <a:rPr lang="en-US" sz="2100" dirty="0" err="1">
                <a:solidFill>
                  <a:srgbClr val="000000"/>
                </a:solidFill>
                <a:latin typeface="Montserrat Classic"/>
              </a:rPr>
              <a:t>sebelum</a:t>
            </a:r>
            <a:r>
              <a:rPr lang="en-US" sz="2100" dirty="0">
                <a:solidFill>
                  <a:srgbClr val="000000"/>
                </a:solidFill>
                <a:latin typeface="Montserrat Classic"/>
              </a:rPr>
              <a:t> </a:t>
            </a:r>
            <a:r>
              <a:rPr lang="en-US" sz="2100" dirty="0" err="1">
                <a:solidFill>
                  <a:srgbClr val="000000"/>
                </a:solidFill>
                <a:latin typeface="Montserrat Classic"/>
              </a:rPr>
              <a:t>diputuskan</a:t>
            </a:r>
            <a:r>
              <a:rPr lang="en-US" sz="2100" dirty="0">
                <a:solidFill>
                  <a:srgbClr val="000000"/>
                </a:solidFill>
                <a:latin typeface="Montserrat Classic"/>
              </a:rPr>
              <a:t> </a:t>
            </a:r>
            <a:r>
              <a:rPr lang="en-US" sz="2100" dirty="0" err="1">
                <a:solidFill>
                  <a:srgbClr val="000000"/>
                </a:solidFill>
                <a:latin typeface="Montserrat Classic"/>
              </a:rPr>
              <a:t>sanksi</a:t>
            </a:r>
            <a:r>
              <a:rPr lang="en-US" sz="2100" dirty="0">
                <a:solidFill>
                  <a:srgbClr val="000000"/>
                </a:solidFill>
                <a:latin typeface="Montserrat Classic"/>
              </a:rPr>
              <a:t> </a:t>
            </a:r>
            <a:r>
              <a:rPr lang="en-US" sz="2100" dirty="0" err="1">
                <a:solidFill>
                  <a:srgbClr val="000000"/>
                </a:solidFill>
                <a:latin typeface="Montserrat Classic"/>
              </a:rPr>
              <a:t>pemberian</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hukuman</a:t>
            </a: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marL="457200" indent="-457200" algn="just">
              <a:lnSpc>
                <a:spcPts val="2940"/>
              </a:lnSpc>
              <a:buFont typeface="+mj-lt"/>
              <a:buAutoNum type="arabicPeriod" startAt="4"/>
            </a:pPr>
            <a:r>
              <a:rPr lang="en-US" sz="2100" dirty="0" err="1">
                <a:solidFill>
                  <a:srgbClr val="000000"/>
                </a:solidFill>
                <a:latin typeface="Montserrat Classic"/>
              </a:rPr>
              <a:t>Direktur</a:t>
            </a:r>
            <a:r>
              <a:rPr lang="en-US" sz="2100" dirty="0">
                <a:solidFill>
                  <a:srgbClr val="000000"/>
                </a:solidFill>
                <a:latin typeface="Montserrat Classic"/>
              </a:rPr>
              <a:t> </a:t>
            </a:r>
            <a:r>
              <a:rPr lang="en-US" sz="2100" dirty="0" err="1">
                <a:solidFill>
                  <a:srgbClr val="000000"/>
                </a:solidFill>
                <a:latin typeface="Montserrat Classic"/>
              </a:rPr>
              <a:t>Umum</a:t>
            </a:r>
            <a:r>
              <a:rPr lang="en-US" sz="2100" dirty="0">
                <a:solidFill>
                  <a:srgbClr val="000000"/>
                </a:solidFill>
                <a:latin typeface="Montserrat Classic"/>
              </a:rPr>
              <a:t> </a:t>
            </a:r>
            <a:r>
              <a:rPr lang="en-US" sz="2100" dirty="0" err="1">
                <a:solidFill>
                  <a:srgbClr val="000000"/>
                </a:solidFill>
                <a:latin typeface="Montserrat Classic"/>
              </a:rPr>
              <a:t>memonitor</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proses </a:t>
            </a:r>
            <a:r>
              <a:rPr lang="en-US" sz="2100" dirty="0" err="1">
                <a:solidFill>
                  <a:srgbClr val="000000"/>
                </a:solidFill>
                <a:latin typeface="Montserrat Classic"/>
              </a:rPr>
              <a:t>penanganan</a:t>
            </a:r>
            <a:r>
              <a:rPr lang="en-US" sz="2100" dirty="0">
                <a:solidFill>
                  <a:srgbClr val="000000"/>
                </a:solidFill>
                <a:latin typeface="Montserrat Classic"/>
              </a:rPr>
              <a:t> </a:t>
            </a:r>
            <a:r>
              <a:rPr lang="en-US" sz="2100" dirty="0" err="1">
                <a:solidFill>
                  <a:srgbClr val="000000"/>
                </a:solidFill>
                <a:latin typeface="Montserrat Classic"/>
              </a:rPr>
              <a:t>pengaduan</a:t>
            </a:r>
            <a:r>
              <a:rPr lang="en-US" sz="2100" dirty="0">
                <a:solidFill>
                  <a:srgbClr val="000000"/>
                </a:solidFill>
                <a:latin typeface="Montserrat Classic"/>
              </a:rPr>
              <a:t> yang </a:t>
            </a:r>
            <a:r>
              <a:rPr lang="en-US" sz="2100" dirty="0" err="1">
                <a:solidFill>
                  <a:srgbClr val="000000"/>
                </a:solidFill>
                <a:latin typeface="Montserrat Classic"/>
              </a:rPr>
              <a:t>dilakukan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&amp;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yang </a:t>
            </a:r>
            <a:r>
              <a:rPr lang="en-US" sz="2100" dirty="0" err="1">
                <a:solidFill>
                  <a:srgbClr val="000000"/>
                </a:solidFill>
                <a:latin typeface="Montserrat Classic"/>
              </a:rPr>
              <a:t>menangani</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pelaksanaan</a:t>
            </a:r>
            <a:r>
              <a:rPr lang="en-US" sz="2100" dirty="0">
                <a:solidFill>
                  <a:srgbClr val="000000"/>
                </a:solidFill>
                <a:latin typeface="Montserrat Classic"/>
              </a:rPr>
              <a:t> </a:t>
            </a:r>
            <a:r>
              <a:rPr lang="en-US" sz="2100" dirty="0" err="1">
                <a:solidFill>
                  <a:srgbClr val="000000"/>
                </a:solidFill>
                <a:latin typeface="Montserrat Classic"/>
              </a:rPr>
              <a:t>sanksi</a:t>
            </a:r>
            <a:r>
              <a:rPr lang="en-US" sz="2100" dirty="0">
                <a:solidFill>
                  <a:srgbClr val="000000"/>
                </a:solidFill>
                <a:latin typeface="Montserrat Classic"/>
              </a:rPr>
              <a:t>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dijatuhkan</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5" name="TextBox 5"/>
          <p:cNvSpPr txBox="1"/>
          <p:nvPr/>
        </p:nvSpPr>
        <p:spPr>
          <a:xfrm>
            <a:off x="17023761" y="9153525"/>
            <a:ext cx="554385"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51</a:t>
            </a:r>
            <a:endParaRPr lang="en-US" sz="3319" dirty="0">
              <a:solidFill>
                <a:srgbClr val="000000"/>
              </a:solidFill>
              <a:latin typeface="Telegraf"/>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6844518" y="9469217"/>
            <a:ext cx="11300655" cy="9184351"/>
          </a:xfrm>
          <a:prstGeom prst="rect">
            <a:avLst/>
          </a:prstGeom>
        </p:spPr>
      </p:pic>
      <p:sp>
        <p:nvSpPr>
          <p:cNvPr id="5" name="TextBox 5"/>
          <p:cNvSpPr txBox="1"/>
          <p:nvPr/>
        </p:nvSpPr>
        <p:spPr>
          <a:xfrm>
            <a:off x="1268656" y="709501"/>
            <a:ext cx="15990644" cy="15586710"/>
          </a:xfrm>
          <a:prstGeom prst="rect">
            <a:avLst/>
          </a:prstGeom>
        </p:spPr>
        <p:txBody>
          <a:bodyPr lIns="0" tIns="0" rIns="0" bIns="0" rtlCol="0" anchor="t">
            <a:spAutoFit/>
          </a:bodyPr>
          <a:lstStyle/>
          <a:p>
            <a:pPr algn="just">
              <a:lnSpc>
                <a:spcPts val="2940"/>
              </a:lnSpc>
            </a:pPr>
            <a:r>
              <a:rPr lang="en-US" sz="2100">
                <a:solidFill>
                  <a:srgbClr val="000000"/>
                </a:solidFill>
                <a:latin typeface="Montserrat Classic Bold"/>
              </a:rPr>
              <a:t>C. PENANGANAN PELANGGARAN </a:t>
            </a:r>
          </a:p>
          <a:p>
            <a:pPr algn="just">
              <a:lnSpc>
                <a:spcPts val="2940"/>
              </a:lnSpc>
            </a:pPr>
            <a:endParaRPr lang="en-US" sz="2100">
              <a:solidFill>
                <a:srgbClr val="000000"/>
              </a:solidFill>
              <a:latin typeface="Montserrat Classic Bold"/>
            </a:endParaRPr>
          </a:p>
          <a:p>
            <a:pPr algn="just">
              <a:lnSpc>
                <a:spcPts val="2940"/>
              </a:lnSpc>
            </a:pPr>
            <a:r>
              <a:rPr lang="en-US" sz="2100">
                <a:solidFill>
                  <a:srgbClr val="000000"/>
                </a:solidFill>
                <a:latin typeface="Montserrat Classic"/>
              </a:rPr>
              <a:t>Setiap dugaan pelanggaran yang dilaporkan akan ditindaklanjuti melalui pengkajian atau pemeriksaan lebih lanjut guna proses pembuktian dan penentuan bobot pelanggaran serta sebagai bahan pertimbangan dalam pemberian tindakan disiplin atau sanksi.</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Penanganan atas dugaan pelanggaran dilakukan oleh Komite Etika Bisnis &amp; Etika Kerja yang diberi tugas menangani pelanggaran kode etik dan dibentuk oleh Direktur Utama. Komite Etika Bisnis &amp; Etika Kerja yang menangani pelanggaran mengkaji, melakukan verifikasi dan melaksanakan penyelidikan atas informasi penyimpangan yang diterimanya. Hasil dari kajian Komite tersebut berupa kesimpulan yang merupakan usulan tindakan-tindakan pembinaan, hukuman disiplin, tindakan perbaikan lainnya yang kemudian disampaikan kepada Direktur Umum untuk dikaji antara kesesuaian keputusan yang diambil dengan kebijakan atau aturan yang berlaku. Jika hasil kajian telah sesuai dengan kebijakan maupun aturan yang berlaku, maka hasil kajian tersebut disampaikan kepada Direktur Utama untuk mendapatkan persetujuan mengenai tindakan yang akan diambil.</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Jika dugaan pelanggaran yang dilakukan memerlukan pemeriksaan lebih lanjut, maka sebelum usulan sanksi diputuskan Komite Etika Bisnis &amp; Etika Kerja, Direktur Utama dapat memerintahkan Satuan Pengawasan Intern (SPI) untuk melakukan pemeriksaan investigasi dan hasilnya disampaikan kepada Direktur Utama dengan tembusan kepada Direktur Umum dan Komite Etika Bisnis &amp; Etika Kerja yang ditugasi menangani pelanggaran.</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Insan Perusahaan yang diduga melanggar atau melakukan penyimpangan Code of Conduct diberikan hak untuk didengar penjelasannya oleh Komite Etika Bisnis &amp; Etika Kerja yang ditugasi menangani pelanggaran sebelum diputuskan pemberian sanksi tindakan atau hukuman disiplin.</a:t>
            </a: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52</a:t>
            </a:r>
            <a:endParaRPr lang="en-US" sz="3319" dirty="0">
              <a:solidFill>
                <a:srgbClr val="000000"/>
              </a:solidFill>
              <a:latin typeface="Telegraf"/>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268656" y="605854"/>
            <a:ext cx="15990644" cy="17167860"/>
          </a:xfrm>
          <a:prstGeom prst="rect">
            <a:avLst/>
          </a:prstGeom>
        </p:spPr>
        <p:txBody>
          <a:bodyPr lIns="0" tIns="0" rIns="0" bIns="0" rtlCol="0" anchor="t">
            <a:spAutoFit/>
          </a:bodyPr>
          <a:lstStyle/>
          <a:p>
            <a:pPr algn="just">
              <a:lnSpc>
                <a:spcPts val="2940"/>
              </a:lnSpc>
            </a:pPr>
            <a:r>
              <a:rPr lang="en-US" sz="2100">
                <a:solidFill>
                  <a:srgbClr val="000000"/>
                </a:solidFill>
                <a:latin typeface="Montserrat Classic Bold"/>
              </a:rPr>
              <a:t>D. SANKSI &amp; PENGHARGAAN </a:t>
            </a:r>
          </a:p>
          <a:p>
            <a:pPr algn="just">
              <a:lnSpc>
                <a:spcPts val="2940"/>
              </a:lnSpc>
            </a:pPr>
            <a:endParaRPr lang="en-US" sz="2100">
              <a:solidFill>
                <a:srgbClr val="000000"/>
              </a:solidFill>
              <a:latin typeface="Montserrat Classic Bold"/>
            </a:endParaRPr>
          </a:p>
          <a:p>
            <a:pPr algn="just">
              <a:lnSpc>
                <a:spcPts val="2940"/>
              </a:lnSpc>
            </a:pPr>
            <a:r>
              <a:rPr lang="en-US" sz="2100">
                <a:solidFill>
                  <a:srgbClr val="000000"/>
                </a:solidFill>
                <a:latin typeface="Montserrat Classic"/>
              </a:rPr>
              <a:t>Perusahaan memberikan sanksi yang tegas dan konsisten kepada Insan Perusahaan yang melakukan pelanggaran Pedoman Etika Bisnis dan Etika Kerja (Code of Conduct) sesuai dengan ketentuan yang berlaku. Pengenaan sanksi atas bentuk-bentuk pelanggaran yang dilakukan oleh Komisaris dan Direksi, berpedoman pada anggaran dasar Perusahaan dan keputusan RUPS. Sedangkan pengenaan sanksi terhadap Karyawan Perusahaan dilakukan sesuai dengan kesepakatan dalam Peraturan Disiplin Pegawai (PDP) maupun aturan kepegawaian yang berlaku.</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Pelaporan adanya dugaan pelanggaran yang dilakukan oleh Insan Perusahaan disertai dengan bukti-bukti pelanggaran dapat dikenakan sanksi sesuai dengan ketentuan yang berlaku.</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Selain sanksi yang dijatuhkan kepada Insan Perusahaan yang melanggar, Perusahaan juga dapat memberikan penghargaan kepada Insan Perusahaan yang melakukan hal-hal sebagai berikut:</a:t>
            </a:r>
          </a:p>
          <a:p>
            <a:pPr algn="just">
              <a:lnSpc>
                <a:spcPts val="2940"/>
              </a:lnSpc>
            </a:pPr>
            <a:endParaRPr lang="en-US" sz="2100">
              <a:solidFill>
                <a:srgbClr val="000000"/>
              </a:solidFill>
              <a:latin typeface="Montserrat Classic"/>
            </a:endParaRPr>
          </a:p>
          <a:p>
            <a:pPr marL="453390" lvl="1" indent="-226695" algn="just">
              <a:lnSpc>
                <a:spcPts val="3759"/>
              </a:lnSpc>
              <a:buFont typeface="Arial"/>
              <a:buChar char="•"/>
            </a:pPr>
            <a:r>
              <a:rPr lang="en-US" sz="2100">
                <a:solidFill>
                  <a:srgbClr val="000000"/>
                </a:solidFill>
                <a:latin typeface="Montserrat Classic"/>
              </a:rPr>
              <a:t>Melakukan efisiensi dan menyelamatkan uang dan harta Perusahaan.</a:t>
            </a:r>
          </a:p>
          <a:p>
            <a:pPr marL="453390" lvl="1" indent="-226695" algn="just">
              <a:lnSpc>
                <a:spcPts val="3759"/>
              </a:lnSpc>
              <a:buFont typeface="Arial"/>
              <a:buChar char="•"/>
            </a:pPr>
            <a:r>
              <a:rPr lang="en-US" sz="2100">
                <a:solidFill>
                  <a:srgbClr val="000000"/>
                </a:solidFill>
                <a:latin typeface="Montserrat Classic"/>
              </a:rPr>
              <a:t>Membawa/mengangkat nama baik Perusahaan di dalam maupun di luar Perusahaan.</a:t>
            </a:r>
          </a:p>
          <a:p>
            <a:pPr marL="453390" lvl="1" indent="-226695" algn="just">
              <a:lnSpc>
                <a:spcPts val="3759"/>
              </a:lnSpc>
              <a:buFont typeface="Arial"/>
              <a:buChar char="•"/>
            </a:pPr>
            <a:r>
              <a:rPr lang="en-US" sz="2100">
                <a:solidFill>
                  <a:srgbClr val="000000"/>
                </a:solidFill>
                <a:latin typeface="Montserrat Classic"/>
              </a:rPr>
              <a:t>Melaporkan dan membuktikan adanya penyimpangan dalam Perusahaan.</a:t>
            </a:r>
          </a:p>
          <a:p>
            <a:pPr algn="just">
              <a:lnSpc>
                <a:spcPts val="3759"/>
              </a:lnSpc>
            </a:pPr>
            <a:endParaRPr lang="en-US" sz="2100">
              <a:solidFill>
                <a:srgbClr val="000000"/>
              </a:solidFill>
              <a:latin typeface="Montserrat Classic"/>
            </a:endParaRPr>
          </a:p>
          <a:p>
            <a:pPr algn="just">
              <a:lnSpc>
                <a:spcPts val="3759"/>
              </a:lnSpc>
            </a:pPr>
            <a:r>
              <a:rPr lang="en-US" sz="2100">
                <a:solidFill>
                  <a:srgbClr val="000000"/>
                </a:solidFill>
                <a:latin typeface="Montserrat Classic"/>
              </a:rPr>
              <a:t>Sebagai bentuk komitmen terhadap ketaatan Pedoman Etika Bisnis dan Etika Kerja (Code of Conduct), setiap awal tahun Insan Perusahaan berkewajiban menandatangani surat pernyataan kesanggupan untuk mentaati dan melaksanakan Code of Conduct secara konsisten dan penuh tanggung jawab. Pernyataan kepatuhan merupakan salah satu syarat kelanjutan hubungan kerja dengan Perusahaan.</a:t>
            </a: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p:txBody>
      </p:sp>
      <p:pic>
        <p:nvPicPr>
          <p:cNvPr id="6" name="Picture 6"/>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15873781" y="-2783348"/>
            <a:ext cx="11300655" cy="9184351"/>
          </a:xfrm>
          <a:prstGeom prst="rect">
            <a:avLst/>
          </a:prstGeom>
        </p:spPr>
      </p:pic>
      <p:sp>
        <p:nvSpPr>
          <p:cNvPr id="8"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53</a:t>
            </a:r>
            <a:endParaRPr lang="en-US" sz="3319" dirty="0">
              <a:solidFill>
                <a:srgbClr val="000000"/>
              </a:solidFill>
              <a:latin typeface="Telegraf"/>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50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111642">
            <a:off x="-4592276" y="1439326"/>
            <a:ext cx="10443683" cy="8487866"/>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318441" y="9258300"/>
            <a:ext cx="9727319" cy="3106962"/>
          </a:xfrm>
          <a:prstGeom prst="rect">
            <a:avLst/>
          </a:prstGeom>
        </p:spPr>
      </p:pic>
      <p:pic>
        <p:nvPicPr>
          <p:cNvPr id="4" name="Picture 4"/>
          <p:cNvPicPr>
            <a:picLocks noChangeAspect="1"/>
          </p:cNvPicPr>
          <p:nvPr/>
        </p:nvPicPr>
        <p:blipFill>
          <a:blip r:embed="rId6"/>
          <a:srcRect/>
          <a:stretch>
            <a:fillRect/>
          </a:stretch>
        </p:blipFill>
        <p:spPr>
          <a:xfrm>
            <a:off x="15344124" y="688889"/>
            <a:ext cx="2614232" cy="1120385"/>
          </a:xfrm>
          <a:prstGeom prst="rect">
            <a:avLst/>
          </a:prstGeom>
        </p:spPr>
      </p:pic>
      <p:sp>
        <p:nvSpPr>
          <p:cNvPr id="5" name="TextBox 5"/>
          <p:cNvSpPr txBox="1"/>
          <p:nvPr/>
        </p:nvSpPr>
        <p:spPr>
          <a:xfrm>
            <a:off x="1684876" y="4880291"/>
            <a:ext cx="14994449" cy="802968"/>
          </a:xfrm>
          <a:prstGeom prst="rect">
            <a:avLst/>
          </a:prstGeom>
        </p:spPr>
        <p:txBody>
          <a:bodyPr lIns="0" tIns="0" rIns="0" bIns="0" rtlCol="0" anchor="t">
            <a:spAutoFit/>
          </a:bodyPr>
          <a:lstStyle/>
          <a:p>
            <a:pPr>
              <a:lnSpc>
                <a:spcPts val="5986"/>
              </a:lnSpc>
            </a:pPr>
            <a:r>
              <a:rPr lang="en-US" sz="6047">
                <a:solidFill>
                  <a:srgbClr val="2BB4D4"/>
                </a:solidFill>
                <a:latin typeface="Montserrat Classic Bold"/>
              </a:rPr>
              <a:t>V. PENUTUP</a:t>
            </a:r>
          </a:p>
        </p:txBody>
      </p:sp>
      <p:sp>
        <p:nvSpPr>
          <p:cNvPr id="6"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54</a:t>
            </a:r>
            <a:endParaRPr lang="en-US" sz="3319" dirty="0">
              <a:solidFill>
                <a:srgbClr val="000000"/>
              </a:solidFill>
              <a:latin typeface="Telegraf"/>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383954" y="222474"/>
            <a:ext cx="15614982" cy="16386858"/>
          </a:xfrm>
          <a:prstGeom prst="rect">
            <a:avLst/>
          </a:prstGeom>
        </p:spPr>
        <p:txBody>
          <a:bodyPr lIns="0" tIns="0" rIns="0" bIns="0" rtlCol="0" anchor="t">
            <a:spAutoFit/>
          </a:bodyPr>
          <a:lstStyle/>
          <a:p>
            <a:pPr algn="just">
              <a:lnSpc>
                <a:spcPts val="2940"/>
              </a:lnSpc>
            </a:pPr>
            <a:endParaRPr dirty="0"/>
          </a:p>
          <a:p>
            <a:pPr algn="just">
              <a:lnSpc>
                <a:spcPts val="2940"/>
              </a:lnSpc>
            </a:pPr>
            <a:endParaRPr dirty="0"/>
          </a:p>
          <a:p>
            <a:pPr algn="just">
              <a:lnSpc>
                <a:spcPts val="3359"/>
              </a:lnSpc>
            </a:pPr>
            <a:r>
              <a:rPr lang="en-US" sz="2400" dirty="0">
                <a:solidFill>
                  <a:srgbClr val="000000"/>
                </a:solidFill>
                <a:latin typeface="Montserrat Classic Bold"/>
              </a:rPr>
              <a:t>A. </a:t>
            </a:r>
            <a:r>
              <a:rPr lang="en-US" sz="2400" dirty="0" err="1">
                <a:solidFill>
                  <a:srgbClr val="000000"/>
                </a:solidFill>
                <a:latin typeface="Montserrat Classic Bold"/>
              </a:rPr>
              <a:t>Penerapan</a:t>
            </a:r>
            <a:r>
              <a:rPr lang="en-US" sz="2400" dirty="0">
                <a:solidFill>
                  <a:srgbClr val="000000"/>
                </a:solidFill>
                <a:latin typeface="Montserrat Classic Bold"/>
              </a:rPr>
              <a:t> </a:t>
            </a:r>
            <a:r>
              <a:rPr lang="en-US" sz="2400" dirty="0" err="1">
                <a:solidFill>
                  <a:srgbClr val="000000"/>
                </a:solidFill>
                <a:latin typeface="Montserrat Classic Bold"/>
              </a:rPr>
              <a:t>dan</a:t>
            </a:r>
            <a:r>
              <a:rPr lang="en-US" sz="2400" dirty="0">
                <a:solidFill>
                  <a:srgbClr val="000000"/>
                </a:solidFill>
                <a:latin typeface="Montserrat Classic Bold"/>
              </a:rPr>
              <a:t> </a:t>
            </a:r>
            <a:r>
              <a:rPr lang="en-US" sz="2400" dirty="0" err="1">
                <a:solidFill>
                  <a:srgbClr val="000000"/>
                </a:solidFill>
                <a:latin typeface="Montserrat Classic Bold"/>
              </a:rPr>
              <a:t>pengembangan</a:t>
            </a:r>
            <a:r>
              <a:rPr lang="en-US" sz="2400" dirty="0">
                <a:solidFill>
                  <a:srgbClr val="000000"/>
                </a:solidFill>
                <a:latin typeface="Montserrat Classic Bold"/>
              </a:rPr>
              <a:t> </a:t>
            </a:r>
          </a:p>
          <a:p>
            <a:pPr algn="just">
              <a:lnSpc>
                <a:spcPts val="2940"/>
              </a:lnSpc>
            </a:pPr>
            <a:endParaRPr lang="en-US" sz="2400" dirty="0">
              <a:solidFill>
                <a:srgbClr val="000000"/>
              </a:solidFill>
              <a:latin typeface="Montserrat Classic Bold"/>
            </a:endParaRPr>
          </a:p>
          <a:p>
            <a:pPr algn="just">
              <a:lnSpc>
                <a:spcPts val="2940"/>
              </a:lnSpc>
            </a:pP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ini</a:t>
            </a:r>
            <a:r>
              <a:rPr lang="en-US" sz="2100" dirty="0">
                <a:solidFill>
                  <a:srgbClr val="000000"/>
                </a:solidFill>
                <a:latin typeface="Montserrat Classic"/>
              </a:rPr>
              <a:t>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bagian</a:t>
            </a:r>
            <a:r>
              <a:rPr lang="en-US" sz="2100" dirty="0">
                <a:solidFill>
                  <a:srgbClr val="000000"/>
                </a:solidFill>
                <a:latin typeface="Montserrat Classic"/>
              </a:rPr>
              <a:t> </a:t>
            </a:r>
            <a:r>
              <a:rPr lang="en-US" sz="2100" dirty="0" err="1">
                <a:solidFill>
                  <a:srgbClr val="000000"/>
                </a:solidFill>
                <a:latin typeface="Montserrat Classic"/>
              </a:rPr>
              <a:t>tak</a:t>
            </a:r>
            <a:r>
              <a:rPr lang="en-US" sz="2100" dirty="0">
                <a:solidFill>
                  <a:srgbClr val="000000"/>
                </a:solidFill>
                <a:latin typeface="Montserrat Classic"/>
              </a:rPr>
              <a:t> </a:t>
            </a:r>
            <a:r>
              <a:rPr lang="en-US" sz="2100" dirty="0" err="1">
                <a:solidFill>
                  <a:srgbClr val="000000"/>
                </a:solidFill>
                <a:latin typeface="Montserrat Classic"/>
              </a:rPr>
              <a:t>terpisahkan</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Tata </a:t>
            </a:r>
            <a:r>
              <a:rPr lang="en-US" sz="2100" dirty="0" err="1">
                <a:solidFill>
                  <a:srgbClr val="000000"/>
                </a:solidFill>
                <a:latin typeface="Montserrat Classic"/>
              </a:rPr>
              <a:t>Kelola</a:t>
            </a:r>
            <a:r>
              <a:rPr lang="en-US" sz="2100" dirty="0">
                <a:solidFill>
                  <a:srgbClr val="000000"/>
                </a:solidFill>
                <a:latin typeface="Montserrat Classic"/>
              </a:rPr>
              <a:t> Perusahaan yang </a:t>
            </a:r>
            <a:r>
              <a:rPr lang="en-US" sz="2100" dirty="0" err="1">
                <a:solidFill>
                  <a:srgbClr val="000000"/>
                </a:solidFill>
                <a:latin typeface="Montserrat Classic"/>
              </a:rPr>
              <a:t>baik</a:t>
            </a:r>
            <a:r>
              <a:rPr lang="en-US" sz="2100" dirty="0">
                <a:solidFill>
                  <a:srgbClr val="000000"/>
                </a:solidFill>
                <a:latin typeface="Montserrat Classic"/>
              </a:rPr>
              <a:t> (GCG). Perusahaan </a:t>
            </a:r>
            <a:r>
              <a:rPr lang="en-US" sz="2100" dirty="0" err="1">
                <a:solidFill>
                  <a:srgbClr val="000000"/>
                </a:solidFill>
                <a:latin typeface="Montserrat Classic"/>
              </a:rPr>
              <a:t>mengharapkan</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selalu</a:t>
            </a:r>
            <a:r>
              <a:rPr lang="en-US" sz="2100" dirty="0">
                <a:solidFill>
                  <a:srgbClr val="000000"/>
                </a:solidFill>
                <a:latin typeface="Montserrat Classic"/>
              </a:rPr>
              <a:t> </a:t>
            </a:r>
            <a:r>
              <a:rPr lang="en-US" sz="2100" dirty="0" err="1">
                <a:solidFill>
                  <a:srgbClr val="000000"/>
                </a:solidFill>
                <a:latin typeface="Montserrat Classic"/>
              </a:rPr>
              <a:t>berfikir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bertindak</a:t>
            </a:r>
            <a:r>
              <a:rPr lang="en-US" sz="2100" dirty="0">
                <a:solidFill>
                  <a:srgbClr val="000000"/>
                </a:solidFill>
                <a:latin typeface="Montserrat Classic"/>
              </a:rPr>
              <a:t> </a:t>
            </a:r>
            <a:r>
              <a:rPr lang="en-US" sz="2100" dirty="0" err="1">
                <a:solidFill>
                  <a:srgbClr val="000000"/>
                </a:solidFill>
                <a:latin typeface="Montserrat Classic"/>
              </a:rPr>
              <a:t>secara</a:t>
            </a:r>
            <a:r>
              <a:rPr lang="en-US" sz="2100" dirty="0">
                <a:solidFill>
                  <a:srgbClr val="000000"/>
                </a:solidFill>
                <a:latin typeface="Montserrat Classic"/>
              </a:rPr>
              <a:t> </a:t>
            </a:r>
            <a:r>
              <a:rPr lang="en-US" sz="2100" dirty="0" err="1">
                <a:solidFill>
                  <a:srgbClr val="000000"/>
                </a:solidFill>
                <a:latin typeface="Montserrat Classic"/>
              </a:rPr>
              <a:t>benar</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tepat</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situasi</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kondisi</a:t>
            </a:r>
            <a:r>
              <a:rPr lang="en-US" sz="2100" dirty="0">
                <a:solidFill>
                  <a:srgbClr val="000000"/>
                </a:solidFill>
                <a:latin typeface="Montserrat Classic"/>
              </a:rPr>
              <a:t> yang </a:t>
            </a:r>
            <a:r>
              <a:rPr lang="en-US" sz="2100" dirty="0" err="1">
                <a:solidFill>
                  <a:srgbClr val="000000"/>
                </a:solidFill>
                <a:latin typeface="Montserrat Classic"/>
              </a:rPr>
              <a:t>dihadapi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mengedepankan</a:t>
            </a:r>
            <a:r>
              <a:rPr lang="en-US" sz="2100" dirty="0">
                <a:solidFill>
                  <a:srgbClr val="000000"/>
                </a:solidFill>
                <a:latin typeface="Montserrat Classic"/>
              </a:rPr>
              <a:t> </a:t>
            </a:r>
            <a:r>
              <a:rPr lang="en-US" sz="2100" dirty="0" err="1">
                <a:solidFill>
                  <a:srgbClr val="000000"/>
                </a:solidFill>
                <a:latin typeface="Montserrat Classic"/>
              </a:rPr>
              <a:t>kepentingan</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algn="just">
              <a:lnSpc>
                <a:spcPts val="2940"/>
              </a:lnSpc>
            </a:pPr>
            <a:r>
              <a:rPr lang="en-US" sz="2100" dirty="0">
                <a:solidFill>
                  <a:srgbClr val="000000"/>
                </a:solidFill>
                <a:latin typeface="Montserrat Classic"/>
              </a:rPr>
              <a:t>Code of Conduct </a:t>
            </a:r>
            <a:r>
              <a:rPr lang="en-US" sz="2100" dirty="0" err="1">
                <a:solidFill>
                  <a:srgbClr val="000000"/>
                </a:solidFill>
                <a:latin typeface="Montserrat Classic"/>
              </a:rPr>
              <a:t>ini</a:t>
            </a:r>
            <a:r>
              <a:rPr lang="en-US" sz="2100" dirty="0">
                <a:solidFill>
                  <a:srgbClr val="000000"/>
                </a:solidFill>
                <a:latin typeface="Montserrat Classic"/>
              </a:rPr>
              <a:t> </a:t>
            </a:r>
            <a:r>
              <a:rPr lang="en-US" sz="2100" dirty="0" err="1">
                <a:solidFill>
                  <a:srgbClr val="000000"/>
                </a:solidFill>
                <a:latin typeface="Montserrat Classic"/>
              </a:rPr>
              <a:t>disusun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mempertimbangkan</a:t>
            </a:r>
            <a:r>
              <a:rPr lang="en-US" sz="2100" dirty="0">
                <a:solidFill>
                  <a:srgbClr val="000000"/>
                </a:solidFill>
                <a:latin typeface="Montserrat Classic"/>
              </a:rPr>
              <a:t> </a:t>
            </a:r>
            <a:r>
              <a:rPr lang="en-US" sz="2100" dirty="0" err="1">
                <a:solidFill>
                  <a:srgbClr val="000000"/>
                </a:solidFill>
                <a:latin typeface="Montserrat Classic"/>
              </a:rPr>
              <a:t>visi</a:t>
            </a:r>
            <a:r>
              <a:rPr lang="en-US" sz="2100" dirty="0">
                <a:solidFill>
                  <a:srgbClr val="000000"/>
                </a:solidFill>
                <a:latin typeface="Montserrat Classic"/>
              </a:rPr>
              <a:t>, </a:t>
            </a:r>
            <a:r>
              <a:rPr lang="en-US" sz="2100" dirty="0" err="1">
                <a:solidFill>
                  <a:srgbClr val="000000"/>
                </a:solidFill>
                <a:latin typeface="Montserrat Classic"/>
              </a:rPr>
              <a:t>misi</a:t>
            </a:r>
            <a:r>
              <a:rPr lang="en-US" sz="2100" dirty="0">
                <a:solidFill>
                  <a:srgbClr val="000000"/>
                </a:solidFill>
                <a:latin typeface="Montserrat Classic"/>
              </a:rPr>
              <a:t>, </a:t>
            </a:r>
            <a:r>
              <a:rPr lang="en-US" sz="2100" dirty="0" err="1">
                <a:solidFill>
                  <a:srgbClr val="000000"/>
                </a:solidFill>
                <a:latin typeface="Montserrat Classic"/>
              </a:rPr>
              <a:t>nilai</a:t>
            </a:r>
            <a:r>
              <a:rPr lang="en-US" sz="2100" dirty="0">
                <a:solidFill>
                  <a:srgbClr val="000000"/>
                </a:solidFill>
                <a:latin typeface="Montserrat Classic"/>
              </a:rPr>
              <a:t> </a:t>
            </a:r>
            <a:r>
              <a:rPr lang="en-US" sz="2100" dirty="0" err="1">
                <a:solidFill>
                  <a:srgbClr val="000000"/>
                </a:solidFill>
                <a:latin typeface="Montserrat Classic"/>
              </a:rPr>
              <a:t>dasar</a:t>
            </a:r>
            <a:r>
              <a:rPr lang="en-US" sz="2100" dirty="0">
                <a:solidFill>
                  <a:srgbClr val="000000"/>
                </a:solidFill>
                <a:latin typeface="Montserrat Classic"/>
              </a:rPr>
              <a:t> </a:t>
            </a:r>
            <a:r>
              <a:rPr lang="en-US" sz="2100" dirty="0" err="1">
                <a:solidFill>
                  <a:srgbClr val="000000"/>
                </a:solidFill>
                <a:latin typeface="Montserrat Classic"/>
              </a:rPr>
              <a:t>serta</a:t>
            </a:r>
            <a:r>
              <a:rPr lang="en-US" sz="2100" dirty="0">
                <a:solidFill>
                  <a:srgbClr val="000000"/>
                </a:solidFill>
                <a:latin typeface="Montserrat Classic"/>
              </a:rPr>
              <a:t> </a:t>
            </a:r>
            <a:r>
              <a:rPr lang="en-US" sz="2100" dirty="0" err="1">
                <a:solidFill>
                  <a:srgbClr val="000000"/>
                </a:solidFill>
                <a:latin typeface="Montserrat Classic"/>
              </a:rPr>
              <a:t>budaya</a:t>
            </a:r>
            <a:r>
              <a:rPr lang="en-US" sz="2100" dirty="0">
                <a:solidFill>
                  <a:srgbClr val="000000"/>
                </a:solidFill>
                <a:latin typeface="Montserrat Classic"/>
              </a:rPr>
              <a:t> Perusahaan yang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esensi</a:t>
            </a:r>
            <a:r>
              <a:rPr lang="en-US" sz="2100" dirty="0">
                <a:solidFill>
                  <a:srgbClr val="000000"/>
                </a:solidFill>
                <a:latin typeface="Montserrat Classic"/>
              </a:rPr>
              <a:t> </a:t>
            </a:r>
            <a:r>
              <a:rPr lang="en-US" sz="2100" dirty="0" err="1">
                <a:solidFill>
                  <a:srgbClr val="000000"/>
                </a:solidFill>
                <a:latin typeface="Montserrat Classic"/>
              </a:rPr>
              <a:t>dari</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karena</a:t>
            </a:r>
            <a:r>
              <a:rPr lang="en-US" sz="2100" dirty="0">
                <a:solidFill>
                  <a:srgbClr val="000000"/>
                </a:solidFill>
                <a:latin typeface="Montserrat Classic"/>
              </a:rPr>
              <a:t> </a:t>
            </a:r>
            <a:r>
              <a:rPr lang="en-US" sz="2100" dirty="0" err="1">
                <a:solidFill>
                  <a:srgbClr val="000000"/>
                </a:solidFill>
                <a:latin typeface="Montserrat Classic"/>
              </a:rPr>
              <a:t>itu</a:t>
            </a:r>
            <a:r>
              <a:rPr lang="en-US" sz="2100" dirty="0">
                <a:solidFill>
                  <a:srgbClr val="000000"/>
                </a:solidFill>
                <a:latin typeface="Montserrat Classic"/>
              </a:rPr>
              <a:t> Code of Conduct </a:t>
            </a:r>
            <a:r>
              <a:rPr lang="en-US" sz="2100" dirty="0" err="1">
                <a:solidFill>
                  <a:srgbClr val="000000"/>
                </a:solidFill>
                <a:latin typeface="Montserrat Classic"/>
              </a:rPr>
              <a:t>ini</a:t>
            </a:r>
            <a:r>
              <a:rPr lang="en-US" sz="2100" dirty="0">
                <a:solidFill>
                  <a:srgbClr val="000000"/>
                </a:solidFill>
                <a:latin typeface="Montserrat Classic"/>
              </a:rPr>
              <a:t> </a:t>
            </a:r>
            <a:r>
              <a:rPr lang="en-US" sz="2100" dirty="0" err="1">
                <a:solidFill>
                  <a:srgbClr val="000000"/>
                </a:solidFill>
                <a:latin typeface="Montserrat Classic"/>
              </a:rPr>
              <a:t>diharapkan</a:t>
            </a:r>
            <a:r>
              <a:rPr lang="en-US" sz="2100" dirty="0">
                <a:solidFill>
                  <a:srgbClr val="000000"/>
                </a:solidFill>
                <a:latin typeface="Montserrat Classic"/>
              </a:rPr>
              <a:t> </a:t>
            </a:r>
            <a:r>
              <a:rPr lang="en-US" sz="2100" dirty="0" err="1">
                <a:solidFill>
                  <a:srgbClr val="000000"/>
                </a:solidFill>
                <a:latin typeface="Montserrat Classic"/>
              </a:rPr>
              <a:t>menjadi</a:t>
            </a:r>
            <a:r>
              <a:rPr lang="en-US" sz="2100" dirty="0">
                <a:solidFill>
                  <a:srgbClr val="000000"/>
                </a:solidFill>
                <a:latin typeface="Montserrat Classic"/>
              </a:rPr>
              <a:t> </a:t>
            </a:r>
            <a:r>
              <a:rPr lang="en-US" sz="2100" dirty="0" err="1">
                <a:solidFill>
                  <a:srgbClr val="000000"/>
                </a:solidFill>
                <a:latin typeface="Montserrat Classic"/>
              </a:rPr>
              <a:t>tolak</a:t>
            </a:r>
            <a:r>
              <a:rPr lang="en-US" sz="2100" dirty="0">
                <a:solidFill>
                  <a:srgbClr val="000000"/>
                </a:solidFill>
                <a:latin typeface="Montserrat Classic"/>
              </a:rPr>
              <a:t> </a:t>
            </a:r>
            <a:r>
              <a:rPr lang="en-US" sz="2100" dirty="0" err="1">
                <a:solidFill>
                  <a:srgbClr val="000000"/>
                </a:solidFill>
                <a:latin typeface="Montserrat Classic"/>
              </a:rPr>
              <a:t>ukur</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tindakan</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a:t>
            </a:r>
          </a:p>
          <a:p>
            <a:pPr algn="just">
              <a:lnSpc>
                <a:spcPts val="2940"/>
              </a:lnSpc>
            </a:pPr>
            <a:endParaRPr lang="en-US" sz="2100" dirty="0">
              <a:solidFill>
                <a:srgbClr val="000000"/>
              </a:solidFill>
              <a:latin typeface="Montserrat Classic"/>
            </a:endParaRPr>
          </a:p>
          <a:p>
            <a:pPr algn="just">
              <a:lnSpc>
                <a:spcPts val="2940"/>
              </a:lnSpc>
            </a:pPr>
            <a:r>
              <a:rPr lang="en-US" sz="2100" dirty="0" err="1">
                <a:solidFill>
                  <a:srgbClr val="000000"/>
                </a:solidFill>
                <a:latin typeface="Montserrat Classic Bold"/>
              </a:rPr>
              <a:t>Dalam</a:t>
            </a:r>
            <a:r>
              <a:rPr lang="en-US" sz="2100" dirty="0">
                <a:solidFill>
                  <a:srgbClr val="000000"/>
                </a:solidFill>
                <a:latin typeface="Montserrat Classic Bold"/>
              </a:rPr>
              <a:t> </a:t>
            </a:r>
            <a:r>
              <a:rPr lang="en-US" sz="2100" dirty="0" err="1">
                <a:solidFill>
                  <a:srgbClr val="000000"/>
                </a:solidFill>
                <a:latin typeface="Montserrat Classic Bold"/>
              </a:rPr>
              <a:t>penerapannya</a:t>
            </a:r>
            <a:r>
              <a:rPr lang="en-US" sz="2100" dirty="0">
                <a:solidFill>
                  <a:srgbClr val="000000"/>
                </a:solidFill>
                <a:latin typeface="Montserrat Classic Bold"/>
              </a:rPr>
              <a:t> </a:t>
            </a:r>
            <a:r>
              <a:rPr lang="en-US" sz="2100" dirty="0" err="1">
                <a:solidFill>
                  <a:srgbClr val="000000"/>
                </a:solidFill>
                <a:latin typeface="Montserrat Classic Bold"/>
              </a:rPr>
              <a:t>Pedoman</a:t>
            </a:r>
            <a:r>
              <a:rPr lang="en-US" sz="2100" dirty="0">
                <a:solidFill>
                  <a:srgbClr val="000000"/>
                </a:solidFill>
                <a:latin typeface="Montserrat Classic Bold"/>
              </a:rPr>
              <a:t> </a:t>
            </a:r>
            <a:r>
              <a:rPr lang="en-US" sz="2100" dirty="0" err="1">
                <a:solidFill>
                  <a:srgbClr val="000000"/>
                </a:solidFill>
                <a:latin typeface="Montserrat Classic Bold"/>
              </a:rPr>
              <a:t>Etika</a:t>
            </a:r>
            <a:r>
              <a:rPr lang="en-US" sz="2100" dirty="0">
                <a:solidFill>
                  <a:srgbClr val="000000"/>
                </a:solidFill>
                <a:latin typeface="Montserrat Classic Bold"/>
              </a:rPr>
              <a:t> </a:t>
            </a:r>
            <a:r>
              <a:rPr lang="en-US" sz="2100" dirty="0" err="1">
                <a:solidFill>
                  <a:srgbClr val="000000"/>
                </a:solidFill>
                <a:latin typeface="Montserrat Classic Bold"/>
              </a:rPr>
              <a:t>Bisnis</a:t>
            </a:r>
            <a:r>
              <a:rPr lang="en-US" sz="2100" dirty="0">
                <a:solidFill>
                  <a:srgbClr val="000000"/>
                </a:solidFill>
                <a:latin typeface="Montserrat Classic Bold"/>
              </a:rPr>
              <a:t> </a:t>
            </a:r>
            <a:r>
              <a:rPr lang="en-US" sz="2100" dirty="0" err="1">
                <a:solidFill>
                  <a:srgbClr val="000000"/>
                </a:solidFill>
                <a:latin typeface="Montserrat Classic Bold"/>
              </a:rPr>
              <a:t>dan</a:t>
            </a:r>
            <a:r>
              <a:rPr lang="en-US" sz="2100" dirty="0">
                <a:solidFill>
                  <a:srgbClr val="000000"/>
                </a:solidFill>
                <a:latin typeface="Montserrat Classic Bold"/>
              </a:rPr>
              <a:t> </a:t>
            </a:r>
            <a:r>
              <a:rPr lang="en-US" sz="2100" dirty="0" err="1">
                <a:solidFill>
                  <a:srgbClr val="000000"/>
                </a:solidFill>
                <a:latin typeface="Montserrat Classic Bold"/>
              </a:rPr>
              <a:t>Etika</a:t>
            </a:r>
            <a:r>
              <a:rPr lang="en-US" sz="2100" dirty="0">
                <a:solidFill>
                  <a:srgbClr val="000000"/>
                </a:solidFill>
                <a:latin typeface="Montserrat Classic Bold"/>
              </a:rPr>
              <a:t> </a:t>
            </a:r>
            <a:r>
              <a:rPr lang="en-US" sz="2100" dirty="0" err="1">
                <a:solidFill>
                  <a:srgbClr val="000000"/>
                </a:solidFill>
                <a:latin typeface="Montserrat Classic Bold"/>
              </a:rPr>
              <a:t>Kerja</a:t>
            </a:r>
            <a:r>
              <a:rPr lang="en-US" sz="2100" dirty="0">
                <a:solidFill>
                  <a:srgbClr val="000000"/>
                </a:solidFill>
                <a:latin typeface="Montserrat Classic Bold"/>
              </a:rPr>
              <a:t> (Code Of Conduct) </a:t>
            </a:r>
            <a:r>
              <a:rPr lang="en-US" sz="2100" dirty="0" err="1">
                <a:solidFill>
                  <a:srgbClr val="000000"/>
                </a:solidFill>
                <a:latin typeface="Montserrat Classic Bold"/>
              </a:rPr>
              <a:t>maka</a:t>
            </a:r>
            <a:r>
              <a:rPr lang="en-US" sz="2100" dirty="0">
                <a:solidFill>
                  <a:srgbClr val="000000"/>
                </a:solidFill>
                <a:latin typeface="Montserrat Classic Bold"/>
              </a:rPr>
              <a:t>:</a:t>
            </a:r>
          </a:p>
          <a:p>
            <a:pPr algn="just">
              <a:lnSpc>
                <a:spcPts val="2940"/>
              </a:lnSpc>
            </a:pPr>
            <a:endParaRPr lang="en-US" sz="2100" dirty="0">
              <a:solidFill>
                <a:srgbClr val="000000"/>
              </a:solidFill>
              <a:latin typeface="Montserrat Classic Bold"/>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Penerapan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dilengkapi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media </a:t>
            </a:r>
            <a:r>
              <a:rPr lang="en-US" sz="2100" dirty="0" err="1">
                <a:solidFill>
                  <a:srgbClr val="000000"/>
                </a:solidFill>
                <a:latin typeface="Montserrat Classic"/>
              </a:rPr>
              <a:t>komunikasi</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menyampaikan</a:t>
            </a:r>
            <a:r>
              <a:rPr lang="en-US" sz="2100" dirty="0">
                <a:solidFill>
                  <a:srgbClr val="000000"/>
                </a:solidFill>
                <a:latin typeface="Montserrat Classic"/>
              </a:rPr>
              <a:t> </a:t>
            </a:r>
            <a:r>
              <a:rPr lang="en-US" sz="2100" dirty="0" err="1">
                <a:solidFill>
                  <a:srgbClr val="000000"/>
                </a:solidFill>
                <a:latin typeface="Montserrat Classic"/>
              </a:rPr>
              <a:t>permasalahan</a:t>
            </a:r>
            <a:r>
              <a:rPr lang="en-US" sz="2100" dirty="0">
                <a:solidFill>
                  <a:srgbClr val="000000"/>
                </a:solidFill>
                <a:latin typeface="Montserrat Classic"/>
              </a:rPr>
              <a:t> yang </a:t>
            </a:r>
            <a:r>
              <a:rPr lang="en-US" sz="2100" dirty="0" err="1">
                <a:solidFill>
                  <a:srgbClr val="000000"/>
                </a:solidFill>
                <a:latin typeface="Montserrat Classic"/>
              </a:rPr>
              <a:t>timbul</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transparansi</a:t>
            </a:r>
            <a:r>
              <a:rPr lang="en-US" sz="2100" dirty="0">
                <a:solidFill>
                  <a:srgbClr val="000000"/>
                </a:solidFill>
                <a:latin typeface="Montserrat Classic"/>
              </a:rPr>
              <a:t> </a:t>
            </a:r>
            <a:r>
              <a:rPr lang="en-US" sz="2100" dirty="0" err="1">
                <a:solidFill>
                  <a:srgbClr val="000000"/>
                </a:solidFill>
                <a:latin typeface="Montserrat Classic"/>
              </a:rPr>
              <a:t>tindak</a:t>
            </a:r>
            <a:r>
              <a:rPr lang="en-US" sz="2100" dirty="0">
                <a:solidFill>
                  <a:srgbClr val="000000"/>
                </a:solidFill>
                <a:latin typeface="Montserrat Classic"/>
              </a:rPr>
              <a:t> </a:t>
            </a:r>
            <a:r>
              <a:rPr lang="en-US" sz="2100" dirty="0" err="1">
                <a:solidFill>
                  <a:srgbClr val="000000"/>
                </a:solidFill>
                <a:latin typeface="Montserrat Classic"/>
              </a:rPr>
              <a:t>lanjut</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penerapan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tersebut</a:t>
            </a:r>
            <a:r>
              <a:rPr lang="en-US" sz="2100" dirty="0">
                <a:solidFill>
                  <a:srgbClr val="000000"/>
                </a:solidFill>
                <a:latin typeface="Montserrat Classic"/>
              </a:rPr>
              <a:t>.</a:t>
            </a: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meminta</a:t>
            </a:r>
            <a:r>
              <a:rPr lang="en-US" sz="2100" dirty="0">
                <a:solidFill>
                  <a:srgbClr val="000000"/>
                </a:solidFill>
                <a:latin typeface="Montserrat Classic"/>
              </a:rPr>
              <a:t> </a:t>
            </a:r>
            <a:r>
              <a:rPr lang="en-US" sz="2100" dirty="0" err="1">
                <a:solidFill>
                  <a:srgbClr val="000000"/>
                </a:solidFill>
                <a:latin typeface="Montserrat Classic"/>
              </a:rPr>
              <a:t>penjelasan</a:t>
            </a:r>
            <a:r>
              <a:rPr lang="en-US" sz="2100" dirty="0">
                <a:solidFill>
                  <a:srgbClr val="000000"/>
                </a:solidFill>
                <a:latin typeface="Montserrat Classic"/>
              </a:rPr>
              <a:t> </a:t>
            </a:r>
            <a:r>
              <a:rPr lang="en-US" sz="2100" dirty="0" err="1">
                <a:solidFill>
                  <a:srgbClr val="000000"/>
                </a:solidFill>
                <a:latin typeface="Montserrat Classic"/>
              </a:rPr>
              <a:t>langsung</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atasan</a:t>
            </a:r>
            <a:r>
              <a:rPr lang="en-US" sz="2100" dirty="0">
                <a:solidFill>
                  <a:srgbClr val="000000"/>
                </a:solidFill>
                <a:latin typeface="Montserrat Classic"/>
              </a:rPr>
              <a:t> </a:t>
            </a:r>
            <a:r>
              <a:rPr lang="en-US" sz="2100" dirty="0" err="1">
                <a:solidFill>
                  <a:srgbClr val="000000"/>
                </a:solidFill>
                <a:latin typeface="Montserrat Classic"/>
              </a:rPr>
              <a:t>langsungnya</a:t>
            </a:r>
            <a:r>
              <a:rPr lang="en-US" sz="2100" dirty="0">
                <a:solidFill>
                  <a:srgbClr val="000000"/>
                </a:solidFill>
                <a:latin typeface="Montserrat Classic"/>
              </a:rPr>
              <a:t> </a:t>
            </a:r>
            <a:r>
              <a:rPr lang="en-US" sz="2100" dirty="0" err="1">
                <a:solidFill>
                  <a:srgbClr val="000000"/>
                </a:solidFill>
                <a:latin typeface="Montserrat Classic"/>
              </a:rPr>
              <a:t>jika</a:t>
            </a:r>
            <a:r>
              <a:rPr lang="en-US" sz="2100" dirty="0">
                <a:solidFill>
                  <a:srgbClr val="000000"/>
                </a:solidFill>
                <a:latin typeface="Montserrat Classic"/>
              </a:rPr>
              <a:t> </a:t>
            </a:r>
            <a:r>
              <a:rPr lang="en-US" sz="2100" dirty="0" err="1">
                <a:solidFill>
                  <a:srgbClr val="000000"/>
                </a:solidFill>
                <a:latin typeface="Montserrat Classic"/>
              </a:rPr>
              <a:t>terdapat</a:t>
            </a:r>
            <a:r>
              <a:rPr lang="en-US" sz="2100" dirty="0">
                <a:solidFill>
                  <a:srgbClr val="000000"/>
                </a:solidFill>
                <a:latin typeface="Montserrat Classic"/>
              </a:rPr>
              <a:t> </a:t>
            </a:r>
            <a:r>
              <a:rPr lang="en-US" sz="2100" dirty="0" err="1">
                <a:solidFill>
                  <a:srgbClr val="000000"/>
                </a:solidFill>
                <a:latin typeface="Montserrat Classic"/>
              </a:rPr>
              <a:t>ketidakjelasan</a:t>
            </a:r>
            <a:r>
              <a:rPr lang="en-US" sz="2100" dirty="0">
                <a:solidFill>
                  <a:srgbClr val="000000"/>
                </a:solidFill>
                <a:latin typeface="Montserrat Classic"/>
              </a:rPr>
              <a:t> </a:t>
            </a:r>
            <a:r>
              <a:rPr lang="en-US" sz="2100" dirty="0" err="1">
                <a:solidFill>
                  <a:srgbClr val="000000"/>
                </a:solidFill>
                <a:latin typeface="Montserrat Classic"/>
              </a:rPr>
              <a:t>berperilaku</a:t>
            </a:r>
            <a:r>
              <a:rPr lang="en-US" sz="2100" dirty="0">
                <a:solidFill>
                  <a:srgbClr val="000000"/>
                </a:solidFill>
                <a:latin typeface="Montserrat Classic"/>
              </a:rPr>
              <a:t> </a:t>
            </a:r>
            <a:r>
              <a:rPr lang="en-US" sz="2100" dirty="0" err="1">
                <a:solidFill>
                  <a:srgbClr val="000000"/>
                </a:solidFill>
                <a:latin typeface="Montserrat Classic"/>
              </a:rPr>
              <a:t>sesuai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tugas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tanggungjawabnya</a:t>
            </a:r>
            <a:r>
              <a:rPr lang="en-US" sz="2100" dirty="0">
                <a:solidFill>
                  <a:srgbClr val="000000"/>
                </a:solidFill>
                <a:latin typeface="Montserrat Classic"/>
              </a:rPr>
              <a:t>.</a:t>
            </a: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yang </a:t>
            </a:r>
            <a:r>
              <a:rPr lang="en-US" sz="2100" dirty="0" err="1">
                <a:solidFill>
                  <a:srgbClr val="000000"/>
                </a:solidFill>
                <a:latin typeface="Montserrat Classic"/>
              </a:rPr>
              <a:t>mengetahui</a:t>
            </a:r>
            <a:r>
              <a:rPr lang="en-US" sz="2100" dirty="0">
                <a:solidFill>
                  <a:srgbClr val="000000"/>
                </a:solidFill>
                <a:latin typeface="Montserrat Classic"/>
              </a:rPr>
              <a:t> </a:t>
            </a:r>
            <a:r>
              <a:rPr lang="en-US" sz="2100" dirty="0" err="1">
                <a:solidFill>
                  <a:srgbClr val="000000"/>
                </a:solidFill>
                <a:latin typeface="Montserrat Classic"/>
              </a:rPr>
              <a:t>adanya</a:t>
            </a:r>
            <a:r>
              <a:rPr lang="en-US" sz="2100" dirty="0">
                <a:solidFill>
                  <a:srgbClr val="000000"/>
                </a:solidFill>
                <a:latin typeface="Montserrat Classic"/>
              </a:rPr>
              <a:t> </a:t>
            </a:r>
            <a:r>
              <a:rPr lang="en-US" sz="2100" dirty="0" err="1">
                <a:solidFill>
                  <a:srgbClr val="000000"/>
                </a:solidFill>
                <a:latin typeface="Montserrat Classic"/>
              </a:rPr>
              <a:t>pelanggaran</a:t>
            </a:r>
            <a:r>
              <a:rPr lang="en-US" sz="2100" dirty="0">
                <a:solidFill>
                  <a:srgbClr val="000000"/>
                </a:solidFill>
                <a:latin typeface="Montserrat Classic"/>
              </a:rPr>
              <a:t> </a:t>
            </a:r>
            <a:r>
              <a:rPr lang="en-US" sz="2100" dirty="0" err="1">
                <a:solidFill>
                  <a:srgbClr val="000000"/>
                </a:solidFill>
                <a:latin typeface="Montserrat Classic"/>
              </a:rPr>
              <a:t>terhadap</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wajib</a:t>
            </a:r>
            <a:r>
              <a:rPr lang="en-US" sz="2100" dirty="0">
                <a:solidFill>
                  <a:srgbClr val="000000"/>
                </a:solidFill>
                <a:latin typeface="Montserrat Classic"/>
              </a:rPr>
              <a:t>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identitasnya</a:t>
            </a:r>
            <a:r>
              <a:rPr lang="en-US" sz="2100" dirty="0">
                <a:solidFill>
                  <a:srgbClr val="000000"/>
                </a:solidFill>
                <a:latin typeface="Montserrat Classic"/>
              </a:rPr>
              <a:t> </a:t>
            </a:r>
            <a:r>
              <a:rPr lang="en-US" sz="2100" dirty="0" err="1">
                <a:solidFill>
                  <a:srgbClr val="000000"/>
                </a:solidFill>
                <a:latin typeface="Montserrat Classic"/>
              </a:rPr>
              <a:t>akan</a:t>
            </a:r>
            <a:r>
              <a:rPr lang="en-US" sz="2100" dirty="0">
                <a:solidFill>
                  <a:srgbClr val="000000"/>
                </a:solidFill>
                <a:latin typeface="Montserrat Classic"/>
              </a:rPr>
              <a:t> </a:t>
            </a:r>
            <a:r>
              <a:rPr lang="en-US" sz="2100" dirty="0" err="1">
                <a:solidFill>
                  <a:srgbClr val="000000"/>
                </a:solidFill>
                <a:latin typeface="Montserrat Classic"/>
              </a:rPr>
              <a:t>dirahasiakan</a:t>
            </a:r>
            <a:endParaRPr lang="en-US" sz="2100" dirty="0">
              <a:solidFill>
                <a:srgbClr val="000000"/>
              </a:solidFill>
              <a:latin typeface="Montserrat Classic"/>
            </a:endParaRP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Komite</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melaporkan</a:t>
            </a:r>
            <a:r>
              <a:rPr lang="en-US" sz="2100" dirty="0">
                <a:solidFill>
                  <a:srgbClr val="000000"/>
                </a:solidFill>
                <a:latin typeface="Montserrat Classic"/>
              </a:rPr>
              <a:t> </a:t>
            </a:r>
            <a:r>
              <a:rPr lang="en-US" sz="2100" dirty="0" err="1">
                <a:solidFill>
                  <a:srgbClr val="000000"/>
                </a:solidFill>
                <a:latin typeface="Montserrat Classic"/>
              </a:rPr>
              <a:t>pelaksanaan</a:t>
            </a:r>
            <a:r>
              <a:rPr lang="en-US" sz="2100" dirty="0">
                <a:solidFill>
                  <a:srgbClr val="000000"/>
                </a:solidFill>
                <a:latin typeface="Montserrat Classic"/>
              </a:rPr>
              <a:t> </a:t>
            </a:r>
            <a:r>
              <a:rPr lang="en-US" sz="2100" dirty="0" err="1">
                <a:solidFill>
                  <a:srgbClr val="000000"/>
                </a:solidFill>
                <a:latin typeface="Montserrat Classic"/>
              </a:rPr>
              <a:t>tugasnya</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tembusan</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a:t>
            </a:r>
            <a:r>
              <a:rPr lang="en-US" sz="2100" dirty="0" err="1">
                <a:solidFill>
                  <a:srgbClr val="000000"/>
                </a:solidFill>
                <a:latin typeface="Montserrat Classic"/>
              </a:rPr>
              <a:t>Dewan</a:t>
            </a:r>
            <a:r>
              <a:rPr lang="en-US" sz="2100" dirty="0">
                <a:solidFill>
                  <a:srgbClr val="000000"/>
                </a:solidFill>
                <a:latin typeface="Montserrat Classic"/>
              </a:rPr>
              <a:t> </a:t>
            </a:r>
            <a:r>
              <a:rPr lang="en-US" sz="2100" dirty="0" err="1">
                <a:solidFill>
                  <a:srgbClr val="000000"/>
                </a:solidFill>
                <a:latin typeface="Montserrat Classic"/>
              </a:rPr>
              <a:t>Komisaris</a:t>
            </a:r>
            <a:r>
              <a:rPr lang="en-US" sz="2100" dirty="0">
                <a:solidFill>
                  <a:srgbClr val="000000"/>
                </a:solidFill>
                <a:latin typeface="Montserrat Classic"/>
              </a:rPr>
              <a:t>.</a:t>
            </a: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7035741" y="9153525"/>
            <a:ext cx="530423"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55</a:t>
            </a:r>
            <a:endParaRPr lang="en-US" sz="3319" dirty="0">
              <a:solidFill>
                <a:srgbClr val="000000"/>
              </a:solidFill>
              <a:latin typeface="Telegraf"/>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383954" y="289873"/>
            <a:ext cx="15448346" cy="13782675"/>
          </a:xfrm>
          <a:prstGeom prst="rect">
            <a:avLst/>
          </a:prstGeom>
        </p:spPr>
        <p:txBody>
          <a:bodyPr lIns="0" tIns="0" rIns="0" bIns="0" rtlCol="0" anchor="t">
            <a:spAutoFit/>
          </a:bodyPr>
          <a:lstStyle/>
          <a:p>
            <a:pPr algn="just">
              <a:lnSpc>
                <a:spcPts val="3359"/>
              </a:lnSpc>
            </a:pPr>
            <a:endParaRPr dirty="0"/>
          </a:p>
          <a:p>
            <a:pPr algn="just">
              <a:lnSpc>
                <a:spcPts val="2940"/>
              </a:lnSpc>
            </a:pPr>
            <a:endParaRPr dirty="0"/>
          </a:p>
          <a:p>
            <a:pPr algn="just">
              <a:lnSpc>
                <a:spcPts val="2940"/>
              </a:lnSpc>
            </a:pPr>
            <a:endParaRPr dirty="0"/>
          </a:p>
          <a:p>
            <a:pPr algn="just">
              <a:lnSpc>
                <a:spcPts val="2940"/>
              </a:lnSpc>
            </a:pPr>
            <a:endParaRPr dirty="0"/>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Setiap</a:t>
            </a:r>
            <a:r>
              <a:rPr lang="en-US" sz="2100" dirty="0">
                <a:solidFill>
                  <a:srgbClr val="000000"/>
                </a:solidFill>
                <a:latin typeface="Montserrat Classic"/>
              </a:rPr>
              <a:t> </a:t>
            </a:r>
            <a:r>
              <a:rPr lang="en-US" sz="2100" dirty="0" err="1">
                <a:solidFill>
                  <a:srgbClr val="000000"/>
                </a:solidFill>
                <a:latin typeface="Montserrat Classic"/>
              </a:rPr>
              <a:t>Insan</a:t>
            </a:r>
            <a:r>
              <a:rPr lang="en-US" sz="2100" dirty="0">
                <a:solidFill>
                  <a:srgbClr val="000000"/>
                </a:solidFill>
                <a:latin typeface="Montserrat Classic"/>
              </a:rPr>
              <a:t> Perusahaan </a:t>
            </a:r>
            <a:r>
              <a:rPr lang="en-US" sz="2100" dirty="0" err="1">
                <a:solidFill>
                  <a:srgbClr val="000000"/>
                </a:solidFill>
                <a:latin typeface="Montserrat Classic"/>
              </a:rPr>
              <a:t>dapat</a:t>
            </a:r>
            <a:r>
              <a:rPr lang="en-US" sz="2100" dirty="0">
                <a:solidFill>
                  <a:srgbClr val="000000"/>
                </a:solidFill>
                <a:latin typeface="Montserrat Classic"/>
              </a:rPr>
              <a:t> </a:t>
            </a:r>
            <a:r>
              <a:rPr lang="en-US" sz="2100" dirty="0" err="1">
                <a:solidFill>
                  <a:srgbClr val="000000"/>
                </a:solidFill>
                <a:latin typeface="Montserrat Classic"/>
              </a:rPr>
              <a:t>memberikan</a:t>
            </a:r>
            <a:r>
              <a:rPr lang="en-US" sz="2100" dirty="0">
                <a:solidFill>
                  <a:srgbClr val="000000"/>
                </a:solidFill>
                <a:latin typeface="Montserrat Classic"/>
              </a:rPr>
              <a:t> </a:t>
            </a:r>
            <a:r>
              <a:rPr lang="en-US" sz="2100" dirty="0" err="1">
                <a:solidFill>
                  <a:srgbClr val="000000"/>
                </a:solidFill>
                <a:latin typeface="Montserrat Classic"/>
              </a:rPr>
              <a:t>masukan</a:t>
            </a:r>
            <a:r>
              <a:rPr lang="en-US" sz="2100" dirty="0">
                <a:solidFill>
                  <a:srgbClr val="000000"/>
                </a:solidFill>
                <a:latin typeface="Montserrat Classic"/>
              </a:rPr>
              <a:t> </a:t>
            </a:r>
            <a:r>
              <a:rPr lang="en-US" sz="2100" dirty="0" err="1">
                <a:solidFill>
                  <a:srgbClr val="000000"/>
                </a:solidFill>
                <a:latin typeface="Montserrat Classic"/>
              </a:rPr>
              <a:t>untuk</a:t>
            </a:r>
            <a:r>
              <a:rPr lang="en-US" sz="2100" dirty="0">
                <a:solidFill>
                  <a:srgbClr val="000000"/>
                </a:solidFill>
                <a:latin typeface="Montserrat Classic"/>
              </a:rPr>
              <a:t> </a:t>
            </a:r>
            <a:r>
              <a:rPr lang="en-US" sz="2100" dirty="0" err="1">
                <a:solidFill>
                  <a:srgbClr val="000000"/>
                </a:solidFill>
                <a:latin typeface="Montserrat Classic"/>
              </a:rPr>
              <a:t>penyempurnaan</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kepada</a:t>
            </a:r>
            <a:r>
              <a:rPr lang="en-US" sz="2100" dirty="0">
                <a:solidFill>
                  <a:srgbClr val="000000"/>
                </a:solidFill>
                <a:latin typeface="Montserrat Classic"/>
              </a:rPr>
              <a:t> Tim GCG Perusahaan yang </a:t>
            </a:r>
            <a:r>
              <a:rPr lang="en-US" sz="2100" dirty="0" err="1">
                <a:solidFill>
                  <a:srgbClr val="000000"/>
                </a:solidFill>
                <a:latin typeface="Montserrat Classic"/>
              </a:rPr>
              <a:t>dikordinasikan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Divisi</a:t>
            </a:r>
            <a:r>
              <a:rPr lang="en-US" sz="2100" dirty="0">
                <a:solidFill>
                  <a:srgbClr val="000000"/>
                </a:solidFill>
                <a:latin typeface="Montserrat Classic"/>
              </a:rPr>
              <a:t> </a:t>
            </a:r>
            <a:r>
              <a:rPr lang="en-US" sz="2100" dirty="0" err="1">
                <a:solidFill>
                  <a:srgbClr val="000000"/>
                </a:solidFill>
                <a:latin typeface="Montserrat Classic"/>
              </a:rPr>
              <a:t>Manajemen</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a:t>
            </a:r>
          </a:p>
          <a:p>
            <a:pPr marL="342900" indent="-342900" algn="just">
              <a:lnSpc>
                <a:spcPts val="2940"/>
              </a:lnSpc>
              <a:buFont typeface="Arial" panose="020B0604020202020204" pitchFamily="34" charset="0"/>
              <a:buChar char="•"/>
            </a:pPr>
            <a:r>
              <a:rPr lang="en-US" sz="2100" dirty="0" err="1">
                <a:solidFill>
                  <a:srgbClr val="000000"/>
                </a:solidFill>
                <a:latin typeface="Montserrat Classic"/>
              </a:rPr>
              <a:t>Perubahan</a:t>
            </a:r>
            <a:r>
              <a:rPr lang="en-US" sz="2100" dirty="0">
                <a:solidFill>
                  <a:srgbClr val="000000"/>
                </a:solidFill>
                <a:latin typeface="Montserrat Classic"/>
              </a:rPr>
              <a:t> </a:t>
            </a:r>
            <a:r>
              <a:rPr lang="en-US" sz="2100" dirty="0" err="1">
                <a:solidFill>
                  <a:srgbClr val="000000"/>
                </a:solidFill>
                <a:latin typeface="Montserrat Classic"/>
              </a:rPr>
              <a:t>atau</a:t>
            </a:r>
            <a:r>
              <a:rPr lang="en-US" sz="2100" dirty="0">
                <a:solidFill>
                  <a:srgbClr val="000000"/>
                </a:solidFill>
                <a:latin typeface="Montserrat Classic"/>
              </a:rPr>
              <a:t> </a:t>
            </a:r>
            <a:r>
              <a:rPr lang="en-US" sz="2100" dirty="0" err="1">
                <a:solidFill>
                  <a:srgbClr val="000000"/>
                </a:solidFill>
                <a:latin typeface="Montserrat Classic"/>
              </a:rPr>
              <a:t>revisi</a:t>
            </a:r>
            <a:r>
              <a:rPr lang="en-US" sz="2100" dirty="0">
                <a:solidFill>
                  <a:srgbClr val="000000"/>
                </a:solidFill>
                <a:latin typeface="Montserrat Classic"/>
              </a:rPr>
              <a:t> </a:t>
            </a:r>
            <a:r>
              <a:rPr lang="en-US" sz="2100" dirty="0" err="1">
                <a:solidFill>
                  <a:srgbClr val="000000"/>
                </a:solidFill>
                <a:latin typeface="Montserrat Classic"/>
              </a:rPr>
              <a:t>atas</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a:t>
            </a:r>
            <a:r>
              <a:rPr lang="en-US" sz="2100" dirty="0" err="1">
                <a:solidFill>
                  <a:srgbClr val="000000"/>
                </a:solidFill>
                <a:latin typeface="Montserrat Classic"/>
              </a:rPr>
              <a:t>ditetapkan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pengesahan</a:t>
            </a:r>
            <a:r>
              <a:rPr lang="en-US" sz="2100" dirty="0">
                <a:solidFill>
                  <a:srgbClr val="000000"/>
                </a:solidFill>
                <a:latin typeface="Montserrat Classic"/>
              </a:rPr>
              <a:t> </a:t>
            </a:r>
            <a:r>
              <a:rPr lang="en-US" sz="2100" dirty="0" err="1">
                <a:solidFill>
                  <a:srgbClr val="000000"/>
                </a:solidFill>
                <a:latin typeface="Montserrat Classic"/>
              </a:rPr>
              <a:t>oleh</a:t>
            </a:r>
            <a:r>
              <a:rPr lang="en-US" sz="2100" dirty="0">
                <a:solidFill>
                  <a:srgbClr val="000000"/>
                </a:solidFill>
                <a:latin typeface="Montserrat Classic"/>
              </a:rPr>
              <a:t> </a:t>
            </a:r>
            <a:r>
              <a:rPr lang="en-US" sz="2100" dirty="0" err="1">
                <a:solidFill>
                  <a:srgbClr val="000000"/>
                </a:solidFill>
                <a:latin typeface="Montserrat Classic"/>
              </a:rPr>
              <a:t>Direksi</a:t>
            </a:r>
            <a:r>
              <a:rPr lang="en-US" sz="2100" dirty="0">
                <a:solidFill>
                  <a:srgbClr val="000000"/>
                </a:solidFill>
                <a:latin typeface="Montserrat Classic"/>
              </a:rPr>
              <a:t>.</a:t>
            </a:r>
          </a:p>
          <a:p>
            <a:pPr algn="just">
              <a:lnSpc>
                <a:spcPts val="2940"/>
              </a:lnSpc>
            </a:pPr>
            <a:endParaRPr lang="id-ID" sz="2100" dirty="0">
              <a:solidFill>
                <a:srgbClr val="000000"/>
              </a:solidFill>
              <a:latin typeface="Montserrat Classic"/>
            </a:endParaRPr>
          </a:p>
          <a:p>
            <a:pPr algn="just">
              <a:lnSpc>
                <a:spcPts val="2940"/>
              </a:lnSpc>
            </a:pPr>
            <a:r>
              <a:rPr lang="en-US" sz="2100" dirty="0" err="1">
                <a:solidFill>
                  <a:srgbClr val="000000"/>
                </a:solidFill>
                <a:latin typeface="Montserrat Classic"/>
              </a:rPr>
              <a:t>Kebijakan</a:t>
            </a:r>
            <a:r>
              <a:rPr lang="en-US" sz="2100" dirty="0">
                <a:solidFill>
                  <a:srgbClr val="000000"/>
                </a:solidFill>
                <a:latin typeface="Montserrat Classic"/>
              </a:rPr>
              <a:t> Perusahaan yang </a:t>
            </a:r>
            <a:r>
              <a:rPr lang="en-US" sz="2100" dirty="0" err="1">
                <a:solidFill>
                  <a:srgbClr val="000000"/>
                </a:solidFill>
                <a:latin typeface="Montserrat Classic"/>
              </a:rPr>
              <a:t>telah</a:t>
            </a:r>
            <a:r>
              <a:rPr lang="en-US" sz="2100" dirty="0">
                <a:solidFill>
                  <a:srgbClr val="000000"/>
                </a:solidFill>
                <a:latin typeface="Montserrat Classic"/>
              </a:rPr>
              <a:t> </a:t>
            </a:r>
            <a:r>
              <a:rPr lang="en-US" sz="2100" dirty="0" err="1">
                <a:solidFill>
                  <a:srgbClr val="000000"/>
                </a:solidFill>
                <a:latin typeface="Montserrat Classic"/>
              </a:rPr>
              <a:t>diterbitkan</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bertentangan</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Code of Conduct </a:t>
            </a:r>
            <a:r>
              <a:rPr lang="en-US" sz="2100" dirty="0" err="1">
                <a:solidFill>
                  <a:srgbClr val="000000"/>
                </a:solidFill>
                <a:latin typeface="Montserrat Classic"/>
              </a:rPr>
              <a:t>harus</a:t>
            </a:r>
            <a:r>
              <a:rPr lang="en-US" sz="2100" dirty="0">
                <a:solidFill>
                  <a:srgbClr val="000000"/>
                </a:solidFill>
                <a:latin typeface="Montserrat Classic"/>
              </a:rPr>
              <a:t> </a:t>
            </a:r>
            <a:r>
              <a:rPr lang="en-US" sz="2100" dirty="0" err="1">
                <a:solidFill>
                  <a:srgbClr val="000000"/>
                </a:solidFill>
                <a:latin typeface="Montserrat Classic"/>
              </a:rPr>
              <a:t>disesuaikan</a:t>
            </a:r>
            <a:r>
              <a:rPr lang="en-US" sz="2100" dirty="0">
                <a:solidFill>
                  <a:srgbClr val="000000"/>
                </a:solidFill>
                <a:latin typeface="Montserrat Classic"/>
              </a:rPr>
              <a:t> </a:t>
            </a:r>
            <a:r>
              <a:rPr lang="en-US" sz="2100" dirty="0" err="1">
                <a:solidFill>
                  <a:srgbClr val="000000"/>
                </a:solidFill>
                <a:latin typeface="Montserrat Classic"/>
              </a:rPr>
              <a:t>sehingga</a:t>
            </a:r>
            <a:r>
              <a:rPr lang="en-US" sz="2100" dirty="0">
                <a:solidFill>
                  <a:srgbClr val="000000"/>
                </a:solidFill>
                <a:latin typeface="Montserrat Classic"/>
              </a:rPr>
              <a:t> </a:t>
            </a:r>
            <a:r>
              <a:rPr lang="en-US" sz="2100" dirty="0" err="1">
                <a:solidFill>
                  <a:srgbClr val="000000"/>
                </a:solidFill>
                <a:latin typeface="Montserrat Classic"/>
              </a:rPr>
              <a:t>kebijakan-kebijakan</a:t>
            </a:r>
            <a:r>
              <a:rPr lang="en-US" sz="2100" dirty="0">
                <a:solidFill>
                  <a:srgbClr val="000000"/>
                </a:solidFill>
                <a:latin typeface="Montserrat Classic"/>
              </a:rPr>
              <a:t> yang </a:t>
            </a:r>
            <a:r>
              <a:rPr lang="en-US" sz="2100" dirty="0" err="1">
                <a:solidFill>
                  <a:srgbClr val="000000"/>
                </a:solidFill>
                <a:latin typeface="Montserrat Classic"/>
              </a:rPr>
              <a:t>digunakan</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pedoman</a:t>
            </a:r>
            <a:r>
              <a:rPr lang="en-US" sz="2100" dirty="0">
                <a:solidFill>
                  <a:srgbClr val="000000"/>
                </a:solidFill>
                <a:latin typeface="Montserrat Classic"/>
              </a:rPr>
              <a:t>/</a:t>
            </a:r>
            <a:r>
              <a:rPr lang="en-US" sz="2100" dirty="0" err="1">
                <a:solidFill>
                  <a:srgbClr val="000000"/>
                </a:solidFill>
                <a:latin typeface="Montserrat Classic"/>
              </a:rPr>
              <a:t>acuan</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mengelola</a:t>
            </a:r>
            <a:r>
              <a:rPr lang="en-US" sz="2100" dirty="0">
                <a:solidFill>
                  <a:srgbClr val="000000"/>
                </a:solidFill>
                <a:latin typeface="Montserrat Classic"/>
              </a:rPr>
              <a:t> Perusahaan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masih</a:t>
            </a:r>
            <a:r>
              <a:rPr lang="en-US" sz="2100" dirty="0">
                <a:solidFill>
                  <a:srgbClr val="000000"/>
                </a:solidFill>
                <a:latin typeface="Montserrat Classic"/>
              </a:rPr>
              <a:t> </a:t>
            </a:r>
            <a:r>
              <a:rPr lang="en-US" sz="2100" dirty="0" err="1">
                <a:solidFill>
                  <a:srgbClr val="000000"/>
                </a:solidFill>
                <a:latin typeface="Montserrat Classic"/>
              </a:rPr>
              <a:t>berlaku</a:t>
            </a:r>
            <a:r>
              <a:rPr lang="en-US" sz="2100" dirty="0">
                <a:solidFill>
                  <a:srgbClr val="000000"/>
                </a:solidFill>
                <a:latin typeface="Montserrat Classic"/>
              </a:rPr>
              <a:t> </a:t>
            </a:r>
            <a:r>
              <a:rPr lang="en-US" sz="2100" dirty="0" err="1">
                <a:solidFill>
                  <a:srgbClr val="000000"/>
                </a:solidFill>
                <a:latin typeface="Montserrat Classic"/>
              </a:rPr>
              <a:t>selaras</a:t>
            </a:r>
            <a:r>
              <a:rPr lang="en-US" sz="2100" dirty="0">
                <a:solidFill>
                  <a:srgbClr val="000000"/>
                </a:solidFill>
                <a:latin typeface="Montserrat Classic"/>
              </a:rPr>
              <a:t> </a:t>
            </a:r>
            <a:r>
              <a:rPr lang="en-US" sz="2100" dirty="0" err="1">
                <a:solidFill>
                  <a:srgbClr val="000000"/>
                </a:solidFill>
                <a:latin typeface="Montserrat Classic"/>
              </a:rPr>
              <a:t>dengan</a:t>
            </a:r>
            <a:r>
              <a:rPr lang="en-US" sz="2100" dirty="0">
                <a:solidFill>
                  <a:srgbClr val="000000"/>
                </a:solidFill>
                <a:latin typeface="Montserrat Classic"/>
              </a:rPr>
              <a:t> </a:t>
            </a:r>
            <a:r>
              <a:rPr lang="en-US" sz="2100" dirty="0" err="1">
                <a:solidFill>
                  <a:srgbClr val="000000"/>
                </a:solidFill>
                <a:latin typeface="Montserrat Classic"/>
              </a:rPr>
              <a:t>standar</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bisinis</a:t>
            </a:r>
            <a:r>
              <a:rPr lang="en-US" sz="2100" dirty="0">
                <a:solidFill>
                  <a:srgbClr val="000000"/>
                </a:solidFill>
                <a:latin typeface="Montserrat Classic"/>
              </a:rPr>
              <a:t> </a:t>
            </a:r>
            <a:r>
              <a:rPr lang="en-US" sz="2100" dirty="0" err="1">
                <a:solidFill>
                  <a:srgbClr val="000000"/>
                </a:solidFill>
                <a:latin typeface="Montserrat Classic"/>
              </a:rPr>
              <a:t>dan</a:t>
            </a:r>
            <a:r>
              <a:rPr lang="en-US" sz="2100" dirty="0">
                <a:solidFill>
                  <a:srgbClr val="000000"/>
                </a:solidFill>
                <a:latin typeface="Montserrat Classic"/>
              </a:rPr>
              <a:t> </a:t>
            </a:r>
            <a:r>
              <a:rPr lang="en-US" sz="2100" dirty="0" err="1">
                <a:solidFill>
                  <a:srgbClr val="000000"/>
                </a:solidFill>
                <a:latin typeface="Montserrat Classic"/>
              </a:rPr>
              <a:t>etika</a:t>
            </a:r>
            <a:r>
              <a:rPr lang="en-US" sz="2100" dirty="0">
                <a:solidFill>
                  <a:srgbClr val="000000"/>
                </a:solidFill>
                <a:latin typeface="Montserrat Classic"/>
              </a:rPr>
              <a:t> </a:t>
            </a:r>
            <a:r>
              <a:rPr lang="en-US" sz="2100" dirty="0" err="1">
                <a:solidFill>
                  <a:srgbClr val="000000"/>
                </a:solidFill>
                <a:latin typeface="Montserrat Classic"/>
              </a:rPr>
              <a:t>kerja</a:t>
            </a:r>
            <a:r>
              <a:rPr lang="en-US" sz="2100" dirty="0">
                <a:solidFill>
                  <a:srgbClr val="000000"/>
                </a:solidFill>
                <a:latin typeface="Montserrat Classic"/>
              </a:rPr>
              <a:t> (Code of Conduct). </a:t>
            </a:r>
            <a:r>
              <a:rPr lang="en-US" sz="2100" dirty="0" err="1">
                <a:solidFill>
                  <a:srgbClr val="000000"/>
                </a:solidFill>
                <a:latin typeface="Montserrat Classic"/>
              </a:rPr>
              <a:t>Jika</a:t>
            </a:r>
            <a:r>
              <a:rPr lang="en-US" sz="2100" dirty="0">
                <a:solidFill>
                  <a:srgbClr val="000000"/>
                </a:solidFill>
                <a:latin typeface="Montserrat Classic"/>
              </a:rPr>
              <a:t> </a:t>
            </a:r>
            <a:r>
              <a:rPr lang="en-US" sz="2100" dirty="0" err="1">
                <a:solidFill>
                  <a:srgbClr val="000000"/>
                </a:solidFill>
                <a:latin typeface="Montserrat Classic"/>
              </a:rPr>
              <a:t>diperlukan</a:t>
            </a:r>
            <a:r>
              <a:rPr lang="en-US" sz="2100" dirty="0">
                <a:solidFill>
                  <a:srgbClr val="000000"/>
                </a:solidFill>
                <a:latin typeface="Montserrat Classic"/>
              </a:rPr>
              <a:t> Perusahaan </a:t>
            </a:r>
            <a:r>
              <a:rPr lang="en-US" sz="2100" dirty="0" err="1">
                <a:solidFill>
                  <a:srgbClr val="000000"/>
                </a:solidFill>
                <a:latin typeface="Montserrat Classic"/>
              </a:rPr>
              <a:t>menerbitkan</a:t>
            </a:r>
            <a:r>
              <a:rPr lang="en-US" sz="2100" dirty="0">
                <a:solidFill>
                  <a:srgbClr val="000000"/>
                </a:solidFill>
                <a:latin typeface="Montserrat Classic"/>
              </a:rPr>
              <a:t> </a:t>
            </a:r>
            <a:r>
              <a:rPr lang="en-US" sz="2100" dirty="0" err="1">
                <a:solidFill>
                  <a:srgbClr val="000000"/>
                </a:solidFill>
                <a:latin typeface="Montserrat Classic"/>
              </a:rPr>
              <a:t>kebijakan</a:t>
            </a:r>
            <a:r>
              <a:rPr lang="en-US" sz="2100" dirty="0">
                <a:solidFill>
                  <a:srgbClr val="000000"/>
                </a:solidFill>
                <a:latin typeface="Montserrat Classic"/>
              </a:rPr>
              <a:t> </a:t>
            </a:r>
            <a:r>
              <a:rPr lang="en-US" sz="2100" dirty="0" err="1">
                <a:solidFill>
                  <a:srgbClr val="000000"/>
                </a:solidFill>
                <a:latin typeface="Montserrat Classic"/>
              </a:rPr>
              <a:t>sebagai</a:t>
            </a:r>
            <a:r>
              <a:rPr lang="en-US" sz="2100" dirty="0">
                <a:solidFill>
                  <a:srgbClr val="000000"/>
                </a:solidFill>
                <a:latin typeface="Montserrat Classic"/>
              </a:rPr>
              <a:t> </a:t>
            </a:r>
            <a:r>
              <a:rPr lang="en-US" sz="2100" dirty="0" err="1">
                <a:solidFill>
                  <a:srgbClr val="000000"/>
                </a:solidFill>
                <a:latin typeface="Montserrat Classic"/>
              </a:rPr>
              <a:t>penjabaran</a:t>
            </a:r>
            <a:r>
              <a:rPr lang="en-US" sz="2100" dirty="0">
                <a:solidFill>
                  <a:srgbClr val="000000"/>
                </a:solidFill>
                <a:latin typeface="Montserrat Classic"/>
              </a:rPr>
              <a:t> </a:t>
            </a:r>
            <a:r>
              <a:rPr lang="en-US" sz="2100" dirty="0" err="1">
                <a:solidFill>
                  <a:srgbClr val="000000"/>
                </a:solidFill>
                <a:latin typeface="Montserrat Classic"/>
              </a:rPr>
              <a:t>lebih</a:t>
            </a:r>
            <a:r>
              <a:rPr lang="en-US" sz="2100" dirty="0">
                <a:solidFill>
                  <a:srgbClr val="000000"/>
                </a:solidFill>
                <a:latin typeface="Montserrat Classic"/>
              </a:rPr>
              <a:t> </a:t>
            </a:r>
            <a:r>
              <a:rPr lang="en-US" sz="2100" dirty="0" err="1">
                <a:solidFill>
                  <a:srgbClr val="000000"/>
                </a:solidFill>
                <a:latin typeface="Montserrat Classic"/>
              </a:rPr>
              <a:t>rinci</a:t>
            </a:r>
            <a:r>
              <a:rPr lang="en-US" sz="2100" dirty="0">
                <a:solidFill>
                  <a:srgbClr val="000000"/>
                </a:solidFill>
                <a:latin typeface="Montserrat Classic"/>
              </a:rPr>
              <a:t> yang </a:t>
            </a:r>
            <a:r>
              <a:rPr lang="en-US" sz="2100" dirty="0" err="1">
                <a:solidFill>
                  <a:srgbClr val="000000"/>
                </a:solidFill>
                <a:latin typeface="Montserrat Classic"/>
              </a:rPr>
              <a:t>merupakan</a:t>
            </a:r>
            <a:r>
              <a:rPr lang="en-US" sz="2100" dirty="0">
                <a:solidFill>
                  <a:srgbClr val="000000"/>
                </a:solidFill>
                <a:latin typeface="Montserrat Classic"/>
              </a:rPr>
              <a:t> </a:t>
            </a:r>
            <a:r>
              <a:rPr lang="en-US" sz="2100" dirty="0" err="1">
                <a:solidFill>
                  <a:srgbClr val="000000"/>
                </a:solidFill>
                <a:latin typeface="Montserrat Classic"/>
              </a:rPr>
              <a:t>interpretasi</a:t>
            </a:r>
            <a:r>
              <a:rPr lang="en-US" sz="2100" dirty="0">
                <a:solidFill>
                  <a:srgbClr val="000000"/>
                </a:solidFill>
                <a:latin typeface="Montserrat Classic"/>
              </a:rPr>
              <a:t> </a:t>
            </a:r>
            <a:r>
              <a:rPr lang="en-US" sz="2100" dirty="0" err="1">
                <a:solidFill>
                  <a:srgbClr val="000000"/>
                </a:solidFill>
                <a:latin typeface="Montserrat Classic"/>
              </a:rPr>
              <a:t>dalam</a:t>
            </a:r>
            <a:r>
              <a:rPr lang="en-US" sz="2100" dirty="0">
                <a:solidFill>
                  <a:srgbClr val="000000"/>
                </a:solidFill>
                <a:latin typeface="Montserrat Classic"/>
              </a:rPr>
              <a:t> </a:t>
            </a:r>
            <a:r>
              <a:rPr lang="en-US" sz="2100" dirty="0" err="1">
                <a:solidFill>
                  <a:srgbClr val="000000"/>
                </a:solidFill>
                <a:latin typeface="Montserrat Classic"/>
              </a:rPr>
              <a:t>penerapan</a:t>
            </a:r>
            <a:r>
              <a:rPr lang="en-US" sz="2100" dirty="0">
                <a:solidFill>
                  <a:srgbClr val="000000"/>
                </a:solidFill>
                <a:latin typeface="Montserrat Classic"/>
              </a:rPr>
              <a:t> Code of Conduct.</a:t>
            </a: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a:p>
            <a:pPr algn="just">
              <a:lnSpc>
                <a:spcPts val="2940"/>
              </a:lnSpc>
              <a:spcBef>
                <a:spcPct val="0"/>
              </a:spcBef>
            </a:pPr>
            <a:endParaRPr lang="en-US" sz="2100" dirty="0">
              <a:solidFill>
                <a:srgbClr val="000000"/>
              </a:solidFill>
              <a:latin typeface="Montserrat Classic"/>
            </a:endParaRPr>
          </a:p>
        </p:txBody>
      </p:sp>
      <p:sp>
        <p:nvSpPr>
          <p:cNvPr id="6" name="TextBox 6"/>
          <p:cNvSpPr txBox="1"/>
          <p:nvPr/>
        </p:nvSpPr>
        <p:spPr>
          <a:xfrm>
            <a:off x="1383954" y="592455"/>
            <a:ext cx="5354389" cy="824865"/>
          </a:xfrm>
          <a:prstGeom prst="rect">
            <a:avLst/>
          </a:prstGeom>
        </p:spPr>
        <p:txBody>
          <a:bodyPr lIns="0" tIns="0" rIns="0" bIns="0" rtlCol="0" anchor="t">
            <a:spAutoFit/>
          </a:bodyPr>
          <a:lstStyle/>
          <a:p>
            <a:pPr algn="ctr">
              <a:lnSpc>
                <a:spcPts val="3359"/>
              </a:lnSpc>
              <a:spcBef>
                <a:spcPct val="0"/>
              </a:spcBef>
            </a:pPr>
            <a:endParaRPr/>
          </a:p>
          <a:p>
            <a:pPr algn="ctr">
              <a:lnSpc>
                <a:spcPts val="3359"/>
              </a:lnSpc>
              <a:spcBef>
                <a:spcPct val="0"/>
              </a:spcBef>
            </a:pPr>
            <a:r>
              <a:rPr lang="en-US" sz="2400">
                <a:solidFill>
                  <a:srgbClr val="000000"/>
                </a:solidFill>
                <a:latin typeface="Montserrat Classic Bold"/>
              </a:rPr>
              <a:t>A. Penerapan dan pengembangan </a:t>
            </a: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35000"/>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144593">
            <a:off x="8023448" y="-2009860"/>
            <a:ext cx="17617704" cy="17617704"/>
          </a:xfrm>
          <a:prstGeom prst="rect">
            <a:avLst/>
          </a:prstGeom>
        </p:spPr>
      </p:pic>
      <p:pic>
        <p:nvPicPr>
          <p:cNvPr id="3" name="Picture 3"/>
          <p:cNvPicPr>
            <a:picLocks noChangeAspect="1"/>
          </p:cNvPicPr>
          <p:nvPr/>
        </p:nvPicPr>
        <p:blipFill>
          <a:blip r:embed="rId4">
            <a:alphaModFix amt="50000"/>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4662819">
            <a:off x="8489744" y="-2841143"/>
            <a:ext cx="12794948" cy="8828634"/>
          </a:xfrm>
          <a:prstGeom prst="rect">
            <a:avLst/>
          </a:prstGeom>
        </p:spPr>
      </p:pic>
      <p:pic>
        <p:nvPicPr>
          <p:cNvPr id="4" name="Picture 4"/>
          <p:cNvPicPr>
            <a:picLocks noChangeAspect="1"/>
          </p:cNvPicPr>
          <p:nvPr/>
        </p:nvPicPr>
        <p:blipFill>
          <a:blip r:embed="rId6">
            <a:alphaModFix amt="50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8905814" flipH="1">
            <a:off x="-4266374" y="6074235"/>
            <a:ext cx="11300655" cy="9184351"/>
          </a:xfrm>
          <a:prstGeom prst="rect">
            <a:avLst/>
          </a:prstGeom>
        </p:spPr>
      </p:pic>
      <p:sp>
        <p:nvSpPr>
          <p:cNvPr id="5" name="TextBox 5"/>
          <p:cNvSpPr txBox="1"/>
          <p:nvPr/>
        </p:nvSpPr>
        <p:spPr>
          <a:xfrm>
            <a:off x="1383954" y="289873"/>
            <a:ext cx="15448346" cy="15268575"/>
          </a:xfrm>
          <a:prstGeom prst="rect">
            <a:avLst/>
          </a:prstGeom>
        </p:spPr>
        <p:txBody>
          <a:bodyPr lIns="0" tIns="0" rIns="0" bIns="0" rtlCol="0" anchor="t">
            <a:spAutoFit/>
          </a:bodyPr>
          <a:lstStyle/>
          <a:p>
            <a:pPr algn="just">
              <a:lnSpc>
                <a:spcPts val="3359"/>
              </a:lnSpc>
            </a:pPr>
            <a:endParaRPr/>
          </a:p>
          <a:p>
            <a:pPr algn="just">
              <a:lnSpc>
                <a:spcPts val="2940"/>
              </a:lnSpc>
            </a:pPr>
            <a:endParaRPr/>
          </a:p>
          <a:p>
            <a:pPr algn="just">
              <a:lnSpc>
                <a:spcPts val="2940"/>
              </a:lnSpc>
            </a:pPr>
            <a:endParaRPr/>
          </a:p>
          <a:p>
            <a:pPr algn="just">
              <a:lnSpc>
                <a:spcPts val="2940"/>
              </a:lnSpc>
            </a:pPr>
            <a:endParaRPr/>
          </a:p>
          <a:p>
            <a:pPr algn="just">
              <a:lnSpc>
                <a:spcPts val="2940"/>
              </a:lnSpc>
            </a:pPr>
            <a:r>
              <a:rPr lang="en-US" sz="2100">
                <a:solidFill>
                  <a:srgbClr val="000000"/>
                </a:solidFill>
                <a:latin typeface="Montserrat Classic"/>
              </a:rPr>
              <a:t>Pedoman Etika Bisnis dan Etika Kerja (Code of Conduct) senantiasa disesuaikan dan dilakukan penyempurnaan secara berkala minimal 1 (satu) tahun sekali sesuai dengan perkembangan hukum, sosial, norma, peraturan yang berlaku dan perjalanan bisnis Perusahaan serta pengalaman Perusahaan dalam penerapannya sehingga Code of Conduct Perusahaan selalu selaras dengan nilai-nilai yang berlaku dan senantiasa mencerminkan standar perilaku dan budaya yang diharapkan oleh Perusahaan.</a:t>
            </a:r>
          </a:p>
          <a:p>
            <a:pPr algn="just">
              <a:lnSpc>
                <a:spcPts val="2940"/>
              </a:lnSpc>
            </a:pPr>
            <a:endParaRPr lang="en-US" sz="2100">
              <a:solidFill>
                <a:srgbClr val="000000"/>
              </a:solidFill>
              <a:latin typeface="Montserrat Classic"/>
            </a:endParaRPr>
          </a:p>
          <a:p>
            <a:pPr algn="just">
              <a:lnSpc>
                <a:spcPts val="2940"/>
              </a:lnSpc>
            </a:pPr>
            <a:r>
              <a:rPr lang="en-US" sz="2100">
                <a:solidFill>
                  <a:srgbClr val="000000"/>
                </a:solidFill>
                <a:latin typeface="Montserrat Classic"/>
              </a:rPr>
              <a:t>Diharapkan kepada semua pihak untuk memberikan masukan terhadap pengembangan Pedoman Etika Bisnis dan Etika Kerja (Code of Conduct) agar sejalan dan bersinergi dengan nilai-nilai yang telah ada di Perusahaan.</a:t>
            </a:r>
          </a:p>
          <a:p>
            <a:pPr algn="just">
              <a:lnSpc>
                <a:spcPts val="2940"/>
              </a:lnSpc>
            </a:pPr>
            <a:r>
              <a:rPr lang="en-US" sz="2100">
                <a:solidFill>
                  <a:srgbClr val="000000"/>
                </a:solidFill>
                <a:latin typeface="Montserrat Classic"/>
              </a:rPr>
              <a:t>Semua masukan, kritik dan saran perbaikan agar disampaikan secara tertulis kepada Tim GCG Perusahaan yang dikordinasikan oleh Divisi Manajemen Bisnis untuk dievaluasi, dikaji dan dijadikan sebagai bahan masukan dalam rangka perbaikan, selanjutnya berdasarkan hasil evaluasi dan kajian atas penerapan Pedoman Etika Bisnis dan Etika Kerja (Code of Conduct) Tim GCG Perusahaan yang dikordinasikan oleh Divisi Manajemen Bisnis mengusulkan perbaikan/revisi kepada Direksi untuk mendapatkan persetujuan perbaikan.</a:t>
            </a: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a:p>
            <a:pPr algn="just">
              <a:lnSpc>
                <a:spcPts val="2940"/>
              </a:lnSpc>
              <a:spcBef>
                <a:spcPct val="0"/>
              </a:spcBef>
            </a:pPr>
            <a:endParaRPr lang="en-US" sz="2100">
              <a:solidFill>
                <a:srgbClr val="000000"/>
              </a:solidFill>
              <a:latin typeface="Montserrat Classic"/>
            </a:endParaRPr>
          </a:p>
        </p:txBody>
      </p:sp>
      <p:sp>
        <p:nvSpPr>
          <p:cNvPr id="6" name="TextBox 6"/>
          <p:cNvSpPr txBox="1"/>
          <p:nvPr/>
        </p:nvSpPr>
        <p:spPr>
          <a:xfrm>
            <a:off x="1348533" y="592455"/>
            <a:ext cx="2021086" cy="824865"/>
          </a:xfrm>
          <a:prstGeom prst="rect">
            <a:avLst/>
          </a:prstGeom>
        </p:spPr>
        <p:txBody>
          <a:bodyPr lIns="0" tIns="0" rIns="0" bIns="0" rtlCol="0" anchor="t">
            <a:spAutoFit/>
          </a:bodyPr>
          <a:lstStyle/>
          <a:p>
            <a:pPr algn="ctr">
              <a:lnSpc>
                <a:spcPts val="3359"/>
              </a:lnSpc>
              <a:spcBef>
                <a:spcPct val="0"/>
              </a:spcBef>
            </a:pPr>
            <a:endParaRPr/>
          </a:p>
          <a:p>
            <a:pPr algn="ctr">
              <a:lnSpc>
                <a:spcPts val="3359"/>
              </a:lnSpc>
              <a:spcBef>
                <a:spcPct val="0"/>
              </a:spcBef>
            </a:pPr>
            <a:r>
              <a:rPr lang="en-US" sz="2400">
                <a:solidFill>
                  <a:srgbClr val="000000"/>
                </a:solidFill>
                <a:latin typeface="Montserrat Classic Bold"/>
              </a:rPr>
              <a:t>B. Perbaikan </a:t>
            </a:r>
          </a:p>
        </p:txBody>
      </p:sp>
      <p:sp>
        <p:nvSpPr>
          <p:cNvPr id="7" name="TextBox 7"/>
          <p:cNvSpPr txBox="1"/>
          <p:nvPr/>
        </p:nvSpPr>
        <p:spPr>
          <a:xfrm>
            <a:off x="17022868" y="9153525"/>
            <a:ext cx="556171" cy="554767"/>
          </a:xfrm>
          <a:prstGeom prst="rect">
            <a:avLst/>
          </a:prstGeom>
        </p:spPr>
        <p:txBody>
          <a:bodyPr lIns="0" tIns="0" rIns="0" bIns="0" rtlCol="0" anchor="t">
            <a:spAutoFit/>
          </a:bodyPr>
          <a:lstStyle/>
          <a:p>
            <a:pPr algn="ctr">
              <a:lnSpc>
                <a:spcPts val="4647"/>
              </a:lnSpc>
            </a:pPr>
            <a:r>
              <a:rPr lang="id-ID" sz="3319" dirty="0" smtClean="0">
                <a:solidFill>
                  <a:srgbClr val="000000"/>
                </a:solidFill>
                <a:latin typeface="Telegraf"/>
              </a:rPr>
              <a:t>57</a:t>
            </a:r>
            <a:endParaRPr lang="en-US" sz="3319" dirty="0">
              <a:solidFill>
                <a:srgbClr val="000000"/>
              </a:solidFill>
              <a:latin typeface="Telegraf"/>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3586111">
            <a:off x="4636114" y="7649942"/>
            <a:ext cx="4295835" cy="5707027"/>
          </a:xfrm>
          <a:prstGeom prst="rect">
            <a:avLst/>
          </a:prstGeom>
        </p:spPr>
      </p:pic>
      <p:pic>
        <p:nvPicPr>
          <p:cNvPr id="3" name="Picture 3"/>
          <p:cNvPicPr>
            <a:picLocks noChangeAspect="1"/>
          </p:cNvPicPr>
          <p:nvPr/>
        </p:nvPicPr>
        <p:blipFill>
          <a:blip r:embed="rId4"/>
          <a:srcRect/>
          <a:stretch>
            <a:fillRect/>
          </a:stretch>
        </p:blipFill>
        <p:spPr>
          <a:xfrm>
            <a:off x="5464060" y="198095"/>
            <a:ext cx="7359879" cy="7359879"/>
          </a:xfrm>
          <a:prstGeom prst="rect">
            <a:avLst/>
          </a:prstGeom>
        </p:spPr>
      </p:pic>
      <p:pic>
        <p:nvPicPr>
          <p:cNvPr id="4" name="Picture 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rcRect/>
          <a:stretch>
            <a:fillRect/>
          </a:stretch>
        </p:blipFill>
        <p:spPr>
          <a:xfrm>
            <a:off x="15878972" y="6388656"/>
            <a:ext cx="2760657" cy="4114800"/>
          </a:xfrm>
          <a:prstGeom prst="rect">
            <a:avLst/>
          </a:prstGeom>
        </p:spPr>
      </p:pic>
      <p:pic>
        <p:nvPicPr>
          <p:cNvPr id="5" name="Picture 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rcRect/>
          <a:stretch>
            <a:fillRect/>
          </a:stretch>
        </p:blipFill>
        <p:spPr>
          <a:xfrm>
            <a:off x="0" y="0"/>
            <a:ext cx="3514920" cy="4114800"/>
          </a:xfrm>
          <a:prstGeom prst="rect">
            <a:avLst/>
          </a:prstGeom>
        </p:spPr>
      </p:pic>
      <p:sp>
        <p:nvSpPr>
          <p:cNvPr id="6" name="TextBox 6"/>
          <p:cNvSpPr txBox="1"/>
          <p:nvPr/>
        </p:nvSpPr>
        <p:spPr>
          <a:xfrm>
            <a:off x="4168865" y="7054386"/>
            <a:ext cx="9950270" cy="1169101"/>
          </a:xfrm>
          <a:prstGeom prst="rect">
            <a:avLst/>
          </a:prstGeom>
        </p:spPr>
        <p:txBody>
          <a:bodyPr lIns="0" tIns="0" rIns="0" bIns="0" rtlCol="0" anchor="t">
            <a:spAutoFit/>
          </a:bodyPr>
          <a:lstStyle/>
          <a:p>
            <a:pPr algn="ctr">
              <a:lnSpc>
                <a:spcPts val="8751"/>
              </a:lnSpc>
              <a:spcBef>
                <a:spcPct val="0"/>
              </a:spcBef>
            </a:pPr>
            <a:r>
              <a:rPr lang="en-US" sz="8751">
                <a:solidFill>
                  <a:srgbClr val="FBEA20"/>
                </a:solidFill>
                <a:latin typeface="Shrikhand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7630</Words>
  <Application>Microsoft Office PowerPoint</Application>
  <PresentationFormat>Custom</PresentationFormat>
  <Paragraphs>741</Paragraphs>
  <Slides>58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Calibri</vt:lpstr>
      <vt:lpstr>Shrikhand Bold</vt:lpstr>
      <vt:lpstr>Montserrat Classic</vt:lpstr>
      <vt:lpstr>Arial</vt:lpstr>
      <vt:lpstr>Montserrat Classic Bold</vt:lpstr>
      <vt:lpstr>Kollektif Bold</vt:lpstr>
      <vt:lpstr>Telegraf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CCopy of Code of Condact - Head Office</dc:title>
  <cp:lastModifiedBy>User</cp:lastModifiedBy>
  <cp:revision>6</cp:revision>
  <dcterms:created xsi:type="dcterms:W3CDTF">2006-08-16T00:00:00Z</dcterms:created>
  <dcterms:modified xsi:type="dcterms:W3CDTF">2023-03-18T04:35:17Z</dcterms:modified>
  <dc:identifier>DAFdevrYOls</dc:identifier>
</cp:coreProperties>
</file>